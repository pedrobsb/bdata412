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4" r:id="rId4"/>
  </p:sldMasterIdLst>
  <p:notesMasterIdLst>
    <p:notesMasterId r:id="rId195"/>
  </p:notesMasterIdLst>
  <p:sldIdLst>
    <p:sldId id="1426" r:id="rId91"/>
    <p:sldId id="1427" r:id="rId90"/>
    <p:sldId id="1280" r:id="rId92"/>
    <p:sldId id="1428" r:id="rId89"/>
    <p:sldId id="1276" r:id="rId93"/>
    <p:sldId id="1429" r:id="rId88"/>
    <p:sldId id="1277" r:id="rId94"/>
    <p:sldId id="1430" r:id="rId87"/>
    <p:sldId id="1278" r:id="rId95"/>
    <p:sldId id="1431" r:id="rId86"/>
    <p:sldId id="1147" r:id="rId96"/>
    <p:sldId id="1432" r:id="rId85"/>
    <p:sldId id="1284" r:id="rId97"/>
    <p:sldId id="1433" r:id="rId84"/>
    <p:sldId id="1148" r:id="rId98"/>
    <p:sldId id="1434" r:id="rId83"/>
    <p:sldId id="1149" r:id="rId99"/>
    <p:sldId id="1435" r:id="rId82"/>
    <p:sldId id="1150" r:id="rId100"/>
    <p:sldId id="1436" r:id="rId81"/>
    <p:sldId id="1269" r:id="rId101"/>
    <p:sldId id="1437" r:id="rId80"/>
    <p:sldId id="1151" r:id="rId102"/>
    <p:sldId id="1438" r:id="rId79"/>
    <p:sldId id="1152" r:id="rId103"/>
    <p:sldId id="1439" r:id="rId78"/>
    <p:sldId id="1153" r:id="rId104"/>
    <p:sldId id="1440" r:id="rId77"/>
    <p:sldId id="1154" r:id="rId105"/>
    <p:sldId id="1441" r:id="rId76"/>
    <p:sldId id="1155" r:id="rId106"/>
    <p:sldId id="1442" r:id="rId75"/>
    <p:sldId id="1286" r:id="rId107"/>
    <p:sldId id="1443" r:id="rId74"/>
    <p:sldId id="1288" r:id="rId108"/>
    <p:sldId id="1444" r:id="rId73"/>
    <p:sldId id="1156" r:id="rId109"/>
    <p:sldId id="1445" r:id="rId72"/>
    <p:sldId id="1157" r:id="rId110"/>
    <p:sldId id="1446" r:id="rId71"/>
    <p:sldId id="1158" r:id="rId111"/>
    <p:sldId id="1447" r:id="rId70"/>
    <p:sldId id="1159" r:id="rId112"/>
    <p:sldId id="1448" r:id="rId69"/>
    <p:sldId id="1292" r:id="rId113"/>
    <p:sldId id="1449" r:id="rId68"/>
    <p:sldId id="1160" r:id="rId114"/>
    <p:sldId id="1450" r:id="rId67"/>
    <p:sldId id="1161" r:id="rId115"/>
    <p:sldId id="1451" r:id="rId66"/>
    <p:sldId id="1162" r:id="rId116"/>
    <p:sldId id="1452" r:id="rId65"/>
    <p:sldId id="1294" r:id="rId117"/>
    <p:sldId id="1453" r:id="rId64"/>
    <p:sldId id="1296" r:id="rId118"/>
    <p:sldId id="1454" r:id="rId63"/>
    <p:sldId id="1302" r:id="rId119"/>
    <p:sldId id="1455" r:id="rId62"/>
    <p:sldId id="1306" r:id="rId120"/>
    <p:sldId id="1456" r:id="rId61"/>
    <p:sldId id="1307" r:id="rId121"/>
    <p:sldId id="1457" r:id="rId60"/>
    <p:sldId id="1308" r:id="rId122"/>
    <p:sldId id="1458" r:id="rId59"/>
    <p:sldId id="1337" r:id="rId123"/>
    <p:sldId id="1459" r:id="rId58"/>
    <p:sldId id="1335" r:id="rId124"/>
    <p:sldId id="1460" r:id="rId57"/>
    <p:sldId id="1336" r:id="rId125"/>
    <p:sldId id="1461" r:id="rId56"/>
    <p:sldId id="1298" r:id="rId126"/>
    <p:sldId id="1462" r:id="rId55"/>
    <p:sldId id="1321" r:id="rId127"/>
    <p:sldId id="1463" r:id="rId54"/>
    <p:sldId id="1322" r:id="rId128"/>
    <p:sldId id="1464" r:id="rId53"/>
    <p:sldId id="1323" r:id="rId129"/>
    <p:sldId id="1465" r:id="rId52"/>
    <p:sldId id="1324" r:id="rId130"/>
    <p:sldId id="1466" r:id="rId51"/>
    <p:sldId id="1325" r:id="rId131"/>
    <p:sldId id="1467" r:id="rId50"/>
    <p:sldId id="1326" r:id="rId132"/>
    <p:sldId id="1468" r:id="rId49"/>
    <p:sldId id="1327" r:id="rId133"/>
    <p:sldId id="1469" r:id="rId48"/>
    <p:sldId id="1328" r:id="rId134"/>
    <p:sldId id="1470" r:id="rId47"/>
    <p:sldId id="1329" r:id="rId135"/>
    <p:sldId id="1471" r:id="rId46"/>
    <p:sldId id="1330" r:id="rId136"/>
    <p:sldId id="1472" r:id="rId45"/>
    <p:sldId id="1331" r:id="rId137"/>
    <p:sldId id="1473" r:id="rId44"/>
    <p:sldId id="1332" r:id="rId138"/>
    <p:sldId id="1474" r:id="rId43"/>
    <p:sldId id="1104" r:id="rId139"/>
    <p:sldId id="1475" r:id="rId42"/>
    <p:sldId id="1340" r:id="rId140"/>
    <p:sldId id="1476" r:id="rId41"/>
    <p:sldId id="1423" r:id="rId141"/>
    <p:sldId id="1477" r:id="rId40"/>
    <p:sldId id="1424" r:id="rId142"/>
    <p:sldId id="1478" r:id="rId39"/>
    <p:sldId id="1425" r:id="rId143"/>
    <p:sldId id="1479" r:id="rId38"/>
    <p:sldId id="1350" r:id="rId144"/>
    <p:sldId id="1480" r:id="rId37"/>
    <p:sldId id="1356" r:id="rId145"/>
    <p:sldId id="1481" r:id="rId36"/>
    <p:sldId id="1357" r:id="rId146"/>
    <p:sldId id="1482" r:id="rId35"/>
    <p:sldId id="1358" r:id="rId147"/>
    <p:sldId id="1483" r:id="rId34"/>
    <p:sldId id="1352" r:id="rId148"/>
    <p:sldId id="1484" r:id="rId33"/>
    <p:sldId id="1105" r:id="rId149"/>
    <p:sldId id="1485" r:id="rId32"/>
    <p:sldId id="1106" r:id="rId150"/>
    <p:sldId id="1486" r:id="rId31"/>
    <p:sldId id="1107" r:id="rId151"/>
    <p:sldId id="1487" r:id="rId30"/>
    <p:sldId id="1108" r:id="rId152"/>
    <p:sldId id="1488" r:id="rId29"/>
    <p:sldId id="1109" r:id="rId153"/>
    <p:sldId id="1489" r:id="rId28"/>
    <p:sldId id="1110" r:id="rId154"/>
    <p:sldId id="1490" r:id="rId27"/>
    <p:sldId id="1111" r:id="rId155"/>
    <p:sldId id="1491" r:id="rId26"/>
    <p:sldId id="1112" r:id="rId156"/>
    <p:sldId id="1492" r:id="rId25"/>
    <p:sldId id="1113" r:id="rId157"/>
    <p:sldId id="1493" r:id="rId24"/>
    <p:sldId id="1114" r:id="rId158"/>
    <p:sldId id="1494" r:id="rId23"/>
    <p:sldId id="1115" r:id="rId159"/>
    <p:sldId id="1495" r:id="rId22"/>
    <p:sldId id="1116" r:id="rId160"/>
    <p:sldId id="1496" r:id="rId21"/>
    <p:sldId id="1361" r:id="rId161"/>
    <p:sldId id="1497" r:id="rId20"/>
    <p:sldId id="1421" r:id="rId162"/>
    <p:sldId id="1498" r:id="rId19"/>
    <p:sldId id="1419" r:id="rId163"/>
    <p:sldId id="1499" r:id="rId18"/>
    <p:sldId id="1420" r:id="rId164"/>
    <p:sldId id="1500" r:id="rId17"/>
    <p:sldId id="1422" r:id="rId165"/>
    <p:sldId id="1501" r:id="rId16"/>
    <p:sldId id="1367" r:id="rId166"/>
    <p:sldId id="1502" r:id="rId15"/>
    <p:sldId id="1369" r:id="rId167"/>
    <p:sldId id="1503" r:id="rId14"/>
    <p:sldId id="1371" r:id="rId168"/>
    <p:sldId id="1504" r:id="rId13"/>
    <p:sldId id="1373" r:id="rId169"/>
    <p:sldId id="1505" r:id="rId12"/>
    <p:sldId id="1376" r:id="rId170"/>
    <p:sldId id="1506" r:id="rId11"/>
    <p:sldId id="1378" r:id="rId171"/>
    <p:sldId id="1507" r:id="rId10"/>
    <p:sldId id="1396" r:id="rId172"/>
    <p:sldId id="1508" r:id="rId9"/>
    <p:sldId id="1397" r:id="rId173"/>
    <p:sldId id="1509" r:id="rId8"/>
    <p:sldId id="1398" r:id="rId174"/>
    <p:sldId id="1510" r:id="rId7"/>
    <p:sldId id="1399" r:id="rId175"/>
    <p:sldId id="1511" r:id="rId6"/>
    <p:sldId id="1400" r:id="rId176"/>
    <p:sldId id="1512" r:id="rId5"/>
    <p:sldId id="1401" r:id="rId177"/>
    <p:sldId id="1513" r:id="rId200"/>
    <p:sldId id="1402" r:id="rId178"/>
    <p:sldId id="1514" r:id="rId201"/>
    <p:sldId id="1403" r:id="rId179"/>
    <p:sldId id="1515" r:id="rId202"/>
    <p:sldId id="1404" r:id="rId180"/>
    <p:sldId id="1516" r:id="rId203"/>
    <p:sldId id="1405" r:id="rId181"/>
    <p:sldId id="1517" r:id="rId204"/>
    <p:sldId id="1406" r:id="rId182"/>
    <p:sldId id="1518" r:id="rId205"/>
    <p:sldId id="1407" r:id="rId183"/>
    <p:sldId id="1519" r:id="rId206"/>
    <p:sldId id="1408" r:id="rId184"/>
    <p:sldId id="1520" r:id="rId207"/>
    <p:sldId id="1409" r:id="rId185"/>
    <p:sldId id="1521" r:id="rId208"/>
    <p:sldId id="1410" r:id="rId186"/>
    <p:sldId id="1522" r:id="rId209"/>
    <p:sldId id="1411" r:id="rId187"/>
    <p:sldId id="1523" r:id="rId210"/>
    <p:sldId id="1412" r:id="rId188"/>
    <p:sldId id="1524" r:id="rId211"/>
    <p:sldId id="1414" r:id="rId189"/>
    <p:sldId id="1525" r:id="rId212"/>
    <p:sldId id="1416" r:id="rId190"/>
    <p:sldId id="1526" r:id="rId213"/>
    <p:sldId id="1188" r:id="rId191"/>
    <p:sldId id="1527" r:id="rId214"/>
    <p:sldId id="1187" r:id="rId192"/>
    <p:sldId id="1528" r:id="rId215"/>
    <p:sldId id="1184" r:id="rId193"/>
    <p:sldId id="1529" r:id="rId216"/>
    <p:sldId id="1189" r:id="rId194"/>
    <p:sldId id="1530" r:id="rId2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1578A"/>
    <a:srgbClr val="4B2E83"/>
    <a:srgbClr val="F2C11E"/>
    <a:srgbClr val="FFEC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32"/>
    <p:restoredTop sz="93806"/>
  </p:normalViewPr>
  <p:slideViewPr>
    <p:cSldViewPr snapToGrid="0" snapToObjects="1">
      <p:cViewPr varScale="1">
        <p:scale>
          <a:sx n="133" d="100"/>
          <a:sy n="133" d="100"/>
        </p:scale>
        <p:origin x="224" y="9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90.xml"/><Relationship Id="rId6" Type="http://schemas.openxmlformats.org/officeDocument/2006/relationships/slide" Target="slides/slide189.xml"/><Relationship Id="rId7" Type="http://schemas.openxmlformats.org/officeDocument/2006/relationships/slide" Target="slides/slide188.xml"/><Relationship Id="rId8" Type="http://schemas.openxmlformats.org/officeDocument/2006/relationships/slide" Target="slides/slide187.xml"/><Relationship Id="rId9" Type="http://schemas.openxmlformats.org/officeDocument/2006/relationships/slide" Target="slides/slide186.xml"/><Relationship Id="rId10" Type="http://schemas.openxmlformats.org/officeDocument/2006/relationships/slide" Target="slides/slide185.xml"/><Relationship Id="rId11" Type="http://schemas.openxmlformats.org/officeDocument/2006/relationships/slide" Target="slides/slide184.xml"/><Relationship Id="rId12" Type="http://schemas.openxmlformats.org/officeDocument/2006/relationships/slide" Target="slides/slide183.xml"/><Relationship Id="rId13" Type="http://schemas.openxmlformats.org/officeDocument/2006/relationships/slide" Target="slides/slide182.xml"/><Relationship Id="rId14" Type="http://schemas.openxmlformats.org/officeDocument/2006/relationships/slide" Target="slides/slide181.xml"/><Relationship Id="rId15" Type="http://schemas.openxmlformats.org/officeDocument/2006/relationships/slide" Target="slides/slide180.xml"/><Relationship Id="rId16" Type="http://schemas.openxmlformats.org/officeDocument/2006/relationships/slide" Target="slides/slide179.xml"/><Relationship Id="rId17" Type="http://schemas.openxmlformats.org/officeDocument/2006/relationships/slide" Target="slides/slide178.xml"/><Relationship Id="rId18" Type="http://schemas.openxmlformats.org/officeDocument/2006/relationships/slide" Target="slides/slide177.xml"/><Relationship Id="rId19" Type="http://schemas.openxmlformats.org/officeDocument/2006/relationships/slide" Target="slides/slide176.xml"/><Relationship Id="rId20" Type="http://schemas.openxmlformats.org/officeDocument/2006/relationships/slide" Target="slides/slide175.xml"/><Relationship Id="rId21" Type="http://schemas.openxmlformats.org/officeDocument/2006/relationships/slide" Target="slides/slide174.xml"/><Relationship Id="rId22" Type="http://schemas.openxmlformats.org/officeDocument/2006/relationships/slide" Target="slides/slide173.xml"/><Relationship Id="rId23" Type="http://schemas.openxmlformats.org/officeDocument/2006/relationships/slide" Target="slides/slide172.xml"/><Relationship Id="rId24" Type="http://schemas.openxmlformats.org/officeDocument/2006/relationships/slide" Target="slides/slide171.xml"/><Relationship Id="rId25" Type="http://schemas.openxmlformats.org/officeDocument/2006/relationships/slide" Target="slides/slide170.xml"/><Relationship Id="rId26" Type="http://schemas.openxmlformats.org/officeDocument/2006/relationships/slide" Target="slides/slide169.xml"/><Relationship Id="rId27" Type="http://schemas.openxmlformats.org/officeDocument/2006/relationships/slide" Target="slides/slide168.xml"/><Relationship Id="rId28" Type="http://schemas.openxmlformats.org/officeDocument/2006/relationships/slide" Target="slides/slide167.xml"/><Relationship Id="rId29" Type="http://schemas.openxmlformats.org/officeDocument/2006/relationships/slide" Target="slides/slide166.xml"/><Relationship Id="rId30" Type="http://schemas.openxmlformats.org/officeDocument/2006/relationships/slide" Target="slides/slide165.xml"/><Relationship Id="rId31" Type="http://schemas.openxmlformats.org/officeDocument/2006/relationships/slide" Target="slides/slide164.xml"/><Relationship Id="rId32" Type="http://schemas.openxmlformats.org/officeDocument/2006/relationships/slide" Target="slides/slide163.xml"/><Relationship Id="rId33" Type="http://schemas.openxmlformats.org/officeDocument/2006/relationships/slide" Target="slides/slide162.xml"/><Relationship Id="rId34" Type="http://schemas.openxmlformats.org/officeDocument/2006/relationships/slide" Target="slides/slide161.xml"/><Relationship Id="rId35" Type="http://schemas.openxmlformats.org/officeDocument/2006/relationships/slide" Target="slides/slide160.xml"/><Relationship Id="rId36" Type="http://schemas.openxmlformats.org/officeDocument/2006/relationships/slide" Target="slides/slide159.xml"/><Relationship Id="rId37" Type="http://schemas.openxmlformats.org/officeDocument/2006/relationships/slide" Target="slides/slide158.xml"/><Relationship Id="rId38" Type="http://schemas.openxmlformats.org/officeDocument/2006/relationships/slide" Target="slides/slide157.xml"/><Relationship Id="rId39" Type="http://schemas.openxmlformats.org/officeDocument/2006/relationships/slide" Target="slides/slide156.xml"/><Relationship Id="rId40" Type="http://schemas.openxmlformats.org/officeDocument/2006/relationships/slide" Target="slides/slide155.xml"/><Relationship Id="rId41" Type="http://schemas.openxmlformats.org/officeDocument/2006/relationships/slide" Target="slides/slide154.xml"/><Relationship Id="rId42" Type="http://schemas.openxmlformats.org/officeDocument/2006/relationships/slide" Target="slides/slide153.xml"/><Relationship Id="rId43" Type="http://schemas.openxmlformats.org/officeDocument/2006/relationships/slide" Target="slides/slide152.xml"/><Relationship Id="rId44" Type="http://schemas.openxmlformats.org/officeDocument/2006/relationships/slide" Target="slides/slide151.xml"/><Relationship Id="rId45" Type="http://schemas.openxmlformats.org/officeDocument/2006/relationships/slide" Target="slides/slide150.xml"/><Relationship Id="rId46" Type="http://schemas.openxmlformats.org/officeDocument/2006/relationships/slide" Target="slides/slide149.xml"/><Relationship Id="rId47" Type="http://schemas.openxmlformats.org/officeDocument/2006/relationships/slide" Target="slides/slide148.xml"/><Relationship Id="rId48" Type="http://schemas.openxmlformats.org/officeDocument/2006/relationships/slide" Target="slides/slide147.xml"/><Relationship Id="rId49" Type="http://schemas.openxmlformats.org/officeDocument/2006/relationships/slide" Target="slides/slide146.xml"/><Relationship Id="rId50" Type="http://schemas.openxmlformats.org/officeDocument/2006/relationships/slide" Target="slides/slide145.xml"/><Relationship Id="rId51" Type="http://schemas.openxmlformats.org/officeDocument/2006/relationships/slide" Target="slides/slide144.xml"/><Relationship Id="rId52" Type="http://schemas.openxmlformats.org/officeDocument/2006/relationships/slide" Target="slides/slide143.xml"/><Relationship Id="rId53" Type="http://schemas.openxmlformats.org/officeDocument/2006/relationships/slide" Target="slides/slide142.xml"/><Relationship Id="rId54" Type="http://schemas.openxmlformats.org/officeDocument/2006/relationships/slide" Target="slides/slide141.xml"/><Relationship Id="rId55" Type="http://schemas.openxmlformats.org/officeDocument/2006/relationships/slide" Target="slides/slide140.xml"/><Relationship Id="rId56" Type="http://schemas.openxmlformats.org/officeDocument/2006/relationships/slide" Target="slides/slide139.xml"/><Relationship Id="rId57" Type="http://schemas.openxmlformats.org/officeDocument/2006/relationships/slide" Target="slides/slide138.xml"/><Relationship Id="rId58" Type="http://schemas.openxmlformats.org/officeDocument/2006/relationships/slide" Target="slides/slide137.xml"/><Relationship Id="rId59" Type="http://schemas.openxmlformats.org/officeDocument/2006/relationships/slide" Target="slides/slide136.xml"/><Relationship Id="rId60" Type="http://schemas.openxmlformats.org/officeDocument/2006/relationships/slide" Target="slides/slide135.xml"/><Relationship Id="rId61" Type="http://schemas.openxmlformats.org/officeDocument/2006/relationships/slide" Target="slides/slide134.xml"/><Relationship Id="rId62" Type="http://schemas.openxmlformats.org/officeDocument/2006/relationships/slide" Target="slides/slide133.xml"/><Relationship Id="rId63" Type="http://schemas.openxmlformats.org/officeDocument/2006/relationships/slide" Target="slides/slide132.xml"/><Relationship Id="rId64" Type="http://schemas.openxmlformats.org/officeDocument/2006/relationships/slide" Target="slides/slide131.xml"/><Relationship Id="rId65" Type="http://schemas.openxmlformats.org/officeDocument/2006/relationships/slide" Target="slides/slide130.xml"/><Relationship Id="rId66" Type="http://schemas.openxmlformats.org/officeDocument/2006/relationships/slide" Target="slides/slide129.xml"/><Relationship Id="rId67" Type="http://schemas.openxmlformats.org/officeDocument/2006/relationships/slide" Target="slides/slide128.xml"/><Relationship Id="rId68" Type="http://schemas.openxmlformats.org/officeDocument/2006/relationships/slide" Target="slides/slide127.xml"/><Relationship Id="rId69" Type="http://schemas.openxmlformats.org/officeDocument/2006/relationships/slide" Target="slides/slide126.xml"/><Relationship Id="rId70" Type="http://schemas.openxmlformats.org/officeDocument/2006/relationships/slide" Target="slides/slide125.xml"/><Relationship Id="rId71" Type="http://schemas.openxmlformats.org/officeDocument/2006/relationships/slide" Target="slides/slide124.xml"/><Relationship Id="rId72" Type="http://schemas.openxmlformats.org/officeDocument/2006/relationships/slide" Target="slides/slide123.xml"/><Relationship Id="rId73" Type="http://schemas.openxmlformats.org/officeDocument/2006/relationships/slide" Target="slides/slide122.xml"/><Relationship Id="rId74" Type="http://schemas.openxmlformats.org/officeDocument/2006/relationships/slide" Target="slides/slide121.xml"/><Relationship Id="rId75" Type="http://schemas.openxmlformats.org/officeDocument/2006/relationships/slide" Target="slides/slide120.xml"/><Relationship Id="rId76" Type="http://schemas.openxmlformats.org/officeDocument/2006/relationships/slide" Target="slides/slide119.xml"/><Relationship Id="rId77" Type="http://schemas.openxmlformats.org/officeDocument/2006/relationships/slide" Target="slides/slide118.xml"/><Relationship Id="rId78" Type="http://schemas.openxmlformats.org/officeDocument/2006/relationships/slide" Target="slides/slide117.xml"/><Relationship Id="rId79" Type="http://schemas.openxmlformats.org/officeDocument/2006/relationships/slide" Target="slides/slide116.xml"/><Relationship Id="rId80" Type="http://schemas.openxmlformats.org/officeDocument/2006/relationships/slide" Target="slides/slide115.xml"/><Relationship Id="rId81" Type="http://schemas.openxmlformats.org/officeDocument/2006/relationships/slide" Target="slides/slide114.xml"/><Relationship Id="rId82" Type="http://schemas.openxmlformats.org/officeDocument/2006/relationships/slide" Target="slides/slide113.xml"/><Relationship Id="rId83" Type="http://schemas.openxmlformats.org/officeDocument/2006/relationships/slide" Target="slides/slide112.xml"/><Relationship Id="rId84" Type="http://schemas.openxmlformats.org/officeDocument/2006/relationships/slide" Target="slides/slide111.xml"/><Relationship Id="rId85" Type="http://schemas.openxmlformats.org/officeDocument/2006/relationships/slide" Target="slides/slide110.xml"/><Relationship Id="rId86" Type="http://schemas.openxmlformats.org/officeDocument/2006/relationships/slide" Target="slides/slide109.xml"/><Relationship Id="rId87" Type="http://schemas.openxmlformats.org/officeDocument/2006/relationships/slide" Target="slides/slide108.xml"/><Relationship Id="rId88" Type="http://schemas.openxmlformats.org/officeDocument/2006/relationships/slide" Target="slides/slide107.xml"/><Relationship Id="rId89" Type="http://schemas.openxmlformats.org/officeDocument/2006/relationships/slide" Target="slides/slide106.xml"/><Relationship Id="rId90" Type="http://schemas.openxmlformats.org/officeDocument/2006/relationships/slide" Target="slides/slide105.xml"/><Relationship Id="rId91" Type="http://schemas.openxmlformats.org/officeDocument/2006/relationships/slide" Target="slides/slide104.xml"/><Relationship Id="rId92" Type="http://schemas.openxmlformats.org/officeDocument/2006/relationships/slide" Target="slides/slide2.xml"/><Relationship Id="rId93" Type="http://schemas.openxmlformats.org/officeDocument/2006/relationships/slide" Target="slides/slide3.xml"/><Relationship Id="rId94" Type="http://schemas.openxmlformats.org/officeDocument/2006/relationships/slide" Target="slides/slide4.xml"/><Relationship Id="rId95" Type="http://schemas.openxmlformats.org/officeDocument/2006/relationships/slide" Target="slides/slide5.xml"/><Relationship Id="rId96" Type="http://schemas.openxmlformats.org/officeDocument/2006/relationships/slide" Target="slides/slide6.xml"/><Relationship Id="rId97" Type="http://schemas.openxmlformats.org/officeDocument/2006/relationships/slide" Target="slides/slide7.xml"/><Relationship Id="rId98" Type="http://schemas.openxmlformats.org/officeDocument/2006/relationships/slide" Target="slides/slide8.xml"/><Relationship Id="rId99" Type="http://schemas.openxmlformats.org/officeDocument/2006/relationships/slide" Target="slides/slide9.xml"/><Relationship Id="rId100" Type="http://schemas.openxmlformats.org/officeDocument/2006/relationships/slide" Target="slides/slide10.xml"/><Relationship Id="rId101" Type="http://schemas.openxmlformats.org/officeDocument/2006/relationships/slide" Target="slides/slide11.xml"/><Relationship Id="rId102" Type="http://schemas.openxmlformats.org/officeDocument/2006/relationships/slide" Target="slides/slide12.xml"/><Relationship Id="rId103" Type="http://schemas.openxmlformats.org/officeDocument/2006/relationships/slide" Target="slides/slide13.xml"/><Relationship Id="rId104" Type="http://schemas.openxmlformats.org/officeDocument/2006/relationships/slide" Target="slides/slide14.xml"/><Relationship Id="rId105" Type="http://schemas.openxmlformats.org/officeDocument/2006/relationships/slide" Target="slides/slide15.xml"/><Relationship Id="rId106" Type="http://schemas.openxmlformats.org/officeDocument/2006/relationships/slide" Target="slides/slide16.xml"/><Relationship Id="rId107" Type="http://schemas.openxmlformats.org/officeDocument/2006/relationships/slide" Target="slides/slide17.xml"/><Relationship Id="rId108" Type="http://schemas.openxmlformats.org/officeDocument/2006/relationships/slide" Target="slides/slide18.xml"/><Relationship Id="rId109" Type="http://schemas.openxmlformats.org/officeDocument/2006/relationships/slide" Target="slides/slide19.xml"/><Relationship Id="rId110" Type="http://schemas.openxmlformats.org/officeDocument/2006/relationships/slide" Target="slides/slide20.xml"/><Relationship Id="rId111" Type="http://schemas.openxmlformats.org/officeDocument/2006/relationships/slide" Target="slides/slide21.xml"/><Relationship Id="rId112" Type="http://schemas.openxmlformats.org/officeDocument/2006/relationships/slide" Target="slides/slide22.xml"/><Relationship Id="rId113" Type="http://schemas.openxmlformats.org/officeDocument/2006/relationships/slide" Target="slides/slide23.xml"/><Relationship Id="rId114" Type="http://schemas.openxmlformats.org/officeDocument/2006/relationships/slide" Target="slides/slide24.xml"/><Relationship Id="rId115" Type="http://schemas.openxmlformats.org/officeDocument/2006/relationships/slide" Target="slides/slide25.xml"/><Relationship Id="rId116" Type="http://schemas.openxmlformats.org/officeDocument/2006/relationships/slide" Target="slides/slide26.xml"/><Relationship Id="rId117" Type="http://schemas.openxmlformats.org/officeDocument/2006/relationships/slide" Target="slides/slide27.xml"/><Relationship Id="rId118" Type="http://schemas.openxmlformats.org/officeDocument/2006/relationships/slide" Target="slides/slide28.xml"/><Relationship Id="rId119" Type="http://schemas.openxmlformats.org/officeDocument/2006/relationships/slide" Target="slides/slide29.xml"/><Relationship Id="rId120" Type="http://schemas.openxmlformats.org/officeDocument/2006/relationships/slide" Target="slides/slide30.xml"/><Relationship Id="rId121" Type="http://schemas.openxmlformats.org/officeDocument/2006/relationships/slide" Target="slides/slide31.xml"/><Relationship Id="rId122" Type="http://schemas.openxmlformats.org/officeDocument/2006/relationships/slide" Target="slides/slide32.xml"/><Relationship Id="rId123" Type="http://schemas.openxmlformats.org/officeDocument/2006/relationships/slide" Target="slides/slide33.xml"/><Relationship Id="rId124" Type="http://schemas.openxmlformats.org/officeDocument/2006/relationships/slide" Target="slides/slide34.xml"/><Relationship Id="rId125" Type="http://schemas.openxmlformats.org/officeDocument/2006/relationships/slide" Target="slides/slide35.xml"/><Relationship Id="rId126" Type="http://schemas.openxmlformats.org/officeDocument/2006/relationships/slide" Target="slides/slide36.xml"/><Relationship Id="rId127" Type="http://schemas.openxmlformats.org/officeDocument/2006/relationships/slide" Target="slides/slide37.xml"/><Relationship Id="rId128" Type="http://schemas.openxmlformats.org/officeDocument/2006/relationships/slide" Target="slides/slide38.xml"/><Relationship Id="rId129" Type="http://schemas.openxmlformats.org/officeDocument/2006/relationships/slide" Target="slides/slide39.xml"/><Relationship Id="rId130" Type="http://schemas.openxmlformats.org/officeDocument/2006/relationships/slide" Target="slides/slide40.xml"/><Relationship Id="rId131" Type="http://schemas.openxmlformats.org/officeDocument/2006/relationships/slide" Target="slides/slide41.xml"/><Relationship Id="rId132" Type="http://schemas.openxmlformats.org/officeDocument/2006/relationships/slide" Target="slides/slide42.xml"/><Relationship Id="rId133" Type="http://schemas.openxmlformats.org/officeDocument/2006/relationships/slide" Target="slides/slide43.xml"/><Relationship Id="rId134" Type="http://schemas.openxmlformats.org/officeDocument/2006/relationships/slide" Target="slides/slide44.xml"/><Relationship Id="rId135" Type="http://schemas.openxmlformats.org/officeDocument/2006/relationships/slide" Target="slides/slide45.xml"/><Relationship Id="rId136" Type="http://schemas.openxmlformats.org/officeDocument/2006/relationships/slide" Target="slides/slide46.xml"/><Relationship Id="rId137" Type="http://schemas.openxmlformats.org/officeDocument/2006/relationships/slide" Target="slides/slide47.xml"/><Relationship Id="rId138" Type="http://schemas.openxmlformats.org/officeDocument/2006/relationships/slide" Target="slides/slide48.xml"/><Relationship Id="rId139" Type="http://schemas.openxmlformats.org/officeDocument/2006/relationships/slide" Target="slides/slide49.xml"/><Relationship Id="rId140" Type="http://schemas.openxmlformats.org/officeDocument/2006/relationships/slide" Target="slides/slide50.xml"/><Relationship Id="rId141" Type="http://schemas.openxmlformats.org/officeDocument/2006/relationships/slide" Target="slides/slide51.xml"/><Relationship Id="rId142" Type="http://schemas.openxmlformats.org/officeDocument/2006/relationships/slide" Target="slides/slide52.xml"/><Relationship Id="rId143" Type="http://schemas.openxmlformats.org/officeDocument/2006/relationships/slide" Target="slides/slide53.xml"/><Relationship Id="rId144" Type="http://schemas.openxmlformats.org/officeDocument/2006/relationships/slide" Target="slides/slide54.xml"/><Relationship Id="rId145" Type="http://schemas.openxmlformats.org/officeDocument/2006/relationships/slide" Target="slides/slide55.xml"/><Relationship Id="rId146" Type="http://schemas.openxmlformats.org/officeDocument/2006/relationships/slide" Target="slides/slide56.xml"/><Relationship Id="rId147" Type="http://schemas.openxmlformats.org/officeDocument/2006/relationships/slide" Target="slides/slide57.xml"/><Relationship Id="rId148" Type="http://schemas.openxmlformats.org/officeDocument/2006/relationships/slide" Target="slides/slide58.xml"/><Relationship Id="rId149" Type="http://schemas.openxmlformats.org/officeDocument/2006/relationships/slide" Target="slides/slide59.xml"/><Relationship Id="rId150" Type="http://schemas.openxmlformats.org/officeDocument/2006/relationships/slide" Target="slides/slide60.xml"/><Relationship Id="rId151" Type="http://schemas.openxmlformats.org/officeDocument/2006/relationships/slide" Target="slides/slide61.xml"/><Relationship Id="rId152" Type="http://schemas.openxmlformats.org/officeDocument/2006/relationships/slide" Target="slides/slide62.xml"/><Relationship Id="rId153" Type="http://schemas.openxmlformats.org/officeDocument/2006/relationships/slide" Target="slides/slide63.xml"/><Relationship Id="rId154" Type="http://schemas.openxmlformats.org/officeDocument/2006/relationships/slide" Target="slides/slide64.xml"/><Relationship Id="rId155" Type="http://schemas.openxmlformats.org/officeDocument/2006/relationships/slide" Target="slides/slide65.xml"/><Relationship Id="rId156" Type="http://schemas.openxmlformats.org/officeDocument/2006/relationships/slide" Target="slides/slide66.xml"/><Relationship Id="rId157" Type="http://schemas.openxmlformats.org/officeDocument/2006/relationships/slide" Target="slides/slide67.xml"/><Relationship Id="rId158" Type="http://schemas.openxmlformats.org/officeDocument/2006/relationships/slide" Target="slides/slide68.xml"/><Relationship Id="rId159" Type="http://schemas.openxmlformats.org/officeDocument/2006/relationships/slide" Target="slides/slide69.xml"/><Relationship Id="rId160" Type="http://schemas.openxmlformats.org/officeDocument/2006/relationships/slide" Target="slides/slide70.xml"/><Relationship Id="rId161" Type="http://schemas.openxmlformats.org/officeDocument/2006/relationships/slide" Target="slides/slide71.xml"/><Relationship Id="rId162" Type="http://schemas.openxmlformats.org/officeDocument/2006/relationships/slide" Target="slides/slide72.xml"/><Relationship Id="rId163" Type="http://schemas.openxmlformats.org/officeDocument/2006/relationships/slide" Target="slides/slide73.xml"/><Relationship Id="rId164" Type="http://schemas.openxmlformats.org/officeDocument/2006/relationships/slide" Target="slides/slide74.xml"/><Relationship Id="rId165" Type="http://schemas.openxmlformats.org/officeDocument/2006/relationships/slide" Target="slides/slide75.xml"/><Relationship Id="rId166" Type="http://schemas.openxmlformats.org/officeDocument/2006/relationships/slide" Target="slides/slide76.xml"/><Relationship Id="rId167" Type="http://schemas.openxmlformats.org/officeDocument/2006/relationships/slide" Target="slides/slide77.xml"/><Relationship Id="rId168" Type="http://schemas.openxmlformats.org/officeDocument/2006/relationships/slide" Target="slides/slide78.xml"/><Relationship Id="rId169" Type="http://schemas.openxmlformats.org/officeDocument/2006/relationships/slide" Target="slides/slide79.xml"/><Relationship Id="rId170" Type="http://schemas.openxmlformats.org/officeDocument/2006/relationships/slide" Target="slides/slide80.xml"/><Relationship Id="rId171" Type="http://schemas.openxmlformats.org/officeDocument/2006/relationships/slide" Target="slides/slide81.xml"/><Relationship Id="rId172" Type="http://schemas.openxmlformats.org/officeDocument/2006/relationships/slide" Target="slides/slide82.xml"/><Relationship Id="rId173" Type="http://schemas.openxmlformats.org/officeDocument/2006/relationships/slide" Target="slides/slide83.xml"/><Relationship Id="rId174" Type="http://schemas.openxmlformats.org/officeDocument/2006/relationships/slide" Target="slides/slide84.xml"/><Relationship Id="rId175" Type="http://schemas.openxmlformats.org/officeDocument/2006/relationships/slide" Target="slides/slide85.xml"/><Relationship Id="rId176" Type="http://schemas.openxmlformats.org/officeDocument/2006/relationships/slide" Target="slides/slide86.xml"/><Relationship Id="rId177" Type="http://schemas.openxmlformats.org/officeDocument/2006/relationships/slide" Target="slides/slide87.xml"/><Relationship Id="rId178" Type="http://schemas.openxmlformats.org/officeDocument/2006/relationships/slide" Target="slides/slide88.xml"/><Relationship Id="rId179" Type="http://schemas.openxmlformats.org/officeDocument/2006/relationships/slide" Target="slides/slide89.xml"/><Relationship Id="rId180" Type="http://schemas.openxmlformats.org/officeDocument/2006/relationships/slide" Target="slides/slide90.xml"/><Relationship Id="rId181" Type="http://schemas.openxmlformats.org/officeDocument/2006/relationships/slide" Target="slides/slide91.xml"/><Relationship Id="rId182" Type="http://schemas.openxmlformats.org/officeDocument/2006/relationships/slide" Target="slides/slide92.xml"/><Relationship Id="rId183" Type="http://schemas.openxmlformats.org/officeDocument/2006/relationships/slide" Target="slides/slide93.xml"/><Relationship Id="rId184" Type="http://schemas.openxmlformats.org/officeDocument/2006/relationships/slide" Target="slides/slide94.xml"/><Relationship Id="rId185" Type="http://schemas.openxmlformats.org/officeDocument/2006/relationships/slide" Target="slides/slide95.xml"/><Relationship Id="rId186" Type="http://schemas.openxmlformats.org/officeDocument/2006/relationships/slide" Target="slides/slide96.xml"/><Relationship Id="rId187" Type="http://schemas.openxmlformats.org/officeDocument/2006/relationships/slide" Target="slides/slide97.xml"/><Relationship Id="rId188" Type="http://schemas.openxmlformats.org/officeDocument/2006/relationships/slide" Target="slides/slide98.xml"/><Relationship Id="rId189" Type="http://schemas.openxmlformats.org/officeDocument/2006/relationships/slide" Target="slides/slide99.xml"/><Relationship Id="rId190" Type="http://schemas.openxmlformats.org/officeDocument/2006/relationships/slide" Target="slides/slide100.xml"/><Relationship Id="rId191" Type="http://schemas.openxmlformats.org/officeDocument/2006/relationships/slide" Target="slides/slide101.xml"/><Relationship Id="rId192" Type="http://schemas.openxmlformats.org/officeDocument/2006/relationships/slide" Target="slides/slide102.xml"/><Relationship Id="rId193" Type="http://schemas.openxmlformats.org/officeDocument/2006/relationships/slide" Target="slides/slide103.xml"/><Relationship Id="rId194" Type="http://schemas.openxmlformats.org/officeDocument/2006/relationships/slide" Target="slides/slide104.xml"/><Relationship Id="rId195" Type="http://schemas.openxmlformats.org/officeDocument/2006/relationships/notesMaster" Target="notesMasters/notesMaster1.xml"/><Relationship Id="rId196" Type="http://schemas.openxmlformats.org/officeDocument/2006/relationships/presProps" Target="presProps.xml"/><Relationship Id="rId197" Type="http://schemas.openxmlformats.org/officeDocument/2006/relationships/viewProps" Target="viewProps.xml"/><Relationship Id="rId198" Type="http://schemas.openxmlformats.org/officeDocument/2006/relationships/theme" Target="theme/theme1.xml"/><Relationship Id="rId199" Type="http://schemas.openxmlformats.org/officeDocument/2006/relationships/tableStyles" Target="tableStyles.xml"/><Relationship Id="rId200" Type="http://schemas.openxmlformats.org/officeDocument/2006/relationships/slide" Target="slides/slide191.xml"/><Relationship Id="rId201" Type="http://schemas.openxmlformats.org/officeDocument/2006/relationships/slide" Target="slides/slide192.xml"/><Relationship Id="rId202" Type="http://schemas.openxmlformats.org/officeDocument/2006/relationships/slide" Target="slides/slide193.xml"/><Relationship Id="rId203" Type="http://schemas.openxmlformats.org/officeDocument/2006/relationships/slide" Target="slides/slide194.xml"/><Relationship Id="rId204" Type="http://schemas.openxmlformats.org/officeDocument/2006/relationships/slide" Target="slides/slide195.xml"/><Relationship Id="rId205" Type="http://schemas.openxmlformats.org/officeDocument/2006/relationships/slide" Target="slides/slide196.xml"/><Relationship Id="rId206" Type="http://schemas.openxmlformats.org/officeDocument/2006/relationships/slide" Target="slides/slide197.xml"/><Relationship Id="rId207" Type="http://schemas.openxmlformats.org/officeDocument/2006/relationships/slide" Target="slides/slide198.xml"/><Relationship Id="rId208" Type="http://schemas.openxmlformats.org/officeDocument/2006/relationships/slide" Target="slides/slide199.xml"/><Relationship Id="rId209" Type="http://schemas.openxmlformats.org/officeDocument/2006/relationships/slide" Target="slides/slide200.xml"/><Relationship Id="rId210" Type="http://schemas.openxmlformats.org/officeDocument/2006/relationships/slide" Target="slides/slide201.xml"/><Relationship Id="rId211" Type="http://schemas.openxmlformats.org/officeDocument/2006/relationships/slide" Target="slides/slide202.xml"/><Relationship Id="rId212" Type="http://schemas.openxmlformats.org/officeDocument/2006/relationships/slide" Target="slides/slide203.xml"/><Relationship Id="rId213" Type="http://schemas.openxmlformats.org/officeDocument/2006/relationships/slide" Target="slides/slide204.xml"/><Relationship Id="rId214" Type="http://schemas.openxmlformats.org/officeDocument/2006/relationships/slide" Target="slides/slide205.xml"/><Relationship Id="rId215" Type="http://schemas.openxmlformats.org/officeDocument/2006/relationships/slide" Target="slides/slide206.xml"/><Relationship Id="rId216" Type="http://schemas.openxmlformats.org/officeDocument/2006/relationships/slide" Target="slides/slide207.xml"/><Relationship Id="rId217" Type="http://schemas.openxmlformats.org/officeDocument/2006/relationships/slide" Target="slides/slide20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9E4F28-BF19-8E4B-A267-F456DA2B306E}" type="datetimeFigureOut">
              <a:rPr lang="en-US" smtClean="0"/>
              <a:t>6/9/26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F15BD0-F2D7-F343-84F0-98B3430FB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8076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753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Section Purple">
    <p:bg>
      <p:bgPr>
        <a:solidFill>
          <a:srgbClr val="4B2E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75355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  <p:sp>
        <p:nvSpPr>
          <p:cNvPr id="100" name="TopAccentBar"/>
          <p:cNvSpPr/>
          <p:nvPr userDrawn="1"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GoldAccentLine"/>
          <p:cNvSpPr/>
          <p:nvPr userDrawn="1"/>
        </p:nvSpPr>
        <p:spPr>
          <a:xfrm>
            <a:off x="0" y="91440"/>
            <a:ext cx="12192000" cy="27432"/>
          </a:xfrm>
          <a:prstGeom prst="rect">
            <a:avLst/>
          </a:prstGeom>
          <a:solidFill>
            <a:srgbClr val="F2C01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BottomAccentBar"/>
          <p:cNvSpPr/>
          <p:nvPr userDrawn="1"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1" name="BCTopBar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2" name="BCSilverLine"/>
          <p:cNvSpPr/>
          <p:nvPr/>
        </p:nvSpPr>
        <p:spPr>
          <a:xfrm>
            <a:off x="0" y="76200"/>
            <a:ext cx="12192000" cy="19050"/>
          </a:xfrm>
          <a:prstGeom prst="rect">
            <a:avLst/>
          </a:prstGeom>
          <a:solidFill>
            <a:srgbClr val="A7A9A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3" name="BCBottomBar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4" name="BCLogo"/>
          <p:cNvSpPr/>
          <p:nvPr/>
        </p:nvSpPr>
        <p:spPr>
          <a:xfrm>
            <a:off x="9144000" y="6400800"/>
            <a:ext cx="2895600" cy="304800"/>
          </a:xfrm>
          <a:prstGeom prst="rect">
            <a:avLst/>
          </a:prstGeom>
          <a:noFill/>
          <a:ln>
            <a:noFill/>
          </a:ln>
        </p:spPr>
        <p:txBody>
          <a:bodyPr lIns="0" tIns="0" rIns="91440" bIns="0" anchor="ctr" anchorCtr="0"/>
          <a:lstStyle/>
          <a:p>
            <a:pPr algn="r"/>
            <a:endParaRPr lang="en-US" sz="900" b="1" spc="200" dirty="0">
              <a:solidFill>
                <a:srgbClr val="4B2E83"/>
              </a:solidFill>
              <a:latin typeface="Arial"/>
            </a:endParaRPr>
          </a:p>
        </p:txBody>
      </p:sp>
      <p:sp>
        <p:nvSpPr>
          <p:cNvPr id="2010" name="AuthorInfo"/>
          <p:cNvSpPr/>
          <p:nvPr/>
        </p:nvSpPr>
        <p:spPr>
          <a:xfrm>
            <a:off x="152400" y="6400800"/>
            <a:ext cx="8534400" cy="304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/>
          <a:lstStyle/>
          <a:p>
            <a:pPr algn="l"/>
            <a:r>
              <a:rPr lang="en-US" sz="900" dirty="0">
                <a:solidFill>
                  <a:srgbClr val="4B2E83"/>
                </a:solidFill>
                <a:latin typeface="+mn-lt"/>
              </a:rPr>
              <a:t>Pedro Albuquerque, PhD (</a:t>
            </a:r>
            <a:r>
              <a:rPr lang="en-US" sz="900" dirty="0" err="1">
                <a:solidFill>
                  <a:srgbClr val="4B2E83"/>
                </a:solidFill>
                <a:latin typeface="+mn-lt"/>
              </a:rPr>
              <a:t>pedroalb@uwb.edu</a:t>
            </a:r>
            <a:r>
              <a:rPr lang="en-US" sz="900" dirty="0">
                <a:solidFill>
                  <a:srgbClr val="4B2E83"/>
                </a:solidFill>
                <a:latin typeface="+mn-lt"/>
              </a:rPr>
              <a:t>)</a:t>
            </a:r>
          </a:p>
        </p:txBody>
      </p:sp>
      <p:pic>
        <p:nvPicPr>
          <p:cNvPr id="9" name="Picture 8" descr="A purple letters on a black background&#10;&#10;AI-generated content may be incorrect.">
            <a:extLst>
              <a:ext uri="{FF2B5EF4-FFF2-40B4-BE49-F238E27FC236}">
                <a16:creationId xmlns:a16="http://schemas.microsoft.com/office/drawing/2014/main" id="{E462ACF0-778E-E7EE-EC6D-064CC249F90F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9372600" y="6473509"/>
            <a:ext cx="2743200" cy="210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  <p:sldLayoutId id="2147483739" r:id="rId5"/>
    <p:sldLayoutId id="2147483740" r:id="rId6"/>
    <p:sldLayoutId id="2147483741" r:id="rId7"/>
    <p:sldLayoutId id="2147483742" r:id="rId8"/>
    <p:sldLayoutId id="2147483743" r:id="rId9"/>
    <p:sldLayoutId id="2147483733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4B2E83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2D3748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2D3748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2D3748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D3748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D3748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rgbClr val="2D3748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8.png"/><Relationship Id="rId3" Type="http://schemas.openxmlformats.org/officeDocument/2006/relationships/image" Target="../media/image99.png"/><Relationship Id="rId4" Type="http://schemas.openxmlformats.org/officeDocument/2006/relationships/image" Target="../media/image100.png"/><Relationship Id="rId5" Type="http://schemas.openxmlformats.org/officeDocument/2006/relationships/image" Target="../media/image101.png"/><Relationship Id="rId6" Type="http://schemas.openxmlformats.org/officeDocument/2006/relationships/image" Target="../media/image102.png"/><Relationship Id="rId7" Type="http://schemas.openxmlformats.org/officeDocument/2006/relationships/image" Target="../media/image103.png"/><Relationship Id="rId8" Type="http://schemas.openxmlformats.org/officeDocument/2006/relationships/image" Target="../media/image104.png"/><Relationship Id="rId9" Type="http://schemas.openxmlformats.org/officeDocument/2006/relationships/image" Target="../media/image10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6.png"/><Relationship Id="rId3" Type="http://schemas.openxmlformats.org/officeDocument/2006/relationships/image" Target="../media/image107.png"/><Relationship Id="rId4" Type="http://schemas.openxmlformats.org/officeDocument/2006/relationships/image" Target="../media/image108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9.png"/><Relationship Id="rId3" Type="http://schemas.openxmlformats.org/officeDocument/2006/relationships/image" Target="../media/image110.png"/><Relationship Id="rId4" Type="http://schemas.openxmlformats.org/officeDocument/2006/relationships/image" Target="../media/image11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2.png"/><Relationship Id="rId3" Type="http://schemas.openxmlformats.org/officeDocument/2006/relationships/image" Target="../media/image113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4.png"/><Relationship Id="rId3" Type="http://schemas.openxmlformats.org/officeDocument/2006/relationships/image" Target="../media/image115.png"/><Relationship Id="rId4" Type="http://schemas.openxmlformats.org/officeDocument/2006/relationships/image" Target="../media/image116.png"/><Relationship Id="rId5" Type="http://schemas.openxmlformats.org/officeDocument/2006/relationships/image" Target="../media/image117.png"/><Relationship Id="rId6" Type="http://schemas.openxmlformats.org/officeDocument/2006/relationships/image" Target="../media/image118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9.png"/><Relationship Id="rId3" Type="http://schemas.openxmlformats.org/officeDocument/2006/relationships/image" Target="../media/image120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Reading a Matrix as Vectors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A data matrix has two readings: rows are individuals, columns are features.</a:t>
            </a:r>
          </a:p>
        </p:txBody>
      </p:sp>
      <p:sp>
        <p:nvSpPr>
          <p:cNvPr id="23" name="LeftPanel">
            <a:extLst>
              <a:ext uri="{FF2B5EF4-FFF2-40B4-BE49-F238E27FC236}">
                <a16:creationId xmlns:a16="http://schemas.microsoft.com/office/drawing/2014/main" id="{F60EC4CB-8B1F-A349-90BA-7CEB226E574C}"/>
              </a:ext>
            </a:extLst>
          </p:cNvPr>
          <p:cNvSpPr/>
          <p:nvPr/>
        </p:nvSpPr>
        <p:spPr>
          <a:xfrm>
            <a:off x="381000" y="1574800"/>
            <a:ext cx="5207000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LeftHdr">
            <a:extLst>
              <a:ext uri="{FF2B5EF4-FFF2-40B4-BE49-F238E27FC236}">
                <a16:creationId xmlns:a16="http://schemas.microsoft.com/office/drawing/2014/main" id="{7197A726-B731-8C4D-9B4C-43EF6621615F}"/>
              </a:ext>
            </a:extLst>
          </p:cNvPr>
          <p:cNvSpPr txBox="1"/>
          <p:nvPr/>
        </p:nvSpPr>
        <p:spPr>
          <a:xfrm>
            <a:off x="558800" y="1371600"/>
            <a:ext cx="4851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endParaRPr lang="en-US"/>
          </a:p>
        </p:txBody>
      </p:sp>
      <p:sp>
        <p:nvSpPr>
          <p:cNvPr id="95" name="RightPanel">
            <a:extLst>
              <a:ext uri="{FF2B5EF4-FFF2-40B4-BE49-F238E27FC236}">
                <a16:creationId xmlns:a16="http://schemas.microsoft.com/office/drawing/2014/main" id="{7C82CEA4-01F9-364D-881C-D6D309EB39EA}"/>
              </a:ext>
            </a:extLst>
          </p:cNvPr>
          <p:cNvSpPr/>
          <p:nvPr/>
        </p:nvSpPr>
        <p:spPr>
          <a:xfrm>
            <a:off x="6413500" y="1574800"/>
            <a:ext cx="5445327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6" name="RightHdr">
            <a:extLst>
              <a:ext uri="{FF2B5EF4-FFF2-40B4-BE49-F238E27FC236}">
                <a16:creationId xmlns:a16="http://schemas.microsoft.com/office/drawing/2014/main" id="{8528F78C-5C70-0E46-B67A-0A17C6DBF5FF}"/>
              </a:ext>
            </a:extLst>
          </p:cNvPr>
          <p:cNvSpPr txBox="1"/>
          <p:nvPr/>
        </p:nvSpPr>
        <p:spPr>
          <a:xfrm>
            <a:off x="7099300" y="1371600"/>
            <a:ext cx="46228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endParaRPr lang="en-US"/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Same numbers, two views — rows describe individuals, columns describe features.</a:t>
            </a:r>
          </a:p>
        </p:txBody>
      </p:sp>
      <p:sp>
        <p:nvSpPr>
          <p:cNvPr id="300" name="Ex1_Vecs"/>
          <p:cNvSpPr/>
          <p:nvPr/>
        </p:nvSpPr>
        <p:spPr>
          <a:xfrm>
            <a:off x="457200" y="12700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400" b="1" dirty="0">
                <a:solidFill>
                  <a:srgbClr val="333333"/>
                </a:solidFill>
              </a:rPr>
              <a:t>X = [ (3,1), (1,4), (5,3) ]    ·    3 individuals × 2 features</a:t>
            </a:r>
          </a:p>
        </p:txBody>
      </p:sp>
      <p:sp>
        <p:nvSpPr>
          <p:cNvPr id="210" name="Ex1_Task"/>
          <p:cNvSpPr/>
          <p:nvPr/>
        </p:nvSpPr>
        <p:spPr>
          <a:xfrm>
            <a:off x="6413500" y="1270000"/>
            <a:ext cx="5334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400" b="1" dirty="0">
                <a:solidFill>
                  <a:srgbClr val="333333"/>
                </a:solidFill>
              </a:rPr>
              <a:t>B = [ (2,4), (5,2), (1,3) ]    ·    columns of a 2×3 matrix</a:t>
            </a:r>
          </a:p>
        </p:txBody>
      </p:sp>
      <p:sp>
        <p:nvSpPr>
          <p:cNvPr id="390" name="GLbl"/>
          <p:cNvSpPr/>
          <p:nvPr/>
        </p:nvSpPr>
        <p:spPr>
          <a:xfrm>
            <a:off x="508000" y="1879600"/>
            <a:ext cx="3556000" cy="2286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Rows = individual vectors  (feature space)</a:t>
            </a:r>
          </a:p>
        </p:txBody>
      </p:sp>
      <p:sp>
        <p:nvSpPr>
          <p:cNvPr id="600" name="GL"/>
          <p:cNvSpPr/>
          <p:nvPr/>
        </p:nvSpPr>
        <p:spPr>
          <a:xfrm>
            <a:off x="1206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1" name="GL"/>
          <p:cNvSpPr/>
          <p:nvPr/>
        </p:nvSpPr>
        <p:spPr>
          <a:xfrm>
            <a:off x="1689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2" name="GL"/>
          <p:cNvSpPr/>
          <p:nvPr/>
        </p:nvSpPr>
        <p:spPr>
          <a:xfrm>
            <a:off x="21717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3" name="GL"/>
          <p:cNvSpPr/>
          <p:nvPr/>
        </p:nvSpPr>
        <p:spPr>
          <a:xfrm>
            <a:off x="26543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4" name="GL"/>
          <p:cNvSpPr/>
          <p:nvPr/>
        </p:nvSpPr>
        <p:spPr>
          <a:xfrm>
            <a:off x="31369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5" name="GL"/>
          <p:cNvSpPr/>
          <p:nvPr/>
        </p:nvSpPr>
        <p:spPr>
          <a:xfrm>
            <a:off x="3619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6" name="GL"/>
          <p:cNvSpPr/>
          <p:nvPr/>
        </p:nvSpPr>
        <p:spPr>
          <a:xfrm>
            <a:off x="4102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7" name="GL"/>
          <p:cNvSpPr/>
          <p:nvPr/>
        </p:nvSpPr>
        <p:spPr>
          <a:xfrm>
            <a:off x="1206500" y="5105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8" name="GL"/>
          <p:cNvSpPr/>
          <p:nvPr/>
        </p:nvSpPr>
        <p:spPr>
          <a:xfrm>
            <a:off x="1206500" y="4622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9" name="GL"/>
          <p:cNvSpPr/>
          <p:nvPr/>
        </p:nvSpPr>
        <p:spPr>
          <a:xfrm>
            <a:off x="1206500" y="41402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0" name="GL"/>
          <p:cNvSpPr/>
          <p:nvPr/>
        </p:nvSpPr>
        <p:spPr>
          <a:xfrm>
            <a:off x="1206500" y="36576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1" name="GL"/>
          <p:cNvSpPr/>
          <p:nvPr/>
        </p:nvSpPr>
        <p:spPr>
          <a:xfrm>
            <a:off x="1206500" y="31750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2" name="GL"/>
          <p:cNvSpPr/>
          <p:nvPr/>
        </p:nvSpPr>
        <p:spPr>
          <a:xfrm>
            <a:off x="1206500" y="2692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3" name="GL"/>
          <p:cNvSpPr/>
          <p:nvPr/>
        </p:nvSpPr>
        <p:spPr>
          <a:xfrm>
            <a:off x="1206500" y="2209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4" name="GL"/>
          <p:cNvSpPr/>
          <p:nvPr/>
        </p:nvSpPr>
        <p:spPr>
          <a:xfrm>
            <a:off x="1206500" y="5105400"/>
            <a:ext cx="2895600" cy="1905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5" name="GL"/>
          <p:cNvSpPr/>
          <p:nvPr/>
        </p:nvSpPr>
        <p:spPr>
          <a:xfrm>
            <a:off x="1206500" y="2209800"/>
            <a:ext cx="19050" cy="289560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6" name="GLbl"/>
          <p:cNvSpPr/>
          <p:nvPr/>
        </p:nvSpPr>
        <p:spPr>
          <a:xfrm>
            <a:off x="1104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0</a:t>
            </a:r>
          </a:p>
        </p:txBody>
      </p:sp>
      <p:sp>
        <p:nvSpPr>
          <p:cNvPr id="617" name="GLbl"/>
          <p:cNvSpPr/>
          <p:nvPr/>
        </p:nvSpPr>
        <p:spPr>
          <a:xfrm>
            <a:off x="1587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18" name="GLbl"/>
          <p:cNvSpPr/>
          <p:nvPr/>
        </p:nvSpPr>
        <p:spPr>
          <a:xfrm>
            <a:off x="20701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19" name="GLbl"/>
          <p:cNvSpPr/>
          <p:nvPr/>
        </p:nvSpPr>
        <p:spPr>
          <a:xfrm>
            <a:off x="25527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20" name="GLbl"/>
          <p:cNvSpPr/>
          <p:nvPr/>
        </p:nvSpPr>
        <p:spPr>
          <a:xfrm>
            <a:off x="30353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21" name="GLbl"/>
          <p:cNvSpPr/>
          <p:nvPr/>
        </p:nvSpPr>
        <p:spPr>
          <a:xfrm>
            <a:off x="3517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22" name="GLbl"/>
          <p:cNvSpPr/>
          <p:nvPr/>
        </p:nvSpPr>
        <p:spPr>
          <a:xfrm>
            <a:off x="4000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23" name="GLbl"/>
          <p:cNvSpPr/>
          <p:nvPr/>
        </p:nvSpPr>
        <p:spPr>
          <a:xfrm>
            <a:off x="977900" y="4546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24" name="GLbl"/>
          <p:cNvSpPr/>
          <p:nvPr/>
        </p:nvSpPr>
        <p:spPr>
          <a:xfrm>
            <a:off x="977900" y="40640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25" name="GLbl"/>
          <p:cNvSpPr/>
          <p:nvPr/>
        </p:nvSpPr>
        <p:spPr>
          <a:xfrm>
            <a:off x="977900" y="35814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26" name="GLbl"/>
          <p:cNvSpPr/>
          <p:nvPr/>
        </p:nvSpPr>
        <p:spPr>
          <a:xfrm>
            <a:off x="977900" y="30988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27" name="GLbl"/>
          <p:cNvSpPr/>
          <p:nvPr/>
        </p:nvSpPr>
        <p:spPr>
          <a:xfrm>
            <a:off x="977900" y="26162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28" name="GLbl"/>
          <p:cNvSpPr/>
          <p:nvPr/>
        </p:nvSpPr>
        <p:spPr>
          <a:xfrm>
            <a:off x="977900" y="2133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29" name="GLbl"/>
          <p:cNvSpPr/>
          <p:nvPr/>
        </p:nvSpPr>
        <p:spPr>
          <a:xfrm>
            <a:off x="4178300" y="50165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000" dirty="0">
                <a:solidFill>
                  <a:srgbClr val="7A7A7A"/>
                </a:solidFill>
                <a:latin typeface="Calibri"/>
              </a:rPr>
              <a:t>x</a:t>
            </a:r>
          </a:p>
        </p:txBody>
      </p:sp>
      <p:sp>
        <p:nvSpPr>
          <p:cNvPr id="630" name="GLbl"/>
          <p:cNvSpPr/>
          <p:nvPr/>
        </p:nvSpPr>
        <p:spPr>
          <a:xfrm>
            <a:off x="1104900" y="20193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1000" dirty="0">
                <a:solidFill>
                  <a:srgbClr val="7A7A7A"/>
                </a:solidFill>
                <a:latin typeface="Calibri"/>
              </a:rPr>
              <a:t>y</a:t>
            </a:r>
          </a:p>
        </p:txBody>
      </p:sp>
      <p:cxnSp>
        <p:nvCxnSpPr>
          <p:cNvPr id="2000" name="Arrow"/>
          <p:cNvCxnSpPr/>
          <p:nvPr/>
        </p:nvCxnSpPr>
        <p:spPr>
          <a:xfrm flipV="1">
            <a:off x="1206500" y="4622800"/>
            <a:ext cx="1447800" cy="482600"/>
          </a:xfrm>
          <a:prstGeom prst="line">
            <a:avLst/>
          </a:prstGeom>
          <a:ln w="34925" cap="rnd">
            <a:solidFill>
              <a:srgbClr val="4B2E83"/>
            </a:solidFill>
            <a:tailEnd type="triangle" w="med" len="med"/>
          </a:ln>
        </p:spPr>
      </p:cxnSp>
      <p:cxnSp>
        <p:nvCxnSpPr>
          <p:cNvPr id="2001" name="Arrow"/>
          <p:cNvCxnSpPr/>
          <p:nvPr/>
        </p:nvCxnSpPr>
        <p:spPr>
          <a:xfrm flipV="1">
            <a:off x="1206500" y="3175000"/>
            <a:ext cx="482600" cy="1930400"/>
          </a:xfrm>
          <a:prstGeom prst="line">
            <a:avLst/>
          </a:prstGeom>
          <a:ln w="34925" cap="rnd">
            <a:solidFill>
              <a:srgbClr val="00A7B5"/>
            </a:solidFill>
            <a:tailEnd type="triangle" w="med" len="med"/>
          </a:ln>
        </p:spPr>
      </p:cxnSp>
      <p:cxnSp>
        <p:nvCxnSpPr>
          <p:cNvPr id="2002" name="Arrow"/>
          <p:cNvCxnSpPr/>
          <p:nvPr/>
        </p:nvCxnSpPr>
        <p:spPr>
          <a:xfrm flipV="1">
            <a:off x="1206500" y="3657600"/>
            <a:ext cx="2413000" cy="1447800"/>
          </a:xfrm>
          <a:prstGeom prst="line">
            <a:avLst/>
          </a:prstGeom>
          <a:ln w="34925" cap="rnd">
            <a:solidFill>
              <a:srgbClr val="7AB648"/>
            </a:solidFill>
            <a:tailEnd type="triangle" w="med" len="med"/>
          </a:ln>
        </p:spPr>
      </p:cxnSp>
      <p:sp>
        <p:nvSpPr>
          <p:cNvPr id="2003" name="VL"/>
          <p:cNvSpPr txBox="1"/>
          <p:nvPr/>
        </p:nvSpPr>
        <p:spPr>
          <a:xfrm>
            <a:off x="2705100" y="4394200"/>
            <a:ext cx="914400" cy="2032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r>
              <a:rPr lang="en-US" sz="1200" b="1" dirty="0">
                <a:solidFill>
                  <a:srgbClr val="4B2E83"/>
                </a:solidFill>
              </a:rPr>
              <a:t>r₁=(3,1)</a:t>
            </a:r>
          </a:p>
        </p:txBody>
      </p:sp>
      <p:sp>
        <p:nvSpPr>
          <p:cNvPr id="2004" name="VL"/>
          <p:cNvSpPr txBox="1"/>
          <p:nvPr/>
        </p:nvSpPr>
        <p:spPr>
          <a:xfrm>
            <a:off x="1739900" y="2946400"/>
            <a:ext cx="914400" cy="2032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r>
              <a:rPr lang="en-US" sz="1200" b="1" dirty="0">
                <a:solidFill>
                  <a:srgbClr val="00A7B5"/>
                </a:solidFill>
              </a:rPr>
              <a:t>r₂=(1,4)</a:t>
            </a:r>
          </a:p>
        </p:txBody>
      </p:sp>
      <p:sp>
        <p:nvSpPr>
          <p:cNvPr id="2005" name="VL"/>
          <p:cNvSpPr txBox="1"/>
          <p:nvPr/>
        </p:nvSpPr>
        <p:spPr>
          <a:xfrm>
            <a:off x="3670300" y="3429000"/>
            <a:ext cx="914400" cy="2032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r>
              <a:rPr lang="en-US" sz="1200" b="1" dirty="0">
                <a:solidFill>
                  <a:srgbClr val="7AB648"/>
                </a:solidFill>
              </a:rPr>
              <a:t>r₃=(5,3)</a:t>
            </a:r>
          </a:p>
        </p:txBody>
      </p:sp>
      <p:sp>
        <p:nvSpPr>
          <p:cNvPr id="2006" name="GL"/>
          <p:cNvSpPr/>
          <p:nvPr/>
        </p:nvSpPr>
        <p:spPr>
          <a:xfrm>
            <a:off x="76200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7" name="GL"/>
          <p:cNvSpPr/>
          <p:nvPr/>
        </p:nvSpPr>
        <p:spPr>
          <a:xfrm>
            <a:off x="81026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8" name="GL"/>
          <p:cNvSpPr/>
          <p:nvPr/>
        </p:nvSpPr>
        <p:spPr>
          <a:xfrm>
            <a:off x="85852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9" name="GL"/>
          <p:cNvSpPr/>
          <p:nvPr/>
        </p:nvSpPr>
        <p:spPr>
          <a:xfrm>
            <a:off x="90678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0" name="GL"/>
          <p:cNvSpPr/>
          <p:nvPr/>
        </p:nvSpPr>
        <p:spPr>
          <a:xfrm>
            <a:off x="95504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1" name="GL"/>
          <p:cNvSpPr/>
          <p:nvPr/>
        </p:nvSpPr>
        <p:spPr>
          <a:xfrm>
            <a:off x="100330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2" name="GL"/>
          <p:cNvSpPr/>
          <p:nvPr/>
        </p:nvSpPr>
        <p:spPr>
          <a:xfrm>
            <a:off x="105156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3" name="GL"/>
          <p:cNvSpPr/>
          <p:nvPr/>
        </p:nvSpPr>
        <p:spPr>
          <a:xfrm>
            <a:off x="7620000" y="5105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4" name="GL"/>
          <p:cNvSpPr/>
          <p:nvPr/>
        </p:nvSpPr>
        <p:spPr>
          <a:xfrm>
            <a:off x="7620000" y="4622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5" name="GL"/>
          <p:cNvSpPr/>
          <p:nvPr/>
        </p:nvSpPr>
        <p:spPr>
          <a:xfrm>
            <a:off x="7620000" y="41402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6" name="GL"/>
          <p:cNvSpPr/>
          <p:nvPr/>
        </p:nvSpPr>
        <p:spPr>
          <a:xfrm>
            <a:off x="7620000" y="36576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7" name="GL"/>
          <p:cNvSpPr/>
          <p:nvPr/>
        </p:nvSpPr>
        <p:spPr>
          <a:xfrm>
            <a:off x="7620000" y="31750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8" name="GL"/>
          <p:cNvSpPr/>
          <p:nvPr/>
        </p:nvSpPr>
        <p:spPr>
          <a:xfrm>
            <a:off x="7620000" y="2692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9" name="GL"/>
          <p:cNvSpPr/>
          <p:nvPr/>
        </p:nvSpPr>
        <p:spPr>
          <a:xfrm>
            <a:off x="7620000" y="2209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20" name="GL"/>
          <p:cNvSpPr/>
          <p:nvPr/>
        </p:nvSpPr>
        <p:spPr>
          <a:xfrm>
            <a:off x="7620000" y="5095875"/>
            <a:ext cx="2895600" cy="1905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21" name="GL"/>
          <p:cNvSpPr/>
          <p:nvPr/>
        </p:nvSpPr>
        <p:spPr>
          <a:xfrm>
            <a:off x="7610475" y="2209800"/>
            <a:ext cx="19050" cy="289560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22" name="GLbl"/>
          <p:cNvSpPr txBox="1"/>
          <p:nvPr/>
        </p:nvSpPr>
        <p:spPr>
          <a:xfrm>
            <a:off x="7518400" y="51562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0</a:t>
            </a:r>
          </a:p>
        </p:txBody>
      </p:sp>
      <p:sp>
        <p:nvSpPr>
          <p:cNvPr id="2023" name="GLbl"/>
          <p:cNvSpPr txBox="1"/>
          <p:nvPr/>
        </p:nvSpPr>
        <p:spPr>
          <a:xfrm>
            <a:off x="8001000" y="51562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1</a:t>
            </a:r>
          </a:p>
        </p:txBody>
      </p:sp>
      <p:sp>
        <p:nvSpPr>
          <p:cNvPr id="2024" name="GLbl"/>
          <p:cNvSpPr txBox="1"/>
          <p:nvPr/>
        </p:nvSpPr>
        <p:spPr>
          <a:xfrm>
            <a:off x="8483600" y="51562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2</a:t>
            </a:r>
          </a:p>
        </p:txBody>
      </p:sp>
      <p:sp>
        <p:nvSpPr>
          <p:cNvPr id="2025" name="GLbl"/>
          <p:cNvSpPr txBox="1"/>
          <p:nvPr/>
        </p:nvSpPr>
        <p:spPr>
          <a:xfrm>
            <a:off x="8966200" y="51562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3</a:t>
            </a:r>
          </a:p>
        </p:txBody>
      </p:sp>
      <p:sp>
        <p:nvSpPr>
          <p:cNvPr id="2026" name="GLbl"/>
          <p:cNvSpPr txBox="1"/>
          <p:nvPr/>
        </p:nvSpPr>
        <p:spPr>
          <a:xfrm>
            <a:off x="9448800" y="51562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4</a:t>
            </a:r>
          </a:p>
        </p:txBody>
      </p:sp>
      <p:sp>
        <p:nvSpPr>
          <p:cNvPr id="2027" name="GLbl"/>
          <p:cNvSpPr txBox="1"/>
          <p:nvPr/>
        </p:nvSpPr>
        <p:spPr>
          <a:xfrm>
            <a:off x="9931400" y="51562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5</a:t>
            </a:r>
          </a:p>
        </p:txBody>
      </p:sp>
      <p:sp>
        <p:nvSpPr>
          <p:cNvPr id="2028" name="GLbl"/>
          <p:cNvSpPr txBox="1"/>
          <p:nvPr/>
        </p:nvSpPr>
        <p:spPr>
          <a:xfrm>
            <a:off x="10414000" y="51562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6</a:t>
            </a:r>
          </a:p>
        </p:txBody>
      </p:sp>
      <p:sp>
        <p:nvSpPr>
          <p:cNvPr id="2029" name="GLbl"/>
          <p:cNvSpPr txBox="1"/>
          <p:nvPr/>
        </p:nvSpPr>
        <p:spPr>
          <a:xfrm>
            <a:off x="7416800" y="45466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1</a:t>
            </a:r>
          </a:p>
        </p:txBody>
      </p:sp>
      <p:sp>
        <p:nvSpPr>
          <p:cNvPr id="2030" name="GLbl"/>
          <p:cNvSpPr txBox="1"/>
          <p:nvPr/>
        </p:nvSpPr>
        <p:spPr>
          <a:xfrm>
            <a:off x="7416800" y="40640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2</a:t>
            </a:r>
          </a:p>
        </p:txBody>
      </p:sp>
      <p:sp>
        <p:nvSpPr>
          <p:cNvPr id="2031" name="GLbl"/>
          <p:cNvSpPr txBox="1"/>
          <p:nvPr/>
        </p:nvSpPr>
        <p:spPr>
          <a:xfrm>
            <a:off x="7416800" y="35814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3</a:t>
            </a:r>
          </a:p>
        </p:txBody>
      </p:sp>
      <p:sp>
        <p:nvSpPr>
          <p:cNvPr id="2032" name="GLbl"/>
          <p:cNvSpPr txBox="1"/>
          <p:nvPr/>
        </p:nvSpPr>
        <p:spPr>
          <a:xfrm>
            <a:off x="7416800" y="30988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4</a:t>
            </a:r>
          </a:p>
        </p:txBody>
      </p:sp>
      <p:sp>
        <p:nvSpPr>
          <p:cNvPr id="2033" name="GLbl"/>
          <p:cNvSpPr txBox="1"/>
          <p:nvPr/>
        </p:nvSpPr>
        <p:spPr>
          <a:xfrm>
            <a:off x="7416800" y="26162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5</a:t>
            </a:r>
          </a:p>
        </p:txBody>
      </p:sp>
      <p:sp>
        <p:nvSpPr>
          <p:cNvPr id="2034" name="GLbl"/>
          <p:cNvSpPr txBox="1"/>
          <p:nvPr/>
        </p:nvSpPr>
        <p:spPr>
          <a:xfrm>
            <a:off x="7416800" y="21336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6</a:t>
            </a:r>
          </a:p>
        </p:txBody>
      </p:sp>
      <p:sp>
        <p:nvSpPr>
          <p:cNvPr id="2035" name="PTitle"/>
          <p:cNvSpPr txBox="1"/>
          <p:nvPr/>
        </p:nvSpPr>
        <p:spPr>
          <a:xfrm>
            <a:off x="7620000" y="1879600"/>
            <a:ext cx="3556000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Columns = feature vectors  (observation space)</a:t>
            </a:r>
          </a:p>
        </p:txBody>
      </p:sp>
      <p:cxnSp>
        <p:nvCxnSpPr>
          <p:cNvPr id="2036" name="Arrow"/>
          <p:cNvCxnSpPr/>
          <p:nvPr/>
        </p:nvCxnSpPr>
        <p:spPr>
          <a:xfrm flipV="1">
            <a:off x="7620000" y="3175000"/>
            <a:ext cx="965200" cy="1930400"/>
          </a:xfrm>
          <a:prstGeom prst="line">
            <a:avLst/>
          </a:prstGeom>
          <a:ln w="34925" cap="rnd">
            <a:solidFill>
              <a:srgbClr val="4B2E83"/>
            </a:solidFill>
            <a:tailEnd type="triangle" w="med" len="med"/>
          </a:ln>
        </p:spPr>
      </p:cxnSp>
      <p:cxnSp>
        <p:nvCxnSpPr>
          <p:cNvPr id="2037" name="Arrow"/>
          <p:cNvCxnSpPr/>
          <p:nvPr/>
        </p:nvCxnSpPr>
        <p:spPr>
          <a:xfrm flipV="1">
            <a:off x="7620000" y="4140200"/>
            <a:ext cx="2413000" cy="965200"/>
          </a:xfrm>
          <a:prstGeom prst="line">
            <a:avLst/>
          </a:prstGeom>
          <a:ln w="34925" cap="rnd">
            <a:solidFill>
              <a:srgbClr val="00A7B5"/>
            </a:solidFill>
            <a:tailEnd type="triangle" w="med" len="med"/>
          </a:ln>
        </p:spPr>
      </p:cxnSp>
      <p:cxnSp>
        <p:nvCxnSpPr>
          <p:cNvPr id="2038" name="Arrow"/>
          <p:cNvCxnSpPr/>
          <p:nvPr/>
        </p:nvCxnSpPr>
        <p:spPr>
          <a:xfrm flipV="1">
            <a:off x="7620000" y="3657600"/>
            <a:ext cx="482600" cy="1447800"/>
          </a:xfrm>
          <a:prstGeom prst="line">
            <a:avLst/>
          </a:prstGeom>
          <a:ln w="34925" cap="rnd">
            <a:solidFill>
              <a:srgbClr val="7AB648"/>
            </a:solidFill>
            <a:tailEnd type="triangle" w="med" len="med"/>
          </a:ln>
        </p:spPr>
      </p:cxnSp>
      <p:sp>
        <p:nvSpPr>
          <p:cNvPr id="2039" name="VL"/>
          <p:cNvSpPr txBox="1"/>
          <p:nvPr/>
        </p:nvSpPr>
        <p:spPr>
          <a:xfrm>
            <a:off x="8636000" y="2946400"/>
            <a:ext cx="914400" cy="2032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r>
              <a:rPr lang="en-US" sz="1200" b="1" dirty="0">
                <a:solidFill>
                  <a:srgbClr val="4B2E83"/>
                </a:solidFill>
              </a:rPr>
              <a:t>c₁=(2,4)</a:t>
            </a:r>
          </a:p>
        </p:txBody>
      </p:sp>
      <p:sp>
        <p:nvSpPr>
          <p:cNvPr id="2040" name="VL"/>
          <p:cNvSpPr txBox="1"/>
          <p:nvPr/>
        </p:nvSpPr>
        <p:spPr>
          <a:xfrm>
            <a:off x="10083800" y="3911600"/>
            <a:ext cx="914400" cy="2032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r>
              <a:rPr lang="en-US" sz="1200" b="1" dirty="0">
                <a:solidFill>
                  <a:srgbClr val="00A7B5"/>
                </a:solidFill>
              </a:rPr>
              <a:t>c₂=(5,2)</a:t>
            </a:r>
          </a:p>
        </p:txBody>
      </p:sp>
      <p:sp>
        <p:nvSpPr>
          <p:cNvPr id="2041" name="VL"/>
          <p:cNvSpPr txBox="1"/>
          <p:nvPr/>
        </p:nvSpPr>
        <p:spPr>
          <a:xfrm>
            <a:off x="7188200" y="3810000"/>
            <a:ext cx="914400" cy="2032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r>
              <a:rPr lang="en-US" sz="1200" b="1" dirty="0">
                <a:solidFill>
                  <a:srgbClr val="7AB648"/>
                </a:solidFill>
              </a:rPr>
              <a:t>c₃=(1,3)</a:t>
            </a:r>
          </a:p>
        </p:txBody>
      </p:sp>
    </p:spTree>
    <p:extLst>
      <p:ext uri="{BB962C8B-B14F-4D97-AF65-F5344CB8AC3E}">
        <p14:creationId xmlns:p14="http://schemas.microsoft.com/office/powerpoint/2010/main" val="335633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Exercise 1 — Plot the Row Vectors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Each row of the matrix is an individual vector in 2-D. Draw each as an arrow from the origin.</a:t>
            </a:r>
          </a:p>
        </p:txBody>
      </p:sp>
      <p:sp>
        <p:nvSpPr>
          <p:cNvPr id="23" name="LeftPanel">
            <a:extLst>
              <a:ext uri="{FF2B5EF4-FFF2-40B4-BE49-F238E27FC236}">
                <a16:creationId xmlns:a16="http://schemas.microsoft.com/office/drawing/2014/main" id="{F60EC4CB-8B1F-A349-90BA-7CEB226E574C}"/>
              </a:ext>
            </a:extLst>
          </p:cNvPr>
          <p:cNvSpPr/>
          <p:nvPr/>
        </p:nvSpPr>
        <p:spPr>
          <a:xfrm>
            <a:off x="381000" y="1574800"/>
            <a:ext cx="5207000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LeftHdr">
            <a:extLst>
              <a:ext uri="{FF2B5EF4-FFF2-40B4-BE49-F238E27FC236}">
                <a16:creationId xmlns:a16="http://schemas.microsoft.com/office/drawing/2014/main" id="{7197A726-B731-8C4D-9B4C-43EF6621615F}"/>
              </a:ext>
            </a:extLst>
          </p:cNvPr>
          <p:cNvSpPr txBox="1"/>
          <p:nvPr/>
        </p:nvSpPr>
        <p:spPr>
          <a:xfrm>
            <a:off x="558800" y="1371600"/>
            <a:ext cx="4851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endParaRPr lang="en-US"/>
          </a:p>
        </p:txBody>
      </p:sp>
      <p:sp>
        <p:nvSpPr>
          <p:cNvPr id="93" name="EncodeArrow">
            <a:extLst>
              <a:ext uri="{FF2B5EF4-FFF2-40B4-BE49-F238E27FC236}">
                <a16:creationId xmlns:a16="http://schemas.microsoft.com/office/drawing/2014/main" id="{620863A4-F33F-A64F-8F29-E75AC8A7DE3D}"/>
              </a:ext>
            </a:extLst>
          </p:cNvPr>
          <p:cNvSpPr/>
          <p:nvPr/>
        </p:nvSpPr>
        <p:spPr>
          <a:xfrm>
            <a:off x="5715000" y="2984500"/>
            <a:ext cx="612573" cy="4572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4" name="ArrowLbl">
            <a:extLst>
              <a:ext uri="{FF2B5EF4-FFF2-40B4-BE49-F238E27FC236}">
                <a16:creationId xmlns:a16="http://schemas.microsoft.com/office/drawing/2014/main" id="{E4C968E1-91A8-6247-8934-64EB175CA241}"/>
              </a:ext>
            </a:extLst>
          </p:cNvPr>
          <p:cNvSpPr txBox="1"/>
          <p:nvPr/>
        </p:nvSpPr>
        <p:spPr>
          <a:xfrm>
            <a:off x="5715000" y="34925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endParaRPr lang="en-US"/>
          </a:p>
        </p:txBody>
      </p:sp>
      <p:sp>
        <p:nvSpPr>
          <p:cNvPr id="95" name="RightPanel">
            <a:extLst>
              <a:ext uri="{FF2B5EF4-FFF2-40B4-BE49-F238E27FC236}">
                <a16:creationId xmlns:a16="http://schemas.microsoft.com/office/drawing/2014/main" id="{7C82CEA4-01F9-364D-881C-D6D309EB39EA}"/>
              </a:ext>
            </a:extLst>
          </p:cNvPr>
          <p:cNvSpPr/>
          <p:nvPr/>
        </p:nvSpPr>
        <p:spPr>
          <a:xfrm>
            <a:off x="6413500" y="1574800"/>
            <a:ext cx="5445327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6" name="RightHdr">
            <a:extLst>
              <a:ext uri="{FF2B5EF4-FFF2-40B4-BE49-F238E27FC236}">
                <a16:creationId xmlns:a16="http://schemas.microsoft.com/office/drawing/2014/main" id="{8528F78C-5C70-0E46-B67A-0A17C6DBF5FF}"/>
              </a:ext>
            </a:extLst>
          </p:cNvPr>
          <p:cNvSpPr txBox="1"/>
          <p:nvPr/>
        </p:nvSpPr>
        <p:spPr>
          <a:xfrm>
            <a:off x="7099300" y="1371600"/>
            <a:ext cx="46228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endParaRPr lang="en-US"/>
          </a:p>
        </p:txBody>
      </p:sp>
      <p:sp>
        <p:nvSpPr>
          <p:cNvPr id="127" name="DimCap">
            <a:extLst>
              <a:ext uri="{FF2B5EF4-FFF2-40B4-BE49-F238E27FC236}">
                <a16:creationId xmlns:a16="http://schemas.microsoft.com/office/drawing/2014/main" id="{E21EFD1C-333F-C24E-BAED-B6287875F6D3}"/>
              </a:ext>
            </a:extLst>
          </p:cNvPr>
          <p:cNvSpPr txBox="1"/>
          <p:nvPr/>
        </p:nvSpPr>
        <p:spPr>
          <a:xfrm>
            <a:off x="7099300" y="5308600"/>
            <a:ext cx="46228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endParaRPr lang="en-US"/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Each row of the data matrix is one individual, plotted as a vector in feature space.</a:t>
            </a:r>
          </a:p>
        </p:txBody>
      </p:sp>
      <p:sp>
        <p:nvSpPr>
          <p:cNvPr id="300" name="Ex1_Vecs"/>
          <p:cNvSpPr/>
          <p:nvPr/>
        </p:nvSpPr>
        <p:spPr>
          <a:xfrm>
            <a:off x="457200" y="12700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400" b="1" dirty="0">
                <a:solidFill>
                  <a:srgbClr val="333333"/>
                </a:solidFill>
              </a:rPr>
              <a:t>M = [ (2,3);  (5,1);  (1,4) ]    ·    rows = r₁, r₂, r₃</a:t>
            </a:r>
          </a:p>
        </p:txBody>
      </p:sp>
      <p:sp>
        <p:nvSpPr>
          <p:cNvPr id="310" name="Ex1_Alpha"/>
          <p:cNvSpPr/>
          <p:nvPr/>
        </p:nvSpPr>
        <p:spPr>
          <a:xfrm>
            <a:off x="4724400" y="1270000"/>
            <a:ext cx="1143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endParaRPr lang="en-US"/>
          </a:p>
        </p:txBody>
      </p:sp>
      <p:sp>
        <p:nvSpPr>
          <p:cNvPr id="210" name="Ex1_Task"/>
          <p:cNvSpPr/>
          <p:nvPr/>
        </p:nvSpPr>
        <p:spPr>
          <a:xfrm>
            <a:off x="6413500" y="1270000"/>
            <a:ext cx="5334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400" b="1" dirty="0">
                <a:solidFill>
                  <a:srgbClr val="333333"/>
                </a:solidFill>
              </a:rPr>
              <a:t>Plot r₁, r₂, r₃ on the grid, then reveal the solution.</a:t>
            </a:r>
          </a:p>
        </p:txBody>
      </p:sp>
      <p:sp>
        <p:nvSpPr>
          <p:cNvPr id="390" name="GLbl"/>
          <p:cNvSpPr/>
          <p:nvPr/>
        </p:nvSpPr>
        <p:spPr>
          <a:xfrm>
            <a:off x="508000" y="1879600"/>
            <a:ext cx="3556000" cy="2286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Your plot</a:t>
            </a:r>
          </a:p>
        </p:txBody>
      </p:sp>
      <p:sp>
        <p:nvSpPr>
          <p:cNvPr id="600" name="GL"/>
          <p:cNvSpPr/>
          <p:nvPr/>
        </p:nvSpPr>
        <p:spPr>
          <a:xfrm>
            <a:off x="1206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1" name="GL"/>
          <p:cNvSpPr/>
          <p:nvPr/>
        </p:nvSpPr>
        <p:spPr>
          <a:xfrm>
            <a:off x="1689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2" name="GL"/>
          <p:cNvSpPr/>
          <p:nvPr/>
        </p:nvSpPr>
        <p:spPr>
          <a:xfrm>
            <a:off x="21717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3" name="GL"/>
          <p:cNvSpPr/>
          <p:nvPr/>
        </p:nvSpPr>
        <p:spPr>
          <a:xfrm>
            <a:off x="26543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4" name="GL"/>
          <p:cNvSpPr/>
          <p:nvPr/>
        </p:nvSpPr>
        <p:spPr>
          <a:xfrm>
            <a:off x="31369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5" name="GL"/>
          <p:cNvSpPr/>
          <p:nvPr/>
        </p:nvSpPr>
        <p:spPr>
          <a:xfrm>
            <a:off x="3619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6" name="GL"/>
          <p:cNvSpPr/>
          <p:nvPr/>
        </p:nvSpPr>
        <p:spPr>
          <a:xfrm>
            <a:off x="4102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7" name="GL"/>
          <p:cNvSpPr/>
          <p:nvPr/>
        </p:nvSpPr>
        <p:spPr>
          <a:xfrm>
            <a:off x="1206500" y="5105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8" name="GL"/>
          <p:cNvSpPr/>
          <p:nvPr/>
        </p:nvSpPr>
        <p:spPr>
          <a:xfrm>
            <a:off x="1206500" y="4622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9" name="GL"/>
          <p:cNvSpPr/>
          <p:nvPr/>
        </p:nvSpPr>
        <p:spPr>
          <a:xfrm>
            <a:off x="1206500" y="41402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0" name="GL"/>
          <p:cNvSpPr/>
          <p:nvPr/>
        </p:nvSpPr>
        <p:spPr>
          <a:xfrm>
            <a:off x="1206500" y="36576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1" name="GL"/>
          <p:cNvSpPr/>
          <p:nvPr/>
        </p:nvSpPr>
        <p:spPr>
          <a:xfrm>
            <a:off x="1206500" y="31750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2" name="GL"/>
          <p:cNvSpPr/>
          <p:nvPr/>
        </p:nvSpPr>
        <p:spPr>
          <a:xfrm>
            <a:off x="1206500" y="2692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3" name="GL"/>
          <p:cNvSpPr/>
          <p:nvPr/>
        </p:nvSpPr>
        <p:spPr>
          <a:xfrm>
            <a:off x="1206500" y="2209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4" name="GL"/>
          <p:cNvSpPr/>
          <p:nvPr/>
        </p:nvSpPr>
        <p:spPr>
          <a:xfrm>
            <a:off x="1206500" y="5105400"/>
            <a:ext cx="2895600" cy="1905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5" name="GL"/>
          <p:cNvSpPr/>
          <p:nvPr/>
        </p:nvSpPr>
        <p:spPr>
          <a:xfrm>
            <a:off x="1206500" y="2209800"/>
            <a:ext cx="19050" cy="289560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6" name="GLbl"/>
          <p:cNvSpPr/>
          <p:nvPr/>
        </p:nvSpPr>
        <p:spPr>
          <a:xfrm>
            <a:off x="1104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0</a:t>
            </a:r>
          </a:p>
        </p:txBody>
      </p:sp>
      <p:sp>
        <p:nvSpPr>
          <p:cNvPr id="617" name="GLbl"/>
          <p:cNvSpPr/>
          <p:nvPr/>
        </p:nvSpPr>
        <p:spPr>
          <a:xfrm>
            <a:off x="1587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18" name="GLbl"/>
          <p:cNvSpPr/>
          <p:nvPr/>
        </p:nvSpPr>
        <p:spPr>
          <a:xfrm>
            <a:off x="20701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19" name="GLbl"/>
          <p:cNvSpPr/>
          <p:nvPr/>
        </p:nvSpPr>
        <p:spPr>
          <a:xfrm>
            <a:off x="25527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20" name="GLbl"/>
          <p:cNvSpPr/>
          <p:nvPr/>
        </p:nvSpPr>
        <p:spPr>
          <a:xfrm>
            <a:off x="30353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21" name="GLbl"/>
          <p:cNvSpPr/>
          <p:nvPr/>
        </p:nvSpPr>
        <p:spPr>
          <a:xfrm>
            <a:off x="3517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22" name="GLbl"/>
          <p:cNvSpPr/>
          <p:nvPr/>
        </p:nvSpPr>
        <p:spPr>
          <a:xfrm>
            <a:off x="4000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23" name="GLbl"/>
          <p:cNvSpPr/>
          <p:nvPr/>
        </p:nvSpPr>
        <p:spPr>
          <a:xfrm>
            <a:off x="977900" y="4546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24" name="GLbl"/>
          <p:cNvSpPr/>
          <p:nvPr/>
        </p:nvSpPr>
        <p:spPr>
          <a:xfrm>
            <a:off x="977900" y="40640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25" name="GLbl"/>
          <p:cNvSpPr/>
          <p:nvPr/>
        </p:nvSpPr>
        <p:spPr>
          <a:xfrm>
            <a:off x="977900" y="35814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26" name="GLbl"/>
          <p:cNvSpPr/>
          <p:nvPr/>
        </p:nvSpPr>
        <p:spPr>
          <a:xfrm>
            <a:off x="977900" y="30988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27" name="GLbl"/>
          <p:cNvSpPr/>
          <p:nvPr/>
        </p:nvSpPr>
        <p:spPr>
          <a:xfrm>
            <a:off x="977900" y="26162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28" name="GLbl"/>
          <p:cNvSpPr/>
          <p:nvPr/>
        </p:nvSpPr>
        <p:spPr>
          <a:xfrm>
            <a:off x="977900" y="2133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29" name="GLbl"/>
          <p:cNvSpPr/>
          <p:nvPr/>
        </p:nvSpPr>
        <p:spPr>
          <a:xfrm>
            <a:off x="4178300" y="50165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000" dirty="0">
                <a:solidFill>
                  <a:srgbClr val="7A7A7A"/>
                </a:solidFill>
                <a:latin typeface="Calibri"/>
              </a:rPr>
              <a:t>x</a:t>
            </a:r>
          </a:p>
        </p:txBody>
      </p:sp>
      <p:sp>
        <p:nvSpPr>
          <p:cNvPr id="630" name="GLbl"/>
          <p:cNvSpPr/>
          <p:nvPr/>
        </p:nvSpPr>
        <p:spPr>
          <a:xfrm>
            <a:off x="1104900" y="20193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1000" dirty="0">
                <a:solidFill>
                  <a:srgbClr val="7A7A7A"/>
                </a:solidFill>
                <a:latin typeface="Calibri"/>
              </a:rPr>
              <a:t>y</a:t>
            </a:r>
          </a:p>
        </p:txBody>
      </p:sp>
      <p:sp>
        <p:nvSpPr>
          <p:cNvPr id="2000" name="SolGL"/>
          <p:cNvSpPr/>
          <p:nvPr/>
        </p:nvSpPr>
        <p:spPr>
          <a:xfrm>
            <a:off x="76200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1" name="SolGL"/>
          <p:cNvSpPr/>
          <p:nvPr/>
        </p:nvSpPr>
        <p:spPr>
          <a:xfrm>
            <a:off x="81026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2" name="SolGL"/>
          <p:cNvSpPr/>
          <p:nvPr/>
        </p:nvSpPr>
        <p:spPr>
          <a:xfrm>
            <a:off x="85852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3" name="SolGL"/>
          <p:cNvSpPr/>
          <p:nvPr/>
        </p:nvSpPr>
        <p:spPr>
          <a:xfrm>
            <a:off x="90678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4" name="SolGL"/>
          <p:cNvSpPr/>
          <p:nvPr/>
        </p:nvSpPr>
        <p:spPr>
          <a:xfrm>
            <a:off x="95504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5" name="SolGL"/>
          <p:cNvSpPr/>
          <p:nvPr/>
        </p:nvSpPr>
        <p:spPr>
          <a:xfrm>
            <a:off x="100330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6" name="SolGL"/>
          <p:cNvSpPr/>
          <p:nvPr/>
        </p:nvSpPr>
        <p:spPr>
          <a:xfrm>
            <a:off x="105156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7" name="SolGL"/>
          <p:cNvSpPr/>
          <p:nvPr/>
        </p:nvSpPr>
        <p:spPr>
          <a:xfrm>
            <a:off x="7620000" y="5105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8" name="SolGL"/>
          <p:cNvSpPr/>
          <p:nvPr/>
        </p:nvSpPr>
        <p:spPr>
          <a:xfrm>
            <a:off x="7620000" y="4622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9" name="SolGL"/>
          <p:cNvSpPr/>
          <p:nvPr/>
        </p:nvSpPr>
        <p:spPr>
          <a:xfrm>
            <a:off x="7620000" y="41402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0" name="SolGL"/>
          <p:cNvSpPr/>
          <p:nvPr/>
        </p:nvSpPr>
        <p:spPr>
          <a:xfrm>
            <a:off x="7620000" y="36576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1" name="SolGL"/>
          <p:cNvSpPr/>
          <p:nvPr/>
        </p:nvSpPr>
        <p:spPr>
          <a:xfrm>
            <a:off x="7620000" y="31750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2" name="SolGL"/>
          <p:cNvSpPr/>
          <p:nvPr/>
        </p:nvSpPr>
        <p:spPr>
          <a:xfrm>
            <a:off x="7620000" y="2692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3" name="SolGL"/>
          <p:cNvSpPr/>
          <p:nvPr/>
        </p:nvSpPr>
        <p:spPr>
          <a:xfrm>
            <a:off x="7620000" y="2209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4" name="SolGL"/>
          <p:cNvSpPr/>
          <p:nvPr/>
        </p:nvSpPr>
        <p:spPr>
          <a:xfrm>
            <a:off x="7620000" y="5095875"/>
            <a:ext cx="2895600" cy="1905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5" name="SolGL"/>
          <p:cNvSpPr/>
          <p:nvPr/>
        </p:nvSpPr>
        <p:spPr>
          <a:xfrm>
            <a:off x="7610475" y="2209800"/>
            <a:ext cx="19050" cy="289560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6" name="SolGLbl"/>
          <p:cNvSpPr txBox="1"/>
          <p:nvPr/>
        </p:nvSpPr>
        <p:spPr>
          <a:xfrm>
            <a:off x="7518400" y="51562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0</a:t>
            </a:r>
          </a:p>
        </p:txBody>
      </p:sp>
      <p:sp>
        <p:nvSpPr>
          <p:cNvPr id="2017" name="SolGLbl"/>
          <p:cNvSpPr txBox="1"/>
          <p:nvPr/>
        </p:nvSpPr>
        <p:spPr>
          <a:xfrm>
            <a:off x="8001000" y="51562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1</a:t>
            </a:r>
          </a:p>
        </p:txBody>
      </p:sp>
      <p:sp>
        <p:nvSpPr>
          <p:cNvPr id="2018" name="SolGLbl"/>
          <p:cNvSpPr txBox="1"/>
          <p:nvPr/>
        </p:nvSpPr>
        <p:spPr>
          <a:xfrm>
            <a:off x="8483600" y="51562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2</a:t>
            </a:r>
          </a:p>
        </p:txBody>
      </p:sp>
      <p:sp>
        <p:nvSpPr>
          <p:cNvPr id="2019" name="SolGLbl"/>
          <p:cNvSpPr txBox="1"/>
          <p:nvPr/>
        </p:nvSpPr>
        <p:spPr>
          <a:xfrm>
            <a:off x="8966200" y="51562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3</a:t>
            </a:r>
          </a:p>
        </p:txBody>
      </p:sp>
      <p:sp>
        <p:nvSpPr>
          <p:cNvPr id="2020" name="SolGLbl"/>
          <p:cNvSpPr txBox="1"/>
          <p:nvPr/>
        </p:nvSpPr>
        <p:spPr>
          <a:xfrm>
            <a:off x="9448800" y="51562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4</a:t>
            </a:r>
          </a:p>
        </p:txBody>
      </p:sp>
      <p:sp>
        <p:nvSpPr>
          <p:cNvPr id="2021" name="SolGLbl"/>
          <p:cNvSpPr txBox="1"/>
          <p:nvPr/>
        </p:nvSpPr>
        <p:spPr>
          <a:xfrm>
            <a:off x="9931400" y="51562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5</a:t>
            </a:r>
          </a:p>
        </p:txBody>
      </p:sp>
      <p:sp>
        <p:nvSpPr>
          <p:cNvPr id="2022" name="SolGLbl"/>
          <p:cNvSpPr txBox="1"/>
          <p:nvPr/>
        </p:nvSpPr>
        <p:spPr>
          <a:xfrm>
            <a:off x="10414000" y="51562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6</a:t>
            </a:r>
          </a:p>
        </p:txBody>
      </p:sp>
      <p:sp>
        <p:nvSpPr>
          <p:cNvPr id="2023" name="SolGLbl"/>
          <p:cNvSpPr txBox="1"/>
          <p:nvPr/>
        </p:nvSpPr>
        <p:spPr>
          <a:xfrm>
            <a:off x="7416800" y="45466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1</a:t>
            </a:r>
          </a:p>
        </p:txBody>
      </p:sp>
      <p:sp>
        <p:nvSpPr>
          <p:cNvPr id="2024" name="SolGLbl"/>
          <p:cNvSpPr txBox="1"/>
          <p:nvPr/>
        </p:nvSpPr>
        <p:spPr>
          <a:xfrm>
            <a:off x="7416800" y="40640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2</a:t>
            </a:r>
          </a:p>
        </p:txBody>
      </p:sp>
      <p:sp>
        <p:nvSpPr>
          <p:cNvPr id="2025" name="SolGLbl"/>
          <p:cNvSpPr txBox="1"/>
          <p:nvPr/>
        </p:nvSpPr>
        <p:spPr>
          <a:xfrm>
            <a:off x="7416800" y="35814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3</a:t>
            </a:r>
          </a:p>
        </p:txBody>
      </p:sp>
      <p:sp>
        <p:nvSpPr>
          <p:cNvPr id="2026" name="SolGLbl"/>
          <p:cNvSpPr txBox="1"/>
          <p:nvPr/>
        </p:nvSpPr>
        <p:spPr>
          <a:xfrm>
            <a:off x="7416800" y="30988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4</a:t>
            </a:r>
          </a:p>
        </p:txBody>
      </p:sp>
      <p:sp>
        <p:nvSpPr>
          <p:cNvPr id="2027" name="SolGLbl"/>
          <p:cNvSpPr txBox="1"/>
          <p:nvPr/>
        </p:nvSpPr>
        <p:spPr>
          <a:xfrm>
            <a:off x="7416800" y="26162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5</a:t>
            </a:r>
          </a:p>
        </p:txBody>
      </p:sp>
      <p:sp>
        <p:nvSpPr>
          <p:cNvPr id="2028" name="SolGLbl"/>
          <p:cNvSpPr txBox="1"/>
          <p:nvPr/>
        </p:nvSpPr>
        <p:spPr>
          <a:xfrm>
            <a:off x="7416800" y="21336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6</a:t>
            </a:r>
          </a:p>
        </p:txBody>
      </p:sp>
      <p:sp>
        <p:nvSpPr>
          <p:cNvPr id="2029" name="SolTitle"/>
          <p:cNvSpPr txBox="1"/>
          <p:nvPr/>
        </p:nvSpPr>
        <p:spPr>
          <a:xfrm>
            <a:off x="7620000" y="1879600"/>
            <a:ext cx="3810000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r>
              <a:rPr lang="en-US" sz="1300" b="1" dirty="0">
                <a:solidFill>
                  <a:srgbClr val="4B2E83"/>
                </a:solidFill>
              </a:rPr>
              <a:t>Solution — row vectors plotted</a:t>
            </a:r>
          </a:p>
        </p:txBody>
      </p:sp>
      <p:cxnSp>
        <p:nvCxnSpPr>
          <p:cNvPr id="2030" name="SolArrow"/>
          <p:cNvCxnSpPr/>
          <p:nvPr/>
        </p:nvCxnSpPr>
        <p:spPr>
          <a:xfrm flipV="1">
            <a:off x="7620000" y="3657600"/>
            <a:ext cx="965200" cy="1447800"/>
          </a:xfrm>
          <a:prstGeom prst="line">
            <a:avLst/>
          </a:prstGeom>
          <a:ln w="34925" cap="rnd">
            <a:solidFill>
              <a:srgbClr val="4B2E83"/>
            </a:solidFill>
            <a:tailEnd type="triangle" w="med" len="med"/>
          </a:ln>
        </p:spPr>
      </p:cxnSp>
      <p:cxnSp>
        <p:nvCxnSpPr>
          <p:cNvPr id="2031" name="SolArrow"/>
          <p:cNvCxnSpPr/>
          <p:nvPr/>
        </p:nvCxnSpPr>
        <p:spPr>
          <a:xfrm flipV="1">
            <a:off x="7620000" y="4622800"/>
            <a:ext cx="2413000" cy="482600"/>
          </a:xfrm>
          <a:prstGeom prst="line">
            <a:avLst/>
          </a:prstGeom>
          <a:ln w="34925" cap="rnd">
            <a:solidFill>
              <a:srgbClr val="00A7B5"/>
            </a:solidFill>
            <a:tailEnd type="triangle" w="med" len="med"/>
          </a:ln>
        </p:spPr>
      </p:cxnSp>
      <p:cxnSp>
        <p:nvCxnSpPr>
          <p:cNvPr id="2032" name="SolArrow"/>
          <p:cNvCxnSpPr/>
          <p:nvPr/>
        </p:nvCxnSpPr>
        <p:spPr>
          <a:xfrm flipV="1">
            <a:off x="7620000" y="3175000"/>
            <a:ext cx="482600" cy="1930400"/>
          </a:xfrm>
          <a:prstGeom prst="line">
            <a:avLst/>
          </a:prstGeom>
          <a:ln w="34925" cap="rnd">
            <a:solidFill>
              <a:srgbClr val="7AB648"/>
            </a:solidFill>
            <a:tailEnd type="triangle" w="med" len="med"/>
          </a:ln>
        </p:spPr>
      </p:cxnSp>
      <p:sp>
        <p:nvSpPr>
          <p:cNvPr id="2033" name="SolVL"/>
          <p:cNvSpPr txBox="1"/>
          <p:nvPr/>
        </p:nvSpPr>
        <p:spPr>
          <a:xfrm>
            <a:off x="8636000" y="3429000"/>
            <a:ext cx="914400" cy="2032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r>
              <a:rPr lang="en-US" sz="1200" b="1" dirty="0">
                <a:solidFill>
                  <a:srgbClr val="4B2E83"/>
                </a:solidFill>
              </a:rPr>
              <a:t>r₁=(2,3)</a:t>
            </a:r>
          </a:p>
        </p:txBody>
      </p:sp>
      <p:sp>
        <p:nvSpPr>
          <p:cNvPr id="2034" name="SolVL"/>
          <p:cNvSpPr txBox="1"/>
          <p:nvPr/>
        </p:nvSpPr>
        <p:spPr>
          <a:xfrm>
            <a:off x="10083800" y="4394200"/>
            <a:ext cx="914400" cy="2032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r>
              <a:rPr lang="en-US" sz="1200" b="1" dirty="0">
                <a:solidFill>
                  <a:srgbClr val="00A7B5"/>
                </a:solidFill>
              </a:rPr>
              <a:t>r₂=(5,1)</a:t>
            </a:r>
          </a:p>
        </p:txBody>
      </p:sp>
      <p:sp>
        <p:nvSpPr>
          <p:cNvPr id="2035" name="SolVL"/>
          <p:cNvSpPr txBox="1"/>
          <p:nvPr/>
        </p:nvSpPr>
        <p:spPr>
          <a:xfrm>
            <a:off x="8153400" y="2946400"/>
            <a:ext cx="914400" cy="2032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r>
              <a:rPr lang="en-US" sz="1200" b="1" dirty="0">
                <a:solidFill>
                  <a:srgbClr val="7AB648"/>
                </a:solidFill>
              </a:rPr>
              <a:t>r₃=(1,4)</a:t>
            </a:r>
          </a:p>
        </p:txBody>
      </p:sp>
      <p:sp>
        <p:nvSpPr>
          <p:cNvPr id="230" name="Ex1_SolCover"/>
          <p:cNvSpPr/>
          <p:nvPr/>
        </p:nvSpPr>
        <p:spPr>
          <a:xfrm>
            <a:off x="6464300" y="1905000"/>
            <a:ext cx="5295900" cy="3556000"/>
          </a:xfrm>
          <a:prstGeom prst="rect">
            <a:avLst/>
          </a:prstGeom>
          <a:solidFill>
            <a:srgbClr val="4B2E83"/>
          </a:solidFill>
          <a:ln w="12700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1" name="Ex1_SolCoverTxt"/>
          <p:cNvSpPr/>
          <p:nvPr/>
        </p:nvSpPr>
        <p:spPr>
          <a:xfrm>
            <a:off x="6464300" y="1905000"/>
            <a:ext cx="5295900" cy="3556000"/>
          </a:xfrm>
          <a:prstGeom prst="rect">
            <a:avLst/>
          </a:prstGeom>
          <a:noFill/>
        </p:spPr>
        <p:txBody>
          <a:bodyPr wrap="square" lIns="91440" tIns="45720" rIns="91440" bIns="4572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Solution hidden</a:t>
            </a:r>
          </a:p>
          <a:p>
            <a:pPr algn="ctr"/>
            <a:r>
              <a:rPr lang="en-US" sz="1100" i="1" dirty="0">
                <a:solidFill>
                  <a:srgbClr val="FFFFFF"/>
                </a:solidFill>
              </a:rPr>
              <a:t>Plot the three row vectors, then remove this cover to check.</a:t>
            </a:r>
          </a:p>
        </p:txBody>
      </p:sp>
    </p:spTree>
    <p:extLst>
      <p:ext uri="{BB962C8B-B14F-4D97-AF65-F5344CB8AC3E}">
        <p14:creationId xmlns:p14="http://schemas.microsoft.com/office/powerpoint/2010/main" val="39190618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Exercise 2 — Plot the Row Vectors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Each row of the matrix is an individual vector in 2-D. Draw each as an arrow from the origin.</a:t>
            </a:r>
          </a:p>
        </p:txBody>
      </p:sp>
      <p:sp>
        <p:nvSpPr>
          <p:cNvPr id="23" name="LeftPanel">
            <a:extLst>
              <a:ext uri="{FF2B5EF4-FFF2-40B4-BE49-F238E27FC236}">
                <a16:creationId xmlns:a16="http://schemas.microsoft.com/office/drawing/2014/main" id="{F60EC4CB-8B1F-A349-90BA-7CEB226E574C}"/>
              </a:ext>
            </a:extLst>
          </p:cNvPr>
          <p:cNvSpPr/>
          <p:nvPr/>
        </p:nvSpPr>
        <p:spPr>
          <a:xfrm>
            <a:off x="381000" y="1574800"/>
            <a:ext cx="5207000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LeftHdr">
            <a:extLst>
              <a:ext uri="{FF2B5EF4-FFF2-40B4-BE49-F238E27FC236}">
                <a16:creationId xmlns:a16="http://schemas.microsoft.com/office/drawing/2014/main" id="{7197A726-B731-8C4D-9B4C-43EF6621615F}"/>
              </a:ext>
            </a:extLst>
          </p:cNvPr>
          <p:cNvSpPr txBox="1"/>
          <p:nvPr/>
        </p:nvSpPr>
        <p:spPr>
          <a:xfrm>
            <a:off x="558800" y="1371600"/>
            <a:ext cx="4851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endParaRPr lang="en-US"/>
          </a:p>
        </p:txBody>
      </p:sp>
      <p:sp>
        <p:nvSpPr>
          <p:cNvPr id="93" name="EncodeArrow">
            <a:extLst>
              <a:ext uri="{FF2B5EF4-FFF2-40B4-BE49-F238E27FC236}">
                <a16:creationId xmlns:a16="http://schemas.microsoft.com/office/drawing/2014/main" id="{620863A4-F33F-A64F-8F29-E75AC8A7DE3D}"/>
              </a:ext>
            </a:extLst>
          </p:cNvPr>
          <p:cNvSpPr/>
          <p:nvPr/>
        </p:nvSpPr>
        <p:spPr>
          <a:xfrm>
            <a:off x="5715000" y="2984500"/>
            <a:ext cx="612573" cy="4572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4" name="ArrowLbl">
            <a:extLst>
              <a:ext uri="{FF2B5EF4-FFF2-40B4-BE49-F238E27FC236}">
                <a16:creationId xmlns:a16="http://schemas.microsoft.com/office/drawing/2014/main" id="{E4C968E1-91A8-6247-8934-64EB175CA241}"/>
              </a:ext>
            </a:extLst>
          </p:cNvPr>
          <p:cNvSpPr txBox="1"/>
          <p:nvPr/>
        </p:nvSpPr>
        <p:spPr>
          <a:xfrm>
            <a:off x="5715000" y="34925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endParaRPr lang="en-US"/>
          </a:p>
        </p:txBody>
      </p:sp>
      <p:sp>
        <p:nvSpPr>
          <p:cNvPr id="95" name="RightPanel">
            <a:extLst>
              <a:ext uri="{FF2B5EF4-FFF2-40B4-BE49-F238E27FC236}">
                <a16:creationId xmlns:a16="http://schemas.microsoft.com/office/drawing/2014/main" id="{7C82CEA4-01F9-364D-881C-D6D309EB39EA}"/>
              </a:ext>
            </a:extLst>
          </p:cNvPr>
          <p:cNvSpPr/>
          <p:nvPr/>
        </p:nvSpPr>
        <p:spPr>
          <a:xfrm>
            <a:off x="6413500" y="1574800"/>
            <a:ext cx="5445327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6" name="RightHdr">
            <a:extLst>
              <a:ext uri="{FF2B5EF4-FFF2-40B4-BE49-F238E27FC236}">
                <a16:creationId xmlns:a16="http://schemas.microsoft.com/office/drawing/2014/main" id="{8528F78C-5C70-0E46-B67A-0A17C6DBF5FF}"/>
              </a:ext>
            </a:extLst>
          </p:cNvPr>
          <p:cNvSpPr txBox="1"/>
          <p:nvPr/>
        </p:nvSpPr>
        <p:spPr>
          <a:xfrm>
            <a:off x="7099300" y="1371600"/>
            <a:ext cx="46228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endParaRPr lang="en-US"/>
          </a:p>
        </p:txBody>
      </p:sp>
      <p:sp>
        <p:nvSpPr>
          <p:cNvPr id="127" name="DimCap">
            <a:extLst>
              <a:ext uri="{FF2B5EF4-FFF2-40B4-BE49-F238E27FC236}">
                <a16:creationId xmlns:a16="http://schemas.microsoft.com/office/drawing/2014/main" id="{E21EFD1C-333F-C24E-BAED-B6287875F6D3}"/>
              </a:ext>
            </a:extLst>
          </p:cNvPr>
          <p:cNvSpPr txBox="1"/>
          <p:nvPr/>
        </p:nvSpPr>
        <p:spPr>
          <a:xfrm>
            <a:off x="7099300" y="5308600"/>
            <a:ext cx="46228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endParaRPr lang="en-US"/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Each row of the data matrix is one individual, plotted as a vector in feature space.</a:t>
            </a:r>
          </a:p>
        </p:txBody>
      </p:sp>
      <p:sp>
        <p:nvSpPr>
          <p:cNvPr id="300" name="Ex1_Vecs"/>
          <p:cNvSpPr/>
          <p:nvPr/>
        </p:nvSpPr>
        <p:spPr>
          <a:xfrm>
            <a:off x="457200" y="12700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400" b="1" dirty="0">
                <a:solidFill>
                  <a:srgbClr val="333333"/>
                </a:solidFill>
              </a:rPr>
              <a:t>M = [ (4,1);  (2,5);  (3,3) ]    ·    rows = r₁, r₂, r₃</a:t>
            </a:r>
          </a:p>
        </p:txBody>
      </p:sp>
      <p:sp>
        <p:nvSpPr>
          <p:cNvPr id="310" name="Ex1_Alpha"/>
          <p:cNvSpPr/>
          <p:nvPr/>
        </p:nvSpPr>
        <p:spPr>
          <a:xfrm>
            <a:off x="4724400" y="1270000"/>
            <a:ext cx="1143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endParaRPr lang="en-US"/>
          </a:p>
        </p:txBody>
      </p:sp>
      <p:sp>
        <p:nvSpPr>
          <p:cNvPr id="210" name="Ex1_Task"/>
          <p:cNvSpPr/>
          <p:nvPr/>
        </p:nvSpPr>
        <p:spPr>
          <a:xfrm>
            <a:off x="6413500" y="1270000"/>
            <a:ext cx="5334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400" b="1" dirty="0">
                <a:solidFill>
                  <a:srgbClr val="333333"/>
                </a:solidFill>
              </a:rPr>
              <a:t>Plot r₁, r₂, r₃ on the grid, then reveal the solution.</a:t>
            </a:r>
          </a:p>
        </p:txBody>
      </p:sp>
      <p:sp>
        <p:nvSpPr>
          <p:cNvPr id="390" name="GLbl"/>
          <p:cNvSpPr/>
          <p:nvPr/>
        </p:nvSpPr>
        <p:spPr>
          <a:xfrm>
            <a:off x="508000" y="1879600"/>
            <a:ext cx="3556000" cy="2286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Your plot</a:t>
            </a:r>
          </a:p>
        </p:txBody>
      </p:sp>
      <p:sp>
        <p:nvSpPr>
          <p:cNvPr id="600" name="GL"/>
          <p:cNvSpPr/>
          <p:nvPr/>
        </p:nvSpPr>
        <p:spPr>
          <a:xfrm>
            <a:off x="1206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1" name="GL"/>
          <p:cNvSpPr/>
          <p:nvPr/>
        </p:nvSpPr>
        <p:spPr>
          <a:xfrm>
            <a:off x="1689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2" name="GL"/>
          <p:cNvSpPr/>
          <p:nvPr/>
        </p:nvSpPr>
        <p:spPr>
          <a:xfrm>
            <a:off x="21717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3" name="GL"/>
          <p:cNvSpPr/>
          <p:nvPr/>
        </p:nvSpPr>
        <p:spPr>
          <a:xfrm>
            <a:off x="26543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4" name="GL"/>
          <p:cNvSpPr/>
          <p:nvPr/>
        </p:nvSpPr>
        <p:spPr>
          <a:xfrm>
            <a:off x="31369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5" name="GL"/>
          <p:cNvSpPr/>
          <p:nvPr/>
        </p:nvSpPr>
        <p:spPr>
          <a:xfrm>
            <a:off x="3619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6" name="GL"/>
          <p:cNvSpPr/>
          <p:nvPr/>
        </p:nvSpPr>
        <p:spPr>
          <a:xfrm>
            <a:off x="4102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7" name="GL"/>
          <p:cNvSpPr/>
          <p:nvPr/>
        </p:nvSpPr>
        <p:spPr>
          <a:xfrm>
            <a:off x="1206500" y="5105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8" name="GL"/>
          <p:cNvSpPr/>
          <p:nvPr/>
        </p:nvSpPr>
        <p:spPr>
          <a:xfrm>
            <a:off x="1206500" y="4622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9" name="GL"/>
          <p:cNvSpPr/>
          <p:nvPr/>
        </p:nvSpPr>
        <p:spPr>
          <a:xfrm>
            <a:off x="1206500" y="41402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0" name="GL"/>
          <p:cNvSpPr/>
          <p:nvPr/>
        </p:nvSpPr>
        <p:spPr>
          <a:xfrm>
            <a:off x="1206500" y="36576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1" name="GL"/>
          <p:cNvSpPr/>
          <p:nvPr/>
        </p:nvSpPr>
        <p:spPr>
          <a:xfrm>
            <a:off x="1206500" y="31750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2" name="GL"/>
          <p:cNvSpPr/>
          <p:nvPr/>
        </p:nvSpPr>
        <p:spPr>
          <a:xfrm>
            <a:off x="1206500" y="2692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3" name="GL"/>
          <p:cNvSpPr/>
          <p:nvPr/>
        </p:nvSpPr>
        <p:spPr>
          <a:xfrm>
            <a:off x="1206500" y="2209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4" name="GL"/>
          <p:cNvSpPr/>
          <p:nvPr/>
        </p:nvSpPr>
        <p:spPr>
          <a:xfrm>
            <a:off x="1206500" y="5105400"/>
            <a:ext cx="2895600" cy="1905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5" name="GL"/>
          <p:cNvSpPr/>
          <p:nvPr/>
        </p:nvSpPr>
        <p:spPr>
          <a:xfrm>
            <a:off x="1206500" y="2209800"/>
            <a:ext cx="19050" cy="289560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6" name="GLbl"/>
          <p:cNvSpPr/>
          <p:nvPr/>
        </p:nvSpPr>
        <p:spPr>
          <a:xfrm>
            <a:off x="1104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0</a:t>
            </a:r>
          </a:p>
        </p:txBody>
      </p:sp>
      <p:sp>
        <p:nvSpPr>
          <p:cNvPr id="617" name="GLbl"/>
          <p:cNvSpPr/>
          <p:nvPr/>
        </p:nvSpPr>
        <p:spPr>
          <a:xfrm>
            <a:off x="1587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18" name="GLbl"/>
          <p:cNvSpPr/>
          <p:nvPr/>
        </p:nvSpPr>
        <p:spPr>
          <a:xfrm>
            <a:off x="20701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19" name="GLbl"/>
          <p:cNvSpPr/>
          <p:nvPr/>
        </p:nvSpPr>
        <p:spPr>
          <a:xfrm>
            <a:off x="25527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20" name="GLbl"/>
          <p:cNvSpPr/>
          <p:nvPr/>
        </p:nvSpPr>
        <p:spPr>
          <a:xfrm>
            <a:off x="30353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21" name="GLbl"/>
          <p:cNvSpPr/>
          <p:nvPr/>
        </p:nvSpPr>
        <p:spPr>
          <a:xfrm>
            <a:off x="3517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22" name="GLbl"/>
          <p:cNvSpPr/>
          <p:nvPr/>
        </p:nvSpPr>
        <p:spPr>
          <a:xfrm>
            <a:off x="4000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23" name="GLbl"/>
          <p:cNvSpPr/>
          <p:nvPr/>
        </p:nvSpPr>
        <p:spPr>
          <a:xfrm>
            <a:off x="977900" y="4546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24" name="GLbl"/>
          <p:cNvSpPr/>
          <p:nvPr/>
        </p:nvSpPr>
        <p:spPr>
          <a:xfrm>
            <a:off x="977900" y="40640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25" name="GLbl"/>
          <p:cNvSpPr/>
          <p:nvPr/>
        </p:nvSpPr>
        <p:spPr>
          <a:xfrm>
            <a:off x="977900" y="35814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26" name="GLbl"/>
          <p:cNvSpPr/>
          <p:nvPr/>
        </p:nvSpPr>
        <p:spPr>
          <a:xfrm>
            <a:off x="977900" y="30988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27" name="GLbl"/>
          <p:cNvSpPr/>
          <p:nvPr/>
        </p:nvSpPr>
        <p:spPr>
          <a:xfrm>
            <a:off x="977900" y="26162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28" name="GLbl"/>
          <p:cNvSpPr/>
          <p:nvPr/>
        </p:nvSpPr>
        <p:spPr>
          <a:xfrm>
            <a:off x="977900" y="2133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29" name="GLbl"/>
          <p:cNvSpPr/>
          <p:nvPr/>
        </p:nvSpPr>
        <p:spPr>
          <a:xfrm>
            <a:off x="4178300" y="50165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000" dirty="0">
                <a:solidFill>
                  <a:srgbClr val="7A7A7A"/>
                </a:solidFill>
                <a:latin typeface="Calibri"/>
              </a:rPr>
              <a:t>x</a:t>
            </a:r>
          </a:p>
        </p:txBody>
      </p:sp>
      <p:sp>
        <p:nvSpPr>
          <p:cNvPr id="630" name="GLbl"/>
          <p:cNvSpPr/>
          <p:nvPr/>
        </p:nvSpPr>
        <p:spPr>
          <a:xfrm>
            <a:off x="1104900" y="20193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1000" dirty="0">
                <a:solidFill>
                  <a:srgbClr val="7A7A7A"/>
                </a:solidFill>
                <a:latin typeface="Calibri"/>
              </a:rPr>
              <a:t>y</a:t>
            </a:r>
          </a:p>
        </p:txBody>
      </p:sp>
      <p:sp>
        <p:nvSpPr>
          <p:cNvPr id="2000" name="SolGL"/>
          <p:cNvSpPr/>
          <p:nvPr/>
        </p:nvSpPr>
        <p:spPr>
          <a:xfrm>
            <a:off x="76200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1" name="SolGL"/>
          <p:cNvSpPr/>
          <p:nvPr/>
        </p:nvSpPr>
        <p:spPr>
          <a:xfrm>
            <a:off x="81026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2" name="SolGL"/>
          <p:cNvSpPr/>
          <p:nvPr/>
        </p:nvSpPr>
        <p:spPr>
          <a:xfrm>
            <a:off x="85852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3" name="SolGL"/>
          <p:cNvSpPr/>
          <p:nvPr/>
        </p:nvSpPr>
        <p:spPr>
          <a:xfrm>
            <a:off x="90678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4" name="SolGL"/>
          <p:cNvSpPr/>
          <p:nvPr/>
        </p:nvSpPr>
        <p:spPr>
          <a:xfrm>
            <a:off x="95504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5" name="SolGL"/>
          <p:cNvSpPr/>
          <p:nvPr/>
        </p:nvSpPr>
        <p:spPr>
          <a:xfrm>
            <a:off x="100330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6" name="SolGL"/>
          <p:cNvSpPr/>
          <p:nvPr/>
        </p:nvSpPr>
        <p:spPr>
          <a:xfrm>
            <a:off x="105156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7" name="SolGL"/>
          <p:cNvSpPr/>
          <p:nvPr/>
        </p:nvSpPr>
        <p:spPr>
          <a:xfrm>
            <a:off x="7620000" y="5105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8" name="SolGL"/>
          <p:cNvSpPr/>
          <p:nvPr/>
        </p:nvSpPr>
        <p:spPr>
          <a:xfrm>
            <a:off x="7620000" y="4622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9" name="SolGL"/>
          <p:cNvSpPr/>
          <p:nvPr/>
        </p:nvSpPr>
        <p:spPr>
          <a:xfrm>
            <a:off x="7620000" y="41402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0" name="SolGL"/>
          <p:cNvSpPr/>
          <p:nvPr/>
        </p:nvSpPr>
        <p:spPr>
          <a:xfrm>
            <a:off x="7620000" y="36576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1" name="SolGL"/>
          <p:cNvSpPr/>
          <p:nvPr/>
        </p:nvSpPr>
        <p:spPr>
          <a:xfrm>
            <a:off x="7620000" y="31750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2" name="SolGL"/>
          <p:cNvSpPr/>
          <p:nvPr/>
        </p:nvSpPr>
        <p:spPr>
          <a:xfrm>
            <a:off x="7620000" y="2692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3" name="SolGL"/>
          <p:cNvSpPr/>
          <p:nvPr/>
        </p:nvSpPr>
        <p:spPr>
          <a:xfrm>
            <a:off x="7620000" y="2209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4" name="SolGL"/>
          <p:cNvSpPr/>
          <p:nvPr/>
        </p:nvSpPr>
        <p:spPr>
          <a:xfrm>
            <a:off x="7620000" y="5095875"/>
            <a:ext cx="2895600" cy="1905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5" name="SolGL"/>
          <p:cNvSpPr/>
          <p:nvPr/>
        </p:nvSpPr>
        <p:spPr>
          <a:xfrm>
            <a:off x="7610475" y="2209800"/>
            <a:ext cx="19050" cy="289560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6" name="SolGLbl"/>
          <p:cNvSpPr txBox="1"/>
          <p:nvPr/>
        </p:nvSpPr>
        <p:spPr>
          <a:xfrm>
            <a:off x="7518400" y="51562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0</a:t>
            </a:r>
          </a:p>
        </p:txBody>
      </p:sp>
      <p:sp>
        <p:nvSpPr>
          <p:cNvPr id="2017" name="SolGLbl"/>
          <p:cNvSpPr txBox="1"/>
          <p:nvPr/>
        </p:nvSpPr>
        <p:spPr>
          <a:xfrm>
            <a:off x="8001000" y="51562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1</a:t>
            </a:r>
          </a:p>
        </p:txBody>
      </p:sp>
      <p:sp>
        <p:nvSpPr>
          <p:cNvPr id="2018" name="SolGLbl"/>
          <p:cNvSpPr txBox="1"/>
          <p:nvPr/>
        </p:nvSpPr>
        <p:spPr>
          <a:xfrm>
            <a:off x="8483600" y="51562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2</a:t>
            </a:r>
          </a:p>
        </p:txBody>
      </p:sp>
      <p:sp>
        <p:nvSpPr>
          <p:cNvPr id="2019" name="SolGLbl"/>
          <p:cNvSpPr txBox="1"/>
          <p:nvPr/>
        </p:nvSpPr>
        <p:spPr>
          <a:xfrm>
            <a:off x="8966200" y="51562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3</a:t>
            </a:r>
          </a:p>
        </p:txBody>
      </p:sp>
      <p:sp>
        <p:nvSpPr>
          <p:cNvPr id="2020" name="SolGLbl"/>
          <p:cNvSpPr txBox="1"/>
          <p:nvPr/>
        </p:nvSpPr>
        <p:spPr>
          <a:xfrm>
            <a:off x="9448800" y="51562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4</a:t>
            </a:r>
          </a:p>
        </p:txBody>
      </p:sp>
      <p:sp>
        <p:nvSpPr>
          <p:cNvPr id="2021" name="SolGLbl"/>
          <p:cNvSpPr txBox="1"/>
          <p:nvPr/>
        </p:nvSpPr>
        <p:spPr>
          <a:xfrm>
            <a:off x="9931400" y="51562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5</a:t>
            </a:r>
          </a:p>
        </p:txBody>
      </p:sp>
      <p:sp>
        <p:nvSpPr>
          <p:cNvPr id="2022" name="SolGLbl"/>
          <p:cNvSpPr txBox="1"/>
          <p:nvPr/>
        </p:nvSpPr>
        <p:spPr>
          <a:xfrm>
            <a:off x="10414000" y="51562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6</a:t>
            </a:r>
          </a:p>
        </p:txBody>
      </p:sp>
      <p:sp>
        <p:nvSpPr>
          <p:cNvPr id="2023" name="SolGLbl"/>
          <p:cNvSpPr txBox="1"/>
          <p:nvPr/>
        </p:nvSpPr>
        <p:spPr>
          <a:xfrm>
            <a:off x="7416800" y="45466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1</a:t>
            </a:r>
          </a:p>
        </p:txBody>
      </p:sp>
      <p:sp>
        <p:nvSpPr>
          <p:cNvPr id="2024" name="SolGLbl"/>
          <p:cNvSpPr txBox="1"/>
          <p:nvPr/>
        </p:nvSpPr>
        <p:spPr>
          <a:xfrm>
            <a:off x="7416800" y="40640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2</a:t>
            </a:r>
          </a:p>
        </p:txBody>
      </p:sp>
      <p:sp>
        <p:nvSpPr>
          <p:cNvPr id="2025" name="SolGLbl"/>
          <p:cNvSpPr txBox="1"/>
          <p:nvPr/>
        </p:nvSpPr>
        <p:spPr>
          <a:xfrm>
            <a:off x="7416800" y="35814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3</a:t>
            </a:r>
          </a:p>
        </p:txBody>
      </p:sp>
      <p:sp>
        <p:nvSpPr>
          <p:cNvPr id="2026" name="SolGLbl"/>
          <p:cNvSpPr txBox="1"/>
          <p:nvPr/>
        </p:nvSpPr>
        <p:spPr>
          <a:xfrm>
            <a:off x="7416800" y="30988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4</a:t>
            </a:r>
          </a:p>
        </p:txBody>
      </p:sp>
      <p:sp>
        <p:nvSpPr>
          <p:cNvPr id="2027" name="SolGLbl"/>
          <p:cNvSpPr txBox="1"/>
          <p:nvPr/>
        </p:nvSpPr>
        <p:spPr>
          <a:xfrm>
            <a:off x="7416800" y="26162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5</a:t>
            </a:r>
          </a:p>
        </p:txBody>
      </p:sp>
      <p:sp>
        <p:nvSpPr>
          <p:cNvPr id="2028" name="SolGLbl"/>
          <p:cNvSpPr txBox="1"/>
          <p:nvPr/>
        </p:nvSpPr>
        <p:spPr>
          <a:xfrm>
            <a:off x="7416800" y="21336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6</a:t>
            </a:r>
          </a:p>
        </p:txBody>
      </p:sp>
      <p:sp>
        <p:nvSpPr>
          <p:cNvPr id="2029" name="SolTitle"/>
          <p:cNvSpPr txBox="1"/>
          <p:nvPr/>
        </p:nvSpPr>
        <p:spPr>
          <a:xfrm>
            <a:off x="7620000" y="1879600"/>
            <a:ext cx="3810000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r>
              <a:rPr lang="en-US" sz="1300" b="1" dirty="0">
                <a:solidFill>
                  <a:srgbClr val="4B2E83"/>
                </a:solidFill>
              </a:rPr>
              <a:t>Solution — row vectors plotted</a:t>
            </a:r>
          </a:p>
        </p:txBody>
      </p:sp>
      <p:cxnSp>
        <p:nvCxnSpPr>
          <p:cNvPr id="2030" name="SolArrow"/>
          <p:cNvCxnSpPr/>
          <p:nvPr/>
        </p:nvCxnSpPr>
        <p:spPr>
          <a:xfrm flipV="1">
            <a:off x="7620000" y="4622800"/>
            <a:ext cx="1930400" cy="482600"/>
          </a:xfrm>
          <a:prstGeom prst="line">
            <a:avLst/>
          </a:prstGeom>
          <a:ln w="34925" cap="rnd">
            <a:solidFill>
              <a:srgbClr val="4B2E83"/>
            </a:solidFill>
            <a:tailEnd type="triangle" w="med" len="med"/>
          </a:ln>
        </p:spPr>
      </p:cxnSp>
      <p:cxnSp>
        <p:nvCxnSpPr>
          <p:cNvPr id="2031" name="SolArrow"/>
          <p:cNvCxnSpPr/>
          <p:nvPr/>
        </p:nvCxnSpPr>
        <p:spPr>
          <a:xfrm flipV="1">
            <a:off x="7620000" y="2692400"/>
            <a:ext cx="965200" cy="2413000"/>
          </a:xfrm>
          <a:prstGeom prst="line">
            <a:avLst/>
          </a:prstGeom>
          <a:ln w="34925" cap="rnd">
            <a:solidFill>
              <a:srgbClr val="00A7B5"/>
            </a:solidFill>
            <a:tailEnd type="triangle" w="med" len="med"/>
          </a:ln>
        </p:spPr>
      </p:cxnSp>
      <p:cxnSp>
        <p:nvCxnSpPr>
          <p:cNvPr id="2032" name="SolArrow"/>
          <p:cNvCxnSpPr/>
          <p:nvPr/>
        </p:nvCxnSpPr>
        <p:spPr>
          <a:xfrm flipV="1">
            <a:off x="7620000" y="3657600"/>
            <a:ext cx="1447800" cy="1447800"/>
          </a:xfrm>
          <a:prstGeom prst="line">
            <a:avLst/>
          </a:prstGeom>
          <a:ln w="34925" cap="rnd">
            <a:solidFill>
              <a:srgbClr val="7AB648"/>
            </a:solidFill>
            <a:tailEnd type="triangle" w="med" len="med"/>
          </a:ln>
        </p:spPr>
      </p:cxnSp>
      <p:sp>
        <p:nvSpPr>
          <p:cNvPr id="2033" name="SolVL"/>
          <p:cNvSpPr txBox="1"/>
          <p:nvPr/>
        </p:nvSpPr>
        <p:spPr>
          <a:xfrm>
            <a:off x="9601200" y="4394200"/>
            <a:ext cx="914400" cy="2032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r>
              <a:rPr lang="en-US" sz="1200" b="1" dirty="0">
                <a:solidFill>
                  <a:srgbClr val="4B2E83"/>
                </a:solidFill>
              </a:rPr>
              <a:t>r₁=(4,1)</a:t>
            </a:r>
          </a:p>
        </p:txBody>
      </p:sp>
      <p:sp>
        <p:nvSpPr>
          <p:cNvPr id="2034" name="SolVL"/>
          <p:cNvSpPr txBox="1"/>
          <p:nvPr/>
        </p:nvSpPr>
        <p:spPr>
          <a:xfrm>
            <a:off x="8636000" y="2463800"/>
            <a:ext cx="914400" cy="2032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r>
              <a:rPr lang="en-US" sz="1200" b="1" dirty="0">
                <a:solidFill>
                  <a:srgbClr val="00A7B5"/>
                </a:solidFill>
              </a:rPr>
              <a:t>r₂=(2,5)</a:t>
            </a:r>
          </a:p>
        </p:txBody>
      </p:sp>
      <p:sp>
        <p:nvSpPr>
          <p:cNvPr id="2035" name="SolVL"/>
          <p:cNvSpPr txBox="1"/>
          <p:nvPr/>
        </p:nvSpPr>
        <p:spPr>
          <a:xfrm>
            <a:off x="9118600" y="3429000"/>
            <a:ext cx="914400" cy="2032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r>
              <a:rPr lang="en-US" sz="1200" b="1" dirty="0">
                <a:solidFill>
                  <a:srgbClr val="7AB648"/>
                </a:solidFill>
              </a:rPr>
              <a:t>r₃=(3,3)</a:t>
            </a:r>
          </a:p>
        </p:txBody>
      </p:sp>
      <p:sp>
        <p:nvSpPr>
          <p:cNvPr id="230" name="Ex1_SolCover"/>
          <p:cNvSpPr/>
          <p:nvPr/>
        </p:nvSpPr>
        <p:spPr>
          <a:xfrm>
            <a:off x="6464300" y="1905000"/>
            <a:ext cx="5295900" cy="3556000"/>
          </a:xfrm>
          <a:prstGeom prst="rect">
            <a:avLst/>
          </a:prstGeom>
          <a:solidFill>
            <a:srgbClr val="4B2E83"/>
          </a:solidFill>
          <a:ln w="12700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1" name="Ex1_SolCoverTxt"/>
          <p:cNvSpPr/>
          <p:nvPr/>
        </p:nvSpPr>
        <p:spPr>
          <a:xfrm>
            <a:off x="6464300" y="1905000"/>
            <a:ext cx="5295900" cy="3556000"/>
          </a:xfrm>
          <a:prstGeom prst="rect">
            <a:avLst/>
          </a:prstGeom>
          <a:noFill/>
        </p:spPr>
        <p:txBody>
          <a:bodyPr wrap="square" lIns="91440" tIns="45720" rIns="91440" bIns="4572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Solution hidden</a:t>
            </a:r>
          </a:p>
          <a:p>
            <a:pPr algn="ctr"/>
            <a:r>
              <a:rPr lang="en-US" sz="1100" i="1" dirty="0">
                <a:solidFill>
                  <a:srgbClr val="FFFFFF"/>
                </a:solidFill>
              </a:rPr>
              <a:t>Plot the three row vectors, then remove this cover to check.</a:t>
            </a:r>
          </a:p>
        </p:txBody>
      </p:sp>
    </p:spTree>
    <p:extLst>
      <p:ext uri="{BB962C8B-B14F-4D97-AF65-F5344CB8AC3E}">
        <p14:creationId xmlns:p14="http://schemas.microsoft.com/office/powerpoint/2010/main" val="31783939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Exercise 3 — Plot the Row Vectors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Each row of the matrix is an individual vector in 2-D. Draw each as an arrow from the origin.</a:t>
            </a:r>
          </a:p>
        </p:txBody>
      </p:sp>
      <p:sp>
        <p:nvSpPr>
          <p:cNvPr id="23" name="LeftPanel">
            <a:extLst>
              <a:ext uri="{FF2B5EF4-FFF2-40B4-BE49-F238E27FC236}">
                <a16:creationId xmlns:a16="http://schemas.microsoft.com/office/drawing/2014/main" id="{F60EC4CB-8B1F-A349-90BA-7CEB226E574C}"/>
              </a:ext>
            </a:extLst>
          </p:cNvPr>
          <p:cNvSpPr/>
          <p:nvPr/>
        </p:nvSpPr>
        <p:spPr>
          <a:xfrm>
            <a:off x="381000" y="1574800"/>
            <a:ext cx="5207000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LeftHdr">
            <a:extLst>
              <a:ext uri="{FF2B5EF4-FFF2-40B4-BE49-F238E27FC236}">
                <a16:creationId xmlns:a16="http://schemas.microsoft.com/office/drawing/2014/main" id="{7197A726-B731-8C4D-9B4C-43EF6621615F}"/>
              </a:ext>
            </a:extLst>
          </p:cNvPr>
          <p:cNvSpPr txBox="1"/>
          <p:nvPr/>
        </p:nvSpPr>
        <p:spPr>
          <a:xfrm>
            <a:off x="558800" y="1371600"/>
            <a:ext cx="4851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endParaRPr lang="en-US"/>
          </a:p>
        </p:txBody>
      </p:sp>
      <p:sp>
        <p:nvSpPr>
          <p:cNvPr id="93" name="EncodeArrow">
            <a:extLst>
              <a:ext uri="{FF2B5EF4-FFF2-40B4-BE49-F238E27FC236}">
                <a16:creationId xmlns:a16="http://schemas.microsoft.com/office/drawing/2014/main" id="{620863A4-F33F-A64F-8F29-E75AC8A7DE3D}"/>
              </a:ext>
            </a:extLst>
          </p:cNvPr>
          <p:cNvSpPr/>
          <p:nvPr/>
        </p:nvSpPr>
        <p:spPr>
          <a:xfrm>
            <a:off x="5715000" y="2984500"/>
            <a:ext cx="612573" cy="4572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4" name="ArrowLbl">
            <a:extLst>
              <a:ext uri="{FF2B5EF4-FFF2-40B4-BE49-F238E27FC236}">
                <a16:creationId xmlns:a16="http://schemas.microsoft.com/office/drawing/2014/main" id="{E4C968E1-91A8-6247-8934-64EB175CA241}"/>
              </a:ext>
            </a:extLst>
          </p:cNvPr>
          <p:cNvSpPr txBox="1"/>
          <p:nvPr/>
        </p:nvSpPr>
        <p:spPr>
          <a:xfrm>
            <a:off x="5715000" y="34925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endParaRPr lang="en-US"/>
          </a:p>
        </p:txBody>
      </p:sp>
      <p:sp>
        <p:nvSpPr>
          <p:cNvPr id="95" name="RightPanel">
            <a:extLst>
              <a:ext uri="{FF2B5EF4-FFF2-40B4-BE49-F238E27FC236}">
                <a16:creationId xmlns:a16="http://schemas.microsoft.com/office/drawing/2014/main" id="{7C82CEA4-01F9-364D-881C-D6D309EB39EA}"/>
              </a:ext>
            </a:extLst>
          </p:cNvPr>
          <p:cNvSpPr/>
          <p:nvPr/>
        </p:nvSpPr>
        <p:spPr>
          <a:xfrm>
            <a:off x="6413500" y="1574800"/>
            <a:ext cx="5445327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6" name="RightHdr">
            <a:extLst>
              <a:ext uri="{FF2B5EF4-FFF2-40B4-BE49-F238E27FC236}">
                <a16:creationId xmlns:a16="http://schemas.microsoft.com/office/drawing/2014/main" id="{8528F78C-5C70-0E46-B67A-0A17C6DBF5FF}"/>
              </a:ext>
            </a:extLst>
          </p:cNvPr>
          <p:cNvSpPr txBox="1"/>
          <p:nvPr/>
        </p:nvSpPr>
        <p:spPr>
          <a:xfrm>
            <a:off x="7099300" y="1371600"/>
            <a:ext cx="46228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endParaRPr lang="en-US"/>
          </a:p>
        </p:txBody>
      </p:sp>
      <p:sp>
        <p:nvSpPr>
          <p:cNvPr id="127" name="DimCap">
            <a:extLst>
              <a:ext uri="{FF2B5EF4-FFF2-40B4-BE49-F238E27FC236}">
                <a16:creationId xmlns:a16="http://schemas.microsoft.com/office/drawing/2014/main" id="{E21EFD1C-333F-C24E-BAED-B6287875F6D3}"/>
              </a:ext>
            </a:extLst>
          </p:cNvPr>
          <p:cNvSpPr txBox="1"/>
          <p:nvPr/>
        </p:nvSpPr>
        <p:spPr>
          <a:xfrm>
            <a:off x="7099300" y="5308600"/>
            <a:ext cx="46228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endParaRPr lang="en-US"/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Each row of the data matrix is one individual, plotted as a vector in feature space.</a:t>
            </a:r>
          </a:p>
        </p:txBody>
      </p:sp>
      <p:sp>
        <p:nvSpPr>
          <p:cNvPr id="300" name="Ex1_Vecs"/>
          <p:cNvSpPr/>
          <p:nvPr/>
        </p:nvSpPr>
        <p:spPr>
          <a:xfrm>
            <a:off x="457200" y="12700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400" b="1" dirty="0">
                <a:solidFill>
                  <a:srgbClr val="333333"/>
                </a:solidFill>
              </a:rPr>
              <a:t>M = [ (1,2);  (4,4);  (5,2) ]    ·    rows = r₁, r₂, r₃</a:t>
            </a:r>
          </a:p>
        </p:txBody>
      </p:sp>
      <p:sp>
        <p:nvSpPr>
          <p:cNvPr id="310" name="Ex1_Alpha"/>
          <p:cNvSpPr/>
          <p:nvPr/>
        </p:nvSpPr>
        <p:spPr>
          <a:xfrm>
            <a:off x="4724400" y="1270000"/>
            <a:ext cx="1143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endParaRPr lang="en-US"/>
          </a:p>
        </p:txBody>
      </p:sp>
      <p:sp>
        <p:nvSpPr>
          <p:cNvPr id="210" name="Ex1_Task"/>
          <p:cNvSpPr/>
          <p:nvPr/>
        </p:nvSpPr>
        <p:spPr>
          <a:xfrm>
            <a:off x="6413500" y="1270000"/>
            <a:ext cx="5334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400" b="1" dirty="0">
                <a:solidFill>
                  <a:srgbClr val="333333"/>
                </a:solidFill>
              </a:rPr>
              <a:t>Plot r₁, r₂, r₃ on the grid, then reveal the solution.</a:t>
            </a:r>
          </a:p>
        </p:txBody>
      </p:sp>
      <p:sp>
        <p:nvSpPr>
          <p:cNvPr id="390" name="GLbl"/>
          <p:cNvSpPr/>
          <p:nvPr/>
        </p:nvSpPr>
        <p:spPr>
          <a:xfrm>
            <a:off x="508000" y="1879600"/>
            <a:ext cx="3556000" cy="2286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Your plot</a:t>
            </a:r>
          </a:p>
        </p:txBody>
      </p:sp>
      <p:sp>
        <p:nvSpPr>
          <p:cNvPr id="600" name="GL"/>
          <p:cNvSpPr/>
          <p:nvPr/>
        </p:nvSpPr>
        <p:spPr>
          <a:xfrm>
            <a:off x="1206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1" name="GL"/>
          <p:cNvSpPr/>
          <p:nvPr/>
        </p:nvSpPr>
        <p:spPr>
          <a:xfrm>
            <a:off x="1689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2" name="GL"/>
          <p:cNvSpPr/>
          <p:nvPr/>
        </p:nvSpPr>
        <p:spPr>
          <a:xfrm>
            <a:off x="21717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3" name="GL"/>
          <p:cNvSpPr/>
          <p:nvPr/>
        </p:nvSpPr>
        <p:spPr>
          <a:xfrm>
            <a:off x="26543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4" name="GL"/>
          <p:cNvSpPr/>
          <p:nvPr/>
        </p:nvSpPr>
        <p:spPr>
          <a:xfrm>
            <a:off x="31369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5" name="GL"/>
          <p:cNvSpPr/>
          <p:nvPr/>
        </p:nvSpPr>
        <p:spPr>
          <a:xfrm>
            <a:off x="3619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6" name="GL"/>
          <p:cNvSpPr/>
          <p:nvPr/>
        </p:nvSpPr>
        <p:spPr>
          <a:xfrm>
            <a:off x="4102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7" name="GL"/>
          <p:cNvSpPr/>
          <p:nvPr/>
        </p:nvSpPr>
        <p:spPr>
          <a:xfrm>
            <a:off x="1206500" y="5105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8" name="GL"/>
          <p:cNvSpPr/>
          <p:nvPr/>
        </p:nvSpPr>
        <p:spPr>
          <a:xfrm>
            <a:off x="1206500" y="4622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9" name="GL"/>
          <p:cNvSpPr/>
          <p:nvPr/>
        </p:nvSpPr>
        <p:spPr>
          <a:xfrm>
            <a:off x="1206500" y="41402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0" name="GL"/>
          <p:cNvSpPr/>
          <p:nvPr/>
        </p:nvSpPr>
        <p:spPr>
          <a:xfrm>
            <a:off x="1206500" y="36576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1" name="GL"/>
          <p:cNvSpPr/>
          <p:nvPr/>
        </p:nvSpPr>
        <p:spPr>
          <a:xfrm>
            <a:off x="1206500" y="31750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2" name="GL"/>
          <p:cNvSpPr/>
          <p:nvPr/>
        </p:nvSpPr>
        <p:spPr>
          <a:xfrm>
            <a:off x="1206500" y="2692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3" name="GL"/>
          <p:cNvSpPr/>
          <p:nvPr/>
        </p:nvSpPr>
        <p:spPr>
          <a:xfrm>
            <a:off x="1206500" y="2209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4" name="GL"/>
          <p:cNvSpPr/>
          <p:nvPr/>
        </p:nvSpPr>
        <p:spPr>
          <a:xfrm>
            <a:off x="1206500" y="5105400"/>
            <a:ext cx="2895600" cy="1905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5" name="GL"/>
          <p:cNvSpPr/>
          <p:nvPr/>
        </p:nvSpPr>
        <p:spPr>
          <a:xfrm>
            <a:off x="1206500" y="2209800"/>
            <a:ext cx="19050" cy="289560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6" name="GLbl"/>
          <p:cNvSpPr/>
          <p:nvPr/>
        </p:nvSpPr>
        <p:spPr>
          <a:xfrm>
            <a:off x="1104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0</a:t>
            </a:r>
          </a:p>
        </p:txBody>
      </p:sp>
      <p:sp>
        <p:nvSpPr>
          <p:cNvPr id="617" name="GLbl"/>
          <p:cNvSpPr/>
          <p:nvPr/>
        </p:nvSpPr>
        <p:spPr>
          <a:xfrm>
            <a:off x="1587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18" name="GLbl"/>
          <p:cNvSpPr/>
          <p:nvPr/>
        </p:nvSpPr>
        <p:spPr>
          <a:xfrm>
            <a:off x="20701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19" name="GLbl"/>
          <p:cNvSpPr/>
          <p:nvPr/>
        </p:nvSpPr>
        <p:spPr>
          <a:xfrm>
            <a:off x="25527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20" name="GLbl"/>
          <p:cNvSpPr/>
          <p:nvPr/>
        </p:nvSpPr>
        <p:spPr>
          <a:xfrm>
            <a:off x="30353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21" name="GLbl"/>
          <p:cNvSpPr/>
          <p:nvPr/>
        </p:nvSpPr>
        <p:spPr>
          <a:xfrm>
            <a:off x="3517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22" name="GLbl"/>
          <p:cNvSpPr/>
          <p:nvPr/>
        </p:nvSpPr>
        <p:spPr>
          <a:xfrm>
            <a:off x="4000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23" name="GLbl"/>
          <p:cNvSpPr/>
          <p:nvPr/>
        </p:nvSpPr>
        <p:spPr>
          <a:xfrm>
            <a:off x="977900" y="4546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24" name="GLbl"/>
          <p:cNvSpPr/>
          <p:nvPr/>
        </p:nvSpPr>
        <p:spPr>
          <a:xfrm>
            <a:off x="977900" y="40640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25" name="GLbl"/>
          <p:cNvSpPr/>
          <p:nvPr/>
        </p:nvSpPr>
        <p:spPr>
          <a:xfrm>
            <a:off x="977900" y="35814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26" name="GLbl"/>
          <p:cNvSpPr/>
          <p:nvPr/>
        </p:nvSpPr>
        <p:spPr>
          <a:xfrm>
            <a:off x="977900" y="30988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27" name="GLbl"/>
          <p:cNvSpPr/>
          <p:nvPr/>
        </p:nvSpPr>
        <p:spPr>
          <a:xfrm>
            <a:off x="977900" y="26162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28" name="GLbl"/>
          <p:cNvSpPr/>
          <p:nvPr/>
        </p:nvSpPr>
        <p:spPr>
          <a:xfrm>
            <a:off x="977900" y="2133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29" name="GLbl"/>
          <p:cNvSpPr/>
          <p:nvPr/>
        </p:nvSpPr>
        <p:spPr>
          <a:xfrm>
            <a:off x="4178300" y="50165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000" dirty="0">
                <a:solidFill>
                  <a:srgbClr val="7A7A7A"/>
                </a:solidFill>
                <a:latin typeface="Calibri"/>
              </a:rPr>
              <a:t>x</a:t>
            </a:r>
          </a:p>
        </p:txBody>
      </p:sp>
      <p:sp>
        <p:nvSpPr>
          <p:cNvPr id="630" name="GLbl"/>
          <p:cNvSpPr/>
          <p:nvPr/>
        </p:nvSpPr>
        <p:spPr>
          <a:xfrm>
            <a:off x="1104900" y="20193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1000" dirty="0">
                <a:solidFill>
                  <a:srgbClr val="7A7A7A"/>
                </a:solidFill>
                <a:latin typeface="Calibri"/>
              </a:rPr>
              <a:t>y</a:t>
            </a:r>
          </a:p>
        </p:txBody>
      </p:sp>
      <p:sp>
        <p:nvSpPr>
          <p:cNvPr id="2000" name="SolGL"/>
          <p:cNvSpPr/>
          <p:nvPr/>
        </p:nvSpPr>
        <p:spPr>
          <a:xfrm>
            <a:off x="76200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1" name="SolGL"/>
          <p:cNvSpPr/>
          <p:nvPr/>
        </p:nvSpPr>
        <p:spPr>
          <a:xfrm>
            <a:off x="81026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2" name="SolGL"/>
          <p:cNvSpPr/>
          <p:nvPr/>
        </p:nvSpPr>
        <p:spPr>
          <a:xfrm>
            <a:off x="85852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3" name="SolGL"/>
          <p:cNvSpPr/>
          <p:nvPr/>
        </p:nvSpPr>
        <p:spPr>
          <a:xfrm>
            <a:off x="90678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4" name="SolGL"/>
          <p:cNvSpPr/>
          <p:nvPr/>
        </p:nvSpPr>
        <p:spPr>
          <a:xfrm>
            <a:off x="95504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5" name="SolGL"/>
          <p:cNvSpPr/>
          <p:nvPr/>
        </p:nvSpPr>
        <p:spPr>
          <a:xfrm>
            <a:off x="100330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6" name="SolGL"/>
          <p:cNvSpPr/>
          <p:nvPr/>
        </p:nvSpPr>
        <p:spPr>
          <a:xfrm>
            <a:off x="105156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7" name="SolGL"/>
          <p:cNvSpPr/>
          <p:nvPr/>
        </p:nvSpPr>
        <p:spPr>
          <a:xfrm>
            <a:off x="7620000" y="5105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8" name="SolGL"/>
          <p:cNvSpPr/>
          <p:nvPr/>
        </p:nvSpPr>
        <p:spPr>
          <a:xfrm>
            <a:off x="7620000" y="4622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9" name="SolGL"/>
          <p:cNvSpPr/>
          <p:nvPr/>
        </p:nvSpPr>
        <p:spPr>
          <a:xfrm>
            <a:off x="7620000" y="41402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0" name="SolGL"/>
          <p:cNvSpPr/>
          <p:nvPr/>
        </p:nvSpPr>
        <p:spPr>
          <a:xfrm>
            <a:off x="7620000" y="36576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1" name="SolGL"/>
          <p:cNvSpPr/>
          <p:nvPr/>
        </p:nvSpPr>
        <p:spPr>
          <a:xfrm>
            <a:off x="7620000" y="31750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2" name="SolGL"/>
          <p:cNvSpPr/>
          <p:nvPr/>
        </p:nvSpPr>
        <p:spPr>
          <a:xfrm>
            <a:off x="7620000" y="2692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3" name="SolGL"/>
          <p:cNvSpPr/>
          <p:nvPr/>
        </p:nvSpPr>
        <p:spPr>
          <a:xfrm>
            <a:off x="7620000" y="2209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4" name="SolGL"/>
          <p:cNvSpPr/>
          <p:nvPr/>
        </p:nvSpPr>
        <p:spPr>
          <a:xfrm>
            <a:off x="7620000" y="5095875"/>
            <a:ext cx="2895600" cy="1905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5" name="SolGL"/>
          <p:cNvSpPr/>
          <p:nvPr/>
        </p:nvSpPr>
        <p:spPr>
          <a:xfrm>
            <a:off x="7610475" y="2209800"/>
            <a:ext cx="19050" cy="289560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6" name="SolGLbl"/>
          <p:cNvSpPr txBox="1"/>
          <p:nvPr/>
        </p:nvSpPr>
        <p:spPr>
          <a:xfrm>
            <a:off x="7518400" y="51562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0</a:t>
            </a:r>
          </a:p>
        </p:txBody>
      </p:sp>
      <p:sp>
        <p:nvSpPr>
          <p:cNvPr id="2017" name="SolGLbl"/>
          <p:cNvSpPr txBox="1"/>
          <p:nvPr/>
        </p:nvSpPr>
        <p:spPr>
          <a:xfrm>
            <a:off x="8001000" y="51562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1</a:t>
            </a:r>
          </a:p>
        </p:txBody>
      </p:sp>
      <p:sp>
        <p:nvSpPr>
          <p:cNvPr id="2018" name="SolGLbl"/>
          <p:cNvSpPr txBox="1"/>
          <p:nvPr/>
        </p:nvSpPr>
        <p:spPr>
          <a:xfrm>
            <a:off x="8483600" y="51562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2</a:t>
            </a:r>
          </a:p>
        </p:txBody>
      </p:sp>
      <p:sp>
        <p:nvSpPr>
          <p:cNvPr id="2019" name="SolGLbl"/>
          <p:cNvSpPr txBox="1"/>
          <p:nvPr/>
        </p:nvSpPr>
        <p:spPr>
          <a:xfrm>
            <a:off x="8966200" y="51562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3</a:t>
            </a:r>
          </a:p>
        </p:txBody>
      </p:sp>
      <p:sp>
        <p:nvSpPr>
          <p:cNvPr id="2020" name="SolGLbl"/>
          <p:cNvSpPr txBox="1"/>
          <p:nvPr/>
        </p:nvSpPr>
        <p:spPr>
          <a:xfrm>
            <a:off x="9448800" y="51562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4</a:t>
            </a:r>
          </a:p>
        </p:txBody>
      </p:sp>
      <p:sp>
        <p:nvSpPr>
          <p:cNvPr id="2021" name="SolGLbl"/>
          <p:cNvSpPr txBox="1"/>
          <p:nvPr/>
        </p:nvSpPr>
        <p:spPr>
          <a:xfrm>
            <a:off x="9931400" y="51562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5</a:t>
            </a:r>
          </a:p>
        </p:txBody>
      </p:sp>
      <p:sp>
        <p:nvSpPr>
          <p:cNvPr id="2022" name="SolGLbl"/>
          <p:cNvSpPr txBox="1"/>
          <p:nvPr/>
        </p:nvSpPr>
        <p:spPr>
          <a:xfrm>
            <a:off x="10414000" y="51562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6</a:t>
            </a:r>
          </a:p>
        </p:txBody>
      </p:sp>
      <p:sp>
        <p:nvSpPr>
          <p:cNvPr id="2023" name="SolGLbl"/>
          <p:cNvSpPr txBox="1"/>
          <p:nvPr/>
        </p:nvSpPr>
        <p:spPr>
          <a:xfrm>
            <a:off x="7416800" y="45466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1</a:t>
            </a:r>
          </a:p>
        </p:txBody>
      </p:sp>
      <p:sp>
        <p:nvSpPr>
          <p:cNvPr id="2024" name="SolGLbl"/>
          <p:cNvSpPr txBox="1"/>
          <p:nvPr/>
        </p:nvSpPr>
        <p:spPr>
          <a:xfrm>
            <a:off x="7416800" y="40640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2</a:t>
            </a:r>
          </a:p>
        </p:txBody>
      </p:sp>
      <p:sp>
        <p:nvSpPr>
          <p:cNvPr id="2025" name="SolGLbl"/>
          <p:cNvSpPr txBox="1"/>
          <p:nvPr/>
        </p:nvSpPr>
        <p:spPr>
          <a:xfrm>
            <a:off x="7416800" y="35814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3</a:t>
            </a:r>
          </a:p>
        </p:txBody>
      </p:sp>
      <p:sp>
        <p:nvSpPr>
          <p:cNvPr id="2026" name="SolGLbl"/>
          <p:cNvSpPr txBox="1"/>
          <p:nvPr/>
        </p:nvSpPr>
        <p:spPr>
          <a:xfrm>
            <a:off x="7416800" y="30988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4</a:t>
            </a:r>
          </a:p>
        </p:txBody>
      </p:sp>
      <p:sp>
        <p:nvSpPr>
          <p:cNvPr id="2027" name="SolGLbl"/>
          <p:cNvSpPr txBox="1"/>
          <p:nvPr/>
        </p:nvSpPr>
        <p:spPr>
          <a:xfrm>
            <a:off x="7416800" y="26162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5</a:t>
            </a:r>
          </a:p>
        </p:txBody>
      </p:sp>
      <p:sp>
        <p:nvSpPr>
          <p:cNvPr id="2028" name="SolGLbl"/>
          <p:cNvSpPr txBox="1"/>
          <p:nvPr/>
        </p:nvSpPr>
        <p:spPr>
          <a:xfrm>
            <a:off x="7416800" y="2133600"/>
            <a:ext cx="203200" cy="152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6</a:t>
            </a:r>
          </a:p>
        </p:txBody>
      </p:sp>
      <p:sp>
        <p:nvSpPr>
          <p:cNvPr id="2029" name="SolTitle"/>
          <p:cNvSpPr txBox="1"/>
          <p:nvPr/>
        </p:nvSpPr>
        <p:spPr>
          <a:xfrm>
            <a:off x="7620000" y="1879600"/>
            <a:ext cx="3810000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r>
              <a:rPr lang="en-US" sz="1300" b="1" dirty="0">
                <a:solidFill>
                  <a:srgbClr val="4B2E83"/>
                </a:solidFill>
              </a:rPr>
              <a:t>Solution — row vectors plotted</a:t>
            </a:r>
          </a:p>
        </p:txBody>
      </p:sp>
      <p:cxnSp>
        <p:nvCxnSpPr>
          <p:cNvPr id="2030" name="SolArrow"/>
          <p:cNvCxnSpPr/>
          <p:nvPr/>
        </p:nvCxnSpPr>
        <p:spPr>
          <a:xfrm flipV="1">
            <a:off x="7620000" y="4140200"/>
            <a:ext cx="482600" cy="965200"/>
          </a:xfrm>
          <a:prstGeom prst="line">
            <a:avLst/>
          </a:prstGeom>
          <a:ln w="34925" cap="rnd">
            <a:solidFill>
              <a:srgbClr val="4B2E83"/>
            </a:solidFill>
            <a:tailEnd type="triangle" w="med" len="med"/>
          </a:ln>
        </p:spPr>
      </p:cxnSp>
      <p:cxnSp>
        <p:nvCxnSpPr>
          <p:cNvPr id="2031" name="SolArrow"/>
          <p:cNvCxnSpPr/>
          <p:nvPr/>
        </p:nvCxnSpPr>
        <p:spPr>
          <a:xfrm flipV="1">
            <a:off x="7620000" y="3175000"/>
            <a:ext cx="1930400" cy="1930400"/>
          </a:xfrm>
          <a:prstGeom prst="line">
            <a:avLst/>
          </a:prstGeom>
          <a:ln w="34925" cap="rnd">
            <a:solidFill>
              <a:srgbClr val="00A7B5"/>
            </a:solidFill>
            <a:tailEnd type="triangle" w="med" len="med"/>
          </a:ln>
        </p:spPr>
      </p:cxnSp>
      <p:cxnSp>
        <p:nvCxnSpPr>
          <p:cNvPr id="2032" name="SolArrow"/>
          <p:cNvCxnSpPr/>
          <p:nvPr/>
        </p:nvCxnSpPr>
        <p:spPr>
          <a:xfrm flipV="1">
            <a:off x="7620000" y="4140200"/>
            <a:ext cx="2413000" cy="965200"/>
          </a:xfrm>
          <a:prstGeom prst="line">
            <a:avLst/>
          </a:prstGeom>
          <a:ln w="34925" cap="rnd">
            <a:solidFill>
              <a:srgbClr val="7AB648"/>
            </a:solidFill>
            <a:tailEnd type="triangle" w="med" len="med"/>
          </a:ln>
        </p:spPr>
      </p:cxnSp>
      <p:sp>
        <p:nvSpPr>
          <p:cNvPr id="2033" name="SolVL"/>
          <p:cNvSpPr txBox="1"/>
          <p:nvPr/>
        </p:nvSpPr>
        <p:spPr>
          <a:xfrm>
            <a:off x="8153400" y="3911600"/>
            <a:ext cx="914400" cy="2032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r>
              <a:rPr lang="en-US" sz="1200" b="1" dirty="0">
                <a:solidFill>
                  <a:srgbClr val="4B2E83"/>
                </a:solidFill>
              </a:rPr>
              <a:t>r₁=(1,2)</a:t>
            </a:r>
          </a:p>
        </p:txBody>
      </p:sp>
      <p:sp>
        <p:nvSpPr>
          <p:cNvPr id="2034" name="SolVL"/>
          <p:cNvSpPr txBox="1"/>
          <p:nvPr/>
        </p:nvSpPr>
        <p:spPr>
          <a:xfrm>
            <a:off x="9601200" y="2946400"/>
            <a:ext cx="914400" cy="2032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r>
              <a:rPr lang="en-US" sz="1200" b="1" dirty="0">
                <a:solidFill>
                  <a:srgbClr val="00A7B5"/>
                </a:solidFill>
              </a:rPr>
              <a:t>r₂=(4,4)</a:t>
            </a:r>
          </a:p>
        </p:txBody>
      </p:sp>
      <p:sp>
        <p:nvSpPr>
          <p:cNvPr id="2035" name="SolVL"/>
          <p:cNvSpPr txBox="1"/>
          <p:nvPr/>
        </p:nvSpPr>
        <p:spPr>
          <a:xfrm>
            <a:off x="10083800" y="3911600"/>
            <a:ext cx="914400" cy="2032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r>
              <a:rPr lang="en-US" sz="1200" b="1" dirty="0">
                <a:solidFill>
                  <a:srgbClr val="7AB648"/>
                </a:solidFill>
              </a:rPr>
              <a:t>r₃=(5,2)</a:t>
            </a:r>
          </a:p>
        </p:txBody>
      </p:sp>
      <p:sp>
        <p:nvSpPr>
          <p:cNvPr id="230" name="Ex1_SolCover"/>
          <p:cNvSpPr/>
          <p:nvPr/>
        </p:nvSpPr>
        <p:spPr>
          <a:xfrm>
            <a:off x="6464300" y="1905000"/>
            <a:ext cx="5295900" cy="3556000"/>
          </a:xfrm>
          <a:prstGeom prst="rect">
            <a:avLst/>
          </a:prstGeom>
          <a:solidFill>
            <a:srgbClr val="4B2E83"/>
          </a:solidFill>
          <a:ln w="12700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1" name="Ex1_SolCoverTxt"/>
          <p:cNvSpPr/>
          <p:nvPr/>
        </p:nvSpPr>
        <p:spPr>
          <a:xfrm>
            <a:off x="6464300" y="1905000"/>
            <a:ext cx="5295900" cy="3556000"/>
          </a:xfrm>
          <a:prstGeom prst="rect">
            <a:avLst/>
          </a:prstGeom>
          <a:noFill/>
        </p:spPr>
        <p:txBody>
          <a:bodyPr wrap="square" lIns="91440" tIns="45720" rIns="91440" bIns="4572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Solution hidden</a:t>
            </a:r>
          </a:p>
          <a:p>
            <a:pPr algn="ctr"/>
            <a:r>
              <a:rPr lang="en-US" sz="1100" i="1" dirty="0">
                <a:solidFill>
                  <a:srgbClr val="FFFFFF"/>
                </a:solidFill>
              </a:rPr>
              <a:t>Plot the three row vectors, then remove this cover to check.</a:t>
            </a:r>
          </a:p>
        </p:txBody>
      </p:sp>
    </p:spTree>
    <p:extLst>
      <p:ext uri="{BB962C8B-B14F-4D97-AF65-F5344CB8AC3E}">
        <p14:creationId xmlns:p14="http://schemas.microsoft.com/office/powerpoint/2010/main" val="13660872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Bar">
            <a:extLst>
              <a:ext uri="{FF2B5EF4-FFF2-40B4-BE49-F238E27FC236}">
                <a16:creationId xmlns:a16="http://schemas.microsoft.com/office/drawing/2014/main" id="{9E858B19-1443-E34B-96C5-37D7E44595E6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3D68AF39-A313-E346-AE6D-A739C1CC144A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Matrix–Vector Multiplication</a:t>
            </a:r>
          </a:p>
        </p:txBody>
      </p:sp>
      <p:sp>
        <p:nvSpPr>
          <p:cNvPr id="21" name="Sub">
            <a:extLst>
              <a:ext uri="{FF2B5EF4-FFF2-40B4-BE49-F238E27FC236}">
                <a16:creationId xmlns:a16="http://schemas.microsoft.com/office/drawing/2014/main" id="{617BC793-45F3-6844-A4F1-4EA2D88AC99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Apply a linear transformation to a vector</a:t>
            </a:r>
          </a:p>
        </p:txBody>
      </p:sp>
      <p:sp>
        <p:nvSpPr>
          <p:cNvPr id="22" name="DefBox">
            <a:extLst>
              <a:ext uri="{FF2B5EF4-FFF2-40B4-BE49-F238E27FC236}">
                <a16:creationId xmlns:a16="http://schemas.microsoft.com/office/drawing/2014/main" id="{9CD6B47C-6BF6-7B4E-B2D5-4F9375EDDBFD}"/>
              </a:ext>
            </a:extLst>
          </p:cNvPr>
          <p:cNvSpPr/>
          <p:nvPr/>
        </p:nvSpPr>
        <p:spPr>
          <a:xfrm>
            <a:off x="381000" y="1270000"/>
            <a:ext cx="11430000" cy="1016000"/>
          </a:xfrm>
          <a:prstGeom prst="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DefLbl">
            <a:extLst>
              <a:ext uri="{FF2B5EF4-FFF2-40B4-BE49-F238E27FC236}">
                <a16:creationId xmlns:a16="http://schemas.microsoft.com/office/drawing/2014/main" id="{984A3972-E6D7-5348-AF1D-FE33DB7C8348}"/>
              </a:ext>
            </a:extLst>
          </p:cNvPr>
          <p:cNvSpPr txBox="1"/>
          <p:nvPr/>
        </p:nvSpPr>
        <p:spPr>
          <a:xfrm>
            <a:off x="558800" y="13716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4B2E83"/>
                </a:solidFill>
                <a:latin typeface="Arial"/>
                <a:cs typeface="Arial"/>
              </a:rPr>
              <a:t>Definition</a:t>
            </a:r>
          </a:p>
        </p:txBody>
      </p:sp>
      <p:sp>
        <p:nvSpPr>
          <p:cNvPr id="24" name="DefEq">
            <a:extLst>
              <a:ext uri="{FF2B5EF4-FFF2-40B4-BE49-F238E27FC236}">
                <a16:creationId xmlns:a16="http://schemas.microsoft.com/office/drawing/2014/main" id="{AD7BD81B-5020-3941-849E-C059E1AE7BB8}"/>
              </a:ext>
            </a:extLst>
          </p:cNvPr>
          <p:cNvSpPr txBox="1"/>
          <p:nvPr/>
        </p:nvSpPr>
        <p:spPr>
          <a:xfrm>
            <a:off x="558800" y="1625600"/>
            <a:ext cx="11049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>
                <a:solidFill>
                  <a:srgbClr val="333333"/>
                </a:solidFill>
                <a:latin typeface="Cambria Math"/>
                <a:ea typeface="Cambria Math"/>
              </a:rPr>
              <a:t>(A·x)ᵢ  =  </a:t>
            </a:r>
            <a:r>
              <a:rPr lang="el-GR">
                <a:solidFill>
                  <a:srgbClr val="333333"/>
                </a:solidFill>
                <a:latin typeface="Cambria Math"/>
                <a:ea typeface="Cambria Math"/>
              </a:rPr>
              <a:t>Σ</a:t>
            </a:r>
            <a:r>
              <a:rPr lang="en-US">
                <a:solidFill>
                  <a:srgbClr val="333333"/>
                </a:solidFill>
                <a:latin typeface="Cambria Math"/>
                <a:ea typeface="Cambria Math"/>
              </a:rPr>
              <a:t>ⱼ Aᵢⱼ · xⱼ      Aₘₓₙ · xₙₓ₁  =  yₘₓ₁</a:t>
            </a:r>
          </a:p>
        </p:txBody>
      </p:sp>
      <p:sp>
        <p:nvSpPr>
          <p:cNvPr id="25" name="DefNote">
            <a:extLst>
              <a:ext uri="{FF2B5EF4-FFF2-40B4-BE49-F238E27FC236}">
                <a16:creationId xmlns:a16="http://schemas.microsoft.com/office/drawing/2014/main" id="{448B1238-3432-9E41-B89E-C582F0D03A55}"/>
              </a:ext>
            </a:extLst>
          </p:cNvPr>
          <p:cNvSpPr txBox="1"/>
          <p:nvPr/>
        </p:nvSpPr>
        <p:spPr>
          <a:xfrm>
            <a:off x="558800" y="198120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777777"/>
                </a:solidFill>
                <a:latin typeface="Arial"/>
                <a:cs typeface="Arial"/>
              </a:rPr>
              <a:t>Each output entry is the dot product of a row of A with x. Inner dimensions must match.</a:t>
            </a:r>
          </a:p>
        </p:txBody>
      </p:sp>
      <p:sp>
        <p:nvSpPr>
          <p:cNvPr id="26" name="Card30">
            <a:extLst>
              <a:ext uri="{FF2B5EF4-FFF2-40B4-BE49-F238E27FC236}">
                <a16:creationId xmlns:a16="http://schemas.microsoft.com/office/drawing/2014/main" id="{A2DD097E-936F-D34C-86D1-6C2656C8B9FF}"/>
              </a:ext>
            </a:extLst>
          </p:cNvPr>
          <p:cNvSpPr/>
          <p:nvPr/>
        </p:nvSpPr>
        <p:spPr>
          <a:xfrm>
            <a:off x="381000" y="2476500"/>
            <a:ext cx="3683000" cy="2540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CardHdr30">
            <a:extLst>
              <a:ext uri="{FF2B5EF4-FFF2-40B4-BE49-F238E27FC236}">
                <a16:creationId xmlns:a16="http://schemas.microsoft.com/office/drawing/2014/main" id="{2E12DA08-9952-0E49-A9FB-BD11DCCC7A1F}"/>
              </a:ext>
            </a:extLst>
          </p:cNvPr>
          <p:cNvSpPr/>
          <p:nvPr/>
        </p:nvSpPr>
        <p:spPr>
          <a:xfrm>
            <a:off x="381000" y="2476500"/>
            <a:ext cx="3683000" cy="381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CardT30">
            <a:extLst>
              <a:ext uri="{FF2B5EF4-FFF2-40B4-BE49-F238E27FC236}">
                <a16:creationId xmlns:a16="http://schemas.microsoft.com/office/drawing/2014/main" id="{7581F6BA-78A5-BC41-B24B-DC10AB499B03}"/>
              </a:ext>
            </a:extLst>
          </p:cNvPr>
          <p:cNvSpPr txBox="1"/>
          <p:nvPr/>
        </p:nvSpPr>
        <p:spPr>
          <a:xfrm>
            <a:off x="508000" y="25400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What it does</a:t>
            </a:r>
          </a:p>
        </p:txBody>
      </p:sp>
      <p:sp>
        <p:nvSpPr>
          <p:cNvPr id="29" name="CardB30">
            <a:extLst>
              <a:ext uri="{FF2B5EF4-FFF2-40B4-BE49-F238E27FC236}">
                <a16:creationId xmlns:a16="http://schemas.microsoft.com/office/drawing/2014/main" id="{BE974498-8779-E744-86DB-8C520A5B9219}"/>
              </a:ext>
            </a:extLst>
          </p:cNvPr>
          <p:cNvSpPr txBox="1"/>
          <p:nvPr/>
        </p:nvSpPr>
        <p:spPr>
          <a:xfrm>
            <a:off x="558800" y="2959100"/>
            <a:ext cx="3327400" cy="1955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Combines rows of A with x via dot product.
Result y has one entry per row of A.
Dimensions:
   (m×n)·(n×1) = (m×1)</a:t>
            </a:r>
          </a:p>
        </p:txBody>
      </p:sp>
      <p:sp>
        <p:nvSpPr>
          <p:cNvPr id="30" name="Card335">
            <a:extLst>
              <a:ext uri="{FF2B5EF4-FFF2-40B4-BE49-F238E27FC236}">
                <a16:creationId xmlns:a16="http://schemas.microsoft.com/office/drawing/2014/main" id="{CFF32EE7-00CC-5D42-BC0D-3C71386EF736}"/>
              </a:ext>
            </a:extLst>
          </p:cNvPr>
          <p:cNvSpPr/>
          <p:nvPr/>
        </p:nvSpPr>
        <p:spPr>
          <a:xfrm>
            <a:off x="4254500" y="2476500"/>
            <a:ext cx="3683000" cy="2540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CardHdr335">
            <a:extLst>
              <a:ext uri="{FF2B5EF4-FFF2-40B4-BE49-F238E27FC236}">
                <a16:creationId xmlns:a16="http://schemas.microsoft.com/office/drawing/2014/main" id="{A52F2029-9A74-0C4A-9786-DBFB6C12AF27}"/>
              </a:ext>
            </a:extLst>
          </p:cNvPr>
          <p:cNvSpPr/>
          <p:nvPr/>
        </p:nvSpPr>
        <p:spPr>
          <a:xfrm>
            <a:off x="4254500" y="2476500"/>
            <a:ext cx="3683000" cy="3810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CardT335">
            <a:extLst>
              <a:ext uri="{FF2B5EF4-FFF2-40B4-BE49-F238E27FC236}">
                <a16:creationId xmlns:a16="http://schemas.microsoft.com/office/drawing/2014/main" id="{846AE8CE-D769-B74B-8719-C7577F75DE56}"/>
              </a:ext>
            </a:extLst>
          </p:cNvPr>
          <p:cNvSpPr txBox="1"/>
          <p:nvPr/>
        </p:nvSpPr>
        <p:spPr>
          <a:xfrm>
            <a:off x="4381500" y="25400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Geometric view</a:t>
            </a:r>
          </a:p>
        </p:txBody>
      </p:sp>
      <p:sp>
        <p:nvSpPr>
          <p:cNvPr id="33" name="CardB335">
            <a:extLst>
              <a:ext uri="{FF2B5EF4-FFF2-40B4-BE49-F238E27FC236}">
                <a16:creationId xmlns:a16="http://schemas.microsoft.com/office/drawing/2014/main" id="{42F819F9-0E19-904D-9C35-2CDEDFC9FE4B}"/>
              </a:ext>
            </a:extLst>
          </p:cNvPr>
          <p:cNvSpPr txBox="1"/>
          <p:nvPr/>
        </p:nvSpPr>
        <p:spPr>
          <a:xfrm>
            <a:off x="4432300" y="2959100"/>
            <a:ext cx="3327400" cy="1955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dirty="0">
                <a:solidFill>
                  <a:srgbClr val="333333"/>
                </a:solidFill>
                <a:latin typeface="Arial"/>
                <a:cs typeface="Arial"/>
              </a:rPr>
              <a:t>A is a linear map </a:t>
            </a:r>
            <a:r>
              <a:rPr lang="en-US" sz="1200" dirty="0" err="1">
                <a:solidFill>
                  <a:srgbClr val="333333"/>
                </a:solidFill>
                <a:latin typeface="Arial"/>
                <a:cs typeface="Arial"/>
              </a:rPr>
              <a:t>ℝ</a:t>
            </a:r>
            <a:r>
              <a:rPr lang="en-US" sz="1200" dirty="0">
                <a:solidFill>
                  <a:srgbClr val="333333"/>
                </a:solidFill>
                <a:latin typeface="Arial"/>
                <a:cs typeface="Arial"/>
              </a:rPr>
              <a:t>ⁿ → </a:t>
            </a:r>
            <a:r>
              <a:rPr lang="en-US" sz="1200" dirty="0" err="1">
                <a:solidFill>
                  <a:srgbClr val="333333"/>
                </a:solidFill>
                <a:latin typeface="Arial"/>
                <a:cs typeface="Arial"/>
              </a:rPr>
              <a:t>ℝ</a:t>
            </a:r>
            <a:r>
              <a:rPr lang="en-US" sz="1200" dirty="0">
                <a:solidFill>
                  <a:srgbClr val="333333"/>
                </a:solidFill>
                <a:latin typeface="Arial"/>
                <a:cs typeface="Arial"/>
              </a:rPr>
              <a:t>ᵐ.
Multiplying by A:
• rotates
• scales
• shears
• projects
the vector x.</a:t>
            </a:r>
          </a:p>
        </p:txBody>
      </p:sp>
      <p:sp>
        <p:nvSpPr>
          <p:cNvPr id="34" name="Card640">
            <a:extLst>
              <a:ext uri="{FF2B5EF4-FFF2-40B4-BE49-F238E27FC236}">
                <a16:creationId xmlns:a16="http://schemas.microsoft.com/office/drawing/2014/main" id="{8C90CC09-0DAF-5644-84E4-37BB3923C79C}"/>
              </a:ext>
            </a:extLst>
          </p:cNvPr>
          <p:cNvSpPr/>
          <p:nvPr/>
        </p:nvSpPr>
        <p:spPr>
          <a:xfrm>
            <a:off x="8128000" y="2476500"/>
            <a:ext cx="3683000" cy="2540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CardHdr640">
            <a:extLst>
              <a:ext uri="{FF2B5EF4-FFF2-40B4-BE49-F238E27FC236}">
                <a16:creationId xmlns:a16="http://schemas.microsoft.com/office/drawing/2014/main" id="{875F96AF-9A17-8742-A3DC-FD5E5E721E77}"/>
              </a:ext>
            </a:extLst>
          </p:cNvPr>
          <p:cNvSpPr/>
          <p:nvPr/>
        </p:nvSpPr>
        <p:spPr>
          <a:xfrm>
            <a:off x="8128000" y="2476500"/>
            <a:ext cx="3683000" cy="3810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6" name="CardT640">
            <a:extLst>
              <a:ext uri="{FF2B5EF4-FFF2-40B4-BE49-F238E27FC236}">
                <a16:creationId xmlns:a16="http://schemas.microsoft.com/office/drawing/2014/main" id="{EFA054AD-1849-664F-BCAA-F905958D4EE2}"/>
              </a:ext>
            </a:extLst>
          </p:cNvPr>
          <p:cNvSpPr txBox="1"/>
          <p:nvPr/>
        </p:nvSpPr>
        <p:spPr>
          <a:xfrm>
            <a:off x="8255000" y="25400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Why it matters</a:t>
            </a:r>
          </a:p>
        </p:txBody>
      </p:sp>
      <p:sp>
        <p:nvSpPr>
          <p:cNvPr id="37" name="CardB640">
            <a:extLst>
              <a:ext uri="{FF2B5EF4-FFF2-40B4-BE49-F238E27FC236}">
                <a16:creationId xmlns:a16="http://schemas.microsoft.com/office/drawing/2014/main" id="{E9BF711F-5B53-BB48-9185-2298858F5E80}"/>
              </a:ext>
            </a:extLst>
          </p:cNvPr>
          <p:cNvSpPr txBox="1"/>
          <p:nvPr/>
        </p:nvSpPr>
        <p:spPr>
          <a:xfrm>
            <a:off x="8305800" y="2959100"/>
            <a:ext cx="3327400" cy="1955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cy-GB" sz="1200">
                <a:solidFill>
                  <a:srgbClr val="333333"/>
                </a:solidFill>
                <a:latin typeface="Arial"/>
                <a:cs typeface="Arial"/>
              </a:rPr>
              <a:t>Heart of ML:
• Neural layer: y = Wx + b
• Linear regression: ŷ = X</a:t>
            </a:r>
            <a:r>
              <a:rPr lang="el-GR" sz="1200">
                <a:solidFill>
                  <a:srgbClr val="333333"/>
                </a:solidFill>
                <a:latin typeface="Arial"/>
                <a:cs typeface="Arial"/>
              </a:rPr>
              <a:t>β
• </a:t>
            </a:r>
            <a:r>
              <a:rPr lang="cy-GB" sz="1200">
                <a:solidFill>
                  <a:srgbClr val="333333"/>
                </a:solidFill>
                <a:latin typeface="Arial"/>
                <a:cs typeface="Arial"/>
              </a:rPr>
              <a:t>PCA projection: z = Wx
• Coordinate transform</a:t>
            </a:r>
            <a:endParaRPr lang="en-US" sz="1200">
              <a:solidFill>
                <a:srgbClr val="333333"/>
              </a:solidFill>
              <a:latin typeface="Arial"/>
              <a:cs typeface="Arial"/>
            </a:endParaRPr>
          </a:p>
        </p:txBody>
      </p:sp>
      <p:sp>
        <p:nvSpPr>
          <p:cNvPr id="38" name="FormStrip">
            <a:extLst>
              <a:ext uri="{FF2B5EF4-FFF2-40B4-BE49-F238E27FC236}">
                <a16:creationId xmlns:a16="http://schemas.microsoft.com/office/drawing/2014/main" id="{80D61BCC-689B-714E-ACCF-22A7953C9A7F}"/>
              </a:ext>
            </a:extLst>
          </p:cNvPr>
          <p:cNvSpPr/>
          <p:nvPr/>
        </p:nvSpPr>
        <p:spPr>
          <a:xfrm>
            <a:off x="381000" y="5143500"/>
            <a:ext cx="11430000" cy="4826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9" name="FormStripT">
            <a:extLst>
              <a:ext uri="{FF2B5EF4-FFF2-40B4-BE49-F238E27FC236}">
                <a16:creationId xmlns:a16="http://schemas.microsoft.com/office/drawing/2014/main" id="{5E38A0B1-513B-E444-A14B-DC32EA701F89}"/>
              </a:ext>
            </a:extLst>
          </p:cNvPr>
          <p:cNvSpPr txBox="1"/>
          <p:nvPr/>
        </p:nvSpPr>
        <p:spPr>
          <a:xfrm>
            <a:off x="558800" y="5207000"/>
            <a:ext cx="11049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Cambria Math"/>
                <a:ea typeface="Cambria Math"/>
              </a:rPr>
              <a:t>Two equivalent views:  </a:t>
            </a:r>
            <a:r>
              <a:rPr lang="el-GR" sz="1300" b="1">
                <a:solidFill>
                  <a:srgbClr val="FFFFFF"/>
                </a:solidFill>
                <a:latin typeface="Cambria Math"/>
                <a:ea typeface="Cambria Math"/>
              </a:rPr>
              <a:t>Σ-</a:t>
            </a:r>
            <a:r>
              <a:rPr lang="en-US" sz="1300" b="1">
                <a:solidFill>
                  <a:srgbClr val="FFFFFF"/>
                </a:solidFill>
                <a:latin typeface="Cambria Math"/>
                <a:ea typeface="Cambria Math"/>
              </a:rPr>
              <a:t>of-dot-products (row view)   ≡   </a:t>
            </a:r>
            <a:r>
              <a:rPr lang="el-GR" sz="1300" b="1">
                <a:solidFill>
                  <a:srgbClr val="FFFFFF"/>
                </a:solidFill>
                <a:latin typeface="Cambria Math"/>
                <a:ea typeface="Cambria Math"/>
              </a:rPr>
              <a:t>Σ-</a:t>
            </a:r>
            <a:r>
              <a:rPr lang="en-US" sz="1300" b="1">
                <a:solidFill>
                  <a:srgbClr val="FFFFFF"/>
                </a:solidFill>
                <a:latin typeface="Cambria Math"/>
                <a:ea typeface="Cambria Math"/>
              </a:rPr>
              <a:t>of-columns-scaled-by-xⱼ (column view)</a:t>
            </a:r>
          </a:p>
        </p:txBody>
      </p:sp>
      <p:sp>
        <p:nvSpPr>
          <p:cNvPr id="40" name="TkBar">
            <a:extLst>
              <a:ext uri="{FF2B5EF4-FFF2-40B4-BE49-F238E27FC236}">
                <a16:creationId xmlns:a16="http://schemas.microsoft.com/office/drawing/2014/main" id="{4ED947C8-22C2-A543-86E7-3577594E6535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1" name="TkText">
            <a:extLst>
              <a:ext uri="{FF2B5EF4-FFF2-40B4-BE49-F238E27FC236}">
                <a16:creationId xmlns:a16="http://schemas.microsoft.com/office/drawing/2014/main" id="{070E9E9C-F75C-5843-897E-4F9EF84958C0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A·x = the linear transformation A applied to vector x</a:t>
            </a:r>
          </a:p>
        </p:txBody>
      </p:sp>
    </p:spTree>
    <p:extLst>
      <p:ext uri="{BB962C8B-B14F-4D97-AF65-F5344CB8AC3E}">
        <p14:creationId xmlns:p14="http://schemas.microsoft.com/office/powerpoint/2010/main" val="14614683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Multiplying by A Transforms x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The same vector x under four different matrices A — rotate, scale, shear, project.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A matrix is a geometric action: each A reshapes space — turning, stretching, slanting, or flattening x.</a:t>
            </a:r>
          </a:p>
        </p:txBody>
      </p:sp>
      <p:sp>
        <p:nvSpPr>
          <p:cNvPr id="3000" name="panel"/>
          <p:cNvSpPr/>
          <p:nvPr/>
        </p:nvSpPr>
        <p:spPr>
          <a:xfrm>
            <a:off x="304800" y="1219200"/>
            <a:ext cx="5740400" cy="2235200"/>
          </a:xfrm>
          <a:prstGeom prst="roundRect">
            <a:avLst>
              <a:gd name="adj" fmla="val 4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01" name="r"/>
          <p:cNvSpPr/>
          <p:nvPr/>
        </p:nvSpPr>
        <p:spPr>
          <a:xfrm>
            <a:off x="3124200" y="14478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02" name="r"/>
          <p:cNvSpPr/>
          <p:nvPr/>
        </p:nvSpPr>
        <p:spPr>
          <a:xfrm>
            <a:off x="3378200" y="14478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03" name="r"/>
          <p:cNvSpPr/>
          <p:nvPr/>
        </p:nvSpPr>
        <p:spPr>
          <a:xfrm>
            <a:off x="3632200" y="14478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04" name="r"/>
          <p:cNvSpPr/>
          <p:nvPr/>
        </p:nvSpPr>
        <p:spPr>
          <a:xfrm>
            <a:off x="3886200" y="14478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05" name="r"/>
          <p:cNvSpPr/>
          <p:nvPr/>
        </p:nvSpPr>
        <p:spPr>
          <a:xfrm>
            <a:off x="4140200" y="14478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06" name="r"/>
          <p:cNvSpPr/>
          <p:nvPr/>
        </p:nvSpPr>
        <p:spPr>
          <a:xfrm>
            <a:off x="4394200" y="14478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07" name="r"/>
          <p:cNvSpPr/>
          <p:nvPr/>
        </p:nvSpPr>
        <p:spPr>
          <a:xfrm>
            <a:off x="4648200" y="14478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08" name="r"/>
          <p:cNvSpPr/>
          <p:nvPr/>
        </p:nvSpPr>
        <p:spPr>
          <a:xfrm>
            <a:off x="4902200" y="14478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09" name="r"/>
          <p:cNvSpPr/>
          <p:nvPr/>
        </p:nvSpPr>
        <p:spPr>
          <a:xfrm>
            <a:off x="5156200" y="14478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10" name="r"/>
          <p:cNvSpPr/>
          <p:nvPr/>
        </p:nvSpPr>
        <p:spPr>
          <a:xfrm>
            <a:off x="5410200" y="14478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11" name="r"/>
          <p:cNvSpPr/>
          <p:nvPr/>
        </p:nvSpPr>
        <p:spPr>
          <a:xfrm>
            <a:off x="5664200" y="14478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12" name="r"/>
          <p:cNvSpPr/>
          <p:nvPr/>
        </p:nvSpPr>
        <p:spPr>
          <a:xfrm>
            <a:off x="2971800" y="3098800"/>
            <a:ext cx="2844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13" name="r"/>
          <p:cNvSpPr/>
          <p:nvPr/>
        </p:nvSpPr>
        <p:spPr>
          <a:xfrm>
            <a:off x="2971800" y="2844800"/>
            <a:ext cx="2844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14" name="r"/>
          <p:cNvSpPr/>
          <p:nvPr/>
        </p:nvSpPr>
        <p:spPr>
          <a:xfrm>
            <a:off x="2971800" y="2590800"/>
            <a:ext cx="2844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15" name="r"/>
          <p:cNvSpPr/>
          <p:nvPr/>
        </p:nvSpPr>
        <p:spPr>
          <a:xfrm>
            <a:off x="2971800" y="2336800"/>
            <a:ext cx="2844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16" name="r"/>
          <p:cNvSpPr/>
          <p:nvPr/>
        </p:nvSpPr>
        <p:spPr>
          <a:xfrm>
            <a:off x="2971800" y="2082800"/>
            <a:ext cx="2844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17" name="r"/>
          <p:cNvSpPr/>
          <p:nvPr/>
        </p:nvSpPr>
        <p:spPr>
          <a:xfrm>
            <a:off x="2971800" y="1828800"/>
            <a:ext cx="2844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18" name="r"/>
          <p:cNvSpPr/>
          <p:nvPr/>
        </p:nvSpPr>
        <p:spPr>
          <a:xfrm>
            <a:off x="2971800" y="1574800"/>
            <a:ext cx="2844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19" name="r"/>
          <p:cNvSpPr/>
          <p:nvPr/>
        </p:nvSpPr>
        <p:spPr>
          <a:xfrm>
            <a:off x="2971800" y="2327910"/>
            <a:ext cx="2844800" cy="1778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20" name="r"/>
          <p:cNvSpPr/>
          <p:nvPr/>
        </p:nvSpPr>
        <p:spPr>
          <a:xfrm>
            <a:off x="4385310" y="1447800"/>
            <a:ext cx="17780" cy="177800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cxnSp>
        <p:nvCxnSpPr>
          <p:cNvPr id="3021" name="vec"/>
          <p:cNvCxnSpPr/>
          <p:nvPr/>
        </p:nvCxnSpPr>
        <p:spPr>
          <a:xfrm flipV="1">
            <a:off x="4394200" y="2082800"/>
            <a:ext cx="508000" cy="254000"/>
          </a:xfrm>
          <a:prstGeom prst="line">
            <a:avLst/>
          </a:prstGeom>
          <a:ln w="28575" cap="rnd">
            <a:solidFill>
              <a:srgbClr val="9A9A9A"/>
            </a:solidFill>
            <a:tailEnd type="triangle" w="med" len="med"/>
          </a:ln>
        </p:spPr>
      </p:cxnSp>
      <p:cxnSp>
        <p:nvCxnSpPr>
          <p:cNvPr id="3022" name="vec"/>
          <p:cNvCxnSpPr/>
          <p:nvPr/>
        </p:nvCxnSpPr>
        <p:spPr>
          <a:xfrm flipH="1" flipV="1">
            <a:off x="4140200" y="1828800"/>
            <a:ext cx="254000" cy="508000"/>
          </a:xfrm>
          <a:prstGeom prst="line">
            <a:avLst/>
          </a:prstGeom>
          <a:ln w="38100" cap="rnd">
            <a:solidFill>
              <a:srgbClr val="4B2E83"/>
            </a:solidFill>
            <a:tailEnd type="triangle" w="med" len="med"/>
          </a:ln>
        </p:spPr>
      </p:cxnSp>
      <p:sp>
        <p:nvSpPr>
          <p:cNvPr id="3023" name="tb"/>
          <p:cNvSpPr txBox="1"/>
          <p:nvPr/>
        </p:nvSpPr>
        <p:spPr>
          <a:xfrm>
            <a:off x="4953000" y="1879600"/>
            <a:ext cx="254000" cy="177800"/>
          </a:xfrm>
          <a:prstGeom prst="rect">
            <a:avLst/>
          </a:prstGeom>
          <a:noFill/>
        </p:spPr>
        <p:txBody>
          <a:bodyPr wrap="square" lIns="0" tIns="0" rIns="0" bIns="0">
            <a:normAutofit lnSpcReduction="10000"/>
          </a:bodyPr>
          <a:lstStyle/>
          <a:p>
            <a:pPr algn="l"/>
            <a:r>
              <a:rPr lang="en-US" sz="1200" b="1" i="1" dirty="0">
                <a:solidFill>
                  <a:srgbClr val="6E6E6E"/>
                </a:solidFill>
              </a:rPr>
              <a:t>x</a:t>
            </a:r>
          </a:p>
        </p:txBody>
      </p:sp>
      <p:sp>
        <p:nvSpPr>
          <p:cNvPr id="3024" name="tb"/>
          <p:cNvSpPr txBox="1"/>
          <p:nvPr/>
        </p:nvSpPr>
        <p:spPr>
          <a:xfrm>
            <a:off x="3759200" y="1612900"/>
            <a:ext cx="431800" cy="177800"/>
          </a:xfrm>
          <a:prstGeom prst="rect">
            <a:avLst/>
          </a:prstGeom>
          <a:noFill/>
        </p:spPr>
        <p:txBody>
          <a:bodyPr wrap="square" lIns="0" tIns="0" rIns="0" bIns="0">
            <a:normAutofit fontScale="92500" lnSpcReduction="10000"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Ax</a:t>
            </a:r>
          </a:p>
        </p:txBody>
      </p:sp>
      <p:sp>
        <p:nvSpPr>
          <p:cNvPr id="3025" name="tb"/>
          <p:cNvSpPr txBox="1"/>
          <p:nvPr/>
        </p:nvSpPr>
        <p:spPr>
          <a:xfrm>
            <a:off x="533400" y="1397000"/>
            <a:ext cx="2286000" cy="3048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700" b="1" dirty="0">
                <a:solidFill>
                  <a:srgbClr val="4B2E83"/>
                </a:solidFill>
              </a:rPr>
              <a:t>Rotate</a:t>
            </a:r>
          </a:p>
        </p:txBody>
      </p:sp>
      <p:sp>
        <p:nvSpPr>
          <p:cNvPr id="3026" name="tb"/>
          <p:cNvSpPr txBox="1"/>
          <p:nvPr/>
        </p:nvSpPr>
        <p:spPr>
          <a:xfrm>
            <a:off x="533400" y="1854200"/>
            <a:ext cx="2349500" cy="254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400" b="1" dirty="0">
                <a:solidFill>
                  <a:srgbClr val="333333"/>
                </a:solidFill>
              </a:rPr>
              <a:t>A = ( 0,  −1 ;  1,  0 )</a:t>
            </a:r>
          </a:p>
        </p:txBody>
      </p:sp>
      <p:sp>
        <p:nvSpPr>
          <p:cNvPr id="3027" name="tb"/>
          <p:cNvSpPr txBox="1"/>
          <p:nvPr/>
        </p:nvSpPr>
        <p:spPr>
          <a:xfrm>
            <a:off x="533400" y="2260600"/>
            <a:ext cx="2286000" cy="889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300" i="1" dirty="0">
                <a:solidFill>
                  <a:srgbClr val="6E6E6E"/>
                </a:solidFill>
              </a:rPr>
              <a:t>Spins x around the origin; its length is unchanged.</a:t>
            </a:r>
          </a:p>
        </p:txBody>
      </p:sp>
      <p:sp>
        <p:nvSpPr>
          <p:cNvPr id="3028" name="panel"/>
          <p:cNvSpPr/>
          <p:nvPr/>
        </p:nvSpPr>
        <p:spPr>
          <a:xfrm>
            <a:off x="6146800" y="1219200"/>
            <a:ext cx="5740400" cy="2235200"/>
          </a:xfrm>
          <a:prstGeom prst="roundRect">
            <a:avLst>
              <a:gd name="adj" fmla="val 4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29" name="r"/>
          <p:cNvSpPr/>
          <p:nvPr/>
        </p:nvSpPr>
        <p:spPr>
          <a:xfrm>
            <a:off x="8966200" y="14478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30" name="r"/>
          <p:cNvSpPr/>
          <p:nvPr/>
        </p:nvSpPr>
        <p:spPr>
          <a:xfrm>
            <a:off x="9220200" y="14478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31" name="r"/>
          <p:cNvSpPr/>
          <p:nvPr/>
        </p:nvSpPr>
        <p:spPr>
          <a:xfrm>
            <a:off x="9474200" y="14478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32" name="r"/>
          <p:cNvSpPr/>
          <p:nvPr/>
        </p:nvSpPr>
        <p:spPr>
          <a:xfrm>
            <a:off x="9728200" y="14478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33" name="r"/>
          <p:cNvSpPr/>
          <p:nvPr/>
        </p:nvSpPr>
        <p:spPr>
          <a:xfrm>
            <a:off x="9982200" y="14478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34" name="r"/>
          <p:cNvSpPr/>
          <p:nvPr/>
        </p:nvSpPr>
        <p:spPr>
          <a:xfrm>
            <a:off x="10236200" y="14478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35" name="r"/>
          <p:cNvSpPr/>
          <p:nvPr/>
        </p:nvSpPr>
        <p:spPr>
          <a:xfrm>
            <a:off x="10490200" y="14478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36" name="r"/>
          <p:cNvSpPr/>
          <p:nvPr/>
        </p:nvSpPr>
        <p:spPr>
          <a:xfrm>
            <a:off x="10744200" y="14478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37" name="r"/>
          <p:cNvSpPr/>
          <p:nvPr/>
        </p:nvSpPr>
        <p:spPr>
          <a:xfrm>
            <a:off x="10998200" y="14478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38" name="r"/>
          <p:cNvSpPr/>
          <p:nvPr/>
        </p:nvSpPr>
        <p:spPr>
          <a:xfrm>
            <a:off x="11252200" y="14478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39" name="r"/>
          <p:cNvSpPr/>
          <p:nvPr/>
        </p:nvSpPr>
        <p:spPr>
          <a:xfrm>
            <a:off x="11506200" y="14478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40" name="r"/>
          <p:cNvSpPr/>
          <p:nvPr/>
        </p:nvSpPr>
        <p:spPr>
          <a:xfrm>
            <a:off x="8813800" y="3098800"/>
            <a:ext cx="2844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41" name="r"/>
          <p:cNvSpPr/>
          <p:nvPr/>
        </p:nvSpPr>
        <p:spPr>
          <a:xfrm>
            <a:off x="8813800" y="2844800"/>
            <a:ext cx="2844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42" name="r"/>
          <p:cNvSpPr/>
          <p:nvPr/>
        </p:nvSpPr>
        <p:spPr>
          <a:xfrm>
            <a:off x="8813800" y="2590800"/>
            <a:ext cx="2844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43" name="r"/>
          <p:cNvSpPr/>
          <p:nvPr/>
        </p:nvSpPr>
        <p:spPr>
          <a:xfrm>
            <a:off x="8813800" y="2336800"/>
            <a:ext cx="2844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44" name="r"/>
          <p:cNvSpPr/>
          <p:nvPr/>
        </p:nvSpPr>
        <p:spPr>
          <a:xfrm>
            <a:off x="8813800" y="2082800"/>
            <a:ext cx="2844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45" name="r"/>
          <p:cNvSpPr/>
          <p:nvPr/>
        </p:nvSpPr>
        <p:spPr>
          <a:xfrm>
            <a:off x="8813800" y="1828800"/>
            <a:ext cx="2844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46" name="r"/>
          <p:cNvSpPr/>
          <p:nvPr/>
        </p:nvSpPr>
        <p:spPr>
          <a:xfrm>
            <a:off x="8813800" y="1574800"/>
            <a:ext cx="2844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47" name="r"/>
          <p:cNvSpPr/>
          <p:nvPr/>
        </p:nvSpPr>
        <p:spPr>
          <a:xfrm>
            <a:off x="8813800" y="2327910"/>
            <a:ext cx="2844800" cy="1778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48" name="r"/>
          <p:cNvSpPr/>
          <p:nvPr/>
        </p:nvSpPr>
        <p:spPr>
          <a:xfrm>
            <a:off x="10227310" y="1447800"/>
            <a:ext cx="17780" cy="177800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cxnSp>
        <p:nvCxnSpPr>
          <p:cNvPr id="3049" name="vec"/>
          <p:cNvCxnSpPr/>
          <p:nvPr/>
        </p:nvCxnSpPr>
        <p:spPr>
          <a:xfrm flipV="1">
            <a:off x="10236200" y="2082800"/>
            <a:ext cx="508000" cy="254000"/>
          </a:xfrm>
          <a:prstGeom prst="line">
            <a:avLst/>
          </a:prstGeom>
          <a:ln w="28575" cap="rnd">
            <a:solidFill>
              <a:srgbClr val="9A9A9A"/>
            </a:solidFill>
            <a:tailEnd type="triangle" w="med" len="med"/>
          </a:ln>
        </p:spPr>
      </p:cxnSp>
      <p:cxnSp>
        <p:nvCxnSpPr>
          <p:cNvPr id="3050" name="vec"/>
          <p:cNvCxnSpPr/>
          <p:nvPr/>
        </p:nvCxnSpPr>
        <p:spPr>
          <a:xfrm flipV="1">
            <a:off x="10236200" y="1955800"/>
            <a:ext cx="762000" cy="381000"/>
          </a:xfrm>
          <a:prstGeom prst="line">
            <a:avLst/>
          </a:prstGeom>
          <a:ln w="38100" cap="rnd">
            <a:solidFill>
              <a:srgbClr val="00A7B5"/>
            </a:solidFill>
            <a:tailEnd type="triangle" w="med" len="med"/>
          </a:ln>
        </p:spPr>
      </p:cxnSp>
      <p:sp>
        <p:nvSpPr>
          <p:cNvPr id="3051" name="tb"/>
          <p:cNvSpPr txBox="1"/>
          <p:nvPr/>
        </p:nvSpPr>
        <p:spPr>
          <a:xfrm>
            <a:off x="10795000" y="1879600"/>
            <a:ext cx="254000" cy="177800"/>
          </a:xfrm>
          <a:prstGeom prst="rect">
            <a:avLst/>
          </a:prstGeom>
          <a:noFill/>
        </p:spPr>
        <p:txBody>
          <a:bodyPr wrap="square" lIns="0" tIns="0" rIns="0" bIns="0">
            <a:normAutofit lnSpcReduction="10000"/>
          </a:bodyPr>
          <a:lstStyle/>
          <a:p>
            <a:pPr algn="l"/>
            <a:r>
              <a:rPr lang="en-US" sz="1200" b="1" i="1" dirty="0">
                <a:solidFill>
                  <a:srgbClr val="6E6E6E"/>
                </a:solidFill>
              </a:rPr>
              <a:t>x</a:t>
            </a:r>
          </a:p>
        </p:txBody>
      </p:sp>
      <p:sp>
        <p:nvSpPr>
          <p:cNvPr id="3052" name="tb"/>
          <p:cNvSpPr txBox="1"/>
          <p:nvPr/>
        </p:nvSpPr>
        <p:spPr>
          <a:xfrm>
            <a:off x="11061700" y="1739900"/>
            <a:ext cx="431800" cy="177800"/>
          </a:xfrm>
          <a:prstGeom prst="rect">
            <a:avLst/>
          </a:prstGeom>
          <a:noFill/>
        </p:spPr>
        <p:txBody>
          <a:bodyPr wrap="square" lIns="0" tIns="0" rIns="0" bIns="0">
            <a:normAutofit fontScale="92500" lnSpcReduction="10000"/>
          </a:bodyPr>
          <a:lstStyle/>
          <a:p>
            <a:pPr algn="l"/>
            <a:r>
              <a:rPr lang="en-US" sz="1300" b="1" dirty="0">
                <a:solidFill>
                  <a:srgbClr val="00A7B5"/>
                </a:solidFill>
              </a:rPr>
              <a:t>Ax</a:t>
            </a:r>
          </a:p>
        </p:txBody>
      </p:sp>
      <p:sp>
        <p:nvSpPr>
          <p:cNvPr id="3053" name="tb"/>
          <p:cNvSpPr txBox="1"/>
          <p:nvPr/>
        </p:nvSpPr>
        <p:spPr>
          <a:xfrm>
            <a:off x="6375400" y="1397000"/>
            <a:ext cx="2286000" cy="3048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700" b="1" dirty="0">
                <a:solidFill>
                  <a:srgbClr val="4B2E83"/>
                </a:solidFill>
              </a:rPr>
              <a:t>Scale</a:t>
            </a:r>
          </a:p>
        </p:txBody>
      </p:sp>
      <p:sp>
        <p:nvSpPr>
          <p:cNvPr id="3054" name="tb"/>
          <p:cNvSpPr txBox="1"/>
          <p:nvPr/>
        </p:nvSpPr>
        <p:spPr>
          <a:xfrm>
            <a:off x="6375400" y="1854200"/>
            <a:ext cx="2349500" cy="254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400" b="1" dirty="0">
                <a:solidFill>
                  <a:srgbClr val="333333"/>
                </a:solidFill>
              </a:rPr>
              <a:t>A = ( 1.5,  0 ;  0,  1.5 )</a:t>
            </a:r>
          </a:p>
        </p:txBody>
      </p:sp>
      <p:sp>
        <p:nvSpPr>
          <p:cNvPr id="3055" name="tb"/>
          <p:cNvSpPr txBox="1"/>
          <p:nvPr/>
        </p:nvSpPr>
        <p:spPr>
          <a:xfrm>
            <a:off x="6375400" y="2260600"/>
            <a:ext cx="2286000" cy="889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300" i="1" dirty="0">
                <a:solidFill>
                  <a:srgbClr val="6E6E6E"/>
                </a:solidFill>
              </a:rPr>
              <a:t>Stretches x by 1.5×; its direction is unchanged.</a:t>
            </a:r>
          </a:p>
        </p:txBody>
      </p:sp>
      <p:sp>
        <p:nvSpPr>
          <p:cNvPr id="3056" name="panel"/>
          <p:cNvSpPr/>
          <p:nvPr/>
        </p:nvSpPr>
        <p:spPr>
          <a:xfrm>
            <a:off x="304800" y="3556000"/>
            <a:ext cx="5740400" cy="2235200"/>
          </a:xfrm>
          <a:prstGeom prst="roundRect">
            <a:avLst>
              <a:gd name="adj" fmla="val 4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57" name="r"/>
          <p:cNvSpPr/>
          <p:nvPr/>
        </p:nvSpPr>
        <p:spPr>
          <a:xfrm>
            <a:off x="3124200" y="37846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58" name="r"/>
          <p:cNvSpPr/>
          <p:nvPr/>
        </p:nvSpPr>
        <p:spPr>
          <a:xfrm>
            <a:off x="3378200" y="37846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59" name="r"/>
          <p:cNvSpPr/>
          <p:nvPr/>
        </p:nvSpPr>
        <p:spPr>
          <a:xfrm>
            <a:off x="3632200" y="37846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60" name="r"/>
          <p:cNvSpPr/>
          <p:nvPr/>
        </p:nvSpPr>
        <p:spPr>
          <a:xfrm>
            <a:off x="3886200" y="37846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61" name="r"/>
          <p:cNvSpPr/>
          <p:nvPr/>
        </p:nvSpPr>
        <p:spPr>
          <a:xfrm>
            <a:off x="4140200" y="37846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62" name="r"/>
          <p:cNvSpPr/>
          <p:nvPr/>
        </p:nvSpPr>
        <p:spPr>
          <a:xfrm>
            <a:off x="4394200" y="37846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63" name="r"/>
          <p:cNvSpPr/>
          <p:nvPr/>
        </p:nvSpPr>
        <p:spPr>
          <a:xfrm>
            <a:off x="4648200" y="37846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64" name="r"/>
          <p:cNvSpPr/>
          <p:nvPr/>
        </p:nvSpPr>
        <p:spPr>
          <a:xfrm>
            <a:off x="4902200" y="37846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65" name="r"/>
          <p:cNvSpPr/>
          <p:nvPr/>
        </p:nvSpPr>
        <p:spPr>
          <a:xfrm>
            <a:off x="5156200" y="37846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66" name="r"/>
          <p:cNvSpPr/>
          <p:nvPr/>
        </p:nvSpPr>
        <p:spPr>
          <a:xfrm>
            <a:off x="5410200" y="37846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67" name="r"/>
          <p:cNvSpPr/>
          <p:nvPr/>
        </p:nvSpPr>
        <p:spPr>
          <a:xfrm>
            <a:off x="5664200" y="37846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68" name="r"/>
          <p:cNvSpPr/>
          <p:nvPr/>
        </p:nvSpPr>
        <p:spPr>
          <a:xfrm>
            <a:off x="2971800" y="5435600"/>
            <a:ext cx="2844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69" name="r"/>
          <p:cNvSpPr/>
          <p:nvPr/>
        </p:nvSpPr>
        <p:spPr>
          <a:xfrm>
            <a:off x="2971800" y="5181600"/>
            <a:ext cx="2844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70" name="r"/>
          <p:cNvSpPr/>
          <p:nvPr/>
        </p:nvSpPr>
        <p:spPr>
          <a:xfrm>
            <a:off x="2971800" y="4927600"/>
            <a:ext cx="2844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71" name="r"/>
          <p:cNvSpPr/>
          <p:nvPr/>
        </p:nvSpPr>
        <p:spPr>
          <a:xfrm>
            <a:off x="2971800" y="4673600"/>
            <a:ext cx="2844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72" name="r"/>
          <p:cNvSpPr/>
          <p:nvPr/>
        </p:nvSpPr>
        <p:spPr>
          <a:xfrm>
            <a:off x="2971800" y="4419600"/>
            <a:ext cx="2844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73" name="r"/>
          <p:cNvSpPr/>
          <p:nvPr/>
        </p:nvSpPr>
        <p:spPr>
          <a:xfrm>
            <a:off x="2971800" y="4165600"/>
            <a:ext cx="2844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74" name="r"/>
          <p:cNvSpPr/>
          <p:nvPr/>
        </p:nvSpPr>
        <p:spPr>
          <a:xfrm>
            <a:off x="2971800" y="3911600"/>
            <a:ext cx="2844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75" name="r"/>
          <p:cNvSpPr/>
          <p:nvPr/>
        </p:nvSpPr>
        <p:spPr>
          <a:xfrm>
            <a:off x="2971800" y="4664710"/>
            <a:ext cx="2844800" cy="1778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76" name="r"/>
          <p:cNvSpPr/>
          <p:nvPr/>
        </p:nvSpPr>
        <p:spPr>
          <a:xfrm>
            <a:off x="4385310" y="3784600"/>
            <a:ext cx="17780" cy="177800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cxnSp>
        <p:nvCxnSpPr>
          <p:cNvPr id="3077" name="vec"/>
          <p:cNvCxnSpPr/>
          <p:nvPr/>
        </p:nvCxnSpPr>
        <p:spPr>
          <a:xfrm flipV="1">
            <a:off x="4394200" y="4419600"/>
            <a:ext cx="508000" cy="254000"/>
          </a:xfrm>
          <a:prstGeom prst="line">
            <a:avLst/>
          </a:prstGeom>
          <a:ln w="28575" cap="rnd">
            <a:solidFill>
              <a:srgbClr val="9A9A9A"/>
            </a:solidFill>
            <a:tailEnd type="triangle" w="med" len="med"/>
          </a:ln>
        </p:spPr>
      </p:cxnSp>
      <p:cxnSp>
        <p:nvCxnSpPr>
          <p:cNvPr id="3078" name="vec"/>
          <p:cNvCxnSpPr/>
          <p:nvPr/>
        </p:nvCxnSpPr>
        <p:spPr>
          <a:xfrm flipV="1">
            <a:off x="4394200" y="4419600"/>
            <a:ext cx="889000" cy="254000"/>
          </a:xfrm>
          <a:prstGeom prst="line">
            <a:avLst/>
          </a:prstGeom>
          <a:ln w="38100" cap="rnd">
            <a:solidFill>
              <a:srgbClr val="7AB648"/>
            </a:solidFill>
            <a:tailEnd type="triangle" w="med" len="med"/>
          </a:ln>
        </p:spPr>
      </p:cxnSp>
      <p:sp>
        <p:nvSpPr>
          <p:cNvPr id="3079" name="tb"/>
          <p:cNvSpPr txBox="1"/>
          <p:nvPr/>
        </p:nvSpPr>
        <p:spPr>
          <a:xfrm>
            <a:off x="4953000" y="4216400"/>
            <a:ext cx="254000" cy="177800"/>
          </a:xfrm>
          <a:prstGeom prst="rect">
            <a:avLst/>
          </a:prstGeom>
          <a:noFill/>
        </p:spPr>
        <p:txBody>
          <a:bodyPr wrap="square" lIns="0" tIns="0" rIns="0" bIns="0">
            <a:normAutofit lnSpcReduction="10000"/>
          </a:bodyPr>
          <a:lstStyle/>
          <a:p>
            <a:pPr algn="l"/>
            <a:r>
              <a:rPr lang="en-US" sz="1200" b="1" i="1" dirty="0">
                <a:solidFill>
                  <a:srgbClr val="6E6E6E"/>
                </a:solidFill>
              </a:rPr>
              <a:t>x</a:t>
            </a:r>
          </a:p>
        </p:txBody>
      </p:sp>
      <p:sp>
        <p:nvSpPr>
          <p:cNvPr id="3080" name="tb"/>
          <p:cNvSpPr txBox="1"/>
          <p:nvPr/>
        </p:nvSpPr>
        <p:spPr>
          <a:xfrm>
            <a:off x="5346700" y="4203700"/>
            <a:ext cx="431800" cy="177800"/>
          </a:xfrm>
          <a:prstGeom prst="rect">
            <a:avLst/>
          </a:prstGeom>
          <a:noFill/>
        </p:spPr>
        <p:txBody>
          <a:bodyPr wrap="square" lIns="0" tIns="0" rIns="0" bIns="0">
            <a:normAutofit fontScale="92500" lnSpcReduction="10000"/>
          </a:bodyPr>
          <a:lstStyle/>
          <a:p>
            <a:pPr algn="l"/>
            <a:r>
              <a:rPr lang="en-US" sz="1300" b="1" dirty="0">
                <a:solidFill>
                  <a:srgbClr val="7AB648"/>
                </a:solidFill>
              </a:rPr>
              <a:t>Ax</a:t>
            </a:r>
          </a:p>
        </p:txBody>
      </p:sp>
      <p:sp>
        <p:nvSpPr>
          <p:cNvPr id="3081" name="tb"/>
          <p:cNvSpPr txBox="1"/>
          <p:nvPr/>
        </p:nvSpPr>
        <p:spPr>
          <a:xfrm>
            <a:off x="533400" y="3733800"/>
            <a:ext cx="2286000" cy="3048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700" b="1" dirty="0">
                <a:solidFill>
                  <a:srgbClr val="4B2E83"/>
                </a:solidFill>
              </a:rPr>
              <a:t>Shear</a:t>
            </a:r>
          </a:p>
        </p:txBody>
      </p:sp>
      <p:sp>
        <p:nvSpPr>
          <p:cNvPr id="3082" name="tb"/>
          <p:cNvSpPr txBox="1"/>
          <p:nvPr/>
        </p:nvSpPr>
        <p:spPr>
          <a:xfrm>
            <a:off x="533400" y="4191000"/>
            <a:ext cx="2349500" cy="254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400" b="1" dirty="0">
                <a:solidFill>
                  <a:srgbClr val="333333"/>
                </a:solidFill>
              </a:rPr>
              <a:t>A = ( 1,  1.5 ;  0,  1 )</a:t>
            </a:r>
          </a:p>
        </p:txBody>
      </p:sp>
      <p:sp>
        <p:nvSpPr>
          <p:cNvPr id="3083" name="tb"/>
          <p:cNvSpPr txBox="1"/>
          <p:nvPr/>
        </p:nvSpPr>
        <p:spPr>
          <a:xfrm>
            <a:off x="533400" y="4597400"/>
            <a:ext cx="2286000" cy="889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300" i="1" dirty="0">
                <a:solidFill>
                  <a:srgbClr val="6E6E6E"/>
                </a:solidFill>
              </a:rPr>
              <a:t>Slides x sideways in proportion to its height.</a:t>
            </a:r>
          </a:p>
        </p:txBody>
      </p:sp>
      <p:sp>
        <p:nvSpPr>
          <p:cNvPr id="3084" name="panel"/>
          <p:cNvSpPr/>
          <p:nvPr/>
        </p:nvSpPr>
        <p:spPr>
          <a:xfrm>
            <a:off x="6146800" y="3556000"/>
            <a:ext cx="5740400" cy="2235200"/>
          </a:xfrm>
          <a:prstGeom prst="roundRect">
            <a:avLst>
              <a:gd name="adj" fmla="val 4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85" name="r"/>
          <p:cNvSpPr/>
          <p:nvPr/>
        </p:nvSpPr>
        <p:spPr>
          <a:xfrm>
            <a:off x="8966200" y="37846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86" name="r"/>
          <p:cNvSpPr/>
          <p:nvPr/>
        </p:nvSpPr>
        <p:spPr>
          <a:xfrm>
            <a:off x="9220200" y="37846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87" name="r"/>
          <p:cNvSpPr/>
          <p:nvPr/>
        </p:nvSpPr>
        <p:spPr>
          <a:xfrm>
            <a:off x="9474200" y="37846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88" name="r"/>
          <p:cNvSpPr/>
          <p:nvPr/>
        </p:nvSpPr>
        <p:spPr>
          <a:xfrm>
            <a:off x="9728200" y="37846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89" name="r"/>
          <p:cNvSpPr/>
          <p:nvPr/>
        </p:nvSpPr>
        <p:spPr>
          <a:xfrm>
            <a:off x="9982200" y="37846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90" name="r"/>
          <p:cNvSpPr/>
          <p:nvPr/>
        </p:nvSpPr>
        <p:spPr>
          <a:xfrm>
            <a:off x="10236200" y="37846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91" name="r"/>
          <p:cNvSpPr/>
          <p:nvPr/>
        </p:nvSpPr>
        <p:spPr>
          <a:xfrm>
            <a:off x="10490200" y="37846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92" name="r"/>
          <p:cNvSpPr/>
          <p:nvPr/>
        </p:nvSpPr>
        <p:spPr>
          <a:xfrm>
            <a:off x="10744200" y="37846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93" name="r"/>
          <p:cNvSpPr/>
          <p:nvPr/>
        </p:nvSpPr>
        <p:spPr>
          <a:xfrm>
            <a:off x="10998200" y="37846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94" name="r"/>
          <p:cNvSpPr/>
          <p:nvPr/>
        </p:nvSpPr>
        <p:spPr>
          <a:xfrm>
            <a:off x="11252200" y="37846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95" name="r"/>
          <p:cNvSpPr/>
          <p:nvPr/>
        </p:nvSpPr>
        <p:spPr>
          <a:xfrm>
            <a:off x="11506200" y="3784600"/>
            <a:ext cx="10160" cy="1778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96" name="r"/>
          <p:cNvSpPr/>
          <p:nvPr/>
        </p:nvSpPr>
        <p:spPr>
          <a:xfrm>
            <a:off x="8813800" y="5435600"/>
            <a:ext cx="2844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97" name="r"/>
          <p:cNvSpPr/>
          <p:nvPr/>
        </p:nvSpPr>
        <p:spPr>
          <a:xfrm>
            <a:off x="8813800" y="5181600"/>
            <a:ext cx="2844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98" name="r"/>
          <p:cNvSpPr/>
          <p:nvPr/>
        </p:nvSpPr>
        <p:spPr>
          <a:xfrm>
            <a:off x="8813800" y="4927600"/>
            <a:ext cx="2844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99" name="r"/>
          <p:cNvSpPr/>
          <p:nvPr/>
        </p:nvSpPr>
        <p:spPr>
          <a:xfrm>
            <a:off x="8813800" y="4673600"/>
            <a:ext cx="2844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00" name="r"/>
          <p:cNvSpPr/>
          <p:nvPr/>
        </p:nvSpPr>
        <p:spPr>
          <a:xfrm>
            <a:off x="8813800" y="4419600"/>
            <a:ext cx="2844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01" name="r"/>
          <p:cNvSpPr/>
          <p:nvPr/>
        </p:nvSpPr>
        <p:spPr>
          <a:xfrm>
            <a:off x="8813800" y="4165600"/>
            <a:ext cx="2844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02" name="r"/>
          <p:cNvSpPr/>
          <p:nvPr/>
        </p:nvSpPr>
        <p:spPr>
          <a:xfrm>
            <a:off x="8813800" y="3911600"/>
            <a:ext cx="2844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03" name="r"/>
          <p:cNvSpPr/>
          <p:nvPr/>
        </p:nvSpPr>
        <p:spPr>
          <a:xfrm>
            <a:off x="8813800" y="4664710"/>
            <a:ext cx="2844800" cy="1778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04" name="r"/>
          <p:cNvSpPr/>
          <p:nvPr/>
        </p:nvSpPr>
        <p:spPr>
          <a:xfrm>
            <a:off x="10227310" y="3784600"/>
            <a:ext cx="17780" cy="177800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cxnSp>
        <p:nvCxnSpPr>
          <p:cNvPr id="3105" name="vec"/>
          <p:cNvCxnSpPr/>
          <p:nvPr/>
        </p:nvCxnSpPr>
        <p:spPr>
          <a:xfrm flipV="1">
            <a:off x="10236200" y="4419600"/>
            <a:ext cx="508000" cy="254000"/>
          </a:xfrm>
          <a:prstGeom prst="line">
            <a:avLst/>
          </a:prstGeom>
          <a:ln w="28575" cap="rnd">
            <a:solidFill>
              <a:srgbClr val="9A9A9A"/>
            </a:solidFill>
            <a:tailEnd type="triangle" w="med" len="med"/>
          </a:ln>
        </p:spPr>
      </p:cxnSp>
      <p:cxnSp>
        <p:nvCxnSpPr>
          <p:cNvPr id="3106" name="vec"/>
          <p:cNvCxnSpPr/>
          <p:nvPr/>
        </p:nvCxnSpPr>
        <p:spPr>
          <a:xfrm>
            <a:off x="10236200" y="4673600"/>
            <a:ext cx="508000" cy="0"/>
          </a:xfrm>
          <a:prstGeom prst="line">
            <a:avLst/>
          </a:prstGeom>
          <a:ln w="38100" cap="rnd">
            <a:solidFill>
              <a:srgbClr val="D1578A"/>
            </a:solidFill>
            <a:tailEnd type="triangle" w="med" len="med"/>
          </a:ln>
        </p:spPr>
      </p:cxnSp>
      <p:sp>
        <p:nvSpPr>
          <p:cNvPr id="3107" name="tb"/>
          <p:cNvSpPr txBox="1"/>
          <p:nvPr/>
        </p:nvSpPr>
        <p:spPr>
          <a:xfrm>
            <a:off x="10795000" y="4216400"/>
            <a:ext cx="254000" cy="177800"/>
          </a:xfrm>
          <a:prstGeom prst="rect">
            <a:avLst/>
          </a:prstGeom>
          <a:noFill/>
        </p:spPr>
        <p:txBody>
          <a:bodyPr wrap="square" lIns="0" tIns="0" rIns="0" bIns="0">
            <a:normAutofit lnSpcReduction="10000"/>
          </a:bodyPr>
          <a:lstStyle/>
          <a:p>
            <a:pPr algn="l"/>
            <a:r>
              <a:rPr lang="en-US" sz="1200" b="1" i="1" dirty="0">
                <a:solidFill>
                  <a:srgbClr val="6E6E6E"/>
                </a:solidFill>
              </a:rPr>
              <a:t>x</a:t>
            </a:r>
          </a:p>
        </p:txBody>
      </p:sp>
      <p:sp>
        <p:nvSpPr>
          <p:cNvPr id="3108" name="tb"/>
          <p:cNvSpPr txBox="1"/>
          <p:nvPr/>
        </p:nvSpPr>
        <p:spPr>
          <a:xfrm>
            <a:off x="10807700" y="4457700"/>
            <a:ext cx="431800" cy="177800"/>
          </a:xfrm>
          <a:prstGeom prst="rect">
            <a:avLst/>
          </a:prstGeom>
          <a:noFill/>
        </p:spPr>
        <p:txBody>
          <a:bodyPr wrap="square" lIns="0" tIns="0" rIns="0" bIns="0">
            <a:normAutofit fontScale="92500" lnSpcReduction="10000"/>
          </a:bodyPr>
          <a:lstStyle/>
          <a:p>
            <a:pPr algn="l"/>
            <a:r>
              <a:rPr lang="en-US" sz="1300" b="1" dirty="0">
                <a:solidFill>
                  <a:srgbClr val="D1578A"/>
                </a:solidFill>
              </a:rPr>
              <a:t>Ax</a:t>
            </a:r>
          </a:p>
        </p:txBody>
      </p:sp>
      <p:sp>
        <p:nvSpPr>
          <p:cNvPr id="3109" name="tb"/>
          <p:cNvSpPr txBox="1"/>
          <p:nvPr/>
        </p:nvSpPr>
        <p:spPr>
          <a:xfrm>
            <a:off x="6375400" y="3733800"/>
            <a:ext cx="2286000" cy="3048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700" b="1" dirty="0">
                <a:solidFill>
                  <a:srgbClr val="4B2E83"/>
                </a:solidFill>
              </a:rPr>
              <a:t>Project</a:t>
            </a:r>
          </a:p>
        </p:txBody>
      </p:sp>
      <p:sp>
        <p:nvSpPr>
          <p:cNvPr id="3110" name="tb"/>
          <p:cNvSpPr txBox="1"/>
          <p:nvPr/>
        </p:nvSpPr>
        <p:spPr>
          <a:xfrm>
            <a:off x="6375400" y="4191000"/>
            <a:ext cx="2349500" cy="254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400" b="1" dirty="0">
                <a:solidFill>
                  <a:srgbClr val="333333"/>
                </a:solidFill>
              </a:rPr>
              <a:t>A = ( 1,  0 ;  0,  0 )</a:t>
            </a:r>
          </a:p>
        </p:txBody>
      </p:sp>
      <p:sp>
        <p:nvSpPr>
          <p:cNvPr id="3111" name="tb"/>
          <p:cNvSpPr txBox="1"/>
          <p:nvPr/>
        </p:nvSpPr>
        <p:spPr>
          <a:xfrm>
            <a:off x="6375400" y="4597400"/>
            <a:ext cx="2286000" cy="889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300" i="1" dirty="0">
                <a:solidFill>
                  <a:srgbClr val="6E6E6E"/>
                </a:solidFill>
              </a:rPr>
              <a:t>Flattens x onto the x-axis; one dimension is lost.</a:t>
            </a:r>
          </a:p>
        </p:txBody>
      </p:sp>
    </p:spTree>
    <p:extLst>
      <p:ext uri="{BB962C8B-B14F-4D97-AF65-F5344CB8AC3E}">
        <p14:creationId xmlns:p14="http://schemas.microsoft.com/office/powerpoint/2010/main" val="16571220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E3E4943D-A7FF-B042-B1FC-D530AA953B60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BB66CE0F-A7D1-CD4D-975B-5A1130909D8A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Example 1 — Matrix–Vector Multiplication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0E2A1C37-D468-234F-81D0-B626FEAED54E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2×3 matrix times a 3-vector</a:t>
            </a:r>
          </a:p>
        </p:txBody>
      </p:sp>
      <p:sp>
        <p:nvSpPr>
          <p:cNvPr id="5" name="QCard">
            <a:extLst>
              <a:ext uri="{FF2B5EF4-FFF2-40B4-BE49-F238E27FC236}">
                <a16:creationId xmlns:a16="http://schemas.microsoft.com/office/drawing/2014/main" id="{F965FBD0-D2B9-A94E-9653-FCBB570CC0C7}"/>
              </a:ext>
            </a:extLst>
          </p:cNvPr>
          <p:cNvSpPr/>
          <p:nvPr/>
        </p:nvSpPr>
        <p:spPr>
          <a:xfrm>
            <a:off x="381000" y="1270000"/>
            <a:ext cx="11430000" cy="1651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QHdr">
            <a:extLst>
              <a:ext uri="{FF2B5EF4-FFF2-40B4-BE49-F238E27FC236}">
                <a16:creationId xmlns:a16="http://schemas.microsoft.com/office/drawing/2014/main" id="{8A14430E-5D66-664D-9142-55745D81AE00}"/>
              </a:ext>
            </a:extLst>
          </p:cNvPr>
          <p:cNvSpPr/>
          <p:nvPr/>
        </p:nvSpPr>
        <p:spPr>
          <a:xfrm>
            <a:off x="381000" y="1270000"/>
            <a:ext cx="11430000" cy="406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QHdrT">
            <a:extLst>
              <a:ext uri="{FF2B5EF4-FFF2-40B4-BE49-F238E27FC236}">
                <a16:creationId xmlns:a16="http://schemas.microsoft.com/office/drawing/2014/main" id="{EBFBFFFF-575B-3948-9EB6-38B858AFE6D1}"/>
              </a:ext>
            </a:extLst>
          </p:cNvPr>
          <p:cNvSpPr txBox="1"/>
          <p:nvPr/>
        </p:nvSpPr>
        <p:spPr>
          <a:xfrm>
            <a:off x="558800" y="13335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Question</a:t>
            </a:r>
          </a:p>
        </p:txBody>
      </p:sp>
      <p:sp>
        <p:nvSpPr>
          <p:cNvPr id="9" name="SCard">
            <a:extLst>
              <a:ext uri="{FF2B5EF4-FFF2-40B4-BE49-F238E27FC236}">
                <a16:creationId xmlns:a16="http://schemas.microsoft.com/office/drawing/2014/main" id="{1E5F2C8D-608A-BF47-9EFE-11D7FAA5AE90}"/>
              </a:ext>
            </a:extLst>
          </p:cNvPr>
          <p:cNvSpPr/>
          <p:nvPr/>
        </p:nvSpPr>
        <p:spPr>
          <a:xfrm>
            <a:off x="381000" y="3111500"/>
            <a:ext cx="11430000" cy="22225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77777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SHdr">
            <a:extLst>
              <a:ext uri="{FF2B5EF4-FFF2-40B4-BE49-F238E27FC236}">
                <a16:creationId xmlns:a16="http://schemas.microsoft.com/office/drawing/2014/main" id="{0DCA8379-36AF-D44A-80EE-9879AC65F92A}"/>
              </a:ext>
            </a:extLst>
          </p:cNvPr>
          <p:cNvSpPr/>
          <p:nvPr/>
        </p:nvSpPr>
        <p:spPr>
          <a:xfrm>
            <a:off x="381000" y="3111500"/>
            <a:ext cx="11430000" cy="3810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SHdrT">
            <a:extLst>
              <a:ext uri="{FF2B5EF4-FFF2-40B4-BE49-F238E27FC236}">
                <a16:creationId xmlns:a16="http://schemas.microsoft.com/office/drawing/2014/main" id="{5D29C539-01C0-9444-A538-1C4DAD4F685B}"/>
              </a:ext>
            </a:extLst>
          </p:cNvPr>
          <p:cNvSpPr txBox="1"/>
          <p:nvPr/>
        </p:nvSpPr>
        <p:spPr>
          <a:xfrm>
            <a:off x="558800" y="31496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Solution (hidden until reveal)</a:t>
            </a:r>
          </a:p>
        </p:txBody>
      </p:sp>
      <p:sp>
        <p:nvSpPr>
          <p:cNvPr id="12" name="S1">
            <a:extLst>
              <a:ext uri="{FF2B5EF4-FFF2-40B4-BE49-F238E27FC236}">
                <a16:creationId xmlns:a16="http://schemas.microsoft.com/office/drawing/2014/main" id="{D8E301AF-92DD-BC48-93F8-87CB313DE3E6}"/>
              </a:ext>
            </a:extLst>
          </p:cNvPr>
          <p:cNvSpPr txBox="1"/>
          <p:nvPr/>
        </p:nvSpPr>
        <p:spPr>
          <a:xfrm>
            <a:off x="558800" y="3581400"/>
            <a:ext cx="11049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B0B0B0"/>
                </a:solidFill>
                <a:latin typeface="Cambria Math"/>
                <a:ea typeface="Cambria Math"/>
              </a:rPr>
              <a:t>Row 1 · x:  (1)(1) + (2)(0) + (3)(-1)  =  1 + 0 - 3  =  -2</a:t>
            </a:r>
          </a:p>
        </p:txBody>
      </p:sp>
      <p:sp>
        <p:nvSpPr>
          <p:cNvPr id="13" name="S2">
            <a:extLst>
              <a:ext uri="{FF2B5EF4-FFF2-40B4-BE49-F238E27FC236}">
                <a16:creationId xmlns:a16="http://schemas.microsoft.com/office/drawing/2014/main" id="{2B84F7F3-0563-6848-ADC7-B8B544E24F5E}"/>
              </a:ext>
            </a:extLst>
          </p:cNvPr>
          <p:cNvSpPr txBox="1"/>
          <p:nvPr/>
        </p:nvSpPr>
        <p:spPr>
          <a:xfrm>
            <a:off x="558800" y="3886200"/>
            <a:ext cx="11049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B0B0B0"/>
                </a:solidFill>
                <a:latin typeface="Cambria Math"/>
                <a:ea typeface="Cambria Math"/>
              </a:rPr>
              <a:t>Row 2 · x:  (4)(1) + (5)(0) + (6)(-1)  =  4 + 0 - 6  =  -2</a:t>
            </a:r>
          </a:p>
        </p:txBody>
      </p:sp>
      <p:sp>
        <p:nvSpPr>
          <p:cNvPr id="14" name="S3">
            <a:extLst>
              <a:ext uri="{FF2B5EF4-FFF2-40B4-BE49-F238E27FC236}">
                <a16:creationId xmlns:a16="http://schemas.microsoft.com/office/drawing/2014/main" id="{19AAA4B3-FB8B-464B-B318-C2902157C91C}"/>
              </a:ext>
            </a:extLst>
          </p:cNvPr>
          <p:cNvSpPr txBox="1"/>
          <p:nvPr/>
        </p:nvSpPr>
        <p:spPr>
          <a:xfrm>
            <a:off x="558800" y="42164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B0B0B0"/>
                </a:solidFill>
                <a:latin typeface="Arial"/>
                <a:cs typeface="Arial"/>
              </a:rPr>
              <a:t>Stack row results into output vector y:</a:t>
            </a:r>
          </a:p>
        </p:txBody>
      </p:sp>
      <p:sp>
        <p:nvSpPr>
          <p:cNvPr id="15" name="S4">
            <a:extLst>
              <a:ext uri="{FF2B5EF4-FFF2-40B4-BE49-F238E27FC236}">
                <a16:creationId xmlns:a16="http://schemas.microsoft.com/office/drawing/2014/main" id="{1032CAE6-3480-1F41-A833-453EC85F6C3B}"/>
              </a:ext>
            </a:extLst>
          </p:cNvPr>
          <p:cNvSpPr txBox="1"/>
          <p:nvPr/>
        </p:nvSpPr>
        <p:spPr>
          <a:xfrm>
            <a:off x="558800" y="44704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B0B0B0"/>
                </a:solidFill>
                <a:latin typeface="Cambria Math"/>
                <a:ea typeface="Cambria Math"/>
              </a:rPr>
              <a:t>A · x  =  (-2, -2)ᵀ</a:t>
            </a:r>
          </a:p>
        </p:txBody>
      </p:sp>
      <p:sp>
        <p:nvSpPr>
          <p:cNvPr id="16" name="SAns">
            <a:extLst>
              <a:ext uri="{FF2B5EF4-FFF2-40B4-BE49-F238E27FC236}">
                <a16:creationId xmlns:a16="http://schemas.microsoft.com/office/drawing/2014/main" id="{4DC291C7-BF9C-BB47-82C4-577DDB241925}"/>
              </a:ext>
            </a:extLst>
          </p:cNvPr>
          <p:cNvSpPr txBox="1"/>
          <p:nvPr/>
        </p:nvSpPr>
        <p:spPr>
          <a:xfrm>
            <a:off x="558800" y="48768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  <a:latin typeface="Cambria Math"/>
                <a:ea typeface="Cambria Math"/>
              </a:rPr>
              <a:t>Answer:   A·x = (-2, -2)ᵀ</a:t>
            </a:r>
          </a:p>
        </p:txBody>
      </p:sp>
      <p:sp>
        <p:nvSpPr>
          <p:cNvPr id="17" name="TkBar">
            <a:extLst>
              <a:ext uri="{FF2B5EF4-FFF2-40B4-BE49-F238E27FC236}">
                <a16:creationId xmlns:a16="http://schemas.microsoft.com/office/drawing/2014/main" id="{A1E43B02-1345-2742-9D69-9E8F689D1E9A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kText">
            <a:extLst>
              <a:ext uri="{FF2B5EF4-FFF2-40B4-BE49-F238E27FC236}">
                <a16:creationId xmlns:a16="http://schemas.microsoft.com/office/drawing/2014/main" id="{53E44C1D-B89A-F24D-9E90-18BA9C4054D3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Each output entry = dot product of one matrix row with x</a:t>
            </a:r>
          </a:p>
        </p:txBody>
      </p:sp>
      <p:sp>
        <p:nvSpPr>
          <p:cNvPr id="42" name="Lead">
            <a:extLst>
              <a:ext uri="{FF2B5EF4-FFF2-40B4-BE49-F238E27FC236}">
                <a16:creationId xmlns:a16="http://schemas.microsoft.com/office/drawing/2014/main" id="{7AA0D3BF-A133-6444-A480-FDBDAF310EE4}"/>
              </a:ext>
            </a:extLst>
          </p:cNvPr>
          <p:cNvSpPr txBox="1"/>
          <p:nvPr/>
        </p:nvSpPr>
        <p:spPr>
          <a:xfrm>
            <a:off x="635000" y="2133600"/>
            <a:ext cx="2794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>
                <a:solidFill>
                  <a:srgbClr val="333333"/>
                </a:solidFill>
                <a:latin typeface="Cambria Math"/>
                <a:ea typeface="Cambria Math"/>
              </a:rPr>
              <a:t>Compute  A·x   where   A =</a:t>
            </a:r>
          </a:p>
        </p:txBody>
      </p:sp>
      <p:sp>
        <p:nvSpPr>
          <p:cNvPr id="43" name="LB">
            <a:extLst>
              <a:ext uri="{FF2B5EF4-FFF2-40B4-BE49-F238E27FC236}">
                <a16:creationId xmlns:a16="http://schemas.microsoft.com/office/drawing/2014/main" id="{C16A0CD6-AD4E-3E44-8546-65BEB7143FDB}"/>
              </a:ext>
            </a:extLst>
          </p:cNvPr>
          <p:cNvSpPr/>
          <p:nvPr/>
        </p:nvSpPr>
        <p:spPr>
          <a:xfrm>
            <a:off x="3556000" y="1955800"/>
            <a:ext cx="177800" cy="660400"/>
          </a:xfrm>
          <a:prstGeom prst="leftBracket">
            <a:avLst/>
          </a:prstGeom>
          <a:noFill/>
          <a:ln w="254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4" name="RB">
            <a:extLst>
              <a:ext uri="{FF2B5EF4-FFF2-40B4-BE49-F238E27FC236}">
                <a16:creationId xmlns:a16="http://schemas.microsoft.com/office/drawing/2014/main" id="{16E75366-D908-7B41-91FA-F3E2D6C8A125}"/>
              </a:ext>
            </a:extLst>
          </p:cNvPr>
          <p:cNvSpPr/>
          <p:nvPr/>
        </p:nvSpPr>
        <p:spPr>
          <a:xfrm>
            <a:off x="5308600" y="1955800"/>
            <a:ext cx="177800" cy="660400"/>
          </a:xfrm>
          <a:prstGeom prst="rightBracket">
            <a:avLst/>
          </a:prstGeom>
          <a:noFill/>
          <a:ln w="254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5" name="R0C0">
            <a:extLst>
              <a:ext uri="{FF2B5EF4-FFF2-40B4-BE49-F238E27FC236}">
                <a16:creationId xmlns:a16="http://schemas.microsoft.com/office/drawing/2014/main" id="{6CFE0154-BAF7-534E-94EE-E1381C7E910E}"/>
              </a:ext>
            </a:extLst>
          </p:cNvPr>
          <p:cNvSpPr txBox="1"/>
          <p:nvPr/>
        </p:nvSpPr>
        <p:spPr>
          <a:xfrm>
            <a:off x="3733800" y="1981200"/>
            <a:ext cx="508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1</a:t>
            </a:r>
          </a:p>
        </p:txBody>
      </p:sp>
      <p:sp>
        <p:nvSpPr>
          <p:cNvPr id="46" name="R0C1">
            <a:extLst>
              <a:ext uri="{FF2B5EF4-FFF2-40B4-BE49-F238E27FC236}">
                <a16:creationId xmlns:a16="http://schemas.microsoft.com/office/drawing/2014/main" id="{CBF391D8-7C4A-9F40-8AC8-20EE3811D31F}"/>
              </a:ext>
            </a:extLst>
          </p:cNvPr>
          <p:cNvSpPr txBox="1"/>
          <p:nvPr/>
        </p:nvSpPr>
        <p:spPr>
          <a:xfrm>
            <a:off x="4241800" y="1981200"/>
            <a:ext cx="508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2</a:t>
            </a:r>
          </a:p>
        </p:txBody>
      </p:sp>
      <p:sp>
        <p:nvSpPr>
          <p:cNvPr id="47" name="R0C2">
            <a:extLst>
              <a:ext uri="{FF2B5EF4-FFF2-40B4-BE49-F238E27FC236}">
                <a16:creationId xmlns:a16="http://schemas.microsoft.com/office/drawing/2014/main" id="{63B8BD88-F17A-D74B-AC35-416E74D8047F}"/>
              </a:ext>
            </a:extLst>
          </p:cNvPr>
          <p:cNvSpPr txBox="1"/>
          <p:nvPr/>
        </p:nvSpPr>
        <p:spPr>
          <a:xfrm>
            <a:off x="4749800" y="1981200"/>
            <a:ext cx="508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3</a:t>
            </a:r>
          </a:p>
        </p:txBody>
      </p:sp>
      <p:sp>
        <p:nvSpPr>
          <p:cNvPr id="48" name="R1C0">
            <a:extLst>
              <a:ext uri="{FF2B5EF4-FFF2-40B4-BE49-F238E27FC236}">
                <a16:creationId xmlns:a16="http://schemas.microsoft.com/office/drawing/2014/main" id="{97BF2A0A-722E-124C-B671-12CCF031AA38}"/>
              </a:ext>
            </a:extLst>
          </p:cNvPr>
          <p:cNvSpPr txBox="1"/>
          <p:nvPr/>
        </p:nvSpPr>
        <p:spPr>
          <a:xfrm>
            <a:off x="3733800" y="2286000"/>
            <a:ext cx="508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4</a:t>
            </a:r>
          </a:p>
        </p:txBody>
      </p:sp>
      <p:sp>
        <p:nvSpPr>
          <p:cNvPr id="49" name="R1C1">
            <a:extLst>
              <a:ext uri="{FF2B5EF4-FFF2-40B4-BE49-F238E27FC236}">
                <a16:creationId xmlns:a16="http://schemas.microsoft.com/office/drawing/2014/main" id="{17D192F7-3CF9-D94E-822E-7211BD944835}"/>
              </a:ext>
            </a:extLst>
          </p:cNvPr>
          <p:cNvSpPr txBox="1"/>
          <p:nvPr/>
        </p:nvSpPr>
        <p:spPr>
          <a:xfrm>
            <a:off x="4241800" y="2286000"/>
            <a:ext cx="508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5</a:t>
            </a:r>
          </a:p>
        </p:txBody>
      </p:sp>
      <p:sp>
        <p:nvSpPr>
          <p:cNvPr id="50" name="R1C2">
            <a:extLst>
              <a:ext uri="{FF2B5EF4-FFF2-40B4-BE49-F238E27FC236}">
                <a16:creationId xmlns:a16="http://schemas.microsoft.com/office/drawing/2014/main" id="{579CBEFE-7707-A44F-B2EE-9CE99FBDA8D3}"/>
              </a:ext>
            </a:extLst>
          </p:cNvPr>
          <p:cNvSpPr txBox="1"/>
          <p:nvPr/>
        </p:nvSpPr>
        <p:spPr>
          <a:xfrm>
            <a:off x="4749800" y="2286000"/>
            <a:ext cx="508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6</a:t>
            </a:r>
          </a:p>
        </p:txBody>
      </p:sp>
      <p:sp>
        <p:nvSpPr>
          <p:cNvPr id="51" name="Xpart">
            <a:extLst>
              <a:ext uri="{FF2B5EF4-FFF2-40B4-BE49-F238E27FC236}">
                <a16:creationId xmlns:a16="http://schemas.microsoft.com/office/drawing/2014/main" id="{ED501DE3-7767-2243-9439-09E168C48929}"/>
              </a:ext>
            </a:extLst>
          </p:cNvPr>
          <p:cNvSpPr txBox="1"/>
          <p:nvPr/>
        </p:nvSpPr>
        <p:spPr>
          <a:xfrm>
            <a:off x="5588000" y="213360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>
                <a:solidFill>
                  <a:srgbClr val="333333"/>
                </a:solidFill>
                <a:latin typeface="Cambria Math"/>
                <a:ea typeface="Cambria Math"/>
              </a:rPr>
              <a:t>x = (1, 0, −1)</a:t>
            </a:r>
          </a:p>
        </p:txBody>
      </p:sp>
      <p:sp>
        <p:nvSpPr>
          <p:cNvPr id="52" name="Lead">
            <a:extLst>
              <a:ext uri="{FF2B5EF4-FFF2-40B4-BE49-F238E27FC236}">
                <a16:creationId xmlns:a16="http://schemas.microsoft.com/office/drawing/2014/main" id="{24D57D15-464F-F147-8A34-5A3DC01902B2}"/>
              </a:ext>
            </a:extLst>
          </p:cNvPr>
          <p:cNvSpPr txBox="1"/>
          <p:nvPr/>
        </p:nvSpPr>
        <p:spPr>
          <a:xfrm>
            <a:off x="635000" y="2133600"/>
            <a:ext cx="2794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>
                <a:solidFill>
                  <a:srgbClr val="333333"/>
                </a:solidFill>
                <a:latin typeface="Cambria Math"/>
                <a:ea typeface="Cambria Math"/>
              </a:rPr>
              <a:t>Compute  A·x   where   A =</a:t>
            </a:r>
          </a:p>
        </p:txBody>
      </p:sp>
      <p:sp>
        <p:nvSpPr>
          <p:cNvPr id="53" name="LB">
            <a:extLst>
              <a:ext uri="{FF2B5EF4-FFF2-40B4-BE49-F238E27FC236}">
                <a16:creationId xmlns:a16="http://schemas.microsoft.com/office/drawing/2014/main" id="{3CAA4D9D-EF61-044B-9746-1403423FBEF0}"/>
              </a:ext>
            </a:extLst>
          </p:cNvPr>
          <p:cNvSpPr/>
          <p:nvPr/>
        </p:nvSpPr>
        <p:spPr>
          <a:xfrm>
            <a:off x="3556000" y="1955800"/>
            <a:ext cx="177800" cy="660400"/>
          </a:xfrm>
          <a:prstGeom prst="leftBracket">
            <a:avLst/>
          </a:prstGeom>
          <a:noFill/>
          <a:ln w="254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4" name="RB">
            <a:extLst>
              <a:ext uri="{FF2B5EF4-FFF2-40B4-BE49-F238E27FC236}">
                <a16:creationId xmlns:a16="http://schemas.microsoft.com/office/drawing/2014/main" id="{363D3298-5069-0E45-8C34-8F28CFC5ADB3}"/>
              </a:ext>
            </a:extLst>
          </p:cNvPr>
          <p:cNvSpPr/>
          <p:nvPr/>
        </p:nvSpPr>
        <p:spPr>
          <a:xfrm>
            <a:off x="5308600" y="1955800"/>
            <a:ext cx="177800" cy="660400"/>
          </a:xfrm>
          <a:prstGeom prst="rightBracket">
            <a:avLst/>
          </a:prstGeom>
          <a:noFill/>
          <a:ln w="254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5" name="R0C0">
            <a:extLst>
              <a:ext uri="{FF2B5EF4-FFF2-40B4-BE49-F238E27FC236}">
                <a16:creationId xmlns:a16="http://schemas.microsoft.com/office/drawing/2014/main" id="{58B18BD8-3A49-3643-AA3A-726A18D24039}"/>
              </a:ext>
            </a:extLst>
          </p:cNvPr>
          <p:cNvSpPr txBox="1"/>
          <p:nvPr/>
        </p:nvSpPr>
        <p:spPr>
          <a:xfrm>
            <a:off x="3733800" y="1981200"/>
            <a:ext cx="508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1</a:t>
            </a:r>
          </a:p>
        </p:txBody>
      </p:sp>
      <p:sp>
        <p:nvSpPr>
          <p:cNvPr id="56" name="R0C1">
            <a:extLst>
              <a:ext uri="{FF2B5EF4-FFF2-40B4-BE49-F238E27FC236}">
                <a16:creationId xmlns:a16="http://schemas.microsoft.com/office/drawing/2014/main" id="{55A7E7DE-414B-4D4D-A9EA-69F14630536D}"/>
              </a:ext>
            </a:extLst>
          </p:cNvPr>
          <p:cNvSpPr txBox="1"/>
          <p:nvPr/>
        </p:nvSpPr>
        <p:spPr>
          <a:xfrm>
            <a:off x="4241800" y="1981200"/>
            <a:ext cx="508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2</a:t>
            </a:r>
          </a:p>
        </p:txBody>
      </p:sp>
      <p:sp>
        <p:nvSpPr>
          <p:cNvPr id="57" name="R0C2">
            <a:extLst>
              <a:ext uri="{FF2B5EF4-FFF2-40B4-BE49-F238E27FC236}">
                <a16:creationId xmlns:a16="http://schemas.microsoft.com/office/drawing/2014/main" id="{2EF9FA94-A23E-D747-8A1D-EB14C3689437}"/>
              </a:ext>
            </a:extLst>
          </p:cNvPr>
          <p:cNvSpPr txBox="1"/>
          <p:nvPr/>
        </p:nvSpPr>
        <p:spPr>
          <a:xfrm>
            <a:off x="4749800" y="1981200"/>
            <a:ext cx="508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3</a:t>
            </a:r>
          </a:p>
        </p:txBody>
      </p:sp>
      <p:sp>
        <p:nvSpPr>
          <p:cNvPr id="58" name="R1C0">
            <a:extLst>
              <a:ext uri="{FF2B5EF4-FFF2-40B4-BE49-F238E27FC236}">
                <a16:creationId xmlns:a16="http://schemas.microsoft.com/office/drawing/2014/main" id="{0B2292EB-7F4B-6948-856E-3C69E3E45C91}"/>
              </a:ext>
            </a:extLst>
          </p:cNvPr>
          <p:cNvSpPr txBox="1"/>
          <p:nvPr/>
        </p:nvSpPr>
        <p:spPr>
          <a:xfrm>
            <a:off x="3733800" y="2286000"/>
            <a:ext cx="508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4</a:t>
            </a:r>
          </a:p>
        </p:txBody>
      </p:sp>
      <p:sp>
        <p:nvSpPr>
          <p:cNvPr id="59" name="R1C1">
            <a:extLst>
              <a:ext uri="{FF2B5EF4-FFF2-40B4-BE49-F238E27FC236}">
                <a16:creationId xmlns:a16="http://schemas.microsoft.com/office/drawing/2014/main" id="{2141146E-CBB9-0E44-B032-3145F0946F5F}"/>
              </a:ext>
            </a:extLst>
          </p:cNvPr>
          <p:cNvSpPr txBox="1"/>
          <p:nvPr/>
        </p:nvSpPr>
        <p:spPr>
          <a:xfrm>
            <a:off x="4241800" y="2286000"/>
            <a:ext cx="508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5</a:t>
            </a:r>
          </a:p>
        </p:txBody>
      </p:sp>
      <p:sp>
        <p:nvSpPr>
          <p:cNvPr id="60" name="R1C2">
            <a:extLst>
              <a:ext uri="{FF2B5EF4-FFF2-40B4-BE49-F238E27FC236}">
                <a16:creationId xmlns:a16="http://schemas.microsoft.com/office/drawing/2014/main" id="{55551BB2-7F58-4F47-A4AE-31B2665F74F5}"/>
              </a:ext>
            </a:extLst>
          </p:cNvPr>
          <p:cNvSpPr txBox="1"/>
          <p:nvPr/>
        </p:nvSpPr>
        <p:spPr>
          <a:xfrm>
            <a:off x="4749800" y="2286000"/>
            <a:ext cx="508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6</a:t>
            </a:r>
          </a:p>
        </p:txBody>
      </p:sp>
      <p:sp>
        <p:nvSpPr>
          <p:cNvPr id="61" name="Xpart">
            <a:extLst>
              <a:ext uri="{FF2B5EF4-FFF2-40B4-BE49-F238E27FC236}">
                <a16:creationId xmlns:a16="http://schemas.microsoft.com/office/drawing/2014/main" id="{1D62A7AC-4966-774A-9C2E-4B88AA5D1C47}"/>
              </a:ext>
            </a:extLst>
          </p:cNvPr>
          <p:cNvSpPr txBox="1"/>
          <p:nvPr/>
        </p:nvSpPr>
        <p:spPr>
          <a:xfrm>
            <a:off x="5588000" y="213360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>
                <a:solidFill>
                  <a:srgbClr val="333333"/>
                </a:solidFill>
                <a:latin typeface="Cambria Math"/>
                <a:ea typeface="Cambria Math"/>
              </a:rPr>
              <a:t>x = (1, 0, −1)</a:t>
            </a:r>
          </a:p>
        </p:txBody>
      </p:sp>
    </p:spTree>
    <p:extLst>
      <p:ext uri="{BB962C8B-B14F-4D97-AF65-F5344CB8AC3E}">
        <p14:creationId xmlns:p14="http://schemas.microsoft.com/office/powerpoint/2010/main" val="940515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Bar">
            <a:extLst>
              <a:ext uri="{FF2B5EF4-FFF2-40B4-BE49-F238E27FC236}">
                <a16:creationId xmlns:a16="http://schemas.microsoft.com/office/drawing/2014/main" id="{CCC6D761-B8DB-8142-84B3-2E901FBF0080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4C407907-9959-A947-AC66-9453292B23D6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Example 2 — 90° Rotation Matrix</a:t>
            </a:r>
          </a:p>
        </p:txBody>
      </p:sp>
      <p:sp>
        <p:nvSpPr>
          <p:cNvPr id="21" name="Sub">
            <a:extLst>
              <a:ext uri="{FF2B5EF4-FFF2-40B4-BE49-F238E27FC236}">
                <a16:creationId xmlns:a16="http://schemas.microsoft.com/office/drawing/2014/main" id="{1503AB7E-6CEB-FF49-AE9F-D2F71A86446A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Geometric meaning: rotate a 2D vector by 90° counter-clockwise</a:t>
            </a:r>
          </a:p>
        </p:txBody>
      </p:sp>
      <p:sp>
        <p:nvSpPr>
          <p:cNvPr id="22" name="QCard">
            <a:extLst>
              <a:ext uri="{FF2B5EF4-FFF2-40B4-BE49-F238E27FC236}">
                <a16:creationId xmlns:a16="http://schemas.microsoft.com/office/drawing/2014/main" id="{7A6DCC0B-AD19-4B4E-949D-E75120A74F94}"/>
              </a:ext>
            </a:extLst>
          </p:cNvPr>
          <p:cNvSpPr/>
          <p:nvPr/>
        </p:nvSpPr>
        <p:spPr>
          <a:xfrm>
            <a:off x="381000" y="1270000"/>
            <a:ext cx="11430000" cy="1651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QHdr">
            <a:extLst>
              <a:ext uri="{FF2B5EF4-FFF2-40B4-BE49-F238E27FC236}">
                <a16:creationId xmlns:a16="http://schemas.microsoft.com/office/drawing/2014/main" id="{B5302F95-0963-F84A-AD29-ABB64216E472}"/>
              </a:ext>
            </a:extLst>
          </p:cNvPr>
          <p:cNvSpPr/>
          <p:nvPr/>
        </p:nvSpPr>
        <p:spPr>
          <a:xfrm>
            <a:off x="381000" y="1270000"/>
            <a:ext cx="11430000" cy="406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QHdrT">
            <a:extLst>
              <a:ext uri="{FF2B5EF4-FFF2-40B4-BE49-F238E27FC236}">
                <a16:creationId xmlns:a16="http://schemas.microsoft.com/office/drawing/2014/main" id="{D61EC27F-B853-6449-B539-524BB04DCA30}"/>
              </a:ext>
            </a:extLst>
          </p:cNvPr>
          <p:cNvSpPr txBox="1"/>
          <p:nvPr/>
        </p:nvSpPr>
        <p:spPr>
          <a:xfrm>
            <a:off x="558800" y="13335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Question</a:t>
            </a:r>
          </a:p>
        </p:txBody>
      </p:sp>
      <p:sp>
        <p:nvSpPr>
          <p:cNvPr id="26" name="SCard">
            <a:extLst>
              <a:ext uri="{FF2B5EF4-FFF2-40B4-BE49-F238E27FC236}">
                <a16:creationId xmlns:a16="http://schemas.microsoft.com/office/drawing/2014/main" id="{88CBA586-854F-BD48-BB24-455353A8DD86}"/>
              </a:ext>
            </a:extLst>
          </p:cNvPr>
          <p:cNvSpPr/>
          <p:nvPr/>
        </p:nvSpPr>
        <p:spPr>
          <a:xfrm>
            <a:off x="381000" y="3111500"/>
            <a:ext cx="11430000" cy="22225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77777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SHdr">
            <a:extLst>
              <a:ext uri="{FF2B5EF4-FFF2-40B4-BE49-F238E27FC236}">
                <a16:creationId xmlns:a16="http://schemas.microsoft.com/office/drawing/2014/main" id="{9D6486CF-D562-AE40-AF41-259326F98962}"/>
              </a:ext>
            </a:extLst>
          </p:cNvPr>
          <p:cNvSpPr/>
          <p:nvPr/>
        </p:nvSpPr>
        <p:spPr>
          <a:xfrm>
            <a:off x="381000" y="3111500"/>
            <a:ext cx="11430000" cy="3810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SHdrT">
            <a:extLst>
              <a:ext uri="{FF2B5EF4-FFF2-40B4-BE49-F238E27FC236}">
                <a16:creationId xmlns:a16="http://schemas.microsoft.com/office/drawing/2014/main" id="{130B177C-A92F-D040-8C69-72A6493E1962}"/>
              </a:ext>
            </a:extLst>
          </p:cNvPr>
          <p:cNvSpPr txBox="1"/>
          <p:nvPr/>
        </p:nvSpPr>
        <p:spPr>
          <a:xfrm>
            <a:off x="558800" y="31496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Solution (hidden until reveal)</a:t>
            </a:r>
          </a:p>
        </p:txBody>
      </p:sp>
      <p:sp>
        <p:nvSpPr>
          <p:cNvPr id="29" name="S1">
            <a:extLst>
              <a:ext uri="{FF2B5EF4-FFF2-40B4-BE49-F238E27FC236}">
                <a16:creationId xmlns:a16="http://schemas.microsoft.com/office/drawing/2014/main" id="{850F45E8-9694-994B-83DF-800688E202FC}"/>
              </a:ext>
            </a:extLst>
          </p:cNvPr>
          <p:cNvSpPr txBox="1"/>
          <p:nvPr/>
        </p:nvSpPr>
        <p:spPr>
          <a:xfrm>
            <a:off x="558800" y="3581400"/>
            <a:ext cx="11049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B0B0B0"/>
                </a:solidFill>
                <a:latin typeface="Cambria Math"/>
                <a:ea typeface="Cambria Math"/>
              </a:rPr>
              <a:t>Row 1 · x:  (0)(3) + (-1)(4)  =  -4</a:t>
            </a:r>
          </a:p>
        </p:txBody>
      </p:sp>
      <p:sp>
        <p:nvSpPr>
          <p:cNvPr id="30" name="S2">
            <a:extLst>
              <a:ext uri="{FF2B5EF4-FFF2-40B4-BE49-F238E27FC236}">
                <a16:creationId xmlns:a16="http://schemas.microsoft.com/office/drawing/2014/main" id="{94A0BC42-BCBC-F645-9D60-F31D7561DFD0}"/>
              </a:ext>
            </a:extLst>
          </p:cNvPr>
          <p:cNvSpPr txBox="1"/>
          <p:nvPr/>
        </p:nvSpPr>
        <p:spPr>
          <a:xfrm>
            <a:off x="558800" y="3886200"/>
            <a:ext cx="11049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B0B0B0"/>
                </a:solidFill>
                <a:latin typeface="Cambria Math"/>
                <a:ea typeface="Cambria Math"/>
              </a:rPr>
              <a:t>Row 2 · x:  (1)(3) + (0)(4)   =   3</a:t>
            </a:r>
          </a:p>
        </p:txBody>
      </p:sp>
      <p:sp>
        <p:nvSpPr>
          <p:cNvPr id="31" name="S3">
            <a:extLst>
              <a:ext uri="{FF2B5EF4-FFF2-40B4-BE49-F238E27FC236}">
                <a16:creationId xmlns:a16="http://schemas.microsoft.com/office/drawing/2014/main" id="{58EEF7A2-76BC-5F4B-AE6A-19CDD89DA827}"/>
              </a:ext>
            </a:extLst>
          </p:cNvPr>
          <p:cNvSpPr txBox="1"/>
          <p:nvPr/>
        </p:nvSpPr>
        <p:spPr>
          <a:xfrm>
            <a:off x="558800" y="421640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B0B0B0"/>
                </a:solidFill>
                <a:latin typeface="Arial"/>
                <a:cs typeface="Arial"/>
              </a:rPr>
              <a:t>Geometric check:  (3,4) has length 5;  rotated 90° CCW → (-4, 3) also length 5.  ✓</a:t>
            </a:r>
          </a:p>
        </p:txBody>
      </p:sp>
      <p:sp>
        <p:nvSpPr>
          <p:cNvPr id="32" name="SAns">
            <a:extLst>
              <a:ext uri="{FF2B5EF4-FFF2-40B4-BE49-F238E27FC236}">
                <a16:creationId xmlns:a16="http://schemas.microsoft.com/office/drawing/2014/main" id="{F9B629B3-C62B-F64A-89D7-B1B240B56221}"/>
              </a:ext>
            </a:extLst>
          </p:cNvPr>
          <p:cNvSpPr txBox="1"/>
          <p:nvPr/>
        </p:nvSpPr>
        <p:spPr>
          <a:xfrm>
            <a:off x="558800" y="45720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4B2E83"/>
                </a:solidFill>
                <a:latin typeface="Cambria Math"/>
                <a:ea typeface="Cambria Math"/>
              </a:rPr>
              <a:t>Answer:   R·x = (-4, 3)ᵀ   — the original vector rotated 90° counter-clockwise</a:t>
            </a:r>
          </a:p>
        </p:txBody>
      </p:sp>
      <p:sp>
        <p:nvSpPr>
          <p:cNvPr id="33" name="Sextra">
            <a:extLst>
              <a:ext uri="{FF2B5EF4-FFF2-40B4-BE49-F238E27FC236}">
                <a16:creationId xmlns:a16="http://schemas.microsoft.com/office/drawing/2014/main" id="{80B3A17B-33E2-764E-B06E-D024E765134E}"/>
              </a:ext>
            </a:extLst>
          </p:cNvPr>
          <p:cNvSpPr txBox="1"/>
          <p:nvPr/>
        </p:nvSpPr>
        <p:spPr>
          <a:xfrm>
            <a:off x="558800" y="495300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B0B0B0"/>
                </a:solidFill>
                <a:latin typeface="Arial"/>
                <a:cs typeface="Arial"/>
              </a:rPr>
              <a:t>Length preserved (rotation matrices preserve magnitude — they're orthogonal).</a:t>
            </a:r>
          </a:p>
        </p:txBody>
      </p:sp>
      <p:sp>
        <p:nvSpPr>
          <p:cNvPr id="34" name="TkBar">
            <a:extLst>
              <a:ext uri="{FF2B5EF4-FFF2-40B4-BE49-F238E27FC236}">
                <a16:creationId xmlns:a16="http://schemas.microsoft.com/office/drawing/2014/main" id="{C45BDF90-C806-D34C-B647-0BED8597AD6D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TkText">
            <a:extLst>
              <a:ext uri="{FF2B5EF4-FFF2-40B4-BE49-F238E27FC236}">
                <a16:creationId xmlns:a16="http://schemas.microsoft.com/office/drawing/2014/main" id="{FF6B0747-C28A-4343-8B5B-11E58E5F48C7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Matrices encode geometric transformations: rotation, scaling, reflection, shear</a:t>
            </a:r>
          </a:p>
        </p:txBody>
      </p:sp>
      <p:sp>
        <p:nvSpPr>
          <p:cNvPr id="36" name="Lead">
            <a:extLst>
              <a:ext uri="{FF2B5EF4-FFF2-40B4-BE49-F238E27FC236}">
                <a16:creationId xmlns:a16="http://schemas.microsoft.com/office/drawing/2014/main" id="{B4C81182-2885-7644-8FFB-CBB58A5ACB60}"/>
              </a:ext>
            </a:extLst>
          </p:cNvPr>
          <p:cNvSpPr txBox="1"/>
          <p:nvPr/>
        </p:nvSpPr>
        <p:spPr>
          <a:xfrm>
            <a:off x="635000" y="2133600"/>
            <a:ext cx="2794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>
                <a:solidFill>
                  <a:srgbClr val="333333"/>
                </a:solidFill>
                <a:latin typeface="Cambria Math"/>
                <a:ea typeface="Cambria Math"/>
              </a:rPr>
              <a:t>Compute  R·x   where   R =</a:t>
            </a:r>
          </a:p>
        </p:txBody>
      </p:sp>
      <p:sp>
        <p:nvSpPr>
          <p:cNvPr id="37" name="LB">
            <a:extLst>
              <a:ext uri="{FF2B5EF4-FFF2-40B4-BE49-F238E27FC236}">
                <a16:creationId xmlns:a16="http://schemas.microsoft.com/office/drawing/2014/main" id="{8E477FE6-D77D-5742-A6C5-A9141947C0B1}"/>
              </a:ext>
            </a:extLst>
          </p:cNvPr>
          <p:cNvSpPr/>
          <p:nvPr/>
        </p:nvSpPr>
        <p:spPr>
          <a:xfrm>
            <a:off x="3556000" y="1955800"/>
            <a:ext cx="177800" cy="660400"/>
          </a:xfrm>
          <a:prstGeom prst="leftBracket">
            <a:avLst/>
          </a:prstGeom>
          <a:noFill/>
          <a:ln w="254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8" name="RB">
            <a:extLst>
              <a:ext uri="{FF2B5EF4-FFF2-40B4-BE49-F238E27FC236}">
                <a16:creationId xmlns:a16="http://schemas.microsoft.com/office/drawing/2014/main" id="{001BD08E-E226-A647-93B8-881F914EFC18}"/>
              </a:ext>
            </a:extLst>
          </p:cNvPr>
          <p:cNvSpPr/>
          <p:nvPr/>
        </p:nvSpPr>
        <p:spPr>
          <a:xfrm>
            <a:off x="4800600" y="1955800"/>
            <a:ext cx="177800" cy="660400"/>
          </a:xfrm>
          <a:prstGeom prst="rightBracket">
            <a:avLst/>
          </a:prstGeom>
          <a:noFill/>
          <a:ln w="254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9" name="R0C0">
            <a:extLst>
              <a:ext uri="{FF2B5EF4-FFF2-40B4-BE49-F238E27FC236}">
                <a16:creationId xmlns:a16="http://schemas.microsoft.com/office/drawing/2014/main" id="{4E9F5619-F577-C649-8D40-C337DEB9E8B6}"/>
              </a:ext>
            </a:extLst>
          </p:cNvPr>
          <p:cNvSpPr txBox="1"/>
          <p:nvPr/>
        </p:nvSpPr>
        <p:spPr>
          <a:xfrm>
            <a:off x="3733800" y="1981200"/>
            <a:ext cx="508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0</a:t>
            </a:r>
          </a:p>
        </p:txBody>
      </p:sp>
      <p:sp>
        <p:nvSpPr>
          <p:cNvPr id="40" name="R0C1">
            <a:extLst>
              <a:ext uri="{FF2B5EF4-FFF2-40B4-BE49-F238E27FC236}">
                <a16:creationId xmlns:a16="http://schemas.microsoft.com/office/drawing/2014/main" id="{95187099-F6DC-B84D-A528-0A7A3854DCF6}"/>
              </a:ext>
            </a:extLst>
          </p:cNvPr>
          <p:cNvSpPr txBox="1"/>
          <p:nvPr/>
        </p:nvSpPr>
        <p:spPr>
          <a:xfrm>
            <a:off x="4241800" y="1981200"/>
            <a:ext cx="508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−1</a:t>
            </a:r>
          </a:p>
        </p:txBody>
      </p:sp>
      <p:sp>
        <p:nvSpPr>
          <p:cNvPr id="41" name="R1C0">
            <a:extLst>
              <a:ext uri="{FF2B5EF4-FFF2-40B4-BE49-F238E27FC236}">
                <a16:creationId xmlns:a16="http://schemas.microsoft.com/office/drawing/2014/main" id="{D6503CEB-748D-EA43-B600-F9E319E507C8}"/>
              </a:ext>
            </a:extLst>
          </p:cNvPr>
          <p:cNvSpPr txBox="1"/>
          <p:nvPr/>
        </p:nvSpPr>
        <p:spPr>
          <a:xfrm>
            <a:off x="3733800" y="2286000"/>
            <a:ext cx="508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1</a:t>
            </a:r>
          </a:p>
        </p:txBody>
      </p:sp>
      <p:sp>
        <p:nvSpPr>
          <p:cNvPr id="42" name="R1C1">
            <a:extLst>
              <a:ext uri="{FF2B5EF4-FFF2-40B4-BE49-F238E27FC236}">
                <a16:creationId xmlns:a16="http://schemas.microsoft.com/office/drawing/2014/main" id="{A11B804A-CEDC-F643-9990-C049E9B9FC24}"/>
              </a:ext>
            </a:extLst>
          </p:cNvPr>
          <p:cNvSpPr txBox="1"/>
          <p:nvPr/>
        </p:nvSpPr>
        <p:spPr>
          <a:xfrm>
            <a:off x="4241800" y="2286000"/>
            <a:ext cx="508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0</a:t>
            </a:r>
          </a:p>
        </p:txBody>
      </p:sp>
      <p:sp>
        <p:nvSpPr>
          <p:cNvPr id="43" name="Xpart">
            <a:extLst>
              <a:ext uri="{FF2B5EF4-FFF2-40B4-BE49-F238E27FC236}">
                <a16:creationId xmlns:a16="http://schemas.microsoft.com/office/drawing/2014/main" id="{DC62BACE-4547-3F4F-A4E3-90182FFF9B57}"/>
              </a:ext>
            </a:extLst>
          </p:cNvPr>
          <p:cNvSpPr txBox="1"/>
          <p:nvPr/>
        </p:nvSpPr>
        <p:spPr>
          <a:xfrm>
            <a:off x="5080000" y="213360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>
                <a:solidFill>
                  <a:srgbClr val="333333"/>
                </a:solidFill>
                <a:latin typeface="Cambria Math"/>
                <a:ea typeface="Cambria Math"/>
              </a:rPr>
              <a:t>x = (3, 4)</a:t>
            </a:r>
          </a:p>
        </p:txBody>
      </p:sp>
    </p:spTree>
    <p:extLst>
      <p:ext uri="{BB962C8B-B14F-4D97-AF65-F5344CB8AC3E}">
        <p14:creationId xmlns:p14="http://schemas.microsoft.com/office/powerpoint/2010/main" val="38179182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9D488231-E6C1-F340-AA8C-EF49CB954CEF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5F9EF386-7EB9-4E43-9709-5EAC76153FA5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Example 3 — A Neural Network Layer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FDB67092-93C1-BB4A-A4E2-36913732BB59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Linear layer:  y = W·x  (3 inputs → 2 outputs)</a:t>
            </a:r>
          </a:p>
        </p:txBody>
      </p:sp>
      <p:sp>
        <p:nvSpPr>
          <p:cNvPr id="5" name="QCard">
            <a:extLst>
              <a:ext uri="{FF2B5EF4-FFF2-40B4-BE49-F238E27FC236}">
                <a16:creationId xmlns:a16="http://schemas.microsoft.com/office/drawing/2014/main" id="{6B04FB4F-F7E7-274D-A818-CF51EF5AE092}"/>
              </a:ext>
            </a:extLst>
          </p:cNvPr>
          <p:cNvSpPr/>
          <p:nvPr/>
        </p:nvSpPr>
        <p:spPr>
          <a:xfrm>
            <a:off x="381000" y="1270000"/>
            <a:ext cx="11430000" cy="1651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QHdr">
            <a:extLst>
              <a:ext uri="{FF2B5EF4-FFF2-40B4-BE49-F238E27FC236}">
                <a16:creationId xmlns:a16="http://schemas.microsoft.com/office/drawing/2014/main" id="{DC1F6F1C-66A5-784B-979E-BFF4A24A95F8}"/>
              </a:ext>
            </a:extLst>
          </p:cNvPr>
          <p:cNvSpPr/>
          <p:nvPr/>
        </p:nvSpPr>
        <p:spPr>
          <a:xfrm>
            <a:off x="381000" y="1270000"/>
            <a:ext cx="11430000" cy="406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QHdrT">
            <a:extLst>
              <a:ext uri="{FF2B5EF4-FFF2-40B4-BE49-F238E27FC236}">
                <a16:creationId xmlns:a16="http://schemas.microsoft.com/office/drawing/2014/main" id="{A6DF3B40-1867-DC41-B7B2-F4F298AABB9A}"/>
              </a:ext>
            </a:extLst>
          </p:cNvPr>
          <p:cNvSpPr txBox="1"/>
          <p:nvPr/>
        </p:nvSpPr>
        <p:spPr>
          <a:xfrm>
            <a:off x="558800" y="13335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Question</a:t>
            </a:r>
          </a:p>
        </p:txBody>
      </p:sp>
      <p:sp>
        <p:nvSpPr>
          <p:cNvPr id="9" name="SCard">
            <a:extLst>
              <a:ext uri="{FF2B5EF4-FFF2-40B4-BE49-F238E27FC236}">
                <a16:creationId xmlns:a16="http://schemas.microsoft.com/office/drawing/2014/main" id="{C0BD57D1-EBDB-C840-AE41-139065869386}"/>
              </a:ext>
            </a:extLst>
          </p:cNvPr>
          <p:cNvSpPr/>
          <p:nvPr/>
        </p:nvSpPr>
        <p:spPr>
          <a:xfrm>
            <a:off x="381000" y="3111500"/>
            <a:ext cx="11430000" cy="22225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77777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SHdr">
            <a:extLst>
              <a:ext uri="{FF2B5EF4-FFF2-40B4-BE49-F238E27FC236}">
                <a16:creationId xmlns:a16="http://schemas.microsoft.com/office/drawing/2014/main" id="{CFEF8739-212D-3C41-9D91-6CBD0921D92C}"/>
              </a:ext>
            </a:extLst>
          </p:cNvPr>
          <p:cNvSpPr/>
          <p:nvPr/>
        </p:nvSpPr>
        <p:spPr>
          <a:xfrm>
            <a:off x="381000" y="3111500"/>
            <a:ext cx="11430000" cy="3810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SHdrT">
            <a:extLst>
              <a:ext uri="{FF2B5EF4-FFF2-40B4-BE49-F238E27FC236}">
                <a16:creationId xmlns:a16="http://schemas.microsoft.com/office/drawing/2014/main" id="{AF39414B-FCC4-CD43-AB5D-7ADC2B993095}"/>
              </a:ext>
            </a:extLst>
          </p:cNvPr>
          <p:cNvSpPr txBox="1"/>
          <p:nvPr/>
        </p:nvSpPr>
        <p:spPr>
          <a:xfrm>
            <a:off x="558800" y="31496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Solution (hidden until reveal)</a:t>
            </a:r>
          </a:p>
        </p:txBody>
      </p:sp>
      <p:sp>
        <p:nvSpPr>
          <p:cNvPr id="12" name="S1">
            <a:extLst>
              <a:ext uri="{FF2B5EF4-FFF2-40B4-BE49-F238E27FC236}">
                <a16:creationId xmlns:a16="http://schemas.microsoft.com/office/drawing/2014/main" id="{D798D5CB-041C-8946-8D0A-252959ADD6D7}"/>
              </a:ext>
            </a:extLst>
          </p:cNvPr>
          <p:cNvSpPr txBox="1"/>
          <p:nvPr/>
        </p:nvSpPr>
        <p:spPr>
          <a:xfrm>
            <a:off x="558800" y="3581400"/>
            <a:ext cx="11049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B0B0B0"/>
                </a:solidFill>
                <a:latin typeface="Cambria Math"/>
                <a:ea typeface="Cambria Math"/>
              </a:rPr>
              <a:t>y₁ = (0.5)(2) + (-0.2)(1) + (0.3)(4)  =  1.0 - 0.2 + 1.2  =  2.0</a:t>
            </a:r>
          </a:p>
        </p:txBody>
      </p:sp>
      <p:sp>
        <p:nvSpPr>
          <p:cNvPr id="13" name="S2">
            <a:extLst>
              <a:ext uri="{FF2B5EF4-FFF2-40B4-BE49-F238E27FC236}">
                <a16:creationId xmlns:a16="http://schemas.microsoft.com/office/drawing/2014/main" id="{F574AE8E-7B7A-5C49-B01D-42C87CC2B42B}"/>
              </a:ext>
            </a:extLst>
          </p:cNvPr>
          <p:cNvSpPr txBox="1"/>
          <p:nvPr/>
        </p:nvSpPr>
        <p:spPr>
          <a:xfrm>
            <a:off x="558800" y="3886200"/>
            <a:ext cx="11049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B0B0B0"/>
                </a:solidFill>
                <a:latin typeface="Cambria Math"/>
                <a:ea typeface="Cambria Math"/>
              </a:rPr>
              <a:t>y₂ = (-0.1)(2) + (0.4)(1) + (0.6)(4)  =  -0.2 + 0.4 + 2.4  =  2.6</a:t>
            </a:r>
          </a:p>
        </p:txBody>
      </p:sp>
      <p:sp>
        <p:nvSpPr>
          <p:cNvPr id="14" name="S3">
            <a:extLst>
              <a:ext uri="{FF2B5EF4-FFF2-40B4-BE49-F238E27FC236}">
                <a16:creationId xmlns:a16="http://schemas.microsoft.com/office/drawing/2014/main" id="{C218A2DD-DA9D-4F48-980A-0CB2DC38E267}"/>
              </a:ext>
            </a:extLst>
          </p:cNvPr>
          <p:cNvSpPr txBox="1"/>
          <p:nvPr/>
        </p:nvSpPr>
        <p:spPr>
          <a:xfrm>
            <a:off x="558800" y="4216400"/>
            <a:ext cx="11049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B0B0B0"/>
                </a:solidFill>
                <a:latin typeface="Cambria Math"/>
                <a:ea typeface="Cambria Math"/>
              </a:rPr>
              <a:t>Stack outputs:  y = (2.0, 2.6)ᵀ</a:t>
            </a:r>
          </a:p>
        </p:txBody>
      </p:sp>
      <p:sp>
        <p:nvSpPr>
          <p:cNvPr id="15" name="SAns">
            <a:extLst>
              <a:ext uri="{FF2B5EF4-FFF2-40B4-BE49-F238E27FC236}">
                <a16:creationId xmlns:a16="http://schemas.microsoft.com/office/drawing/2014/main" id="{11121078-C717-3441-B552-78E89E927777}"/>
              </a:ext>
            </a:extLst>
          </p:cNvPr>
          <p:cNvSpPr txBox="1"/>
          <p:nvPr/>
        </p:nvSpPr>
        <p:spPr>
          <a:xfrm>
            <a:off x="558800" y="45466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  <a:latin typeface="Cambria Math"/>
                <a:ea typeface="Cambria Math"/>
              </a:rPr>
              <a:t>Answer:   y = (2.0, 2.6)ᵀ</a:t>
            </a:r>
          </a:p>
        </p:txBody>
      </p:sp>
      <p:sp>
        <p:nvSpPr>
          <p:cNvPr id="16" name="Sextra">
            <a:extLst>
              <a:ext uri="{FF2B5EF4-FFF2-40B4-BE49-F238E27FC236}">
                <a16:creationId xmlns:a16="http://schemas.microsoft.com/office/drawing/2014/main" id="{8B2EC8A9-AF21-A04D-89BC-FE6150077B58}"/>
              </a:ext>
            </a:extLst>
          </p:cNvPr>
          <p:cNvSpPr txBox="1"/>
          <p:nvPr/>
        </p:nvSpPr>
        <p:spPr>
          <a:xfrm>
            <a:off x="558800" y="495300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B0B0B0"/>
                </a:solidFill>
                <a:latin typeface="Arial"/>
                <a:cs typeface="Arial"/>
              </a:rPr>
              <a:t>This is exactly one forward pass through a fully-connected layer (without bias or activation).</a:t>
            </a:r>
          </a:p>
        </p:txBody>
      </p:sp>
      <p:sp>
        <p:nvSpPr>
          <p:cNvPr id="17" name="TkBar">
            <a:extLst>
              <a:ext uri="{FF2B5EF4-FFF2-40B4-BE49-F238E27FC236}">
                <a16:creationId xmlns:a16="http://schemas.microsoft.com/office/drawing/2014/main" id="{52C1131E-23E8-504D-9F74-BF899D52DC35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kText">
            <a:extLst>
              <a:ext uri="{FF2B5EF4-FFF2-40B4-BE49-F238E27FC236}">
                <a16:creationId xmlns:a16="http://schemas.microsoft.com/office/drawing/2014/main" id="{22EA0FDB-99C7-F142-BA5C-2DA0BEEED78E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Every neural network is a stack of matrix–vector multiplications + nonlinearities</a:t>
            </a:r>
          </a:p>
        </p:txBody>
      </p:sp>
      <p:sp>
        <p:nvSpPr>
          <p:cNvPr id="36" name="Lead">
            <a:extLst>
              <a:ext uri="{FF2B5EF4-FFF2-40B4-BE49-F238E27FC236}">
                <a16:creationId xmlns:a16="http://schemas.microsoft.com/office/drawing/2014/main" id="{A27FB476-F03D-E44D-B00C-F50DF8DA55AC}"/>
              </a:ext>
            </a:extLst>
          </p:cNvPr>
          <p:cNvSpPr txBox="1"/>
          <p:nvPr/>
        </p:nvSpPr>
        <p:spPr>
          <a:xfrm>
            <a:off x="635000" y="2133600"/>
            <a:ext cx="3175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>
                <a:solidFill>
                  <a:srgbClr val="333333"/>
                </a:solidFill>
                <a:latin typeface="Cambria Math"/>
                <a:ea typeface="Cambria Math"/>
              </a:rPr>
              <a:t>Compute  y = W·x   where   W =</a:t>
            </a:r>
          </a:p>
        </p:txBody>
      </p:sp>
      <p:sp>
        <p:nvSpPr>
          <p:cNvPr id="37" name="LB">
            <a:extLst>
              <a:ext uri="{FF2B5EF4-FFF2-40B4-BE49-F238E27FC236}">
                <a16:creationId xmlns:a16="http://schemas.microsoft.com/office/drawing/2014/main" id="{2CC5F2B7-6063-7748-B86D-17AFEC9839D9}"/>
              </a:ext>
            </a:extLst>
          </p:cNvPr>
          <p:cNvSpPr/>
          <p:nvPr/>
        </p:nvSpPr>
        <p:spPr>
          <a:xfrm>
            <a:off x="3873500" y="1905000"/>
            <a:ext cx="177800" cy="635000"/>
          </a:xfrm>
          <a:prstGeom prst="leftBracket">
            <a:avLst/>
          </a:prstGeom>
          <a:noFill/>
          <a:ln w="254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8" name="RB">
            <a:extLst>
              <a:ext uri="{FF2B5EF4-FFF2-40B4-BE49-F238E27FC236}">
                <a16:creationId xmlns:a16="http://schemas.microsoft.com/office/drawing/2014/main" id="{4E73B424-3E83-8E41-AE00-DEF8AA706261}"/>
              </a:ext>
            </a:extLst>
          </p:cNvPr>
          <p:cNvSpPr/>
          <p:nvPr/>
        </p:nvSpPr>
        <p:spPr>
          <a:xfrm>
            <a:off x="6007100" y="1905000"/>
            <a:ext cx="177800" cy="635000"/>
          </a:xfrm>
          <a:prstGeom prst="rightBracket">
            <a:avLst/>
          </a:prstGeom>
          <a:noFill/>
          <a:ln w="254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9" name="R1C0">
            <a:extLst>
              <a:ext uri="{FF2B5EF4-FFF2-40B4-BE49-F238E27FC236}">
                <a16:creationId xmlns:a16="http://schemas.microsoft.com/office/drawing/2014/main" id="{7B35D724-3FAC-C344-A092-A01D05B1A0D8}"/>
              </a:ext>
            </a:extLst>
          </p:cNvPr>
          <p:cNvSpPr txBox="1"/>
          <p:nvPr/>
        </p:nvSpPr>
        <p:spPr>
          <a:xfrm>
            <a:off x="4051300" y="1917700"/>
            <a:ext cx="635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0.5</a:t>
            </a:r>
          </a:p>
        </p:txBody>
      </p:sp>
      <p:sp>
        <p:nvSpPr>
          <p:cNvPr id="40" name="R2C0">
            <a:extLst>
              <a:ext uri="{FF2B5EF4-FFF2-40B4-BE49-F238E27FC236}">
                <a16:creationId xmlns:a16="http://schemas.microsoft.com/office/drawing/2014/main" id="{DB8A193E-C6AD-AD4F-BC18-ECFA110226DE}"/>
              </a:ext>
            </a:extLst>
          </p:cNvPr>
          <p:cNvSpPr txBox="1"/>
          <p:nvPr/>
        </p:nvSpPr>
        <p:spPr>
          <a:xfrm>
            <a:off x="4051300" y="2222500"/>
            <a:ext cx="635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−0.1</a:t>
            </a:r>
          </a:p>
        </p:txBody>
      </p:sp>
      <p:sp>
        <p:nvSpPr>
          <p:cNvPr id="41" name="R1C1">
            <a:extLst>
              <a:ext uri="{FF2B5EF4-FFF2-40B4-BE49-F238E27FC236}">
                <a16:creationId xmlns:a16="http://schemas.microsoft.com/office/drawing/2014/main" id="{9F040C63-924A-C44C-841B-DF86098D2A35}"/>
              </a:ext>
            </a:extLst>
          </p:cNvPr>
          <p:cNvSpPr txBox="1"/>
          <p:nvPr/>
        </p:nvSpPr>
        <p:spPr>
          <a:xfrm>
            <a:off x="4686300" y="1917700"/>
            <a:ext cx="635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−0.2</a:t>
            </a:r>
          </a:p>
        </p:txBody>
      </p:sp>
      <p:sp>
        <p:nvSpPr>
          <p:cNvPr id="42" name="R2C1">
            <a:extLst>
              <a:ext uri="{FF2B5EF4-FFF2-40B4-BE49-F238E27FC236}">
                <a16:creationId xmlns:a16="http://schemas.microsoft.com/office/drawing/2014/main" id="{E4352852-4C6C-694D-92F4-2EB1D448D3E2}"/>
              </a:ext>
            </a:extLst>
          </p:cNvPr>
          <p:cNvSpPr txBox="1"/>
          <p:nvPr/>
        </p:nvSpPr>
        <p:spPr>
          <a:xfrm>
            <a:off x="4686300" y="2222500"/>
            <a:ext cx="635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0.4</a:t>
            </a:r>
          </a:p>
        </p:txBody>
      </p:sp>
      <p:sp>
        <p:nvSpPr>
          <p:cNvPr id="43" name="R1C2">
            <a:extLst>
              <a:ext uri="{FF2B5EF4-FFF2-40B4-BE49-F238E27FC236}">
                <a16:creationId xmlns:a16="http://schemas.microsoft.com/office/drawing/2014/main" id="{A459216E-23AD-514C-B10C-8682805531DD}"/>
              </a:ext>
            </a:extLst>
          </p:cNvPr>
          <p:cNvSpPr txBox="1"/>
          <p:nvPr/>
        </p:nvSpPr>
        <p:spPr>
          <a:xfrm>
            <a:off x="5321300" y="1917700"/>
            <a:ext cx="635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0.3</a:t>
            </a:r>
          </a:p>
        </p:txBody>
      </p:sp>
      <p:sp>
        <p:nvSpPr>
          <p:cNvPr id="44" name="R2C2">
            <a:extLst>
              <a:ext uri="{FF2B5EF4-FFF2-40B4-BE49-F238E27FC236}">
                <a16:creationId xmlns:a16="http://schemas.microsoft.com/office/drawing/2014/main" id="{40635D8F-A2F7-8D4B-80D3-95CD8DCD4CB4}"/>
              </a:ext>
            </a:extLst>
          </p:cNvPr>
          <p:cNvSpPr txBox="1"/>
          <p:nvPr/>
        </p:nvSpPr>
        <p:spPr>
          <a:xfrm>
            <a:off x="5321300" y="2222500"/>
            <a:ext cx="635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0.6</a:t>
            </a:r>
          </a:p>
        </p:txBody>
      </p:sp>
      <p:sp>
        <p:nvSpPr>
          <p:cNvPr id="45" name="Xpart">
            <a:extLst>
              <a:ext uri="{FF2B5EF4-FFF2-40B4-BE49-F238E27FC236}">
                <a16:creationId xmlns:a16="http://schemas.microsoft.com/office/drawing/2014/main" id="{CBC1B91A-D45E-CA4F-8720-684EEF1FDEDA}"/>
              </a:ext>
            </a:extLst>
          </p:cNvPr>
          <p:cNvSpPr txBox="1"/>
          <p:nvPr/>
        </p:nvSpPr>
        <p:spPr>
          <a:xfrm>
            <a:off x="6286500" y="213360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>
                <a:solidFill>
                  <a:srgbClr val="333333"/>
                </a:solidFill>
                <a:latin typeface="Cambria Math"/>
                <a:ea typeface="Cambria Math"/>
              </a:rPr>
              <a:t>x = (2, 1, 4)</a:t>
            </a:r>
          </a:p>
        </p:txBody>
      </p:sp>
    </p:spTree>
    <p:extLst>
      <p:ext uri="{BB962C8B-B14F-4D97-AF65-F5344CB8AC3E}">
        <p14:creationId xmlns:p14="http://schemas.microsoft.com/office/powerpoint/2010/main" val="7335543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9D488231-E6C1-F340-AA8C-EF49CB954CEF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5F9EF386-7EB9-4E43-9709-5EAC76153FA5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 dirty="0">
                <a:solidFill>
                  <a:srgbClr val="FFFFFF"/>
                </a:solidFill>
                <a:latin typeface="Arial"/>
              </a:rPr>
              <a:t>Properties of Vector &amp; Matrix Multiplication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FDB67092-93C1-BB4A-A4E2-36913732BB59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i="1" dirty="0">
                <a:solidFill>
                  <a:srgbClr val="333333"/>
                </a:solidFill>
                <a:latin typeface="Arial"/>
              </a:rPr>
              <a:t>The algebra rules that do — and don't — carry over from ordinary numbers.</a:t>
            </a:r>
          </a:p>
        </p:txBody>
      </p:sp>
      <p:sp>
        <p:nvSpPr>
          <p:cNvPr id="17" name="TkBar">
            <a:extLst>
              <a:ext uri="{FF2B5EF4-FFF2-40B4-BE49-F238E27FC236}">
                <a16:creationId xmlns:a16="http://schemas.microsoft.com/office/drawing/2014/main" id="{52C1131E-23E8-504D-9F74-BF899D52DC35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kText">
            <a:extLst>
              <a:ext uri="{FF2B5EF4-FFF2-40B4-BE49-F238E27FC236}">
                <a16:creationId xmlns:a16="http://schemas.microsoft.com/office/drawing/2014/main" id="{22EA0FDB-99C7-F142-BA5C-2DA0BEEED78E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 dirty="0">
                <a:solidFill>
                  <a:srgbClr val="FFFFFF"/>
                </a:solidFill>
                <a:latin typeface="Arial"/>
              </a:rPr>
              <a:t>Multiplication is associative and distributive, but order matters: matrix products do not commute.</a:t>
            </a:r>
          </a:p>
        </p:txBody>
      </p:sp>
      <p:sp>
        <p:nvSpPr>
          <p:cNvPr id="300" name="Card"/>
          <p:cNvSpPr/>
          <p:nvPr/>
        </p:nvSpPr>
        <p:spPr>
          <a:xfrm>
            <a:off x="381000" y="1422400"/>
            <a:ext cx="2705100" cy="2057400"/>
          </a:xfrm>
          <a:prstGeom prst="roundRect">
            <a:avLst>
              <a:gd name="adj" fmla="val 5000"/>
            </a:avLst>
          </a:prstGeom>
          <a:solidFill>
            <a:srgbClr val="FBFAFD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1" name="Strip"/>
          <p:cNvSpPr/>
          <p:nvPr/>
        </p:nvSpPr>
        <p:spPr>
          <a:xfrm>
            <a:off x="381000" y="1422400"/>
            <a:ext cx="2705100" cy="508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2" name="CName"/>
          <p:cNvSpPr/>
          <p:nvPr/>
        </p:nvSpPr>
        <p:spPr>
          <a:xfrm>
            <a:off x="482600" y="1600200"/>
            <a:ext cx="25019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300" b="1" dirty="0">
                <a:solidFill>
                  <a:srgbClr val="4B2E83"/>
                </a:solidFill>
                <a:latin typeface="Calibri"/>
              </a:rPr>
              <a:t>Associative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3" name="CEq"/>
              <p:cNvSpPr/>
              <p:nvPr/>
            </p:nvSpPr>
            <p:spPr>
              <a:xfrm>
                <a:off x="482600" y="1981200"/>
                <a:ext cx="2501900" cy="8890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1500">
                          <a:solidFill>
                            <a:srgbClr val="4B2E83"/>
                          </a:solidFill>
                          <a:latin typeface="Cambria Math"/>
                        </a:rPr>
                        <m:t>𝑨</m:t>
                      </m:r>
                      <m:r>
                        <a:rPr lang="en-US" sz="1500">
                          <a:solidFill>
                            <a:srgbClr val="00A7B5"/>
                          </a:solidFill>
                          <a:latin typeface="Cambria Math"/>
                        </a:rPr>
                        <m:t>𝑩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)</m:t>
                      </m:r>
                      <m:r>
                        <a:rPr lang="en-US" sz="1500">
                          <a:solidFill>
                            <a:srgbClr val="D1578A"/>
                          </a:solidFill>
                          <a:latin typeface="Cambria Math"/>
                        </a:rPr>
                        <m:t>𝑪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1500">
                          <a:solidFill>
                            <a:srgbClr val="4B2E83"/>
                          </a:solidFill>
                          <a:latin typeface="Cambria Math"/>
                        </a:rPr>
                        <m:t>𝑨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1500">
                          <a:solidFill>
                            <a:srgbClr val="00A7B5"/>
                          </a:solidFill>
                          <a:latin typeface="Cambria Math"/>
                        </a:rPr>
                        <m:t>𝑩</m:t>
                      </m:r>
                      <m:r>
                        <a:rPr lang="en-US" sz="1500">
                          <a:solidFill>
                            <a:srgbClr val="D1578A"/>
                          </a:solidFill>
                          <a:latin typeface="Cambria Math"/>
                        </a:rPr>
                        <m:t>𝑪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03" name="CEq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600" y="1981200"/>
                <a:ext cx="2501900" cy="889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4" name="CNote"/>
          <p:cNvSpPr/>
          <p:nvPr/>
        </p:nvSpPr>
        <p:spPr>
          <a:xfrm>
            <a:off x="482600" y="3098800"/>
            <a:ext cx="25019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000" i="1" dirty="0">
                <a:solidFill>
                  <a:srgbClr val="333333"/>
                </a:solidFill>
                <a:latin typeface="Calibri"/>
              </a:rPr>
              <a:t>Regroup freely</a:t>
            </a:r>
          </a:p>
        </p:txBody>
      </p:sp>
      <p:sp>
        <p:nvSpPr>
          <p:cNvPr id="305" name="Card"/>
          <p:cNvSpPr/>
          <p:nvPr/>
        </p:nvSpPr>
        <p:spPr>
          <a:xfrm>
            <a:off x="3289300" y="1422400"/>
            <a:ext cx="2705100" cy="2057400"/>
          </a:xfrm>
          <a:prstGeom prst="roundRect">
            <a:avLst>
              <a:gd name="adj" fmla="val 5000"/>
            </a:avLst>
          </a:prstGeom>
          <a:solidFill>
            <a:srgbClr val="FBFAFD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6" name="Strip"/>
          <p:cNvSpPr/>
          <p:nvPr/>
        </p:nvSpPr>
        <p:spPr>
          <a:xfrm>
            <a:off x="3289300" y="1422400"/>
            <a:ext cx="2705100" cy="508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7" name="CName"/>
          <p:cNvSpPr/>
          <p:nvPr/>
        </p:nvSpPr>
        <p:spPr>
          <a:xfrm>
            <a:off x="3390900" y="1600200"/>
            <a:ext cx="25019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300" b="1" dirty="0">
                <a:solidFill>
                  <a:srgbClr val="4B2E83"/>
                </a:solidFill>
                <a:latin typeface="Calibri"/>
              </a:rPr>
              <a:t>Distributive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8" name="CEq"/>
              <p:cNvSpPr/>
              <p:nvPr/>
            </p:nvSpPr>
            <p:spPr>
              <a:xfrm>
                <a:off x="3390900" y="1981200"/>
                <a:ext cx="2501900" cy="8890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>
                          <a:solidFill>
                            <a:srgbClr val="4B2E83"/>
                          </a:solidFill>
                          <a:latin typeface="Cambria Math"/>
                        </a:rPr>
                        <m:t>𝑨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1500">
                          <a:solidFill>
                            <a:srgbClr val="00A7B5"/>
                          </a:solidFill>
                          <a:latin typeface="Cambria Math"/>
                        </a:rPr>
                        <m:t>𝑩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+</m:t>
                      </m:r>
                      <m:r>
                        <a:rPr lang="en-US" sz="1500">
                          <a:solidFill>
                            <a:srgbClr val="D1578A"/>
                          </a:solidFill>
                          <a:latin typeface="Cambria Math"/>
                        </a:rPr>
                        <m:t>𝑪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)=</m:t>
                      </m:r>
                      <m:r>
                        <a:rPr lang="en-US" sz="1500">
                          <a:solidFill>
                            <a:srgbClr val="4B2E83"/>
                          </a:solidFill>
                          <a:latin typeface="Cambria Math"/>
                        </a:rPr>
                        <m:t>𝑨</m:t>
                      </m:r>
                      <m:r>
                        <a:rPr lang="en-US" sz="1500">
                          <a:solidFill>
                            <a:srgbClr val="00A7B5"/>
                          </a:solidFill>
                          <a:latin typeface="Cambria Math"/>
                        </a:rPr>
                        <m:t>𝑩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+</m:t>
                      </m:r>
                      <m:r>
                        <a:rPr lang="en-US" sz="1500">
                          <a:solidFill>
                            <a:srgbClr val="4B2E83"/>
                          </a:solidFill>
                          <a:latin typeface="Cambria Math"/>
                        </a:rPr>
                        <m:t>𝑨</m:t>
                      </m:r>
                      <m:r>
                        <a:rPr lang="en-US" sz="1500">
                          <a:solidFill>
                            <a:srgbClr val="D1578A"/>
                          </a:solidFill>
                          <a:latin typeface="Cambria Math"/>
                        </a:rPr>
                        <m:t>𝑪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08" name="CEq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0900" y="1981200"/>
                <a:ext cx="2501900" cy="889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9" name="CNote"/>
          <p:cNvSpPr/>
          <p:nvPr/>
        </p:nvSpPr>
        <p:spPr>
          <a:xfrm>
            <a:off x="3390900" y="3098800"/>
            <a:ext cx="25019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000" i="1" dirty="0">
                <a:solidFill>
                  <a:srgbClr val="333333"/>
                </a:solidFill>
                <a:latin typeface="Calibri"/>
              </a:rPr>
              <a:t>Multiply over sums</a:t>
            </a:r>
          </a:p>
        </p:txBody>
      </p:sp>
      <p:sp>
        <p:nvSpPr>
          <p:cNvPr id="310" name="Card"/>
          <p:cNvSpPr/>
          <p:nvPr/>
        </p:nvSpPr>
        <p:spPr>
          <a:xfrm>
            <a:off x="6197600" y="1422400"/>
            <a:ext cx="2705100" cy="2057400"/>
          </a:xfrm>
          <a:prstGeom prst="roundRect">
            <a:avLst>
              <a:gd name="adj" fmla="val 5000"/>
            </a:avLst>
          </a:prstGeom>
          <a:solidFill>
            <a:srgbClr val="FBFAFD"/>
          </a:solidFill>
          <a:ln w="15875">
            <a:solidFill>
              <a:srgbClr val="D1578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1" name="Strip"/>
          <p:cNvSpPr/>
          <p:nvPr/>
        </p:nvSpPr>
        <p:spPr>
          <a:xfrm>
            <a:off x="6197600" y="1422400"/>
            <a:ext cx="2705100" cy="50800"/>
          </a:xfrm>
          <a:prstGeom prst="rect">
            <a:avLst/>
          </a:prstGeom>
          <a:solidFill>
            <a:srgbClr val="D1578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2" name="CName"/>
          <p:cNvSpPr/>
          <p:nvPr/>
        </p:nvSpPr>
        <p:spPr>
          <a:xfrm>
            <a:off x="6299200" y="1600200"/>
            <a:ext cx="25019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300" b="1" dirty="0">
                <a:solidFill>
                  <a:srgbClr val="D1578A"/>
                </a:solidFill>
                <a:latin typeface="Calibri"/>
              </a:rPr>
              <a:t>Not commutative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3" name="CEq"/>
              <p:cNvSpPr/>
              <p:nvPr/>
            </p:nvSpPr>
            <p:spPr>
              <a:xfrm>
                <a:off x="6299200" y="1981200"/>
                <a:ext cx="2501900" cy="8890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>
                          <a:solidFill>
                            <a:srgbClr val="4B2E83"/>
                          </a:solidFill>
                          <a:latin typeface="Cambria Math"/>
                        </a:rPr>
                        <m:t>𝑨</m:t>
                      </m:r>
                      <m:r>
                        <a:rPr lang="en-US" sz="1500">
                          <a:solidFill>
                            <a:srgbClr val="00A7B5"/>
                          </a:solidFill>
                          <a:latin typeface="Cambria Math"/>
                        </a:rPr>
                        <m:t>𝑩</m:t>
                      </m:r>
                      <m:r>
                        <a:rPr lang="en-US" sz="1500">
                          <a:solidFill>
                            <a:srgbClr val="D1578A"/>
                          </a:solidFill>
                          <a:latin typeface="Cambria Math"/>
                        </a:rPr>
                        <m:t>≠</m:t>
                      </m:r>
                      <m:r>
                        <a:rPr lang="en-US" sz="1500">
                          <a:solidFill>
                            <a:srgbClr val="00A7B5"/>
                          </a:solidFill>
                          <a:latin typeface="Cambria Math"/>
                        </a:rPr>
                        <m:t>𝑩</m:t>
                      </m:r>
                      <m:r>
                        <a:rPr lang="en-US" sz="1500">
                          <a:solidFill>
                            <a:srgbClr val="4B2E83"/>
                          </a:solidFill>
                          <a:latin typeface="Cambria Math"/>
                        </a:rPr>
                        <m:t>𝑨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13" name="CEq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9200" y="1981200"/>
                <a:ext cx="2501900" cy="889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4" name="CNote"/>
          <p:cNvSpPr/>
          <p:nvPr/>
        </p:nvSpPr>
        <p:spPr>
          <a:xfrm>
            <a:off x="6299200" y="3098800"/>
            <a:ext cx="25019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000" i="1" dirty="0">
                <a:solidFill>
                  <a:srgbClr val="333333"/>
                </a:solidFill>
                <a:latin typeface="Calibri"/>
              </a:rPr>
              <a:t>Order matters!</a:t>
            </a:r>
          </a:p>
        </p:txBody>
      </p:sp>
      <p:sp>
        <p:nvSpPr>
          <p:cNvPr id="315" name="Card"/>
          <p:cNvSpPr/>
          <p:nvPr/>
        </p:nvSpPr>
        <p:spPr>
          <a:xfrm>
            <a:off x="9105900" y="1422400"/>
            <a:ext cx="2705100" cy="2057400"/>
          </a:xfrm>
          <a:prstGeom prst="roundRect">
            <a:avLst>
              <a:gd name="adj" fmla="val 5000"/>
            </a:avLst>
          </a:prstGeom>
          <a:solidFill>
            <a:srgbClr val="FBFAFD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6" name="Strip"/>
          <p:cNvSpPr/>
          <p:nvPr/>
        </p:nvSpPr>
        <p:spPr>
          <a:xfrm>
            <a:off x="9105900" y="1422400"/>
            <a:ext cx="2705100" cy="508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7" name="CName"/>
          <p:cNvSpPr/>
          <p:nvPr/>
        </p:nvSpPr>
        <p:spPr>
          <a:xfrm>
            <a:off x="9207500" y="1600200"/>
            <a:ext cx="25019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300" b="1" dirty="0">
                <a:solidFill>
                  <a:srgbClr val="4B2E83"/>
                </a:solidFill>
                <a:latin typeface="Calibri"/>
              </a:rPr>
              <a:t>Identity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8" name="CEq"/>
              <p:cNvSpPr/>
              <p:nvPr/>
            </p:nvSpPr>
            <p:spPr>
              <a:xfrm>
                <a:off x="9207500" y="1981200"/>
                <a:ext cx="2501900" cy="8890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>
                          <a:solidFill>
                            <a:srgbClr val="4B2E83"/>
                          </a:solidFill>
                          <a:latin typeface="Cambria Math"/>
                        </a:rPr>
                        <m:t>𝑨</m:t>
                      </m:r>
                      <m:r>
                        <a:rPr lang="en-US" sz="1500">
                          <a:solidFill>
                            <a:srgbClr val="5A8A2A"/>
                          </a:solidFill>
                          <a:latin typeface="Cambria Math"/>
                        </a:rPr>
                        <m:t>𝑰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1500">
                          <a:solidFill>
                            <a:srgbClr val="5A8A2A"/>
                          </a:solidFill>
                          <a:latin typeface="Cambria Math"/>
                        </a:rPr>
                        <m:t>𝑰</m:t>
                      </m:r>
                      <m:r>
                        <a:rPr lang="en-US" sz="1500">
                          <a:solidFill>
                            <a:srgbClr val="4B2E83"/>
                          </a:solidFill>
                          <a:latin typeface="Cambria Math"/>
                        </a:rPr>
                        <m:t>𝑨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1500">
                          <a:solidFill>
                            <a:srgbClr val="4B2E83"/>
                          </a:solidFill>
                          <a:latin typeface="Cambria Math"/>
                        </a:rPr>
                        <m:t>𝑨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18" name="CEq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7500" y="1981200"/>
                <a:ext cx="2501900" cy="8890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9" name="CNote"/>
          <p:cNvSpPr/>
          <p:nvPr/>
        </p:nvSpPr>
        <p:spPr>
          <a:xfrm>
            <a:off x="9207500" y="3098800"/>
            <a:ext cx="25019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000" i="1" dirty="0">
                <a:solidFill>
                  <a:srgbClr val="333333"/>
                </a:solidFill>
                <a:latin typeface="Calibri"/>
              </a:rPr>
              <a:t>I leaves A unchanged</a:t>
            </a:r>
          </a:p>
        </p:txBody>
      </p:sp>
      <p:sp>
        <p:nvSpPr>
          <p:cNvPr id="320" name="Card"/>
          <p:cNvSpPr/>
          <p:nvPr/>
        </p:nvSpPr>
        <p:spPr>
          <a:xfrm>
            <a:off x="381000" y="3657600"/>
            <a:ext cx="2705100" cy="2057400"/>
          </a:xfrm>
          <a:prstGeom prst="roundRect">
            <a:avLst>
              <a:gd name="adj" fmla="val 5000"/>
            </a:avLst>
          </a:prstGeom>
          <a:solidFill>
            <a:srgbClr val="FBFAFD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21" name="Strip"/>
          <p:cNvSpPr/>
          <p:nvPr/>
        </p:nvSpPr>
        <p:spPr>
          <a:xfrm>
            <a:off x="381000" y="3657600"/>
            <a:ext cx="2705100" cy="508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2" name="CName"/>
          <p:cNvSpPr/>
          <p:nvPr/>
        </p:nvSpPr>
        <p:spPr>
          <a:xfrm>
            <a:off x="482600" y="3835400"/>
            <a:ext cx="25019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300" b="1" dirty="0">
                <a:solidFill>
                  <a:srgbClr val="4B2E83"/>
                </a:solidFill>
                <a:latin typeface="Calibri"/>
              </a:rPr>
              <a:t>Transpose of product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3" name="CEq"/>
              <p:cNvSpPr/>
              <p:nvPr/>
            </p:nvSpPr>
            <p:spPr>
              <a:xfrm>
                <a:off x="482600" y="4216400"/>
                <a:ext cx="2501900" cy="8890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5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US" sz="1500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𝑨</m:t>
                          </m:r>
                          <m:r>
                            <a:rPr lang="en-US" sz="1500">
                              <a:solidFill>
                                <a:srgbClr val="00A7B5"/>
                              </a:solidFill>
                              <a:latin typeface="Cambria Math"/>
                            </a:rPr>
                            <m:t>𝑩</m:t>
                          </m:r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1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T</m:t>
                          </m:r>
                        </m:sup>
                      </m:sSup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15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500">
                              <a:solidFill>
                                <a:srgbClr val="00A7B5"/>
                              </a:solidFill>
                              <a:latin typeface="Cambria Math"/>
                            </a:rPr>
                            <m:t>𝑩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1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T</m:t>
                          </m:r>
                        </m:sup>
                      </m:sSup>
                      <m:sSup>
                        <m:sSupPr>
                          <m:ctrlPr>
                            <a:rPr lang="en-US" sz="11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500">
                              <a:solidFill>
                                <a:srgbClr val="4B2E83"/>
                              </a:solidFill>
                              <a:latin typeface="Cambria Math"/>
                            </a:rPr>
                            <m:t>𝑨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1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T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23" name="CEq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600" y="4216400"/>
                <a:ext cx="2501900" cy="889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4" name="CNote"/>
          <p:cNvSpPr/>
          <p:nvPr/>
        </p:nvSpPr>
        <p:spPr>
          <a:xfrm>
            <a:off x="482600" y="5334000"/>
            <a:ext cx="25019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000" i="1" dirty="0">
                <a:solidFill>
                  <a:srgbClr val="333333"/>
                </a:solidFill>
                <a:latin typeface="Calibri"/>
              </a:rPr>
              <a:t>Order reverses</a:t>
            </a:r>
          </a:p>
        </p:txBody>
      </p:sp>
      <p:sp>
        <p:nvSpPr>
          <p:cNvPr id="325" name="Card"/>
          <p:cNvSpPr/>
          <p:nvPr/>
        </p:nvSpPr>
        <p:spPr>
          <a:xfrm>
            <a:off x="3289300" y="3657600"/>
            <a:ext cx="2705100" cy="2057400"/>
          </a:xfrm>
          <a:prstGeom prst="roundRect">
            <a:avLst>
              <a:gd name="adj" fmla="val 5000"/>
            </a:avLst>
          </a:prstGeom>
          <a:solidFill>
            <a:srgbClr val="FBFAFD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26" name="Strip"/>
          <p:cNvSpPr/>
          <p:nvPr/>
        </p:nvSpPr>
        <p:spPr>
          <a:xfrm>
            <a:off x="3289300" y="3657600"/>
            <a:ext cx="2705100" cy="508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7" name="CName"/>
          <p:cNvSpPr/>
          <p:nvPr/>
        </p:nvSpPr>
        <p:spPr>
          <a:xfrm>
            <a:off x="3390900" y="3835400"/>
            <a:ext cx="25019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300" b="1" dirty="0">
                <a:solidFill>
                  <a:srgbClr val="4B2E83"/>
                </a:solidFill>
                <a:latin typeface="Calibri"/>
              </a:rPr>
              <a:t>Scalar factor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8" name="CEq"/>
              <p:cNvSpPr/>
              <p:nvPr/>
            </p:nvSpPr>
            <p:spPr>
              <a:xfrm>
                <a:off x="3390900" y="4216400"/>
                <a:ext cx="2501900" cy="8890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1500">
                          <a:solidFill>
                            <a:srgbClr val="5A8A2A"/>
                          </a:solidFill>
                          <a:latin typeface="Cambria Math"/>
                        </a:rPr>
                        <m:t>c</m:t>
                      </m:r>
                      <m:r>
                        <a:rPr lang="en-US" sz="1500">
                          <a:solidFill>
                            <a:srgbClr val="4B2E83"/>
                          </a:solidFill>
                          <a:latin typeface="Cambria Math"/>
                        </a:rPr>
                        <m:t>𝑨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)</m:t>
                      </m:r>
                      <m:r>
                        <a:rPr lang="en-US" sz="1500">
                          <a:solidFill>
                            <a:srgbClr val="00A7B5"/>
                          </a:solidFill>
                          <a:latin typeface="Cambria Math"/>
                        </a:rPr>
                        <m:t>𝑩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500">
                          <a:solidFill>
                            <a:srgbClr val="5A8A2A"/>
                          </a:solidFill>
                          <a:latin typeface="Cambria Math"/>
                        </a:rPr>
                        <m:t>c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1500">
                          <a:solidFill>
                            <a:srgbClr val="4B2E83"/>
                          </a:solidFill>
                          <a:latin typeface="Cambria Math"/>
                        </a:rPr>
                        <m:t>𝑨</m:t>
                      </m:r>
                      <m:r>
                        <a:rPr lang="en-US" sz="1500">
                          <a:solidFill>
                            <a:srgbClr val="00A7B5"/>
                          </a:solidFill>
                          <a:latin typeface="Cambria Math"/>
                        </a:rPr>
                        <m:t>𝑩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28" name="CEq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0900" y="4216400"/>
                <a:ext cx="2501900" cy="8890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9" name="CNote"/>
          <p:cNvSpPr/>
          <p:nvPr/>
        </p:nvSpPr>
        <p:spPr>
          <a:xfrm>
            <a:off x="3390900" y="5334000"/>
            <a:ext cx="25019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000" i="1" dirty="0">
                <a:solidFill>
                  <a:srgbClr val="333333"/>
                </a:solidFill>
                <a:latin typeface="Calibri"/>
              </a:rPr>
              <a:t>Scalars slide out</a:t>
            </a:r>
          </a:p>
        </p:txBody>
      </p:sp>
      <p:sp>
        <p:nvSpPr>
          <p:cNvPr id="330" name="Card"/>
          <p:cNvSpPr/>
          <p:nvPr/>
        </p:nvSpPr>
        <p:spPr>
          <a:xfrm>
            <a:off x="6197600" y="3657600"/>
            <a:ext cx="2705100" cy="2057400"/>
          </a:xfrm>
          <a:prstGeom prst="roundRect">
            <a:avLst>
              <a:gd name="adj" fmla="val 5000"/>
            </a:avLst>
          </a:prstGeom>
          <a:solidFill>
            <a:srgbClr val="FBFAFD"/>
          </a:solidFill>
          <a:ln w="15875">
            <a:solidFill>
              <a:srgbClr val="00A7B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1" name="Strip"/>
          <p:cNvSpPr/>
          <p:nvPr/>
        </p:nvSpPr>
        <p:spPr>
          <a:xfrm>
            <a:off x="6197600" y="3657600"/>
            <a:ext cx="2705100" cy="50800"/>
          </a:xfrm>
          <a:prstGeom prst="rect">
            <a:avLst/>
          </a:prstGeom>
          <a:solidFill>
            <a:srgbClr val="00A7B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32" name="CName"/>
          <p:cNvSpPr/>
          <p:nvPr/>
        </p:nvSpPr>
        <p:spPr>
          <a:xfrm>
            <a:off x="6299200" y="3835400"/>
            <a:ext cx="25019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300" b="1" dirty="0">
                <a:solidFill>
                  <a:srgbClr val="00A7B5"/>
                </a:solidFill>
                <a:latin typeface="Calibri"/>
              </a:rPr>
              <a:t>Dot — commutative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3" name="CEq"/>
              <p:cNvSpPr/>
              <p:nvPr/>
            </p:nvSpPr>
            <p:spPr>
              <a:xfrm>
                <a:off x="6299200" y="4216400"/>
                <a:ext cx="2501900" cy="8890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>
                          <a:solidFill>
                            <a:srgbClr val="4B2E83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·</m:t>
                      </m:r>
                      <m:r>
                        <a:rPr lang="en-US" sz="1500">
                          <a:solidFill>
                            <a:srgbClr val="00A7B5"/>
                          </a:solidFill>
                          <a:latin typeface="Cambria Math"/>
                        </a:rPr>
                        <m:t>𝒗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1500">
                          <a:solidFill>
                            <a:srgbClr val="00A7B5"/>
                          </a:solidFill>
                          <a:latin typeface="Cambria Math"/>
                        </a:rPr>
                        <m:t>𝒗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·</m:t>
                      </m:r>
                      <m:r>
                        <a:rPr lang="en-US" sz="1500">
                          <a:solidFill>
                            <a:srgbClr val="4B2E83"/>
                          </a:solidFill>
                          <a:latin typeface="Cambria Math"/>
                        </a:rPr>
                        <m:t>𝒖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3" name="CEq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9200" y="4216400"/>
                <a:ext cx="2501900" cy="8890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4" name="CNote"/>
          <p:cNvSpPr/>
          <p:nvPr/>
        </p:nvSpPr>
        <p:spPr>
          <a:xfrm>
            <a:off x="6299200" y="5334000"/>
            <a:ext cx="25019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000" i="1" dirty="0">
                <a:solidFill>
                  <a:srgbClr val="333333"/>
                </a:solidFill>
                <a:latin typeface="Calibri"/>
              </a:rPr>
              <a:t>Dot product commutes</a:t>
            </a:r>
          </a:p>
        </p:txBody>
      </p:sp>
      <p:sp>
        <p:nvSpPr>
          <p:cNvPr id="335" name="Card"/>
          <p:cNvSpPr/>
          <p:nvPr/>
        </p:nvSpPr>
        <p:spPr>
          <a:xfrm>
            <a:off x="9105900" y="3657600"/>
            <a:ext cx="2705100" cy="2057400"/>
          </a:xfrm>
          <a:prstGeom prst="roundRect">
            <a:avLst>
              <a:gd name="adj" fmla="val 5000"/>
            </a:avLst>
          </a:prstGeom>
          <a:solidFill>
            <a:srgbClr val="FBFAFD"/>
          </a:solidFill>
          <a:ln w="15875">
            <a:solidFill>
              <a:srgbClr val="00A7B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6" name="Strip"/>
          <p:cNvSpPr/>
          <p:nvPr/>
        </p:nvSpPr>
        <p:spPr>
          <a:xfrm>
            <a:off x="9105900" y="3657600"/>
            <a:ext cx="2705100" cy="50800"/>
          </a:xfrm>
          <a:prstGeom prst="rect">
            <a:avLst/>
          </a:prstGeom>
          <a:solidFill>
            <a:srgbClr val="00A7B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37" name="CName"/>
          <p:cNvSpPr/>
          <p:nvPr/>
        </p:nvSpPr>
        <p:spPr>
          <a:xfrm>
            <a:off x="9207500" y="3835400"/>
            <a:ext cx="25019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300" b="1" dirty="0">
                <a:solidFill>
                  <a:srgbClr val="00A7B5"/>
                </a:solidFill>
                <a:latin typeface="Calibri"/>
              </a:rPr>
              <a:t>Dot — distributive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8" name="CEq"/>
              <p:cNvSpPr/>
              <p:nvPr/>
            </p:nvSpPr>
            <p:spPr>
              <a:xfrm>
                <a:off x="9207500" y="4216400"/>
                <a:ext cx="2501900" cy="8890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>
                          <a:solidFill>
                            <a:srgbClr val="4B2E83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·(</m:t>
                      </m:r>
                      <m:r>
                        <a:rPr lang="en-US" sz="1500">
                          <a:solidFill>
                            <a:srgbClr val="00A7B5"/>
                          </a:solidFill>
                          <a:latin typeface="Cambria Math"/>
                        </a:rPr>
                        <m:t>𝒗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+</m:t>
                      </m:r>
                      <m:r>
                        <a:rPr lang="en-US" sz="1500">
                          <a:solidFill>
                            <a:srgbClr val="D1578A"/>
                          </a:solidFill>
                          <a:latin typeface="Cambria Math"/>
                        </a:rPr>
                        <m:t>𝒘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)=</m:t>
                      </m:r>
                      <m:r>
                        <a:rPr lang="en-US" sz="1500">
                          <a:solidFill>
                            <a:srgbClr val="4B2E83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·</m:t>
                      </m:r>
                      <m:r>
                        <a:rPr lang="en-US" sz="1500">
                          <a:solidFill>
                            <a:srgbClr val="00A7B5"/>
                          </a:solidFill>
                          <a:latin typeface="Cambria Math"/>
                        </a:rPr>
                        <m:t>𝒗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+</m:t>
                      </m:r>
                      <m:r>
                        <a:rPr lang="en-US" sz="1500">
                          <a:solidFill>
                            <a:srgbClr val="4B2E83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·</m:t>
                      </m:r>
                      <m:r>
                        <a:rPr lang="en-US" sz="1500">
                          <a:solidFill>
                            <a:srgbClr val="D1578A"/>
                          </a:solidFill>
                          <a:latin typeface="Cambria Math"/>
                        </a:rPr>
                        <m:t>𝒘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8" name="CEq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7500" y="4216400"/>
                <a:ext cx="2501900" cy="8890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9" name="CNote"/>
          <p:cNvSpPr/>
          <p:nvPr/>
        </p:nvSpPr>
        <p:spPr>
          <a:xfrm>
            <a:off x="9207500" y="5334000"/>
            <a:ext cx="25019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000" i="1" dirty="0">
                <a:solidFill>
                  <a:srgbClr val="333333"/>
                </a:solidFill>
                <a:latin typeface="Calibri"/>
              </a:rPr>
              <a:t>Spreads over sums</a:t>
            </a:r>
          </a:p>
        </p:txBody>
      </p:sp>
    </p:spTree>
    <p:extLst>
      <p:ext uri="{BB962C8B-B14F-4D97-AF65-F5344CB8AC3E}">
        <p14:creationId xmlns:p14="http://schemas.microsoft.com/office/powerpoint/2010/main" val="20447897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Bar">
            <a:extLst>
              <a:ext uri="{FF2B5EF4-FFF2-40B4-BE49-F238E27FC236}">
                <a16:creationId xmlns:a16="http://schemas.microsoft.com/office/drawing/2014/main" id="{B942CE15-946C-1342-9A36-8072ED35EA82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484A920F-85E5-D040-892A-C334CDA4BD70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Matrix–Matrix Multiplication</a:t>
            </a:r>
          </a:p>
        </p:txBody>
      </p:sp>
      <p:sp>
        <p:nvSpPr>
          <p:cNvPr id="21" name="Sub">
            <a:extLst>
              <a:ext uri="{FF2B5EF4-FFF2-40B4-BE49-F238E27FC236}">
                <a16:creationId xmlns:a16="http://schemas.microsoft.com/office/drawing/2014/main" id="{6E72D782-C6DA-8047-A454-19CA912E0F78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Composing two linear maps into one</a:t>
            </a:r>
          </a:p>
        </p:txBody>
      </p:sp>
      <p:sp>
        <p:nvSpPr>
          <p:cNvPr id="22" name="DefBox">
            <a:extLst>
              <a:ext uri="{FF2B5EF4-FFF2-40B4-BE49-F238E27FC236}">
                <a16:creationId xmlns:a16="http://schemas.microsoft.com/office/drawing/2014/main" id="{52EDC5B6-38FD-8F44-832A-6827973D3B99}"/>
              </a:ext>
            </a:extLst>
          </p:cNvPr>
          <p:cNvSpPr/>
          <p:nvPr/>
        </p:nvSpPr>
        <p:spPr>
          <a:xfrm>
            <a:off x="381000" y="1270000"/>
            <a:ext cx="11430000" cy="1016000"/>
          </a:xfrm>
          <a:prstGeom prst="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DefLbl">
            <a:extLst>
              <a:ext uri="{FF2B5EF4-FFF2-40B4-BE49-F238E27FC236}">
                <a16:creationId xmlns:a16="http://schemas.microsoft.com/office/drawing/2014/main" id="{F5C74F23-B1D8-D34A-A53A-B6F3D6DFE913}"/>
              </a:ext>
            </a:extLst>
          </p:cNvPr>
          <p:cNvSpPr txBox="1"/>
          <p:nvPr/>
        </p:nvSpPr>
        <p:spPr>
          <a:xfrm>
            <a:off x="558800" y="13716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4B2E83"/>
                </a:solidFill>
                <a:latin typeface="Arial"/>
                <a:cs typeface="Arial"/>
              </a:rPr>
              <a:t>Definition</a:t>
            </a:r>
          </a:p>
        </p:txBody>
      </p:sp>
      <p:sp>
        <p:nvSpPr>
          <p:cNvPr id="24" name="DefEq">
            <a:extLst>
              <a:ext uri="{FF2B5EF4-FFF2-40B4-BE49-F238E27FC236}">
                <a16:creationId xmlns:a16="http://schemas.microsoft.com/office/drawing/2014/main" id="{B96D03BB-5441-A34A-A157-254074C04B13}"/>
              </a:ext>
            </a:extLst>
          </p:cNvPr>
          <p:cNvSpPr txBox="1"/>
          <p:nvPr/>
        </p:nvSpPr>
        <p:spPr>
          <a:xfrm>
            <a:off x="558800" y="1625600"/>
            <a:ext cx="11049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  <a:latin typeface="Cambria Math"/>
                <a:ea typeface="Cambria Math"/>
              </a:rPr>
              <a:t>(A · B)ᵢⱼ  =  </a:t>
            </a:r>
            <a:r>
              <a:rPr lang="el-GR" sz="1600">
                <a:solidFill>
                  <a:srgbClr val="333333"/>
                </a:solidFill>
                <a:latin typeface="Cambria Math"/>
                <a:ea typeface="Cambria Math"/>
              </a:rPr>
              <a:t>Σ</a:t>
            </a:r>
            <a:r>
              <a:rPr lang="en-US" sz="1600">
                <a:solidFill>
                  <a:srgbClr val="333333"/>
                </a:solidFill>
                <a:latin typeface="Cambria Math"/>
                <a:ea typeface="Cambria Math"/>
              </a:rPr>
              <a:t>ₖ Aᵢₖ · Bₖⱼ        A is m×n,  B is n×p,  result is m×p</a:t>
            </a:r>
          </a:p>
        </p:txBody>
      </p:sp>
      <p:sp>
        <p:nvSpPr>
          <p:cNvPr id="25" name="DefNote">
            <a:extLst>
              <a:ext uri="{FF2B5EF4-FFF2-40B4-BE49-F238E27FC236}">
                <a16:creationId xmlns:a16="http://schemas.microsoft.com/office/drawing/2014/main" id="{B86DBCC7-3A7A-A44E-9E8C-B615F249006E}"/>
              </a:ext>
            </a:extLst>
          </p:cNvPr>
          <p:cNvSpPr txBox="1"/>
          <p:nvPr/>
        </p:nvSpPr>
        <p:spPr>
          <a:xfrm>
            <a:off x="558800" y="198120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777777"/>
                </a:solidFill>
                <a:latin typeface="Arial"/>
                <a:cs typeface="Arial"/>
              </a:rPr>
              <a:t>Inner dimensions must match.  Each entry of A·B is a dot product of a row of A with a column of B.</a:t>
            </a:r>
          </a:p>
        </p:txBody>
      </p:sp>
      <p:sp>
        <p:nvSpPr>
          <p:cNvPr id="26" name="Card30">
            <a:extLst>
              <a:ext uri="{FF2B5EF4-FFF2-40B4-BE49-F238E27FC236}">
                <a16:creationId xmlns:a16="http://schemas.microsoft.com/office/drawing/2014/main" id="{4F215886-5610-A649-B489-1FF615F476FF}"/>
              </a:ext>
            </a:extLst>
          </p:cNvPr>
          <p:cNvSpPr/>
          <p:nvPr/>
        </p:nvSpPr>
        <p:spPr>
          <a:xfrm>
            <a:off x="381000" y="2476500"/>
            <a:ext cx="3683000" cy="2540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CardHdr30">
            <a:extLst>
              <a:ext uri="{FF2B5EF4-FFF2-40B4-BE49-F238E27FC236}">
                <a16:creationId xmlns:a16="http://schemas.microsoft.com/office/drawing/2014/main" id="{946D679E-E787-6E4E-B30F-A38350995AC5}"/>
              </a:ext>
            </a:extLst>
          </p:cNvPr>
          <p:cNvSpPr/>
          <p:nvPr/>
        </p:nvSpPr>
        <p:spPr>
          <a:xfrm>
            <a:off x="381000" y="2476500"/>
            <a:ext cx="3683000" cy="381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CardT30">
            <a:extLst>
              <a:ext uri="{FF2B5EF4-FFF2-40B4-BE49-F238E27FC236}">
                <a16:creationId xmlns:a16="http://schemas.microsoft.com/office/drawing/2014/main" id="{587D61DD-7A3C-1645-AEF6-0915F3EF7C54}"/>
              </a:ext>
            </a:extLst>
          </p:cNvPr>
          <p:cNvSpPr txBox="1"/>
          <p:nvPr/>
        </p:nvSpPr>
        <p:spPr>
          <a:xfrm>
            <a:off x="508000" y="25400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What it does</a:t>
            </a:r>
          </a:p>
        </p:txBody>
      </p:sp>
      <p:sp>
        <p:nvSpPr>
          <p:cNvPr id="29" name="CardB30">
            <a:extLst>
              <a:ext uri="{FF2B5EF4-FFF2-40B4-BE49-F238E27FC236}">
                <a16:creationId xmlns:a16="http://schemas.microsoft.com/office/drawing/2014/main" id="{C824B1CC-5B74-3A4D-BBD7-5DC77F66D835}"/>
              </a:ext>
            </a:extLst>
          </p:cNvPr>
          <p:cNvSpPr txBox="1"/>
          <p:nvPr/>
        </p:nvSpPr>
        <p:spPr>
          <a:xfrm>
            <a:off x="558800" y="2959100"/>
            <a:ext cx="3327400" cy="1955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Multiplies each row of A by each column of B.
• Row i of A · Col j of B → entry (i,j)
• Shape rule: (m×n)·(n×p)=(m×p)
• NOT commutative: A·B ≠ B·A in general</a:t>
            </a:r>
          </a:p>
        </p:txBody>
      </p:sp>
      <p:sp>
        <p:nvSpPr>
          <p:cNvPr id="30" name="Card335">
            <a:extLst>
              <a:ext uri="{FF2B5EF4-FFF2-40B4-BE49-F238E27FC236}">
                <a16:creationId xmlns:a16="http://schemas.microsoft.com/office/drawing/2014/main" id="{10E28446-9A40-D64B-A499-93258B2780CC}"/>
              </a:ext>
            </a:extLst>
          </p:cNvPr>
          <p:cNvSpPr/>
          <p:nvPr/>
        </p:nvSpPr>
        <p:spPr>
          <a:xfrm>
            <a:off x="4254500" y="2476500"/>
            <a:ext cx="3683000" cy="2540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CardHdr335">
            <a:extLst>
              <a:ext uri="{FF2B5EF4-FFF2-40B4-BE49-F238E27FC236}">
                <a16:creationId xmlns:a16="http://schemas.microsoft.com/office/drawing/2014/main" id="{BB0B0B7B-FA12-F845-A1E5-2007F0C0E2F2}"/>
              </a:ext>
            </a:extLst>
          </p:cNvPr>
          <p:cNvSpPr/>
          <p:nvPr/>
        </p:nvSpPr>
        <p:spPr>
          <a:xfrm>
            <a:off x="4254500" y="2476500"/>
            <a:ext cx="3683000" cy="3810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CardT335">
            <a:extLst>
              <a:ext uri="{FF2B5EF4-FFF2-40B4-BE49-F238E27FC236}">
                <a16:creationId xmlns:a16="http://schemas.microsoft.com/office/drawing/2014/main" id="{5EB30BF5-EF5A-E24A-9509-A1C43BFC46AF}"/>
              </a:ext>
            </a:extLst>
          </p:cNvPr>
          <p:cNvSpPr txBox="1"/>
          <p:nvPr/>
        </p:nvSpPr>
        <p:spPr>
          <a:xfrm>
            <a:off x="4381500" y="25400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Geometry</a:t>
            </a:r>
          </a:p>
        </p:txBody>
      </p:sp>
      <p:sp>
        <p:nvSpPr>
          <p:cNvPr id="33" name="CardB335">
            <a:extLst>
              <a:ext uri="{FF2B5EF4-FFF2-40B4-BE49-F238E27FC236}">
                <a16:creationId xmlns:a16="http://schemas.microsoft.com/office/drawing/2014/main" id="{691F7837-C2FB-2B45-AAFD-C5D13E3DC3FD}"/>
              </a:ext>
            </a:extLst>
          </p:cNvPr>
          <p:cNvSpPr txBox="1"/>
          <p:nvPr/>
        </p:nvSpPr>
        <p:spPr>
          <a:xfrm>
            <a:off x="4432300" y="2959100"/>
            <a:ext cx="3327400" cy="1955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Composition of linear maps.
If B maps ℝᵖ → ℝⁿ
and A maps ℝⁿ → ℝᵐ,
then A·B maps ℝᵖ → ℝᵐ.
Applying B then A = applying A·B.</a:t>
            </a:r>
          </a:p>
        </p:txBody>
      </p:sp>
      <p:sp>
        <p:nvSpPr>
          <p:cNvPr id="34" name="Card640">
            <a:extLst>
              <a:ext uri="{FF2B5EF4-FFF2-40B4-BE49-F238E27FC236}">
                <a16:creationId xmlns:a16="http://schemas.microsoft.com/office/drawing/2014/main" id="{E74650E1-EC23-6049-9CBB-9BE9A4CAA722}"/>
              </a:ext>
            </a:extLst>
          </p:cNvPr>
          <p:cNvSpPr/>
          <p:nvPr/>
        </p:nvSpPr>
        <p:spPr>
          <a:xfrm>
            <a:off x="8128000" y="2476500"/>
            <a:ext cx="3683000" cy="2540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CardHdr640">
            <a:extLst>
              <a:ext uri="{FF2B5EF4-FFF2-40B4-BE49-F238E27FC236}">
                <a16:creationId xmlns:a16="http://schemas.microsoft.com/office/drawing/2014/main" id="{C0039766-7A1E-1642-9975-97841A359378}"/>
              </a:ext>
            </a:extLst>
          </p:cNvPr>
          <p:cNvSpPr/>
          <p:nvPr/>
        </p:nvSpPr>
        <p:spPr>
          <a:xfrm>
            <a:off x="8128000" y="2476500"/>
            <a:ext cx="3683000" cy="3810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6" name="CardT640">
            <a:extLst>
              <a:ext uri="{FF2B5EF4-FFF2-40B4-BE49-F238E27FC236}">
                <a16:creationId xmlns:a16="http://schemas.microsoft.com/office/drawing/2014/main" id="{DC466667-D774-1A44-B592-804B2630AD7A}"/>
              </a:ext>
            </a:extLst>
          </p:cNvPr>
          <p:cNvSpPr txBox="1"/>
          <p:nvPr/>
        </p:nvSpPr>
        <p:spPr>
          <a:xfrm>
            <a:off x="8255000" y="25400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Why it matters</a:t>
            </a:r>
          </a:p>
        </p:txBody>
      </p:sp>
      <p:sp>
        <p:nvSpPr>
          <p:cNvPr id="37" name="CardB640">
            <a:extLst>
              <a:ext uri="{FF2B5EF4-FFF2-40B4-BE49-F238E27FC236}">
                <a16:creationId xmlns:a16="http://schemas.microsoft.com/office/drawing/2014/main" id="{92E99C82-AE33-E34E-BCEE-7388834A2D4D}"/>
              </a:ext>
            </a:extLst>
          </p:cNvPr>
          <p:cNvSpPr txBox="1"/>
          <p:nvPr/>
        </p:nvSpPr>
        <p:spPr>
          <a:xfrm>
            <a:off x="8305800" y="2959100"/>
            <a:ext cx="3327400" cy="1955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Powers most of ML:
• Stacked layers: W₂·W₁·x
• Covariance: XᵀX
• Attention: QKᵀ
• Solving linear systems
• Change of basis</a:t>
            </a:r>
          </a:p>
        </p:txBody>
      </p:sp>
      <p:sp>
        <p:nvSpPr>
          <p:cNvPr id="38" name="FormStrip">
            <a:extLst>
              <a:ext uri="{FF2B5EF4-FFF2-40B4-BE49-F238E27FC236}">
                <a16:creationId xmlns:a16="http://schemas.microsoft.com/office/drawing/2014/main" id="{47403BBD-62BF-CF49-90A5-28FD7C022CCE}"/>
              </a:ext>
            </a:extLst>
          </p:cNvPr>
          <p:cNvSpPr/>
          <p:nvPr/>
        </p:nvSpPr>
        <p:spPr>
          <a:xfrm>
            <a:off x="381000" y="5143500"/>
            <a:ext cx="11430000" cy="4826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9" name="FormT">
            <a:extLst>
              <a:ext uri="{FF2B5EF4-FFF2-40B4-BE49-F238E27FC236}">
                <a16:creationId xmlns:a16="http://schemas.microsoft.com/office/drawing/2014/main" id="{6AE4F508-91E3-7E47-9026-FFC3A1806D5A}"/>
              </a:ext>
            </a:extLst>
          </p:cNvPr>
          <p:cNvSpPr txBox="1"/>
          <p:nvPr/>
        </p:nvSpPr>
        <p:spPr>
          <a:xfrm>
            <a:off x="558800" y="5207000"/>
            <a:ext cx="11049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Cambria Math"/>
                <a:ea typeface="Cambria Math"/>
              </a:rPr>
              <a:t>Shape rule:   (m×n) · (n×p)  =  (m×p)     —     inner dims must match</a:t>
            </a:r>
          </a:p>
        </p:txBody>
      </p:sp>
      <p:sp>
        <p:nvSpPr>
          <p:cNvPr id="40" name="TkBar">
            <a:extLst>
              <a:ext uri="{FF2B5EF4-FFF2-40B4-BE49-F238E27FC236}">
                <a16:creationId xmlns:a16="http://schemas.microsoft.com/office/drawing/2014/main" id="{7BB6E217-0FF3-2143-9551-9168D303D845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1" name="TkText">
            <a:extLst>
              <a:ext uri="{FF2B5EF4-FFF2-40B4-BE49-F238E27FC236}">
                <a16:creationId xmlns:a16="http://schemas.microsoft.com/office/drawing/2014/main" id="{26FF0703-3064-7F41-82E4-921C1441EB89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Matrix multiplication = stacking linear maps, one after the other</a:t>
            </a:r>
          </a:p>
        </p:txBody>
      </p:sp>
    </p:spTree>
    <p:extLst>
      <p:ext uri="{BB962C8B-B14F-4D97-AF65-F5344CB8AC3E}">
        <p14:creationId xmlns:p14="http://schemas.microsoft.com/office/powerpoint/2010/main" val="32868590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2E4EC54F-82E4-6941-ACDC-595F895B130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DCC7B356-0806-1042-B53C-BF46212653A9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Example 1 — Matrix × Matrix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3E377E67-CAD4-6B46-98DC-5AA422B3AE99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2×2 times 2×2 — the basic case</a:t>
            </a:r>
          </a:p>
        </p:txBody>
      </p:sp>
      <p:sp>
        <p:nvSpPr>
          <p:cNvPr id="5" name="QCard">
            <a:extLst>
              <a:ext uri="{FF2B5EF4-FFF2-40B4-BE49-F238E27FC236}">
                <a16:creationId xmlns:a16="http://schemas.microsoft.com/office/drawing/2014/main" id="{91BED2AE-5040-E246-BED7-6765456B736B}"/>
              </a:ext>
            </a:extLst>
          </p:cNvPr>
          <p:cNvSpPr/>
          <p:nvPr/>
        </p:nvSpPr>
        <p:spPr>
          <a:xfrm>
            <a:off x="381000" y="1270000"/>
            <a:ext cx="11430000" cy="1651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QHdr">
            <a:extLst>
              <a:ext uri="{FF2B5EF4-FFF2-40B4-BE49-F238E27FC236}">
                <a16:creationId xmlns:a16="http://schemas.microsoft.com/office/drawing/2014/main" id="{ED5E13B5-C308-A74E-8426-529744445AFF}"/>
              </a:ext>
            </a:extLst>
          </p:cNvPr>
          <p:cNvSpPr/>
          <p:nvPr/>
        </p:nvSpPr>
        <p:spPr>
          <a:xfrm>
            <a:off x="381000" y="1270000"/>
            <a:ext cx="11430000" cy="406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QHdrT">
            <a:extLst>
              <a:ext uri="{FF2B5EF4-FFF2-40B4-BE49-F238E27FC236}">
                <a16:creationId xmlns:a16="http://schemas.microsoft.com/office/drawing/2014/main" id="{224B71C6-89BF-AC4B-B4E6-3D5F45F1D246}"/>
              </a:ext>
            </a:extLst>
          </p:cNvPr>
          <p:cNvSpPr txBox="1"/>
          <p:nvPr/>
        </p:nvSpPr>
        <p:spPr>
          <a:xfrm>
            <a:off x="558800" y="13335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Question</a:t>
            </a:r>
          </a:p>
        </p:txBody>
      </p:sp>
      <p:sp>
        <p:nvSpPr>
          <p:cNvPr id="8" name="QBody">
            <a:extLst>
              <a:ext uri="{FF2B5EF4-FFF2-40B4-BE49-F238E27FC236}">
                <a16:creationId xmlns:a16="http://schemas.microsoft.com/office/drawing/2014/main" id="{23D4568F-885B-8347-AB8A-21B0EAB574FC}"/>
              </a:ext>
            </a:extLst>
          </p:cNvPr>
          <p:cNvSpPr txBox="1"/>
          <p:nvPr/>
        </p:nvSpPr>
        <p:spPr>
          <a:xfrm>
            <a:off x="558800" y="1803400"/>
            <a:ext cx="11049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>
                <a:solidFill>
                  <a:srgbClr val="333333"/>
                </a:solidFill>
                <a:latin typeface="Cambria Math"/>
                <a:ea typeface="Cambria Math"/>
              </a:rPr>
              <a:t>Compute  A · B  where  A = [[1, 2], [3, 4]]  and  B = [[5, 6], [7, 8]]</a:t>
            </a:r>
          </a:p>
        </p:txBody>
      </p:sp>
      <p:sp>
        <p:nvSpPr>
          <p:cNvPr id="9" name="QBody2">
            <a:extLst>
              <a:ext uri="{FF2B5EF4-FFF2-40B4-BE49-F238E27FC236}">
                <a16:creationId xmlns:a16="http://schemas.microsoft.com/office/drawing/2014/main" id="{D53DE39E-6163-2F43-91CC-FC865EC30FA9}"/>
              </a:ext>
            </a:extLst>
          </p:cNvPr>
          <p:cNvSpPr txBox="1"/>
          <p:nvPr/>
        </p:nvSpPr>
        <p:spPr>
          <a:xfrm>
            <a:off x="558800" y="2387600"/>
            <a:ext cx="11049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Result shape should be 2×2.</a:t>
            </a:r>
          </a:p>
        </p:txBody>
      </p:sp>
      <p:sp>
        <p:nvSpPr>
          <p:cNvPr id="10" name="SCard">
            <a:extLst>
              <a:ext uri="{FF2B5EF4-FFF2-40B4-BE49-F238E27FC236}">
                <a16:creationId xmlns:a16="http://schemas.microsoft.com/office/drawing/2014/main" id="{C61F3094-3E09-C04C-9A30-092C6BA6BC7A}"/>
              </a:ext>
            </a:extLst>
          </p:cNvPr>
          <p:cNvSpPr/>
          <p:nvPr/>
        </p:nvSpPr>
        <p:spPr>
          <a:xfrm>
            <a:off x="381000" y="3111500"/>
            <a:ext cx="11430000" cy="22225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77777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SHdr">
            <a:extLst>
              <a:ext uri="{FF2B5EF4-FFF2-40B4-BE49-F238E27FC236}">
                <a16:creationId xmlns:a16="http://schemas.microsoft.com/office/drawing/2014/main" id="{D608B0EA-38EC-5F4C-A213-8390B7DD4839}"/>
              </a:ext>
            </a:extLst>
          </p:cNvPr>
          <p:cNvSpPr/>
          <p:nvPr/>
        </p:nvSpPr>
        <p:spPr>
          <a:xfrm>
            <a:off x="381000" y="3111500"/>
            <a:ext cx="11430000" cy="3810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SHdrT">
            <a:extLst>
              <a:ext uri="{FF2B5EF4-FFF2-40B4-BE49-F238E27FC236}">
                <a16:creationId xmlns:a16="http://schemas.microsoft.com/office/drawing/2014/main" id="{3C4FF18B-B5D7-324E-A54D-7B62321EE2C5}"/>
              </a:ext>
            </a:extLst>
          </p:cNvPr>
          <p:cNvSpPr txBox="1"/>
          <p:nvPr/>
        </p:nvSpPr>
        <p:spPr>
          <a:xfrm>
            <a:off x="558800" y="31496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Solution (hidden until reveal)</a:t>
            </a:r>
          </a:p>
        </p:txBody>
      </p:sp>
      <p:sp>
        <p:nvSpPr>
          <p:cNvPr id="13" name="S1">
            <a:extLst>
              <a:ext uri="{FF2B5EF4-FFF2-40B4-BE49-F238E27FC236}">
                <a16:creationId xmlns:a16="http://schemas.microsoft.com/office/drawing/2014/main" id="{E88BAFB9-9639-374F-A313-B7173205CD66}"/>
              </a:ext>
            </a:extLst>
          </p:cNvPr>
          <p:cNvSpPr txBox="1"/>
          <p:nvPr/>
        </p:nvSpPr>
        <p:spPr>
          <a:xfrm>
            <a:off x="558800" y="358140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B0B0B0"/>
                </a:solidFill>
                <a:latin typeface="Cambria Math"/>
                <a:ea typeface="Cambria Math"/>
              </a:rPr>
              <a:t>(A·B)₁₁ = 1·5 + 2·7 = 5 + 14 = 19</a:t>
            </a:r>
          </a:p>
        </p:txBody>
      </p:sp>
      <p:sp>
        <p:nvSpPr>
          <p:cNvPr id="14" name="S2">
            <a:extLst>
              <a:ext uri="{FF2B5EF4-FFF2-40B4-BE49-F238E27FC236}">
                <a16:creationId xmlns:a16="http://schemas.microsoft.com/office/drawing/2014/main" id="{9B9F57BA-94F3-E048-AAC8-7F27D6F322D9}"/>
              </a:ext>
            </a:extLst>
          </p:cNvPr>
          <p:cNvSpPr txBox="1"/>
          <p:nvPr/>
        </p:nvSpPr>
        <p:spPr>
          <a:xfrm>
            <a:off x="558800" y="383540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B0B0B0"/>
                </a:solidFill>
                <a:latin typeface="Cambria Math"/>
                <a:ea typeface="Cambria Math"/>
              </a:rPr>
              <a:t>(A·B)₁₂ = 1·6 + 2·8 = 6 + 16 = 22</a:t>
            </a:r>
          </a:p>
        </p:txBody>
      </p:sp>
      <p:sp>
        <p:nvSpPr>
          <p:cNvPr id="15" name="S3">
            <a:extLst>
              <a:ext uri="{FF2B5EF4-FFF2-40B4-BE49-F238E27FC236}">
                <a16:creationId xmlns:a16="http://schemas.microsoft.com/office/drawing/2014/main" id="{2AE6336B-36B9-3248-A540-DDE7F78E3895}"/>
              </a:ext>
            </a:extLst>
          </p:cNvPr>
          <p:cNvSpPr txBox="1"/>
          <p:nvPr/>
        </p:nvSpPr>
        <p:spPr>
          <a:xfrm>
            <a:off x="558800" y="408940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B0B0B0"/>
                </a:solidFill>
                <a:latin typeface="Cambria Math"/>
                <a:ea typeface="Cambria Math"/>
              </a:rPr>
              <a:t>(A·B)₂₁ = 3·5 + 4·7 = 15 + 28 = 43</a:t>
            </a:r>
          </a:p>
        </p:txBody>
      </p:sp>
      <p:sp>
        <p:nvSpPr>
          <p:cNvPr id="16" name="S4">
            <a:extLst>
              <a:ext uri="{FF2B5EF4-FFF2-40B4-BE49-F238E27FC236}">
                <a16:creationId xmlns:a16="http://schemas.microsoft.com/office/drawing/2014/main" id="{4EB96916-702D-6649-9DD8-556510ED8984}"/>
              </a:ext>
            </a:extLst>
          </p:cNvPr>
          <p:cNvSpPr txBox="1"/>
          <p:nvPr/>
        </p:nvSpPr>
        <p:spPr>
          <a:xfrm>
            <a:off x="558800" y="434340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B0B0B0"/>
                </a:solidFill>
                <a:latin typeface="Cambria Math"/>
                <a:ea typeface="Cambria Math"/>
              </a:rPr>
              <a:t>(A·B)₂₂ = 3·6 + 4·8 = 18 + 32 = 50</a:t>
            </a:r>
          </a:p>
        </p:txBody>
      </p:sp>
      <p:sp>
        <p:nvSpPr>
          <p:cNvPr id="17" name="SAns">
            <a:extLst>
              <a:ext uri="{FF2B5EF4-FFF2-40B4-BE49-F238E27FC236}">
                <a16:creationId xmlns:a16="http://schemas.microsoft.com/office/drawing/2014/main" id="{9599CFC0-1964-514D-AD71-2161F49013A8}"/>
              </a:ext>
            </a:extLst>
          </p:cNvPr>
          <p:cNvSpPr txBox="1"/>
          <p:nvPr/>
        </p:nvSpPr>
        <p:spPr>
          <a:xfrm>
            <a:off x="558800" y="4800600"/>
            <a:ext cx="11049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700" b="1">
                <a:solidFill>
                  <a:srgbClr val="4B2E83"/>
                </a:solidFill>
                <a:latin typeface="Cambria Math"/>
                <a:ea typeface="Cambria Math"/>
              </a:rPr>
              <a:t>Answer:   A · B = [[19, 22], [43, 50]]</a:t>
            </a:r>
          </a:p>
        </p:txBody>
      </p:sp>
      <p:sp>
        <p:nvSpPr>
          <p:cNvPr id="18" name="TkBar">
            <a:extLst>
              <a:ext uri="{FF2B5EF4-FFF2-40B4-BE49-F238E27FC236}">
                <a16:creationId xmlns:a16="http://schemas.microsoft.com/office/drawing/2014/main" id="{3423D4C6-3D35-BB43-ABBE-CBA47862A09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2" name="TkText">
            <a:extLst>
              <a:ext uri="{FF2B5EF4-FFF2-40B4-BE49-F238E27FC236}">
                <a16:creationId xmlns:a16="http://schemas.microsoft.com/office/drawing/2014/main" id="{B2FAAA6B-67AE-5041-9C50-ADD431C93977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Every entry of A·B is a dot product of one row of A with one column of B</a:t>
            </a:r>
          </a:p>
        </p:txBody>
      </p:sp>
    </p:spTree>
    <p:extLst>
      <p:ext uri="{BB962C8B-B14F-4D97-AF65-F5344CB8AC3E}">
        <p14:creationId xmlns:p14="http://schemas.microsoft.com/office/powerpoint/2010/main" val="42021773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Bar">
            <a:extLst>
              <a:ext uri="{FF2B5EF4-FFF2-40B4-BE49-F238E27FC236}">
                <a16:creationId xmlns:a16="http://schemas.microsoft.com/office/drawing/2014/main" id="{07160F29-456F-F14D-B59C-15B7FE769268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D9C23005-582E-2B46-8CCB-478A92692A99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Example 2 — Non-commutativity</a:t>
            </a:r>
          </a:p>
        </p:txBody>
      </p:sp>
      <p:sp>
        <p:nvSpPr>
          <p:cNvPr id="21" name="Sub">
            <a:extLst>
              <a:ext uri="{FF2B5EF4-FFF2-40B4-BE49-F238E27FC236}">
                <a16:creationId xmlns:a16="http://schemas.microsoft.com/office/drawing/2014/main" id="{B86C24DA-F6EB-A14E-A8BA-2944FEE2CE5C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Show that A · B ≠ B · A in general</a:t>
            </a:r>
          </a:p>
        </p:txBody>
      </p:sp>
      <p:sp>
        <p:nvSpPr>
          <p:cNvPr id="22" name="QCard">
            <a:extLst>
              <a:ext uri="{FF2B5EF4-FFF2-40B4-BE49-F238E27FC236}">
                <a16:creationId xmlns:a16="http://schemas.microsoft.com/office/drawing/2014/main" id="{89FBEB1F-5859-444A-8F7B-67167D9150D8}"/>
              </a:ext>
            </a:extLst>
          </p:cNvPr>
          <p:cNvSpPr/>
          <p:nvPr/>
        </p:nvSpPr>
        <p:spPr>
          <a:xfrm>
            <a:off x="381000" y="1270000"/>
            <a:ext cx="11430000" cy="1651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QHdr">
            <a:extLst>
              <a:ext uri="{FF2B5EF4-FFF2-40B4-BE49-F238E27FC236}">
                <a16:creationId xmlns:a16="http://schemas.microsoft.com/office/drawing/2014/main" id="{468D19A2-CB0C-7D4D-8458-9B8D4FDCA176}"/>
              </a:ext>
            </a:extLst>
          </p:cNvPr>
          <p:cNvSpPr/>
          <p:nvPr/>
        </p:nvSpPr>
        <p:spPr>
          <a:xfrm>
            <a:off x="381000" y="1270000"/>
            <a:ext cx="11430000" cy="406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QHdrT">
            <a:extLst>
              <a:ext uri="{FF2B5EF4-FFF2-40B4-BE49-F238E27FC236}">
                <a16:creationId xmlns:a16="http://schemas.microsoft.com/office/drawing/2014/main" id="{2D1F48F9-7DE5-AB4C-B093-63FAF90B7F6E}"/>
              </a:ext>
            </a:extLst>
          </p:cNvPr>
          <p:cNvSpPr txBox="1"/>
          <p:nvPr/>
        </p:nvSpPr>
        <p:spPr>
          <a:xfrm>
            <a:off x="558800" y="13335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Question</a:t>
            </a:r>
          </a:p>
        </p:txBody>
      </p:sp>
      <p:sp>
        <p:nvSpPr>
          <p:cNvPr id="25" name="QBody">
            <a:extLst>
              <a:ext uri="{FF2B5EF4-FFF2-40B4-BE49-F238E27FC236}">
                <a16:creationId xmlns:a16="http://schemas.microsoft.com/office/drawing/2014/main" id="{B8C8B7B0-08BB-CD48-8E68-80BD6047802E}"/>
              </a:ext>
            </a:extLst>
          </p:cNvPr>
          <p:cNvSpPr txBox="1"/>
          <p:nvPr/>
        </p:nvSpPr>
        <p:spPr>
          <a:xfrm>
            <a:off x="558800" y="1803400"/>
            <a:ext cx="11049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  <a:latin typeface="Cambria Math"/>
                <a:ea typeface="Cambria Math"/>
              </a:rPr>
              <a:t>Given  A = [[0, 1], [1, 0]]  (a swap matrix)  and  B = [[1, 2], [3, 4]],</a:t>
            </a:r>
          </a:p>
        </p:txBody>
      </p:sp>
      <p:sp>
        <p:nvSpPr>
          <p:cNvPr id="26" name="QBody2">
            <a:extLst>
              <a:ext uri="{FF2B5EF4-FFF2-40B4-BE49-F238E27FC236}">
                <a16:creationId xmlns:a16="http://schemas.microsoft.com/office/drawing/2014/main" id="{04563529-1C6A-F24A-8AF5-8248C3443500}"/>
              </a:ext>
            </a:extLst>
          </p:cNvPr>
          <p:cNvSpPr txBox="1"/>
          <p:nvPr/>
        </p:nvSpPr>
        <p:spPr>
          <a:xfrm>
            <a:off x="558800" y="2260600"/>
            <a:ext cx="11049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 i="1">
                <a:solidFill>
                  <a:srgbClr val="333333"/>
                </a:solidFill>
                <a:latin typeface="Arial"/>
                <a:cs typeface="Arial"/>
              </a:rPr>
              <a:t>compute both A · B and B · A.  Are they equal?</a:t>
            </a:r>
          </a:p>
        </p:txBody>
      </p:sp>
      <p:sp>
        <p:nvSpPr>
          <p:cNvPr id="27" name="SCard">
            <a:extLst>
              <a:ext uri="{FF2B5EF4-FFF2-40B4-BE49-F238E27FC236}">
                <a16:creationId xmlns:a16="http://schemas.microsoft.com/office/drawing/2014/main" id="{9CA99266-6447-6C4F-B962-ACF2EC042C23}"/>
              </a:ext>
            </a:extLst>
          </p:cNvPr>
          <p:cNvSpPr/>
          <p:nvPr/>
        </p:nvSpPr>
        <p:spPr>
          <a:xfrm>
            <a:off x="381000" y="3111500"/>
            <a:ext cx="11430000" cy="22225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77777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SHdr">
            <a:extLst>
              <a:ext uri="{FF2B5EF4-FFF2-40B4-BE49-F238E27FC236}">
                <a16:creationId xmlns:a16="http://schemas.microsoft.com/office/drawing/2014/main" id="{0320B759-65FE-A04D-84FB-EE60026FB976}"/>
              </a:ext>
            </a:extLst>
          </p:cNvPr>
          <p:cNvSpPr/>
          <p:nvPr/>
        </p:nvSpPr>
        <p:spPr>
          <a:xfrm>
            <a:off x="381000" y="3111500"/>
            <a:ext cx="11430000" cy="3810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SHdrT">
            <a:extLst>
              <a:ext uri="{FF2B5EF4-FFF2-40B4-BE49-F238E27FC236}">
                <a16:creationId xmlns:a16="http://schemas.microsoft.com/office/drawing/2014/main" id="{7ED1C6CF-2A20-DC49-9ED0-2BF786BA5671}"/>
              </a:ext>
            </a:extLst>
          </p:cNvPr>
          <p:cNvSpPr txBox="1"/>
          <p:nvPr/>
        </p:nvSpPr>
        <p:spPr>
          <a:xfrm>
            <a:off x="558800" y="31496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Solution (hidden until reveal)</a:t>
            </a:r>
          </a:p>
        </p:txBody>
      </p:sp>
      <p:sp>
        <p:nvSpPr>
          <p:cNvPr id="30" name="S1">
            <a:extLst>
              <a:ext uri="{FF2B5EF4-FFF2-40B4-BE49-F238E27FC236}">
                <a16:creationId xmlns:a16="http://schemas.microsoft.com/office/drawing/2014/main" id="{9F20B070-3F58-2843-A850-1B9A5723B3D0}"/>
              </a:ext>
            </a:extLst>
          </p:cNvPr>
          <p:cNvSpPr txBox="1"/>
          <p:nvPr/>
        </p:nvSpPr>
        <p:spPr>
          <a:xfrm>
            <a:off x="558800" y="35814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B0B0B0"/>
                </a:solidFill>
                <a:latin typeface="Arial"/>
                <a:cs typeface="Arial"/>
              </a:rPr>
              <a:t>A · B  (left-multiplying by swap → swap the ROWS of B):</a:t>
            </a:r>
          </a:p>
        </p:txBody>
      </p:sp>
      <p:sp>
        <p:nvSpPr>
          <p:cNvPr id="31" name="S2">
            <a:extLst>
              <a:ext uri="{FF2B5EF4-FFF2-40B4-BE49-F238E27FC236}">
                <a16:creationId xmlns:a16="http://schemas.microsoft.com/office/drawing/2014/main" id="{66A38F81-A0D7-AC4A-8216-FDF5E28C14B6}"/>
              </a:ext>
            </a:extLst>
          </p:cNvPr>
          <p:cNvSpPr txBox="1"/>
          <p:nvPr/>
        </p:nvSpPr>
        <p:spPr>
          <a:xfrm>
            <a:off x="558800" y="3810000"/>
            <a:ext cx="11049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 b="1">
                <a:solidFill>
                  <a:srgbClr val="B0B0B0"/>
                </a:solidFill>
                <a:latin typeface="Cambria Math"/>
                <a:ea typeface="Cambria Math"/>
              </a:rPr>
              <a:t>A · B = [[3, 4], [1, 2]]</a:t>
            </a:r>
          </a:p>
        </p:txBody>
      </p:sp>
      <p:sp>
        <p:nvSpPr>
          <p:cNvPr id="32" name="S3">
            <a:extLst>
              <a:ext uri="{FF2B5EF4-FFF2-40B4-BE49-F238E27FC236}">
                <a16:creationId xmlns:a16="http://schemas.microsoft.com/office/drawing/2014/main" id="{2AD3D9E6-8034-DA42-A00F-6FDF78185E15}"/>
              </a:ext>
            </a:extLst>
          </p:cNvPr>
          <p:cNvSpPr txBox="1"/>
          <p:nvPr/>
        </p:nvSpPr>
        <p:spPr>
          <a:xfrm>
            <a:off x="558800" y="41275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B0B0B0"/>
                </a:solidFill>
                <a:latin typeface="Arial"/>
                <a:cs typeface="Arial"/>
              </a:rPr>
              <a:t>B · A  (right-multiplying by swap → swap the COLUMNS of B):</a:t>
            </a:r>
          </a:p>
        </p:txBody>
      </p:sp>
      <p:sp>
        <p:nvSpPr>
          <p:cNvPr id="33" name="S4">
            <a:extLst>
              <a:ext uri="{FF2B5EF4-FFF2-40B4-BE49-F238E27FC236}">
                <a16:creationId xmlns:a16="http://schemas.microsoft.com/office/drawing/2014/main" id="{0D753A78-B3B6-AE4E-84E6-F1E01A2ADDCE}"/>
              </a:ext>
            </a:extLst>
          </p:cNvPr>
          <p:cNvSpPr txBox="1"/>
          <p:nvPr/>
        </p:nvSpPr>
        <p:spPr>
          <a:xfrm>
            <a:off x="558800" y="4356100"/>
            <a:ext cx="11049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 b="1">
                <a:solidFill>
                  <a:srgbClr val="B0B0B0"/>
                </a:solidFill>
                <a:latin typeface="Cambria Math"/>
                <a:ea typeface="Cambria Math"/>
              </a:rPr>
              <a:t>B · A = [[2, 1], [4, 3]]</a:t>
            </a:r>
          </a:p>
        </p:txBody>
      </p:sp>
      <p:sp>
        <p:nvSpPr>
          <p:cNvPr id="34" name="SAns">
            <a:extLst>
              <a:ext uri="{FF2B5EF4-FFF2-40B4-BE49-F238E27FC236}">
                <a16:creationId xmlns:a16="http://schemas.microsoft.com/office/drawing/2014/main" id="{CF5A8AB5-2F89-8341-89EA-339D79A269EF}"/>
              </a:ext>
            </a:extLst>
          </p:cNvPr>
          <p:cNvSpPr txBox="1"/>
          <p:nvPr/>
        </p:nvSpPr>
        <p:spPr>
          <a:xfrm>
            <a:off x="558800" y="4800600"/>
            <a:ext cx="11049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4B2E83"/>
                </a:solidFill>
                <a:latin typeface="Arial"/>
                <a:cs typeface="Arial"/>
              </a:rPr>
              <a:t>Conclusion:   A · B ≠ B · A   —  matrix multiplication is NOT commutative.</a:t>
            </a:r>
          </a:p>
        </p:txBody>
      </p:sp>
      <p:sp>
        <p:nvSpPr>
          <p:cNvPr id="35" name="TkBar">
            <a:extLst>
              <a:ext uri="{FF2B5EF4-FFF2-40B4-BE49-F238E27FC236}">
                <a16:creationId xmlns:a16="http://schemas.microsoft.com/office/drawing/2014/main" id="{2D3C0B90-95EE-2A4E-813F-98CD7939A5A7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6" name="TkText">
            <a:extLst>
              <a:ext uri="{FF2B5EF4-FFF2-40B4-BE49-F238E27FC236}">
                <a16:creationId xmlns:a16="http://schemas.microsoft.com/office/drawing/2014/main" id="{59D6CC86-344A-FA40-8FD5-B006F0687474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Order matters: left vs right multiplication produce different results</a:t>
            </a:r>
          </a:p>
        </p:txBody>
      </p:sp>
    </p:spTree>
    <p:extLst>
      <p:ext uri="{BB962C8B-B14F-4D97-AF65-F5344CB8AC3E}">
        <p14:creationId xmlns:p14="http://schemas.microsoft.com/office/powerpoint/2010/main" val="21835515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974AB81E-F1AD-DE49-9CDA-18DE90C1B313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0EDCF251-C06C-3040-9236-D8419B568D4E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100" b="1">
                <a:solidFill>
                  <a:srgbClr val="FFFFFF"/>
                </a:solidFill>
                <a:latin typeface="Arial"/>
                <a:cs typeface="Arial"/>
              </a:rPr>
              <a:t>Example 3 — Composing Two Linear Maps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F132B7ED-2E7D-B841-B148-6F7920DE689B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Stacking transformations in a neural network</a:t>
            </a:r>
          </a:p>
        </p:txBody>
      </p:sp>
      <p:sp>
        <p:nvSpPr>
          <p:cNvPr id="5" name="QCard">
            <a:extLst>
              <a:ext uri="{FF2B5EF4-FFF2-40B4-BE49-F238E27FC236}">
                <a16:creationId xmlns:a16="http://schemas.microsoft.com/office/drawing/2014/main" id="{B6DD6749-DD88-A14A-B465-9E104BC2228A}"/>
              </a:ext>
            </a:extLst>
          </p:cNvPr>
          <p:cNvSpPr/>
          <p:nvPr/>
        </p:nvSpPr>
        <p:spPr>
          <a:xfrm>
            <a:off x="381000" y="1270000"/>
            <a:ext cx="11430000" cy="1651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QHdr">
            <a:extLst>
              <a:ext uri="{FF2B5EF4-FFF2-40B4-BE49-F238E27FC236}">
                <a16:creationId xmlns:a16="http://schemas.microsoft.com/office/drawing/2014/main" id="{2F4CF34C-928F-D940-B757-94D2E19979E9}"/>
              </a:ext>
            </a:extLst>
          </p:cNvPr>
          <p:cNvSpPr/>
          <p:nvPr/>
        </p:nvSpPr>
        <p:spPr>
          <a:xfrm>
            <a:off x="381000" y="1270000"/>
            <a:ext cx="11430000" cy="406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QHdrT">
            <a:extLst>
              <a:ext uri="{FF2B5EF4-FFF2-40B4-BE49-F238E27FC236}">
                <a16:creationId xmlns:a16="http://schemas.microsoft.com/office/drawing/2014/main" id="{4CDCBB5C-93ED-AE40-9A02-D9CB51AE10C1}"/>
              </a:ext>
            </a:extLst>
          </p:cNvPr>
          <p:cNvSpPr txBox="1"/>
          <p:nvPr/>
        </p:nvSpPr>
        <p:spPr>
          <a:xfrm>
            <a:off x="558800" y="13335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Question</a:t>
            </a:r>
          </a:p>
        </p:txBody>
      </p:sp>
      <p:sp>
        <p:nvSpPr>
          <p:cNvPr id="8" name="QBody">
            <a:extLst>
              <a:ext uri="{FF2B5EF4-FFF2-40B4-BE49-F238E27FC236}">
                <a16:creationId xmlns:a16="http://schemas.microsoft.com/office/drawing/2014/main" id="{2272A951-BCE3-4B49-84DF-C6142765D4D2}"/>
              </a:ext>
            </a:extLst>
          </p:cNvPr>
          <p:cNvSpPr txBox="1"/>
          <p:nvPr/>
        </p:nvSpPr>
        <p:spPr>
          <a:xfrm>
            <a:off x="558800" y="18034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Layer 1:  W₁ = [[1, 0], [0, 2]]   (scales y by 2)</a:t>
            </a:r>
          </a:p>
        </p:txBody>
      </p:sp>
      <p:sp>
        <p:nvSpPr>
          <p:cNvPr id="9" name="QBody2">
            <a:extLst>
              <a:ext uri="{FF2B5EF4-FFF2-40B4-BE49-F238E27FC236}">
                <a16:creationId xmlns:a16="http://schemas.microsoft.com/office/drawing/2014/main" id="{C51663FA-C38C-974C-806E-475BAFB84806}"/>
              </a:ext>
            </a:extLst>
          </p:cNvPr>
          <p:cNvSpPr txBox="1"/>
          <p:nvPr/>
        </p:nvSpPr>
        <p:spPr>
          <a:xfrm>
            <a:off x="558800" y="21082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Layer 2:  W₂ = [[1, 1], [-1, 1]]  (rotate-and-scale)</a:t>
            </a:r>
          </a:p>
        </p:txBody>
      </p:sp>
      <p:sp>
        <p:nvSpPr>
          <p:cNvPr id="10" name="QBody3">
            <a:extLst>
              <a:ext uri="{FF2B5EF4-FFF2-40B4-BE49-F238E27FC236}">
                <a16:creationId xmlns:a16="http://schemas.microsoft.com/office/drawing/2014/main" id="{18D940CC-C10E-8642-B393-27DBB25FA7EC}"/>
              </a:ext>
            </a:extLst>
          </p:cNvPr>
          <p:cNvSpPr txBox="1"/>
          <p:nvPr/>
        </p:nvSpPr>
        <p:spPr>
          <a:xfrm>
            <a:off x="558800" y="2463800"/>
            <a:ext cx="11049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i="1">
                <a:solidFill>
                  <a:srgbClr val="333333"/>
                </a:solidFill>
                <a:latin typeface="Arial"/>
                <a:cs typeface="Arial"/>
              </a:rPr>
              <a:t>Find the single matrix W = W₂ · W₁ that performs both layers in one step.</a:t>
            </a:r>
          </a:p>
        </p:txBody>
      </p:sp>
      <p:sp>
        <p:nvSpPr>
          <p:cNvPr id="11" name="SCard">
            <a:extLst>
              <a:ext uri="{FF2B5EF4-FFF2-40B4-BE49-F238E27FC236}">
                <a16:creationId xmlns:a16="http://schemas.microsoft.com/office/drawing/2014/main" id="{BE806587-672F-4641-B11D-780C91AF72C6}"/>
              </a:ext>
            </a:extLst>
          </p:cNvPr>
          <p:cNvSpPr/>
          <p:nvPr/>
        </p:nvSpPr>
        <p:spPr>
          <a:xfrm>
            <a:off x="381000" y="3111500"/>
            <a:ext cx="11430000" cy="22225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77777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SHdr">
            <a:extLst>
              <a:ext uri="{FF2B5EF4-FFF2-40B4-BE49-F238E27FC236}">
                <a16:creationId xmlns:a16="http://schemas.microsoft.com/office/drawing/2014/main" id="{3E2DEA23-B65D-0A4D-8224-4C50FDC1B1E5}"/>
              </a:ext>
            </a:extLst>
          </p:cNvPr>
          <p:cNvSpPr/>
          <p:nvPr/>
        </p:nvSpPr>
        <p:spPr>
          <a:xfrm>
            <a:off x="381000" y="3111500"/>
            <a:ext cx="11430000" cy="3810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SHdrT">
            <a:extLst>
              <a:ext uri="{FF2B5EF4-FFF2-40B4-BE49-F238E27FC236}">
                <a16:creationId xmlns:a16="http://schemas.microsoft.com/office/drawing/2014/main" id="{59EDD236-E635-FE46-8188-7DF45B8DD8D1}"/>
              </a:ext>
            </a:extLst>
          </p:cNvPr>
          <p:cNvSpPr txBox="1"/>
          <p:nvPr/>
        </p:nvSpPr>
        <p:spPr>
          <a:xfrm>
            <a:off x="558800" y="31496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Solution (hidden until reveal)</a:t>
            </a:r>
          </a:p>
        </p:txBody>
      </p:sp>
      <p:sp>
        <p:nvSpPr>
          <p:cNvPr id="14" name="S1">
            <a:extLst>
              <a:ext uri="{FF2B5EF4-FFF2-40B4-BE49-F238E27FC236}">
                <a16:creationId xmlns:a16="http://schemas.microsoft.com/office/drawing/2014/main" id="{EE4C33F3-23FA-BB4A-B0EF-1396D735F137}"/>
              </a:ext>
            </a:extLst>
          </p:cNvPr>
          <p:cNvSpPr txBox="1"/>
          <p:nvPr/>
        </p:nvSpPr>
        <p:spPr>
          <a:xfrm>
            <a:off x="558800" y="35814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B0B0B0"/>
                </a:solidFill>
                <a:latin typeface="Arial"/>
                <a:cs typeface="Arial"/>
              </a:rPr>
              <a:t>W = W₂·W₁  → entry (i,j) = row i of W₂ · col j of W₁</a:t>
            </a:r>
          </a:p>
        </p:txBody>
      </p:sp>
      <p:sp>
        <p:nvSpPr>
          <p:cNvPr id="15" name="S2">
            <a:extLst>
              <a:ext uri="{FF2B5EF4-FFF2-40B4-BE49-F238E27FC236}">
                <a16:creationId xmlns:a16="http://schemas.microsoft.com/office/drawing/2014/main" id="{1C1E01D8-2100-6C49-8601-B464588FE9CC}"/>
              </a:ext>
            </a:extLst>
          </p:cNvPr>
          <p:cNvSpPr txBox="1"/>
          <p:nvPr/>
        </p:nvSpPr>
        <p:spPr>
          <a:xfrm>
            <a:off x="558800" y="383540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B0B0B0"/>
                </a:solidFill>
                <a:latin typeface="Cambria Math"/>
                <a:ea typeface="Cambria Math"/>
              </a:rPr>
              <a:t>(W)₁₁ = 1·1 + 1·0 = 1     (W)₁₂ = 1·0 + 1·2 = 2</a:t>
            </a:r>
          </a:p>
        </p:txBody>
      </p:sp>
      <p:sp>
        <p:nvSpPr>
          <p:cNvPr id="16" name="S3">
            <a:extLst>
              <a:ext uri="{FF2B5EF4-FFF2-40B4-BE49-F238E27FC236}">
                <a16:creationId xmlns:a16="http://schemas.microsoft.com/office/drawing/2014/main" id="{540F3175-C748-8048-A1D2-58450EC39665}"/>
              </a:ext>
            </a:extLst>
          </p:cNvPr>
          <p:cNvSpPr txBox="1"/>
          <p:nvPr/>
        </p:nvSpPr>
        <p:spPr>
          <a:xfrm>
            <a:off x="558800" y="408940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B0B0B0"/>
                </a:solidFill>
                <a:latin typeface="Cambria Math"/>
                <a:ea typeface="Cambria Math"/>
              </a:rPr>
              <a:t>(W)₂₁ = -1·1 + 1·0 = -1   (W)₂₂ = -1·0 + 1·2 = 2</a:t>
            </a:r>
          </a:p>
        </p:txBody>
      </p:sp>
      <p:sp>
        <p:nvSpPr>
          <p:cNvPr id="17" name="S4">
            <a:extLst>
              <a:ext uri="{FF2B5EF4-FFF2-40B4-BE49-F238E27FC236}">
                <a16:creationId xmlns:a16="http://schemas.microsoft.com/office/drawing/2014/main" id="{C0846CBF-447F-8747-8D76-B8CD396B211C}"/>
              </a:ext>
            </a:extLst>
          </p:cNvPr>
          <p:cNvSpPr txBox="1"/>
          <p:nvPr/>
        </p:nvSpPr>
        <p:spPr>
          <a:xfrm>
            <a:off x="558800" y="43942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B0B0B0"/>
                </a:solidFill>
                <a:latin typeface="Arial"/>
                <a:cs typeface="Arial"/>
              </a:rPr>
              <a:t>One composed matrix replaces both layers — same result, faster compute.</a:t>
            </a:r>
          </a:p>
        </p:txBody>
      </p:sp>
      <p:sp>
        <p:nvSpPr>
          <p:cNvPr id="18" name="SAns">
            <a:extLst>
              <a:ext uri="{FF2B5EF4-FFF2-40B4-BE49-F238E27FC236}">
                <a16:creationId xmlns:a16="http://schemas.microsoft.com/office/drawing/2014/main" id="{A9479CF4-2E96-394B-AF0F-B3FB7478879A}"/>
              </a:ext>
            </a:extLst>
          </p:cNvPr>
          <p:cNvSpPr txBox="1"/>
          <p:nvPr/>
        </p:nvSpPr>
        <p:spPr>
          <a:xfrm>
            <a:off x="558800" y="4800600"/>
            <a:ext cx="11049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  <a:latin typeface="Cambria Math"/>
                <a:ea typeface="Cambria Math"/>
              </a:rPr>
              <a:t>Answer:   W = W₂ · W₁ = [[1, 2], [-1, 2]]</a:t>
            </a:r>
          </a:p>
        </p:txBody>
      </p:sp>
      <p:sp>
        <p:nvSpPr>
          <p:cNvPr id="37" name="TkBar">
            <a:extLst>
              <a:ext uri="{FF2B5EF4-FFF2-40B4-BE49-F238E27FC236}">
                <a16:creationId xmlns:a16="http://schemas.microsoft.com/office/drawing/2014/main" id="{AAD47C36-BB62-7F45-88F6-703DAA740B72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8" name="TkText">
            <a:extLst>
              <a:ext uri="{FF2B5EF4-FFF2-40B4-BE49-F238E27FC236}">
                <a16:creationId xmlns:a16="http://schemas.microsoft.com/office/drawing/2014/main" id="{4620BC81-FDB6-E541-AE1E-A8C38DE4DD62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Matrix multiplication = pre-computing a stack of linear layers as one map</a:t>
            </a:r>
          </a:p>
        </p:txBody>
      </p:sp>
    </p:spTree>
    <p:extLst>
      <p:ext uri="{BB962C8B-B14F-4D97-AF65-F5344CB8AC3E}">
        <p14:creationId xmlns:p14="http://schemas.microsoft.com/office/powerpoint/2010/main" val="10036862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Bar">
            <a:extLst>
              <a:ext uri="{FF2B5EF4-FFF2-40B4-BE49-F238E27FC236}">
                <a16:creationId xmlns:a16="http://schemas.microsoft.com/office/drawing/2014/main" id="{7D4A68F0-CEA2-964B-B4EF-926DC646780C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082A003A-0316-3D42-A932-152F70E7FE79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Determinant of a Matrix</a:t>
            </a:r>
          </a:p>
        </p:txBody>
      </p:sp>
      <p:sp>
        <p:nvSpPr>
          <p:cNvPr id="21" name="Sub">
            <a:extLst>
              <a:ext uri="{FF2B5EF4-FFF2-40B4-BE49-F238E27FC236}">
                <a16:creationId xmlns:a16="http://schemas.microsoft.com/office/drawing/2014/main" id="{D971315F-D540-9E45-9233-99AE1CAFABCF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A single number that captures how a matrix scales space and whether it's invertible</a:t>
            </a:r>
          </a:p>
        </p:txBody>
      </p:sp>
      <p:sp>
        <p:nvSpPr>
          <p:cNvPr id="22" name="DefBox">
            <a:extLst>
              <a:ext uri="{FF2B5EF4-FFF2-40B4-BE49-F238E27FC236}">
                <a16:creationId xmlns:a16="http://schemas.microsoft.com/office/drawing/2014/main" id="{0FFB82D7-D65B-B041-9A7F-1F4D9B2E7EE3}"/>
              </a:ext>
            </a:extLst>
          </p:cNvPr>
          <p:cNvSpPr/>
          <p:nvPr/>
        </p:nvSpPr>
        <p:spPr>
          <a:xfrm>
            <a:off x="381000" y="1270000"/>
            <a:ext cx="11430000" cy="1079500"/>
          </a:xfrm>
          <a:prstGeom prst="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DefLbl">
            <a:extLst>
              <a:ext uri="{FF2B5EF4-FFF2-40B4-BE49-F238E27FC236}">
                <a16:creationId xmlns:a16="http://schemas.microsoft.com/office/drawing/2014/main" id="{B49A5281-D44E-8A47-B71F-60C6B41BE4F5}"/>
              </a:ext>
            </a:extLst>
          </p:cNvPr>
          <p:cNvSpPr txBox="1"/>
          <p:nvPr/>
        </p:nvSpPr>
        <p:spPr>
          <a:xfrm>
            <a:off x="558800" y="13716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4B2E83"/>
                </a:solidFill>
                <a:latin typeface="Arial"/>
                <a:cs typeface="Arial"/>
              </a:rPr>
              <a:t>Definition (2×2 case)</a:t>
            </a:r>
          </a:p>
        </p:txBody>
      </p:sp>
      <p:sp>
        <p:nvSpPr>
          <p:cNvPr id="24" name="DefEq">
            <a:extLst>
              <a:ext uri="{FF2B5EF4-FFF2-40B4-BE49-F238E27FC236}">
                <a16:creationId xmlns:a16="http://schemas.microsoft.com/office/drawing/2014/main" id="{95EA1B59-DD29-674C-A0FE-8C6A8082E7FA}"/>
              </a:ext>
            </a:extLst>
          </p:cNvPr>
          <p:cNvSpPr txBox="1"/>
          <p:nvPr/>
        </p:nvSpPr>
        <p:spPr>
          <a:xfrm>
            <a:off x="558800" y="1625600"/>
            <a:ext cx="11049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>
                <a:solidFill>
                  <a:srgbClr val="333333"/>
                </a:solidFill>
                <a:latin typeface="Cambria Math"/>
                <a:ea typeface="Cambria Math"/>
              </a:rPr>
              <a:t>det(A)  =  |A|  =  a·d − b·c     for A = [[a,b],[c,d]]</a:t>
            </a:r>
          </a:p>
        </p:txBody>
      </p:sp>
      <p:sp>
        <p:nvSpPr>
          <p:cNvPr id="25" name="DefNote">
            <a:extLst>
              <a:ext uri="{FF2B5EF4-FFF2-40B4-BE49-F238E27FC236}">
                <a16:creationId xmlns:a16="http://schemas.microsoft.com/office/drawing/2014/main" id="{A2D732EE-C06D-2346-96A4-95D20A3CF5CE}"/>
              </a:ext>
            </a:extLst>
          </p:cNvPr>
          <p:cNvSpPr txBox="1"/>
          <p:nvPr/>
        </p:nvSpPr>
        <p:spPr>
          <a:xfrm>
            <a:off x="558800" y="20066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777777"/>
                </a:solidFill>
                <a:latin typeface="Arial"/>
                <a:cs typeface="Arial"/>
              </a:rPr>
              <a:t>For 3×3 and beyond: cofactor expansion, or det(A) = product of eigenvalues. Defined only for square matrices.</a:t>
            </a:r>
          </a:p>
        </p:txBody>
      </p:sp>
      <p:sp>
        <p:nvSpPr>
          <p:cNvPr id="26" name="Card30">
            <a:extLst>
              <a:ext uri="{FF2B5EF4-FFF2-40B4-BE49-F238E27FC236}">
                <a16:creationId xmlns:a16="http://schemas.microsoft.com/office/drawing/2014/main" id="{C1039994-DDB4-2B48-A0EC-BF3941BBEC3F}"/>
              </a:ext>
            </a:extLst>
          </p:cNvPr>
          <p:cNvSpPr/>
          <p:nvPr/>
        </p:nvSpPr>
        <p:spPr>
          <a:xfrm>
            <a:off x="381000" y="2540000"/>
            <a:ext cx="3683000" cy="2476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CardHdr30">
            <a:extLst>
              <a:ext uri="{FF2B5EF4-FFF2-40B4-BE49-F238E27FC236}">
                <a16:creationId xmlns:a16="http://schemas.microsoft.com/office/drawing/2014/main" id="{5B331BB5-2BFF-5440-8B91-E58B6AD1A192}"/>
              </a:ext>
            </a:extLst>
          </p:cNvPr>
          <p:cNvSpPr/>
          <p:nvPr/>
        </p:nvSpPr>
        <p:spPr>
          <a:xfrm>
            <a:off x="381000" y="2540000"/>
            <a:ext cx="3683000" cy="381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CardTitle30">
            <a:extLst>
              <a:ext uri="{FF2B5EF4-FFF2-40B4-BE49-F238E27FC236}">
                <a16:creationId xmlns:a16="http://schemas.microsoft.com/office/drawing/2014/main" id="{86A09007-63F0-AD48-AE04-D05476BDFC87}"/>
              </a:ext>
            </a:extLst>
          </p:cNvPr>
          <p:cNvSpPr txBox="1"/>
          <p:nvPr/>
        </p:nvSpPr>
        <p:spPr>
          <a:xfrm>
            <a:off x="508000" y="26035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What it measures</a:t>
            </a:r>
          </a:p>
        </p:txBody>
      </p:sp>
      <p:sp>
        <p:nvSpPr>
          <p:cNvPr id="29" name="CardBody30">
            <a:extLst>
              <a:ext uri="{FF2B5EF4-FFF2-40B4-BE49-F238E27FC236}">
                <a16:creationId xmlns:a16="http://schemas.microsoft.com/office/drawing/2014/main" id="{AD84DC58-E6E1-F44D-AC0D-06AFE3277AAA}"/>
              </a:ext>
            </a:extLst>
          </p:cNvPr>
          <p:cNvSpPr txBox="1"/>
          <p:nvPr/>
        </p:nvSpPr>
        <p:spPr>
          <a:xfrm>
            <a:off x="558800" y="3022600"/>
            <a:ext cx="3327400" cy="1892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Signed scaling factor of the transformation A.
|det(A)| = how much A stretches
or shrinks area / volume.
Sign tells if orientation flips.</a:t>
            </a:r>
          </a:p>
        </p:txBody>
      </p:sp>
      <p:sp>
        <p:nvSpPr>
          <p:cNvPr id="30" name="Card335">
            <a:extLst>
              <a:ext uri="{FF2B5EF4-FFF2-40B4-BE49-F238E27FC236}">
                <a16:creationId xmlns:a16="http://schemas.microsoft.com/office/drawing/2014/main" id="{46C00CC5-42C1-6346-8F86-4C9AD817A78A}"/>
              </a:ext>
            </a:extLst>
          </p:cNvPr>
          <p:cNvSpPr/>
          <p:nvPr/>
        </p:nvSpPr>
        <p:spPr>
          <a:xfrm>
            <a:off x="4254500" y="2540000"/>
            <a:ext cx="3683000" cy="2476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CardHdr335">
            <a:extLst>
              <a:ext uri="{FF2B5EF4-FFF2-40B4-BE49-F238E27FC236}">
                <a16:creationId xmlns:a16="http://schemas.microsoft.com/office/drawing/2014/main" id="{8CF084E2-D1B2-9D4C-9047-77ABDBEF1E0C}"/>
              </a:ext>
            </a:extLst>
          </p:cNvPr>
          <p:cNvSpPr/>
          <p:nvPr/>
        </p:nvSpPr>
        <p:spPr>
          <a:xfrm>
            <a:off x="4254500" y="2540000"/>
            <a:ext cx="3683000" cy="3810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CardTitle335">
            <a:extLst>
              <a:ext uri="{FF2B5EF4-FFF2-40B4-BE49-F238E27FC236}">
                <a16:creationId xmlns:a16="http://schemas.microsoft.com/office/drawing/2014/main" id="{AFCCD8F0-DAE1-E54C-B949-C7E042F293F3}"/>
              </a:ext>
            </a:extLst>
          </p:cNvPr>
          <p:cNvSpPr txBox="1"/>
          <p:nvPr/>
        </p:nvSpPr>
        <p:spPr>
          <a:xfrm>
            <a:off x="4381500" y="26035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Geometry</a:t>
            </a:r>
          </a:p>
        </p:txBody>
      </p:sp>
      <p:sp>
        <p:nvSpPr>
          <p:cNvPr id="33" name="CardBody335">
            <a:extLst>
              <a:ext uri="{FF2B5EF4-FFF2-40B4-BE49-F238E27FC236}">
                <a16:creationId xmlns:a16="http://schemas.microsoft.com/office/drawing/2014/main" id="{ECE0B79C-4F08-1647-8117-E5A781701168}"/>
              </a:ext>
            </a:extLst>
          </p:cNvPr>
          <p:cNvSpPr txBox="1"/>
          <p:nvPr/>
        </p:nvSpPr>
        <p:spPr>
          <a:xfrm>
            <a:off x="4432300" y="3022600"/>
            <a:ext cx="3327400" cy="1892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det(A) = area of the parallelogram
spanned by the columns of A.
• det = 0  →  flattened to a line
• det &gt; 0  →  preserves orientation
• det &lt; 0  →  flips orientation</a:t>
            </a:r>
          </a:p>
        </p:txBody>
      </p:sp>
      <p:sp>
        <p:nvSpPr>
          <p:cNvPr id="34" name="Card640">
            <a:extLst>
              <a:ext uri="{FF2B5EF4-FFF2-40B4-BE49-F238E27FC236}">
                <a16:creationId xmlns:a16="http://schemas.microsoft.com/office/drawing/2014/main" id="{5D0AD063-EE5D-2C43-819A-4927A024491E}"/>
              </a:ext>
            </a:extLst>
          </p:cNvPr>
          <p:cNvSpPr/>
          <p:nvPr/>
        </p:nvSpPr>
        <p:spPr>
          <a:xfrm>
            <a:off x="8128000" y="2540000"/>
            <a:ext cx="3683000" cy="2476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CardHdr640">
            <a:extLst>
              <a:ext uri="{FF2B5EF4-FFF2-40B4-BE49-F238E27FC236}">
                <a16:creationId xmlns:a16="http://schemas.microsoft.com/office/drawing/2014/main" id="{39DC911B-F57B-764B-9C89-654D8893A315}"/>
              </a:ext>
            </a:extLst>
          </p:cNvPr>
          <p:cNvSpPr/>
          <p:nvPr/>
        </p:nvSpPr>
        <p:spPr>
          <a:xfrm>
            <a:off x="8128000" y="2540000"/>
            <a:ext cx="3683000" cy="3810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6" name="CardTitle640">
            <a:extLst>
              <a:ext uri="{FF2B5EF4-FFF2-40B4-BE49-F238E27FC236}">
                <a16:creationId xmlns:a16="http://schemas.microsoft.com/office/drawing/2014/main" id="{C443FE56-12B2-034F-9718-EA9FCBCC7658}"/>
              </a:ext>
            </a:extLst>
          </p:cNvPr>
          <p:cNvSpPr txBox="1"/>
          <p:nvPr/>
        </p:nvSpPr>
        <p:spPr>
          <a:xfrm>
            <a:off x="8255000" y="26035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Why it matters</a:t>
            </a:r>
          </a:p>
        </p:txBody>
      </p:sp>
      <p:sp>
        <p:nvSpPr>
          <p:cNvPr id="39" name="CardBody640">
            <a:extLst>
              <a:ext uri="{FF2B5EF4-FFF2-40B4-BE49-F238E27FC236}">
                <a16:creationId xmlns:a16="http://schemas.microsoft.com/office/drawing/2014/main" id="{EEBA60E8-43CC-F04B-8C94-915A264EDAAA}"/>
              </a:ext>
            </a:extLst>
          </p:cNvPr>
          <p:cNvSpPr txBox="1"/>
          <p:nvPr/>
        </p:nvSpPr>
        <p:spPr>
          <a:xfrm>
            <a:off x="8305800" y="3022600"/>
            <a:ext cx="3327400" cy="1892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• Invertible iff det(A) ≠ 0
• Solves Ax=b via Cramer's rule
• Change-of-variables in integration
• Volume in geometry &amp; physics
• Stability checks in dynamics</a:t>
            </a:r>
          </a:p>
        </p:txBody>
      </p:sp>
      <p:sp>
        <p:nvSpPr>
          <p:cNvPr id="40" name="FormStrip">
            <a:extLst>
              <a:ext uri="{FF2B5EF4-FFF2-40B4-BE49-F238E27FC236}">
                <a16:creationId xmlns:a16="http://schemas.microsoft.com/office/drawing/2014/main" id="{A0955F70-72F5-7344-8288-6E66B2ABA854}"/>
              </a:ext>
            </a:extLst>
          </p:cNvPr>
          <p:cNvSpPr/>
          <p:nvPr/>
        </p:nvSpPr>
        <p:spPr>
          <a:xfrm>
            <a:off x="381000" y="5143500"/>
            <a:ext cx="11430000" cy="4826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1" name="FormStripT">
            <a:extLst>
              <a:ext uri="{FF2B5EF4-FFF2-40B4-BE49-F238E27FC236}">
                <a16:creationId xmlns:a16="http://schemas.microsoft.com/office/drawing/2014/main" id="{9291372E-2569-2646-A900-7D3311415B53}"/>
              </a:ext>
            </a:extLst>
          </p:cNvPr>
          <p:cNvSpPr txBox="1"/>
          <p:nvPr/>
        </p:nvSpPr>
        <p:spPr>
          <a:xfrm>
            <a:off x="558800" y="5207000"/>
            <a:ext cx="11049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Cambria Math"/>
                <a:ea typeface="Cambria Math"/>
              </a:rPr>
              <a:t>Key facts:   det(I) = 1   ·   det(A·B) = det(A)·det(B)   ·   det(A) = 0  ⇔  A is singular</a:t>
            </a:r>
          </a:p>
        </p:txBody>
      </p:sp>
      <p:sp>
        <p:nvSpPr>
          <p:cNvPr id="42" name="TkBar">
            <a:extLst>
              <a:ext uri="{FF2B5EF4-FFF2-40B4-BE49-F238E27FC236}">
                <a16:creationId xmlns:a16="http://schemas.microsoft.com/office/drawing/2014/main" id="{AB9EB079-94F5-B140-A814-E19A380C8678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3" name="TkText">
            <a:extLst>
              <a:ext uri="{FF2B5EF4-FFF2-40B4-BE49-F238E27FC236}">
                <a16:creationId xmlns:a16="http://schemas.microsoft.com/office/drawing/2014/main" id="{9AFB8B9A-967C-8E4E-BCEF-F3BE266EA290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The determinant compresses an entire transformation into one number — area, sign, invertibility</a:t>
            </a:r>
          </a:p>
        </p:txBody>
      </p:sp>
    </p:spTree>
    <p:extLst>
      <p:ext uri="{BB962C8B-B14F-4D97-AF65-F5344CB8AC3E}">
        <p14:creationId xmlns:p14="http://schemas.microsoft.com/office/powerpoint/2010/main" val="38504964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The Determinant Is a Signed Area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For a 2×2 matrix, det(A) is the area of the parallelogram spanned by its columns.</a:t>
            </a:r>
          </a:p>
        </p:txBody>
      </p:sp>
      <p:sp>
        <p:nvSpPr>
          <p:cNvPr id="23" name="LeftPanel">
            <a:extLst>
              <a:ext uri="{FF2B5EF4-FFF2-40B4-BE49-F238E27FC236}">
                <a16:creationId xmlns:a16="http://schemas.microsoft.com/office/drawing/2014/main" id="{F60EC4CB-8B1F-A349-90BA-7CEB226E574C}"/>
              </a:ext>
            </a:extLst>
          </p:cNvPr>
          <p:cNvSpPr/>
          <p:nvPr/>
        </p:nvSpPr>
        <p:spPr>
          <a:xfrm>
            <a:off x="381000" y="1574800"/>
            <a:ext cx="5207000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LeftHdr">
            <a:extLst>
              <a:ext uri="{FF2B5EF4-FFF2-40B4-BE49-F238E27FC236}">
                <a16:creationId xmlns:a16="http://schemas.microsoft.com/office/drawing/2014/main" id="{7197A726-B731-8C4D-9B4C-43EF6621615F}"/>
              </a:ext>
            </a:extLst>
          </p:cNvPr>
          <p:cNvSpPr txBox="1"/>
          <p:nvPr/>
        </p:nvSpPr>
        <p:spPr>
          <a:xfrm>
            <a:off x="558800" y="1371600"/>
            <a:ext cx="48514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Columns of A span a parallelogram</a:t>
            </a:r>
          </a:p>
        </p:txBody>
      </p:sp>
      <p:sp>
        <p:nvSpPr>
          <p:cNvPr id="95" name="RightPanel">
            <a:extLst>
              <a:ext uri="{FF2B5EF4-FFF2-40B4-BE49-F238E27FC236}">
                <a16:creationId xmlns:a16="http://schemas.microsoft.com/office/drawing/2014/main" id="{7C82CEA4-01F9-364D-881C-D6D309EB39EA}"/>
              </a:ext>
            </a:extLst>
          </p:cNvPr>
          <p:cNvSpPr/>
          <p:nvPr/>
        </p:nvSpPr>
        <p:spPr>
          <a:xfrm>
            <a:off x="6413500" y="1574800"/>
            <a:ext cx="5445327" cy="4318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6" name="RightHdr">
            <a:extLst>
              <a:ext uri="{FF2B5EF4-FFF2-40B4-BE49-F238E27FC236}">
                <a16:creationId xmlns:a16="http://schemas.microsoft.com/office/drawing/2014/main" id="{8528F78C-5C70-0E46-B67A-0A17C6DBF5FF}"/>
              </a:ext>
            </a:extLst>
          </p:cNvPr>
          <p:cNvSpPr txBox="1"/>
          <p:nvPr/>
        </p:nvSpPr>
        <p:spPr>
          <a:xfrm>
            <a:off x="7099300" y="1371600"/>
            <a:ext cx="46228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Compute and interpret det(A)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det(A) measures how A scales area — and its sign tells you whether orientation flips.</a:t>
            </a:r>
          </a:p>
        </p:txBody>
      </p:sp>
      <p:sp>
        <p:nvSpPr>
          <p:cNvPr id="390" name="GLbl"/>
          <p:cNvSpPr/>
          <p:nvPr/>
        </p:nvSpPr>
        <p:spPr>
          <a:xfrm>
            <a:off x="508000" y="1879600"/>
            <a:ext cx="3556000" cy="2286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Parallelogram from a₁=(3,1), a₂=(1,2)</a:t>
            </a:r>
          </a:p>
        </p:txBody>
      </p:sp>
      <p:sp>
        <p:nvSpPr>
          <p:cNvPr id="600" name="GL"/>
          <p:cNvSpPr/>
          <p:nvPr/>
        </p:nvSpPr>
        <p:spPr>
          <a:xfrm>
            <a:off x="1206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1" name="GL"/>
          <p:cNvSpPr/>
          <p:nvPr/>
        </p:nvSpPr>
        <p:spPr>
          <a:xfrm>
            <a:off x="1689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2" name="GL"/>
          <p:cNvSpPr/>
          <p:nvPr/>
        </p:nvSpPr>
        <p:spPr>
          <a:xfrm>
            <a:off x="21717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3" name="GL"/>
          <p:cNvSpPr/>
          <p:nvPr/>
        </p:nvSpPr>
        <p:spPr>
          <a:xfrm>
            <a:off x="26543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4" name="GL"/>
          <p:cNvSpPr/>
          <p:nvPr/>
        </p:nvSpPr>
        <p:spPr>
          <a:xfrm>
            <a:off x="31369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5" name="GL"/>
          <p:cNvSpPr/>
          <p:nvPr/>
        </p:nvSpPr>
        <p:spPr>
          <a:xfrm>
            <a:off x="36195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6" name="GL"/>
          <p:cNvSpPr/>
          <p:nvPr/>
        </p:nvSpPr>
        <p:spPr>
          <a:xfrm>
            <a:off x="4102100" y="2209800"/>
            <a:ext cx="10160" cy="289560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7" name="GL"/>
          <p:cNvSpPr/>
          <p:nvPr/>
        </p:nvSpPr>
        <p:spPr>
          <a:xfrm>
            <a:off x="1206500" y="5105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8" name="GL"/>
          <p:cNvSpPr/>
          <p:nvPr/>
        </p:nvSpPr>
        <p:spPr>
          <a:xfrm>
            <a:off x="1206500" y="4622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9" name="GL"/>
          <p:cNvSpPr/>
          <p:nvPr/>
        </p:nvSpPr>
        <p:spPr>
          <a:xfrm>
            <a:off x="1206500" y="41402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0" name="GL"/>
          <p:cNvSpPr/>
          <p:nvPr/>
        </p:nvSpPr>
        <p:spPr>
          <a:xfrm>
            <a:off x="1206500" y="36576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1" name="GL"/>
          <p:cNvSpPr/>
          <p:nvPr/>
        </p:nvSpPr>
        <p:spPr>
          <a:xfrm>
            <a:off x="1206500" y="31750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2" name="GL"/>
          <p:cNvSpPr/>
          <p:nvPr/>
        </p:nvSpPr>
        <p:spPr>
          <a:xfrm>
            <a:off x="1206500" y="26924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3" name="GL"/>
          <p:cNvSpPr/>
          <p:nvPr/>
        </p:nvSpPr>
        <p:spPr>
          <a:xfrm>
            <a:off x="1206500" y="2209800"/>
            <a:ext cx="2895600" cy="10160"/>
          </a:xfrm>
          <a:prstGeom prst="rect">
            <a:avLst/>
          </a:prstGeom>
          <a:solidFill>
            <a:srgbClr val="DDD7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4" name="GL"/>
          <p:cNvSpPr/>
          <p:nvPr/>
        </p:nvSpPr>
        <p:spPr>
          <a:xfrm>
            <a:off x="1206500" y="5105400"/>
            <a:ext cx="2895600" cy="1905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5" name="GL"/>
          <p:cNvSpPr/>
          <p:nvPr/>
        </p:nvSpPr>
        <p:spPr>
          <a:xfrm>
            <a:off x="1206500" y="2209800"/>
            <a:ext cx="19050" cy="2895600"/>
          </a:xfrm>
          <a:prstGeom prst="rect">
            <a:avLst/>
          </a:prstGeom>
          <a:solidFill>
            <a:srgbClr val="7A7A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6" name="GLbl"/>
          <p:cNvSpPr/>
          <p:nvPr/>
        </p:nvSpPr>
        <p:spPr>
          <a:xfrm>
            <a:off x="1104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0</a:t>
            </a:r>
          </a:p>
        </p:txBody>
      </p:sp>
      <p:sp>
        <p:nvSpPr>
          <p:cNvPr id="617" name="GLbl"/>
          <p:cNvSpPr/>
          <p:nvPr/>
        </p:nvSpPr>
        <p:spPr>
          <a:xfrm>
            <a:off x="1587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18" name="GLbl"/>
          <p:cNvSpPr/>
          <p:nvPr/>
        </p:nvSpPr>
        <p:spPr>
          <a:xfrm>
            <a:off x="20701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19" name="GLbl"/>
          <p:cNvSpPr/>
          <p:nvPr/>
        </p:nvSpPr>
        <p:spPr>
          <a:xfrm>
            <a:off x="25527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20" name="GLbl"/>
          <p:cNvSpPr/>
          <p:nvPr/>
        </p:nvSpPr>
        <p:spPr>
          <a:xfrm>
            <a:off x="30353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21" name="GLbl"/>
          <p:cNvSpPr/>
          <p:nvPr/>
        </p:nvSpPr>
        <p:spPr>
          <a:xfrm>
            <a:off x="35179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22" name="GLbl"/>
          <p:cNvSpPr/>
          <p:nvPr/>
        </p:nvSpPr>
        <p:spPr>
          <a:xfrm>
            <a:off x="4000500" y="5168900"/>
            <a:ext cx="2032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23" name="GLbl"/>
          <p:cNvSpPr/>
          <p:nvPr/>
        </p:nvSpPr>
        <p:spPr>
          <a:xfrm>
            <a:off x="977900" y="4546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1</a:t>
            </a:r>
          </a:p>
        </p:txBody>
      </p:sp>
      <p:sp>
        <p:nvSpPr>
          <p:cNvPr id="624" name="GLbl"/>
          <p:cNvSpPr/>
          <p:nvPr/>
        </p:nvSpPr>
        <p:spPr>
          <a:xfrm>
            <a:off x="977900" y="40640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625" name="GLbl"/>
          <p:cNvSpPr/>
          <p:nvPr/>
        </p:nvSpPr>
        <p:spPr>
          <a:xfrm>
            <a:off x="977900" y="35814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26" name="GLbl"/>
          <p:cNvSpPr/>
          <p:nvPr/>
        </p:nvSpPr>
        <p:spPr>
          <a:xfrm>
            <a:off x="977900" y="30988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627" name="GLbl"/>
          <p:cNvSpPr/>
          <p:nvPr/>
        </p:nvSpPr>
        <p:spPr>
          <a:xfrm>
            <a:off x="977900" y="26162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628" name="GLbl"/>
          <p:cNvSpPr/>
          <p:nvPr/>
        </p:nvSpPr>
        <p:spPr>
          <a:xfrm>
            <a:off x="977900" y="2133600"/>
            <a:ext cx="165100" cy="1397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900" dirty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629" name="GLbl"/>
          <p:cNvSpPr/>
          <p:nvPr/>
        </p:nvSpPr>
        <p:spPr>
          <a:xfrm>
            <a:off x="4178300" y="50165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000" dirty="0">
                <a:solidFill>
                  <a:srgbClr val="7A7A7A"/>
                </a:solidFill>
                <a:latin typeface="Calibri"/>
              </a:rPr>
              <a:t>x</a:t>
            </a:r>
          </a:p>
        </p:txBody>
      </p:sp>
      <p:sp>
        <p:nvSpPr>
          <p:cNvPr id="630" name="GLbl"/>
          <p:cNvSpPr/>
          <p:nvPr/>
        </p:nvSpPr>
        <p:spPr>
          <a:xfrm>
            <a:off x="1104900" y="2019300"/>
            <a:ext cx="177800" cy="152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en-US" sz="1000" dirty="0">
                <a:solidFill>
                  <a:srgbClr val="7A7A7A"/>
                </a:solidFill>
                <a:latin typeface="Calibri"/>
              </a:rPr>
              <a:t>y</a:t>
            </a:r>
          </a:p>
        </p:txBody>
      </p:sp>
      <p:sp>
        <p:nvSpPr>
          <p:cNvPr id="4000" name="pgram"/>
          <p:cNvSpPr/>
          <p:nvPr/>
        </p:nvSpPr>
        <p:spPr>
          <a:xfrm>
            <a:off x="1206500" y="3657600"/>
            <a:ext cx="1930400" cy="1447800"/>
          </a:xfrm>
          <a:custGeom>
            <a:avLst/>
            <a:gdLst/>
            <a:ahLst/>
            <a:cxnLst/>
            <a:rect l="0" t="0" r="0" b="0"/>
            <a:pathLst>
              <a:path w="1930400" h="1447800">
                <a:moveTo>
                  <a:pt x="0" y="1447800"/>
                </a:moveTo>
                <a:lnTo>
                  <a:pt x="1447800" y="965200"/>
                </a:lnTo>
                <a:lnTo>
                  <a:pt x="1930400" y="0"/>
                </a:lnTo>
                <a:lnTo>
                  <a:pt x="482600" y="482600"/>
                </a:lnTo>
                <a:close/>
              </a:path>
            </a:pathLst>
          </a:custGeom>
          <a:solidFill>
            <a:srgbClr val="4B2E83">
              <a:alpha val="20000"/>
            </a:srgbClr>
          </a:solidFill>
          <a:ln w="9525">
            <a:solidFill>
              <a:srgbClr val="7A5BA8"/>
            </a:solidFill>
          </a:ln>
        </p:spPr>
        <p:txBody>
          <a:bodyPr/>
          <a:lstStyle/>
          <a:p>
            <a:endParaRPr lang="en-US"/>
          </a:p>
        </p:txBody>
      </p:sp>
      <p:cxnSp>
        <p:nvCxnSpPr>
          <p:cNvPr id="4001" name="v"/>
          <p:cNvCxnSpPr/>
          <p:nvPr/>
        </p:nvCxnSpPr>
        <p:spPr>
          <a:xfrm flipV="1">
            <a:off x="2654300" y="3657600"/>
            <a:ext cx="482600" cy="965200"/>
          </a:xfrm>
          <a:prstGeom prst="line">
            <a:avLst/>
          </a:prstGeom>
          <a:ln w="15875" cap="rnd">
            <a:solidFill>
              <a:srgbClr val="7A5BA8"/>
            </a:solidFill>
          </a:ln>
        </p:spPr>
      </p:cxnSp>
      <p:cxnSp>
        <p:nvCxnSpPr>
          <p:cNvPr id="4002" name="v"/>
          <p:cNvCxnSpPr/>
          <p:nvPr/>
        </p:nvCxnSpPr>
        <p:spPr>
          <a:xfrm flipV="1">
            <a:off x="1689100" y="3657600"/>
            <a:ext cx="1447800" cy="482600"/>
          </a:xfrm>
          <a:prstGeom prst="line">
            <a:avLst/>
          </a:prstGeom>
          <a:ln w="15875" cap="rnd">
            <a:solidFill>
              <a:srgbClr val="7A5BA8"/>
            </a:solidFill>
          </a:ln>
        </p:spPr>
      </p:cxnSp>
      <p:cxnSp>
        <p:nvCxnSpPr>
          <p:cNvPr id="4003" name="v"/>
          <p:cNvCxnSpPr/>
          <p:nvPr/>
        </p:nvCxnSpPr>
        <p:spPr>
          <a:xfrm flipV="1">
            <a:off x="1206500" y="4622800"/>
            <a:ext cx="1447800" cy="482600"/>
          </a:xfrm>
          <a:prstGeom prst="line">
            <a:avLst/>
          </a:prstGeom>
          <a:ln w="38100" cap="rnd">
            <a:solidFill>
              <a:srgbClr val="4B2E83"/>
            </a:solidFill>
            <a:tailEnd type="triangle" w="med" len="med"/>
          </a:ln>
        </p:spPr>
      </p:cxnSp>
      <p:cxnSp>
        <p:nvCxnSpPr>
          <p:cNvPr id="4004" name="v"/>
          <p:cNvCxnSpPr/>
          <p:nvPr/>
        </p:nvCxnSpPr>
        <p:spPr>
          <a:xfrm flipV="1">
            <a:off x="1206500" y="4140200"/>
            <a:ext cx="482600" cy="965200"/>
          </a:xfrm>
          <a:prstGeom prst="line">
            <a:avLst/>
          </a:prstGeom>
          <a:ln w="38100" cap="rnd">
            <a:solidFill>
              <a:srgbClr val="00A7B5"/>
            </a:solidFill>
            <a:tailEnd type="triangle" w="med" len="med"/>
          </a:ln>
        </p:spPr>
      </p:cxnSp>
      <p:sp>
        <p:nvSpPr>
          <p:cNvPr id="4005" name="tb"/>
          <p:cNvSpPr txBox="1"/>
          <p:nvPr/>
        </p:nvSpPr>
        <p:spPr>
          <a:xfrm>
            <a:off x="2705100" y="4445000"/>
            <a:ext cx="1143000" cy="2032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en-US" sz="1200" b="1" dirty="0">
                <a:solidFill>
                  <a:srgbClr val="4B2E83"/>
                </a:solidFill>
              </a:rPr>
              <a:t>a₁=(3,1)</a:t>
            </a:r>
          </a:p>
        </p:txBody>
      </p:sp>
      <p:sp>
        <p:nvSpPr>
          <p:cNvPr id="4006" name="tb"/>
          <p:cNvSpPr txBox="1"/>
          <p:nvPr/>
        </p:nvSpPr>
        <p:spPr>
          <a:xfrm>
            <a:off x="1041400" y="3810000"/>
            <a:ext cx="1016000" cy="2032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en-US" sz="1200" b="1" dirty="0">
                <a:solidFill>
                  <a:srgbClr val="00A7B5"/>
                </a:solidFill>
              </a:rPr>
              <a:t>a₂=(1,2)</a:t>
            </a:r>
          </a:p>
        </p:txBody>
      </p:sp>
      <p:sp>
        <p:nvSpPr>
          <p:cNvPr id="4007" name="tb"/>
          <p:cNvSpPr txBox="1"/>
          <p:nvPr/>
        </p:nvSpPr>
        <p:spPr>
          <a:xfrm>
            <a:off x="1752600" y="424180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lang="en-US" sz="1300" b="1" dirty="0">
                <a:solidFill>
                  <a:srgbClr val="3A2566"/>
                </a:solidFill>
              </a:rPr>
              <a:t>Area = 5</a:t>
            </a:r>
          </a:p>
        </p:txBody>
      </p:sp>
      <p:sp>
        <p:nvSpPr>
          <p:cNvPr id="4008" name="tb"/>
          <p:cNvSpPr txBox="1"/>
          <p:nvPr/>
        </p:nvSpPr>
        <p:spPr>
          <a:xfrm>
            <a:off x="6705600" y="2006600"/>
            <a:ext cx="5054600" cy="3683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spcBef>
                <a:spcPts val="600"/>
              </a:spcBef>
            </a:pPr>
            <a:r>
              <a:rPr lang="en-US" sz="1700" b="1" dirty="0">
                <a:solidFill>
                  <a:srgbClr val="333333"/>
                </a:solidFill>
              </a:rPr>
              <a:t>A = ( 3, 1 ; 1, 2 )</a:t>
            </a:r>
          </a:p>
          <a:p>
            <a:pPr>
              <a:spcBef>
                <a:spcPts val="200"/>
              </a:spcBef>
            </a:pPr>
            <a:r>
              <a:rPr lang="en-US" sz="1400" dirty="0">
                <a:solidFill>
                  <a:srgbClr val="595959"/>
                </a:solidFill>
              </a:rPr>
              <a:t>columns  a₁ = (3,1),  a₂ = (1,2)</a:t>
            </a:r>
          </a:p>
          <a:p>
            <a:pPr>
              <a:spcBef>
                <a:spcPts val="600"/>
              </a:spcBef>
            </a:pPr>
            <a:r>
              <a:rPr lang="en-US" sz="1600" b="1" dirty="0">
                <a:solidFill>
                  <a:srgbClr val="4B2E83"/>
                </a:solidFill>
              </a:rPr>
              <a:t>det(A) = ad − bc</a:t>
            </a:r>
          </a:p>
          <a:p>
            <a:pPr>
              <a:spcBef>
                <a:spcPts val="200"/>
              </a:spcBef>
            </a:pPr>
            <a:r>
              <a:rPr lang="en-US" sz="1600" b="1" dirty="0">
                <a:solidFill>
                  <a:srgbClr val="4B2E83"/>
                </a:solidFill>
              </a:rPr>
              <a:t>= (3)(2) − (1)(1) = 5</a:t>
            </a:r>
          </a:p>
          <a:p>
            <a:pPr>
              <a:spcBef>
                <a:spcPts val="600"/>
              </a:spcBef>
            </a:pPr>
            <a:r>
              <a:rPr lang="en-US" sz="1450" b="1" dirty="0">
                <a:solidFill>
                  <a:srgbClr val="5C8A2E"/>
                </a:solidFill>
              </a:rPr>
              <a:t>|det(A)| = area = 5 square units</a:t>
            </a:r>
          </a:p>
          <a:p>
            <a:pPr marL="228600" indent="-228600">
              <a:spcBef>
                <a:spcPts val="700"/>
              </a:spcBef>
              <a:buFont typeface="Arial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Sign → orientation: + keeps it, − flips it</a:t>
            </a:r>
          </a:p>
          <a:p>
            <a:pPr marL="228600" indent="-228600">
              <a:spcBef>
                <a:spcPts val="700"/>
              </a:spcBef>
              <a:buFont typeface="Arial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det = 0 → columns line up, area collapses to 0</a:t>
            </a:r>
          </a:p>
          <a:p>
            <a:pPr marL="228600" indent="-228600">
              <a:spcBef>
                <a:spcPts val="700"/>
              </a:spcBef>
              <a:buFont typeface="Arial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|det| → the factor by which A scales area</a:t>
            </a:r>
          </a:p>
        </p:txBody>
      </p:sp>
    </p:spTree>
    <p:extLst>
      <p:ext uri="{BB962C8B-B14F-4D97-AF65-F5344CB8AC3E}">
        <p14:creationId xmlns:p14="http://schemas.microsoft.com/office/powerpoint/2010/main" val="13995736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Properties of the Determinant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Key rules that make determinants easy to compute and reason about.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These properties turn the determinant into a fast test for invertibility and a tracker of area.</a:t>
            </a:r>
          </a:p>
        </p:txBody>
      </p:sp>
      <p:sp>
        <p:nvSpPr>
          <p:cNvPr id="5000" name="card"/>
          <p:cNvSpPr/>
          <p:nvPr/>
        </p:nvSpPr>
        <p:spPr>
          <a:xfrm>
            <a:off x="304800" y="1270000"/>
            <a:ext cx="5651500" cy="1371600"/>
          </a:xfrm>
          <a:prstGeom prst="roundRect">
            <a:avLst>
              <a:gd name="adj" fmla="val 6000"/>
            </a:avLst>
          </a:prstGeom>
          <a:solidFill>
            <a:srgbClr val="F5F0EB"/>
          </a:solidFill>
          <a:ln w="9525">
            <a:solidFill>
              <a:srgbClr val="E2DA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001" name="bar"/>
          <p:cNvSpPr/>
          <p:nvPr/>
        </p:nvSpPr>
        <p:spPr>
          <a:xfrm>
            <a:off x="304800" y="1270000"/>
            <a:ext cx="88900" cy="13716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02" name="tb"/>
          <p:cNvSpPr txBox="1"/>
          <p:nvPr/>
        </p:nvSpPr>
        <p:spPr>
          <a:xfrm>
            <a:off x="635000" y="1524000"/>
            <a:ext cx="5092700" cy="4318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800" b="1" dirty="0">
                <a:solidFill>
                  <a:srgbClr val="4B2E83"/>
                </a:solidFill>
              </a:rPr>
              <a:t>det(I) = 1</a:t>
            </a:r>
          </a:p>
        </p:txBody>
      </p:sp>
      <p:sp>
        <p:nvSpPr>
          <p:cNvPr id="5003" name="tb"/>
          <p:cNvSpPr txBox="1"/>
          <p:nvPr/>
        </p:nvSpPr>
        <p:spPr>
          <a:xfrm>
            <a:off x="635000" y="2057400"/>
            <a:ext cx="5041900" cy="508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400" dirty="0">
                <a:solidFill>
                  <a:srgbClr val="5E5E5E"/>
                </a:solidFill>
              </a:rPr>
              <a:t>The identity transformation leaves every area unchanged.</a:t>
            </a:r>
          </a:p>
        </p:txBody>
      </p:sp>
      <p:sp>
        <p:nvSpPr>
          <p:cNvPr id="5004" name="card"/>
          <p:cNvSpPr/>
          <p:nvPr/>
        </p:nvSpPr>
        <p:spPr>
          <a:xfrm>
            <a:off x="6235700" y="1270000"/>
            <a:ext cx="5651500" cy="1371600"/>
          </a:xfrm>
          <a:prstGeom prst="roundRect">
            <a:avLst>
              <a:gd name="adj" fmla="val 6000"/>
            </a:avLst>
          </a:prstGeom>
          <a:solidFill>
            <a:srgbClr val="F5F0EB"/>
          </a:solidFill>
          <a:ln w="9525">
            <a:solidFill>
              <a:srgbClr val="E2DA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005" name="bar"/>
          <p:cNvSpPr/>
          <p:nvPr/>
        </p:nvSpPr>
        <p:spPr>
          <a:xfrm>
            <a:off x="6235700" y="1270000"/>
            <a:ext cx="88900" cy="1371600"/>
          </a:xfrm>
          <a:prstGeom prst="rect">
            <a:avLst/>
          </a:prstGeom>
          <a:solidFill>
            <a:srgbClr val="00A7B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06" name="tb"/>
          <p:cNvSpPr txBox="1"/>
          <p:nvPr/>
        </p:nvSpPr>
        <p:spPr>
          <a:xfrm>
            <a:off x="6565900" y="1524000"/>
            <a:ext cx="5092700" cy="4318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800" b="1" dirty="0">
                <a:solidFill>
                  <a:srgbClr val="4B2E83"/>
                </a:solidFill>
              </a:rPr>
              <a:t>det(AB) = det(A) · det(B)</a:t>
            </a:r>
          </a:p>
        </p:txBody>
      </p:sp>
      <p:sp>
        <p:nvSpPr>
          <p:cNvPr id="5007" name="tb"/>
          <p:cNvSpPr txBox="1"/>
          <p:nvPr/>
        </p:nvSpPr>
        <p:spPr>
          <a:xfrm>
            <a:off x="6565900" y="2057400"/>
            <a:ext cx="5041900" cy="508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400" dirty="0">
                <a:solidFill>
                  <a:srgbClr val="5E5E5E"/>
                </a:solidFill>
              </a:rPr>
              <a:t>The determinant of a product is the product of the determinants.</a:t>
            </a:r>
          </a:p>
        </p:txBody>
      </p:sp>
      <p:sp>
        <p:nvSpPr>
          <p:cNvPr id="5008" name="card"/>
          <p:cNvSpPr/>
          <p:nvPr/>
        </p:nvSpPr>
        <p:spPr>
          <a:xfrm>
            <a:off x="304800" y="2794000"/>
            <a:ext cx="5651500" cy="1371600"/>
          </a:xfrm>
          <a:prstGeom prst="roundRect">
            <a:avLst>
              <a:gd name="adj" fmla="val 6000"/>
            </a:avLst>
          </a:prstGeom>
          <a:solidFill>
            <a:srgbClr val="F5F0EB"/>
          </a:solidFill>
          <a:ln w="9525">
            <a:solidFill>
              <a:srgbClr val="E2DA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009" name="bar"/>
          <p:cNvSpPr/>
          <p:nvPr/>
        </p:nvSpPr>
        <p:spPr>
          <a:xfrm>
            <a:off x="304800" y="2794000"/>
            <a:ext cx="88900" cy="1371600"/>
          </a:xfrm>
          <a:prstGeom prst="rect">
            <a:avLst/>
          </a:prstGeom>
          <a:solidFill>
            <a:srgbClr val="7AB64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10" name="tb"/>
          <p:cNvSpPr txBox="1"/>
          <p:nvPr/>
        </p:nvSpPr>
        <p:spPr>
          <a:xfrm>
            <a:off x="635000" y="3048000"/>
            <a:ext cx="5092700" cy="4318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800" b="1" dirty="0">
                <a:solidFill>
                  <a:srgbClr val="4B2E83"/>
                </a:solidFill>
              </a:rPr>
              <a:t>det(Aᵀ) = det(A)</a:t>
            </a:r>
          </a:p>
        </p:txBody>
      </p:sp>
      <p:sp>
        <p:nvSpPr>
          <p:cNvPr id="5011" name="tb"/>
          <p:cNvSpPr txBox="1"/>
          <p:nvPr/>
        </p:nvSpPr>
        <p:spPr>
          <a:xfrm>
            <a:off x="635000" y="3581400"/>
            <a:ext cx="5041900" cy="508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400" dirty="0">
                <a:solidFill>
                  <a:srgbClr val="5E5E5E"/>
                </a:solidFill>
              </a:rPr>
              <a:t>A matrix and its transpose have the same determinant.</a:t>
            </a:r>
          </a:p>
        </p:txBody>
      </p:sp>
      <p:sp>
        <p:nvSpPr>
          <p:cNvPr id="5012" name="card"/>
          <p:cNvSpPr/>
          <p:nvPr/>
        </p:nvSpPr>
        <p:spPr>
          <a:xfrm>
            <a:off x="6235700" y="2794000"/>
            <a:ext cx="5651500" cy="1371600"/>
          </a:xfrm>
          <a:prstGeom prst="roundRect">
            <a:avLst>
              <a:gd name="adj" fmla="val 6000"/>
            </a:avLst>
          </a:prstGeom>
          <a:solidFill>
            <a:srgbClr val="F5F0EB"/>
          </a:solidFill>
          <a:ln w="9525">
            <a:solidFill>
              <a:srgbClr val="E2DA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013" name="bar"/>
          <p:cNvSpPr/>
          <p:nvPr/>
        </p:nvSpPr>
        <p:spPr>
          <a:xfrm>
            <a:off x="6235700" y="2794000"/>
            <a:ext cx="88900" cy="1371600"/>
          </a:xfrm>
          <a:prstGeom prst="rect">
            <a:avLst/>
          </a:prstGeom>
          <a:solidFill>
            <a:srgbClr val="B7A57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14" name="tb"/>
          <p:cNvSpPr txBox="1"/>
          <p:nvPr/>
        </p:nvSpPr>
        <p:spPr>
          <a:xfrm>
            <a:off x="6565900" y="3048000"/>
            <a:ext cx="5092700" cy="4318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800" b="1" dirty="0">
                <a:solidFill>
                  <a:srgbClr val="4B2E83"/>
                </a:solidFill>
              </a:rPr>
              <a:t>det(A⁻¹) = 1 / det(A)</a:t>
            </a:r>
          </a:p>
        </p:txBody>
      </p:sp>
      <p:sp>
        <p:nvSpPr>
          <p:cNvPr id="5015" name="tb"/>
          <p:cNvSpPr txBox="1"/>
          <p:nvPr/>
        </p:nvSpPr>
        <p:spPr>
          <a:xfrm>
            <a:off x="6565900" y="3581400"/>
            <a:ext cx="5041900" cy="508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400" dirty="0">
                <a:solidFill>
                  <a:srgbClr val="5E5E5E"/>
                </a:solidFill>
              </a:rPr>
              <a:t>Defined only when det(A) ≠ 0 — otherwise no inverse exists.</a:t>
            </a:r>
          </a:p>
        </p:txBody>
      </p:sp>
      <p:sp>
        <p:nvSpPr>
          <p:cNvPr id="5016" name="card"/>
          <p:cNvSpPr/>
          <p:nvPr/>
        </p:nvSpPr>
        <p:spPr>
          <a:xfrm>
            <a:off x="304800" y="4318000"/>
            <a:ext cx="5651500" cy="1371600"/>
          </a:xfrm>
          <a:prstGeom prst="roundRect">
            <a:avLst>
              <a:gd name="adj" fmla="val 6000"/>
            </a:avLst>
          </a:prstGeom>
          <a:solidFill>
            <a:srgbClr val="F5F0EB"/>
          </a:solidFill>
          <a:ln w="9525">
            <a:solidFill>
              <a:srgbClr val="E2DA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017" name="bar"/>
          <p:cNvSpPr/>
          <p:nvPr/>
        </p:nvSpPr>
        <p:spPr>
          <a:xfrm>
            <a:off x="304800" y="4318000"/>
            <a:ext cx="88900" cy="1371600"/>
          </a:xfrm>
          <a:prstGeom prst="rect">
            <a:avLst/>
          </a:prstGeom>
          <a:solidFill>
            <a:srgbClr val="D1578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18" name="tb"/>
          <p:cNvSpPr txBox="1"/>
          <p:nvPr/>
        </p:nvSpPr>
        <p:spPr>
          <a:xfrm>
            <a:off x="635000" y="4572000"/>
            <a:ext cx="5092700" cy="4318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800" b="1" dirty="0">
                <a:solidFill>
                  <a:srgbClr val="4B2E83"/>
                </a:solidFill>
              </a:rPr>
              <a:t>det(A) = 0  ⇔  A is singular</a:t>
            </a:r>
          </a:p>
        </p:txBody>
      </p:sp>
      <p:sp>
        <p:nvSpPr>
          <p:cNvPr id="5019" name="tb"/>
          <p:cNvSpPr txBox="1"/>
          <p:nvPr/>
        </p:nvSpPr>
        <p:spPr>
          <a:xfrm>
            <a:off x="635000" y="5105400"/>
            <a:ext cx="5041900" cy="508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400" dirty="0">
                <a:solidFill>
                  <a:srgbClr val="5E5E5E"/>
                </a:solidFill>
              </a:rPr>
              <a:t>Zero determinant means the columns are dependent and A has no inverse.</a:t>
            </a:r>
          </a:p>
        </p:txBody>
      </p:sp>
      <p:sp>
        <p:nvSpPr>
          <p:cNvPr id="5020" name="card"/>
          <p:cNvSpPr/>
          <p:nvPr/>
        </p:nvSpPr>
        <p:spPr>
          <a:xfrm>
            <a:off x="6235700" y="4318000"/>
            <a:ext cx="5651500" cy="1371600"/>
          </a:xfrm>
          <a:prstGeom prst="roundRect">
            <a:avLst>
              <a:gd name="adj" fmla="val 6000"/>
            </a:avLst>
          </a:prstGeom>
          <a:solidFill>
            <a:srgbClr val="F5F0EB"/>
          </a:solidFill>
          <a:ln w="9525">
            <a:solidFill>
              <a:srgbClr val="E2DA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021" name="bar"/>
          <p:cNvSpPr/>
          <p:nvPr/>
        </p:nvSpPr>
        <p:spPr>
          <a:xfrm>
            <a:off x="6235700" y="4318000"/>
            <a:ext cx="88900" cy="1371600"/>
          </a:xfrm>
          <a:prstGeom prst="rect">
            <a:avLst/>
          </a:prstGeom>
          <a:solidFill>
            <a:srgbClr val="85754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22" name="tb"/>
          <p:cNvSpPr txBox="1"/>
          <p:nvPr/>
        </p:nvSpPr>
        <p:spPr>
          <a:xfrm>
            <a:off x="6565900" y="4572000"/>
            <a:ext cx="5092700" cy="4318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800" b="1" dirty="0">
                <a:solidFill>
                  <a:srgbClr val="4B2E83"/>
                </a:solidFill>
              </a:rPr>
              <a:t>det(kA) = kⁿ · det(A)</a:t>
            </a:r>
          </a:p>
        </p:txBody>
      </p:sp>
      <p:sp>
        <p:nvSpPr>
          <p:cNvPr id="5023" name="tb"/>
          <p:cNvSpPr txBox="1"/>
          <p:nvPr/>
        </p:nvSpPr>
        <p:spPr>
          <a:xfrm>
            <a:off x="6565900" y="5105400"/>
            <a:ext cx="5041900" cy="508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400" dirty="0">
                <a:solidFill>
                  <a:srgbClr val="5E5E5E"/>
                </a:solidFill>
              </a:rPr>
              <a:t>Scaling an n×n matrix scales area by kⁿ (k² in 2D).</a:t>
            </a:r>
          </a:p>
        </p:txBody>
      </p:sp>
    </p:spTree>
    <p:extLst>
      <p:ext uri="{BB962C8B-B14F-4D97-AF65-F5344CB8AC3E}">
        <p14:creationId xmlns:p14="http://schemas.microsoft.com/office/powerpoint/2010/main" val="5925330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A2640E06-F93B-654A-9D76-9C9065E48180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C5DF3365-8B04-2F45-A8CD-82C34FB9AFAA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Example 1 — Determinant of a 2×2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BD3F52FA-7CAB-1744-B916-291D7C59B9EE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Direct application of det = ad − bc</a:t>
            </a:r>
          </a:p>
        </p:txBody>
      </p:sp>
      <p:sp>
        <p:nvSpPr>
          <p:cNvPr id="5" name="QCard">
            <a:extLst>
              <a:ext uri="{FF2B5EF4-FFF2-40B4-BE49-F238E27FC236}">
                <a16:creationId xmlns:a16="http://schemas.microsoft.com/office/drawing/2014/main" id="{3B924B65-4AD1-AA40-99EE-601DE27949FB}"/>
              </a:ext>
            </a:extLst>
          </p:cNvPr>
          <p:cNvSpPr/>
          <p:nvPr/>
        </p:nvSpPr>
        <p:spPr>
          <a:xfrm>
            <a:off x="381000" y="1270000"/>
            <a:ext cx="11430000" cy="1651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QHdr">
            <a:extLst>
              <a:ext uri="{FF2B5EF4-FFF2-40B4-BE49-F238E27FC236}">
                <a16:creationId xmlns:a16="http://schemas.microsoft.com/office/drawing/2014/main" id="{455B7FF7-E956-8549-B61B-9E9211B0D9C8}"/>
              </a:ext>
            </a:extLst>
          </p:cNvPr>
          <p:cNvSpPr/>
          <p:nvPr/>
        </p:nvSpPr>
        <p:spPr>
          <a:xfrm>
            <a:off x="381000" y="1270000"/>
            <a:ext cx="11430000" cy="406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QHdrT">
            <a:extLst>
              <a:ext uri="{FF2B5EF4-FFF2-40B4-BE49-F238E27FC236}">
                <a16:creationId xmlns:a16="http://schemas.microsoft.com/office/drawing/2014/main" id="{677126B6-714D-C84F-A946-97719AB6ABE8}"/>
              </a:ext>
            </a:extLst>
          </p:cNvPr>
          <p:cNvSpPr txBox="1"/>
          <p:nvPr/>
        </p:nvSpPr>
        <p:spPr>
          <a:xfrm>
            <a:off x="558800" y="13335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Question</a:t>
            </a:r>
          </a:p>
        </p:txBody>
      </p:sp>
      <p:sp>
        <p:nvSpPr>
          <p:cNvPr id="8" name="QBody">
            <a:extLst>
              <a:ext uri="{FF2B5EF4-FFF2-40B4-BE49-F238E27FC236}">
                <a16:creationId xmlns:a16="http://schemas.microsoft.com/office/drawing/2014/main" id="{2C10A3B9-40EC-114F-AAC8-AA8D0AB2F6E0}"/>
              </a:ext>
            </a:extLst>
          </p:cNvPr>
          <p:cNvSpPr txBox="1"/>
          <p:nvPr/>
        </p:nvSpPr>
        <p:spPr>
          <a:xfrm>
            <a:off x="558800" y="1803400"/>
            <a:ext cx="11049000" cy="990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000">
                <a:solidFill>
                  <a:srgbClr val="333333"/>
                </a:solidFill>
                <a:latin typeface="Cambria Math"/>
                <a:ea typeface="Cambria Math"/>
              </a:rPr>
              <a:t>Compute det(A)  where  A = [[3, 2], [1, 4]]</a:t>
            </a:r>
          </a:p>
        </p:txBody>
      </p:sp>
      <p:sp>
        <p:nvSpPr>
          <p:cNvPr id="9" name="SCard">
            <a:extLst>
              <a:ext uri="{FF2B5EF4-FFF2-40B4-BE49-F238E27FC236}">
                <a16:creationId xmlns:a16="http://schemas.microsoft.com/office/drawing/2014/main" id="{3CC78CA4-F0BF-B74D-BDFB-2E44411AC245}"/>
              </a:ext>
            </a:extLst>
          </p:cNvPr>
          <p:cNvSpPr/>
          <p:nvPr/>
        </p:nvSpPr>
        <p:spPr>
          <a:xfrm>
            <a:off x="381000" y="3111500"/>
            <a:ext cx="11430000" cy="22225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77777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SHdr">
            <a:extLst>
              <a:ext uri="{FF2B5EF4-FFF2-40B4-BE49-F238E27FC236}">
                <a16:creationId xmlns:a16="http://schemas.microsoft.com/office/drawing/2014/main" id="{BC22C06A-F6D9-6D4E-BD0D-CD5EDF28CD0A}"/>
              </a:ext>
            </a:extLst>
          </p:cNvPr>
          <p:cNvSpPr/>
          <p:nvPr/>
        </p:nvSpPr>
        <p:spPr>
          <a:xfrm>
            <a:off x="381000" y="3111500"/>
            <a:ext cx="11430000" cy="3810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SHdrT">
            <a:extLst>
              <a:ext uri="{FF2B5EF4-FFF2-40B4-BE49-F238E27FC236}">
                <a16:creationId xmlns:a16="http://schemas.microsoft.com/office/drawing/2014/main" id="{060AA8E6-8E4D-2E4C-9770-BE69D3F56727}"/>
              </a:ext>
            </a:extLst>
          </p:cNvPr>
          <p:cNvSpPr txBox="1"/>
          <p:nvPr/>
        </p:nvSpPr>
        <p:spPr>
          <a:xfrm>
            <a:off x="558800" y="31496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Solution (hidden until reveal)</a:t>
            </a:r>
          </a:p>
        </p:txBody>
      </p:sp>
      <p:sp>
        <p:nvSpPr>
          <p:cNvPr id="12" name="S1">
            <a:extLst>
              <a:ext uri="{FF2B5EF4-FFF2-40B4-BE49-F238E27FC236}">
                <a16:creationId xmlns:a16="http://schemas.microsoft.com/office/drawing/2014/main" id="{F55756BA-68FB-564F-9E36-AD0FE026E5EB}"/>
              </a:ext>
            </a:extLst>
          </p:cNvPr>
          <p:cNvSpPr txBox="1"/>
          <p:nvPr/>
        </p:nvSpPr>
        <p:spPr>
          <a:xfrm>
            <a:off x="558800" y="358140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i="1">
                <a:solidFill>
                  <a:srgbClr val="B0B0B0"/>
                </a:solidFill>
                <a:latin typeface="Arial"/>
                <a:cs typeface="Arial"/>
              </a:rPr>
              <a:t>Step 1.  Identify entries:   a = 3,  b = 2,  c = 1,  d = 4.</a:t>
            </a:r>
          </a:p>
        </p:txBody>
      </p:sp>
      <p:sp>
        <p:nvSpPr>
          <p:cNvPr id="13" name="S2">
            <a:extLst>
              <a:ext uri="{FF2B5EF4-FFF2-40B4-BE49-F238E27FC236}">
                <a16:creationId xmlns:a16="http://schemas.microsoft.com/office/drawing/2014/main" id="{DF9EA540-F86B-D24E-8798-B7D60B877B3A}"/>
              </a:ext>
            </a:extLst>
          </p:cNvPr>
          <p:cNvSpPr txBox="1"/>
          <p:nvPr/>
        </p:nvSpPr>
        <p:spPr>
          <a:xfrm>
            <a:off x="558800" y="38608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B0B0B0"/>
                </a:solidFill>
                <a:latin typeface="Cambria Math"/>
                <a:ea typeface="Cambria Math"/>
              </a:rPr>
              <a:t>Step 2.  Apply the formula:   det(A) = a·d − b·c = (3)(4) − (2)(1)</a:t>
            </a:r>
          </a:p>
        </p:txBody>
      </p:sp>
      <p:sp>
        <p:nvSpPr>
          <p:cNvPr id="14" name="S3">
            <a:extLst>
              <a:ext uri="{FF2B5EF4-FFF2-40B4-BE49-F238E27FC236}">
                <a16:creationId xmlns:a16="http://schemas.microsoft.com/office/drawing/2014/main" id="{B22A40CE-C04C-D04E-B64E-0BA7199DD36E}"/>
              </a:ext>
            </a:extLst>
          </p:cNvPr>
          <p:cNvSpPr txBox="1"/>
          <p:nvPr/>
        </p:nvSpPr>
        <p:spPr>
          <a:xfrm>
            <a:off x="558800" y="41910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B0B0B0"/>
                </a:solidFill>
                <a:latin typeface="Cambria Math"/>
                <a:ea typeface="Cambria Math"/>
              </a:rPr>
              <a:t>Step 3.  Compute:   det(A) = 12 − 2 = 10.</a:t>
            </a:r>
          </a:p>
        </p:txBody>
      </p:sp>
      <p:sp>
        <p:nvSpPr>
          <p:cNvPr id="15" name="S4">
            <a:extLst>
              <a:ext uri="{FF2B5EF4-FFF2-40B4-BE49-F238E27FC236}">
                <a16:creationId xmlns:a16="http://schemas.microsoft.com/office/drawing/2014/main" id="{852A9A5A-7633-3141-9758-EDDEB60F07EE}"/>
              </a:ext>
            </a:extLst>
          </p:cNvPr>
          <p:cNvSpPr txBox="1"/>
          <p:nvPr/>
        </p:nvSpPr>
        <p:spPr>
          <a:xfrm>
            <a:off x="558800" y="452120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B0B0B0"/>
                </a:solidFill>
                <a:latin typeface="Arial"/>
                <a:cs typeface="Arial"/>
              </a:rPr>
              <a:t>Interpretation:   |det| = 10  →  A stretches area by factor 10;  det &gt; 0  →  preserves orientation.</a:t>
            </a:r>
          </a:p>
        </p:txBody>
      </p:sp>
      <p:sp>
        <p:nvSpPr>
          <p:cNvPr id="16" name="SAns">
            <a:extLst>
              <a:ext uri="{FF2B5EF4-FFF2-40B4-BE49-F238E27FC236}">
                <a16:creationId xmlns:a16="http://schemas.microsoft.com/office/drawing/2014/main" id="{2272B099-63CA-6146-B484-01A4FB939378}"/>
              </a:ext>
            </a:extLst>
          </p:cNvPr>
          <p:cNvSpPr txBox="1"/>
          <p:nvPr/>
        </p:nvSpPr>
        <p:spPr>
          <a:xfrm>
            <a:off x="558800" y="48768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  <a:latin typeface="Cambria Math"/>
                <a:ea typeface="Cambria Math"/>
              </a:rPr>
              <a:t>Answer:   det(A) = 10</a:t>
            </a:r>
          </a:p>
        </p:txBody>
      </p:sp>
      <p:sp>
        <p:nvSpPr>
          <p:cNvPr id="17" name="TkBar">
            <a:extLst>
              <a:ext uri="{FF2B5EF4-FFF2-40B4-BE49-F238E27FC236}">
                <a16:creationId xmlns:a16="http://schemas.microsoft.com/office/drawing/2014/main" id="{44130699-3AD1-B54D-8FF6-9EE637BDB2DF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kText">
            <a:extLst>
              <a:ext uri="{FF2B5EF4-FFF2-40B4-BE49-F238E27FC236}">
                <a16:creationId xmlns:a16="http://schemas.microsoft.com/office/drawing/2014/main" id="{E8CCBC62-A704-F543-9CA7-C2EDF0D6ECD8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For 2×2 matrices, det = ad − bc — fast, exact, and tells you the area scale factor</a:t>
            </a:r>
          </a:p>
        </p:txBody>
      </p:sp>
    </p:spTree>
    <p:extLst>
      <p:ext uri="{BB962C8B-B14F-4D97-AF65-F5344CB8AC3E}">
        <p14:creationId xmlns:p14="http://schemas.microsoft.com/office/powerpoint/2010/main" val="9868205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Bar">
            <a:extLst>
              <a:ext uri="{FF2B5EF4-FFF2-40B4-BE49-F238E27FC236}">
                <a16:creationId xmlns:a16="http://schemas.microsoft.com/office/drawing/2014/main" id="{803AA577-603E-8448-BC3B-AF5692B4BDF2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F89C194C-9319-8D41-8235-EB6F9556528F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Example 2 — Singular Matrix (det = 0)</a:t>
            </a:r>
          </a:p>
        </p:txBody>
      </p:sp>
      <p:sp>
        <p:nvSpPr>
          <p:cNvPr id="21" name="Sub">
            <a:extLst>
              <a:ext uri="{FF2B5EF4-FFF2-40B4-BE49-F238E27FC236}">
                <a16:creationId xmlns:a16="http://schemas.microsoft.com/office/drawing/2014/main" id="{1E45F281-8BAB-A74F-8E35-EA680C814552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When the determinant vanishes, the matrix collapses dimensions</a:t>
            </a:r>
          </a:p>
        </p:txBody>
      </p:sp>
      <p:sp>
        <p:nvSpPr>
          <p:cNvPr id="22" name="QCard">
            <a:extLst>
              <a:ext uri="{FF2B5EF4-FFF2-40B4-BE49-F238E27FC236}">
                <a16:creationId xmlns:a16="http://schemas.microsoft.com/office/drawing/2014/main" id="{8BFFE6A5-6BAF-8F44-8A8C-18A0DE32E050}"/>
              </a:ext>
            </a:extLst>
          </p:cNvPr>
          <p:cNvSpPr/>
          <p:nvPr/>
        </p:nvSpPr>
        <p:spPr>
          <a:xfrm>
            <a:off x="381000" y="1270000"/>
            <a:ext cx="11430000" cy="1651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QHdr">
            <a:extLst>
              <a:ext uri="{FF2B5EF4-FFF2-40B4-BE49-F238E27FC236}">
                <a16:creationId xmlns:a16="http://schemas.microsoft.com/office/drawing/2014/main" id="{0E6048F1-3953-5A4B-BF7B-CB669CD87E68}"/>
              </a:ext>
            </a:extLst>
          </p:cNvPr>
          <p:cNvSpPr/>
          <p:nvPr/>
        </p:nvSpPr>
        <p:spPr>
          <a:xfrm>
            <a:off x="381000" y="1270000"/>
            <a:ext cx="11430000" cy="406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QHdrT">
            <a:extLst>
              <a:ext uri="{FF2B5EF4-FFF2-40B4-BE49-F238E27FC236}">
                <a16:creationId xmlns:a16="http://schemas.microsoft.com/office/drawing/2014/main" id="{EA1A878B-C149-FF42-A947-A9E1454B6938}"/>
              </a:ext>
            </a:extLst>
          </p:cNvPr>
          <p:cNvSpPr txBox="1"/>
          <p:nvPr/>
        </p:nvSpPr>
        <p:spPr>
          <a:xfrm>
            <a:off x="558800" y="13335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Question</a:t>
            </a:r>
          </a:p>
        </p:txBody>
      </p:sp>
      <p:sp>
        <p:nvSpPr>
          <p:cNvPr id="25" name="QBody">
            <a:extLst>
              <a:ext uri="{FF2B5EF4-FFF2-40B4-BE49-F238E27FC236}">
                <a16:creationId xmlns:a16="http://schemas.microsoft.com/office/drawing/2014/main" id="{97560E51-C571-E047-BD00-BF8C71E1DCB8}"/>
              </a:ext>
            </a:extLst>
          </p:cNvPr>
          <p:cNvSpPr txBox="1"/>
          <p:nvPr/>
        </p:nvSpPr>
        <p:spPr>
          <a:xfrm>
            <a:off x="558800" y="1803400"/>
            <a:ext cx="11049000" cy="990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000">
                <a:solidFill>
                  <a:srgbClr val="333333"/>
                </a:solidFill>
                <a:latin typeface="Cambria Math"/>
                <a:ea typeface="Cambria Math"/>
              </a:rPr>
              <a:t>Compute det(B)  where  B = [[2, 6], [1, 3]].   Is B invertible?</a:t>
            </a:r>
          </a:p>
        </p:txBody>
      </p:sp>
      <p:sp>
        <p:nvSpPr>
          <p:cNvPr id="26" name="SCard">
            <a:extLst>
              <a:ext uri="{FF2B5EF4-FFF2-40B4-BE49-F238E27FC236}">
                <a16:creationId xmlns:a16="http://schemas.microsoft.com/office/drawing/2014/main" id="{669ED8BA-01AC-D747-997C-0AFEBC0040B2}"/>
              </a:ext>
            </a:extLst>
          </p:cNvPr>
          <p:cNvSpPr/>
          <p:nvPr/>
        </p:nvSpPr>
        <p:spPr>
          <a:xfrm>
            <a:off x="381000" y="3111500"/>
            <a:ext cx="11430000" cy="22225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77777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SHdr">
            <a:extLst>
              <a:ext uri="{FF2B5EF4-FFF2-40B4-BE49-F238E27FC236}">
                <a16:creationId xmlns:a16="http://schemas.microsoft.com/office/drawing/2014/main" id="{8186456A-6B67-8F48-A613-0BB7C1625FA8}"/>
              </a:ext>
            </a:extLst>
          </p:cNvPr>
          <p:cNvSpPr/>
          <p:nvPr/>
        </p:nvSpPr>
        <p:spPr>
          <a:xfrm>
            <a:off x="381000" y="3111500"/>
            <a:ext cx="11430000" cy="3810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SHdrT">
            <a:extLst>
              <a:ext uri="{FF2B5EF4-FFF2-40B4-BE49-F238E27FC236}">
                <a16:creationId xmlns:a16="http://schemas.microsoft.com/office/drawing/2014/main" id="{29B54ADA-6054-384A-9512-A23A9B51771C}"/>
              </a:ext>
            </a:extLst>
          </p:cNvPr>
          <p:cNvSpPr txBox="1"/>
          <p:nvPr/>
        </p:nvSpPr>
        <p:spPr>
          <a:xfrm>
            <a:off x="558800" y="31496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Solution (hidden until reveal)</a:t>
            </a:r>
          </a:p>
        </p:txBody>
      </p:sp>
      <p:sp>
        <p:nvSpPr>
          <p:cNvPr id="29" name="S1">
            <a:extLst>
              <a:ext uri="{FF2B5EF4-FFF2-40B4-BE49-F238E27FC236}">
                <a16:creationId xmlns:a16="http://schemas.microsoft.com/office/drawing/2014/main" id="{FA1EC86B-6E8A-2F4D-ABB9-7D7635AA4595}"/>
              </a:ext>
            </a:extLst>
          </p:cNvPr>
          <p:cNvSpPr txBox="1"/>
          <p:nvPr/>
        </p:nvSpPr>
        <p:spPr>
          <a:xfrm>
            <a:off x="558800" y="358140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i="1">
                <a:solidFill>
                  <a:srgbClr val="B0B0B0"/>
                </a:solidFill>
                <a:latin typeface="Arial"/>
                <a:cs typeface="Arial"/>
              </a:rPr>
              <a:t>Step 1.  Entries:   a = 2,  b = 6,  c = 1,  d = 3.</a:t>
            </a:r>
          </a:p>
        </p:txBody>
      </p:sp>
      <p:sp>
        <p:nvSpPr>
          <p:cNvPr id="30" name="S2">
            <a:extLst>
              <a:ext uri="{FF2B5EF4-FFF2-40B4-BE49-F238E27FC236}">
                <a16:creationId xmlns:a16="http://schemas.microsoft.com/office/drawing/2014/main" id="{670014BD-791C-BA44-A405-22F3BAD55890}"/>
              </a:ext>
            </a:extLst>
          </p:cNvPr>
          <p:cNvSpPr txBox="1"/>
          <p:nvPr/>
        </p:nvSpPr>
        <p:spPr>
          <a:xfrm>
            <a:off x="558800" y="38608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B0B0B0"/>
                </a:solidFill>
                <a:latin typeface="Cambria Math"/>
                <a:ea typeface="Cambria Math"/>
              </a:rPr>
              <a:t>Step 2.  Apply formula:   det(B) = (2)(3) − (6)(1) = 6 − 6 = 0.</a:t>
            </a:r>
          </a:p>
        </p:txBody>
      </p:sp>
      <p:sp>
        <p:nvSpPr>
          <p:cNvPr id="31" name="S3">
            <a:extLst>
              <a:ext uri="{FF2B5EF4-FFF2-40B4-BE49-F238E27FC236}">
                <a16:creationId xmlns:a16="http://schemas.microsoft.com/office/drawing/2014/main" id="{E2D3ECBB-81B5-9247-A0EC-6F339D1774BD}"/>
              </a:ext>
            </a:extLst>
          </p:cNvPr>
          <p:cNvSpPr txBox="1"/>
          <p:nvPr/>
        </p:nvSpPr>
        <p:spPr>
          <a:xfrm>
            <a:off x="558800" y="41910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i="1">
                <a:solidFill>
                  <a:srgbClr val="B0B0B0"/>
                </a:solidFill>
                <a:latin typeface="Arial"/>
                <a:cs typeface="Arial"/>
              </a:rPr>
              <a:t>Step 3.  Notice:   row 2 = ½ · row 1 (linearly dependent rows).</a:t>
            </a:r>
          </a:p>
        </p:txBody>
      </p:sp>
      <p:sp>
        <p:nvSpPr>
          <p:cNvPr id="32" name="S4">
            <a:extLst>
              <a:ext uri="{FF2B5EF4-FFF2-40B4-BE49-F238E27FC236}">
                <a16:creationId xmlns:a16="http://schemas.microsoft.com/office/drawing/2014/main" id="{646D228D-8E7F-1345-ADB9-79DBC33EAF46}"/>
              </a:ext>
            </a:extLst>
          </p:cNvPr>
          <p:cNvSpPr txBox="1"/>
          <p:nvPr/>
        </p:nvSpPr>
        <p:spPr>
          <a:xfrm>
            <a:off x="558800" y="45212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B0B0B0"/>
                </a:solidFill>
                <a:latin typeface="Arial"/>
                <a:cs typeface="Arial"/>
              </a:rPr>
              <a:t>Conclusion:   det(B) = 0  →  B is singular  →  B has no inverse  →  Bx = b has 0 or ∞ solutions.</a:t>
            </a:r>
          </a:p>
        </p:txBody>
      </p:sp>
      <p:sp>
        <p:nvSpPr>
          <p:cNvPr id="33" name="SAns">
            <a:extLst>
              <a:ext uri="{FF2B5EF4-FFF2-40B4-BE49-F238E27FC236}">
                <a16:creationId xmlns:a16="http://schemas.microsoft.com/office/drawing/2014/main" id="{C74ECA4E-7EEC-AA46-B68A-9A4A7BE2CF9F}"/>
              </a:ext>
            </a:extLst>
          </p:cNvPr>
          <p:cNvSpPr txBox="1"/>
          <p:nvPr/>
        </p:nvSpPr>
        <p:spPr>
          <a:xfrm>
            <a:off x="558800" y="48768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D1578A"/>
                </a:solidFill>
                <a:latin typeface="Cambria Math"/>
                <a:ea typeface="Cambria Math"/>
              </a:rPr>
              <a:t>Answer:   det(B) = 0;   B is NOT invertible.</a:t>
            </a:r>
          </a:p>
        </p:txBody>
      </p:sp>
      <p:sp>
        <p:nvSpPr>
          <p:cNvPr id="34" name="TkBar">
            <a:extLst>
              <a:ext uri="{FF2B5EF4-FFF2-40B4-BE49-F238E27FC236}">
                <a16:creationId xmlns:a16="http://schemas.microsoft.com/office/drawing/2014/main" id="{BB53432A-A5E9-CF43-AA1B-67FB0DE8AAC2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TkText">
            <a:extLst>
              <a:ext uri="{FF2B5EF4-FFF2-40B4-BE49-F238E27FC236}">
                <a16:creationId xmlns:a16="http://schemas.microsoft.com/office/drawing/2014/main" id="{1D8A20E7-4620-204D-A5AD-734F1716D5B0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Linearly dependent rows ⇒ det = 0 ⇒ matrix collapses space ⇒ no inverse exists</a:t>
            </a:r>
          </a:p>
        </p:txBody>
      </p:sp>
    </p:spTree>
    <p:extLst>
      <p:ext uri="{BB962C8B-B14F-4D97-AF65-F5344CB8AC3E}">
        <p14:creationId xmlns:p14="http://schemas.microsoft.com/office/powerpoint/2010/main" val="20976460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2601D6CA-D9D8-9E40-8C61-CD6E197CD6F8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E274D8D7-C2FA-C54F-A776-EFDB6D0B87E1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Example 3 — Determinant of a 3×3 (Cofactor)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F69C5B17-ABBA-FC4F-B2E4-93B0B04E5280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Cofactor expansion along the first row</a:t>
            </a:r>
          </a:p>
        </p:txBody>
      </p:sp>
      <p:sp>
        <p:nvSpPr>
          <p:cNvPr id="5" name="QCard">
            <a:extLst>
              <a:ext uri="{FF2B5EF4-FFF2-40B4-BE49-F238E27FC236}">
                <a16:creationId xmlns:a16="http://schemas.microsoft.com/office/drawing/2014/main" id="{AC371EB2-0860-8544-8311-5226414110F3}"/>
              </a:ext>
            </a:extLst>
          </p:cNvPr>
          <p:cNvSpPr/>
          <p:nvPr/>
        </p:nvSpPr>
        <p:spPr>
          <a:xfrm>
            <a:off x="381000" y="1270000"/>
            <a:ext cx="11430000" cy="1651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QHdr">
            <a:extLst>
              <a:ext uri="{FF2B5EF4-FFF2-40B4-BE49-F238E27FC236}">
                <a16:creationId xmlns:a16="http://schemas.microsoft.com/office/drawing/2014/main" id="{10A8F4A1-CE33-414C-A6DB-0A862E46F405}"/>
              </a:ext>
            </a:extLst>
          </p:cNvPr>
          <p:cNvSpPr/>
          <p:nvPr/>
        </p:nvSpPr>
        <p:spPr>
          <a:xfrm>
            <a:off x="381000" y="1270000"/>
            <a:ext cx="11430000" cy="406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QHdrT">
            <a:extLst>
              <a:ext uri="{FF2B5EF4-FFF2-40B4-BE49-F238E27FC236}">
                <a16:creationId xmlns:a16="http://schemas.microsoft.com/office/drawing/2014/main" id="{34DF22F7-D67C-6B41-9D67-8BBC5D9AE381}"/>
              </a:ext>
            </a:extLst>
          </p:cNvPr>
          <p:cNvSpPr txBox="1"/>
          <p:nvPr/>
        </p:nvSpPr>
        <p:spPr>
          <a:xfrm>
            <a:off x="558800" y="13335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Question</a:t>
            </a:r>
          </a:p>
        </p:txBody>
      </p:sp>
      <p:sp>
        <p:nvSpPr>
          <p:cNvPr id="8" name="QBody">
            <a:extLst>
              <a:ext uri="{FF2B5EF4-FFF2-40B4-BE49-F238E27FC236}">
                <a16:creationId xmlns:a16="http://schemas.microsoft.com/office/drawing/2014/main" id="{43C8AC17-9771-F94A-8DA3-3073648C5E48}"/>
              </a:ext>
            </a:extLst>
          </p:cNvPr>
          <p:cNvSpPr txBox="1"/>
          <p:nvPr/>
        </p:nvSpPr>
        <p:spPr>
          <a:xfrm>
            <a:off x="558800" y="1803400"/>
            <a:ext cx="11049000" cy="990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000">
                <a:solidFill>
                  <a:srgbClr val="333333"/>
                </a:solidFill>
                <a:latin typeface="Cambria Math"/>
                <a:ea typeface="Cambria Math"/>
              </a:rPr>
              <a:t>Compute det(C)  where  C = [[1, 2, 3], [0, 4, 5], [1, 0, 6]].</a:t>
            </a:r>
          </a:p>
        </p:txBody>
      </p:sp>
      <p:sp>
        <p:nvSpPr>
          <p:cNvPr id="9" name="SCard">
            <a:extLst>
              <a:ext uri="{FF2B5EF4-FFF2-40B4-BE49-F238E27FC236}">
                <a16:creationId xmlns:a16="http://schemas.microsoft.com/office/drawing/2014/main" id="{01723A72-98D0-204F-98BD-FF5739BA98ED}"/>
              </a:ext>
            </a:extLst>
          </p:cNvPr>
          <p:cNvSpPr/>
          <p:nvPr/>
        </p:nvSpPr>
        <p:spPr>
          <a:xfrm>
            <a:off x="381000" y="3111500"/>
            <a:ext cx="11430000" cy="22225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77777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SHdr">
            <a:extLst>
              <a:ext uri="{FF2B5EF4-FFF2-40B4-BE49-F238E27FC236}">
                <a16:creationId xmlns:a16="http://schemas.microsoft.com/office/drawing/2014/main" id="{A4739922-7B23-C54F-9177-76D4F6292EDE}"/>
              </a:ext>
            </a:extLst>
          </p:cNvPr>
          <p:cNvSpPr/>
          <p:nvPr/>
        </p:nvSpPr>
        <p:spPr>
          <a:xfrm>
            <a:off x="381000" y="3111500"/>
            <a:ext cx="11430000" cy="3810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SHdrT">
            <a:extLst>
              <a:ext uri="{FF2B5EF4-FFF2-40B4-BE49-F238E27FC236}">
                <a16:creationId xmlns:a16="http://schemas.microsoft.com/office/drawing/2014/main" id="{57E3E88D-17EB-1E4F-84CB-40D0135D181F}"/>
              </a:ext>
            </a:extLst>
          </p:cNvPr>
          <p:cNvSpPr txBox="1"/>
          <p:nvPr/>
        </p:nvSpPr>
        <p:spPr>
          <a:xfrm>
            <a:off x="558800" y="31496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Solution (hidden until reveal)</a:t>
            </a:r>
          </a:p>
        </p:txBody>
      </p:sp>
      <p:sp>
        <p:nvSpPr>
          <p:cNvPr id="12" name="S1">
            <a:extLst>
              <a:ext uri="{FF2B5EF4-FFF2-40B4-BE49-F238E27FC236}">
                <a16:creationId xmlns:a16="http://schemas.microsoft.com/office/drawing/2014/main" id="{FFB00436-860A-0A48-B8BB-DC3D6CE4AB8C}"/>
              </a:ext>
            </a:extLst>
          </p:cNvPr>
          <p:cNvSpPr txBox="1"/>
          <p:nvPr/>
        </p:nvSpPr>
        <p:spPr>
          <a:xfrm>
            <a:off x="558800" y="358140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B0B0B0"/>
                </a:solidFill>
                <a:latin typeface="Arial"/>
                <a:cs typeface="Arial"/>
              </a:rPr>
              <a:t>Step 1.  Expand along row 1:   det(C) = 1·M₁₁ − 2·M₁₂ + 3·M₁₃   (signs +, −, +)</a:t>
            </a:r>
          </a:p>
        </p:txBody>
      </p:sp>
      <p:sp>
        <p:nvSpPr>
          <p:cNvPr id="13" name="S2">
            <a:extLst>
              <a:ext uri="{FF2B5EF4-FFF2-40B4-BE49-F238E27FC236}">
                <a16:creationId xmlns:a16="http://schemas.microsoft.com/office/drawing/2014/main" id="{A94B5966-F7DB-EE44-B394-8BE771DB175F}"/>
              </a:ext>
            </a:extLst>
          </p:cNvPr>
          <p:cNvSpPr txBox="1"/>
          <p:nvPr/>
        </p:nvSpPr>
        <p:spPr>
          <a:xfrm>
            <a:off x="558800" y="38354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B0B0B0"/>
                </a:solidFill>
                <a:latin typeface="Cambria Math"/>
                <a:ea typeface="Cambria Math"/>
              </a:rPr>
              <a:t>Step 2.  Minors:   M₁₁=|4 5; 0 6| = 24,   M₁₂=|0 5; 1 6| = −5,   M₁₃=|0 4; 1 0| = −4</a:t>
            </a:r>
          </a:p>
        </p:txBody>
      </p:sp>
      <p:sp>
        <p:nvSpPr>
          <p:cNvPr id="14" name="S3">
            <a:extLst>
              <a:ext uri="{FF2B5EF4-FFF2-40B4-BE49-F238E27FC236}">
                <a16:creationId xmlns:a16="http://schemas.microsoft.com/office/drawing/2014/main" id="{D5D21D93-1877-BC42-B7EC-DEB4ABF03D65}"/>
              </a:ext>
            </a:extLst>
          </p:cNvPr>
          <p:cNvSpPr txBox="1"/>
          <p:nvPr/>
        </p:nvSpPr>
        <p:spPr>
          <a:xfrm>
            <a:off x="558800" y="41402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B0B0B0"/>
                </a:solidFill>
                <a:latin typeface="Cambria Math"/>
                <a:ea typeface="Cambria Math"/>
              </a:rPr>
              <a:t>Step 3.  Combine:   det(C) = 1·(24) − 2·(−5) + 3·(−4)</a:t>
            </a:r>
          </a:p>
        </p:txBody>
      </p:sp>
      <p:sp>
        <p:nvSpPr>
          <p:cNvPr id="15" name="S4">
            <a:extLst>
              <a:ext uri="{FF2B5EF4-FFF2-40B4-BE49-F238E27FC236}">
                <a16:creationId xmlns:a16="http://schemas.microsoft.com/office/drawing/2014/main" id="{904B7A62-5170-B842-B3AF-B826B6FC2CC4}"/>
              </a:ext>
            </a:extLst>
          </p:cNvPr>
          <p:cNvSpPr txBox="1"/>
          <p:nvPr/>
        </p:nvSpPr>
        <p:spPr>
          <a:xfrm>
            <a:off x="558800" y="44450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B0B0B0"/>
                </a:solidFill>
                <a:latin typeface="Cambria Math"/>
                <a:ea typeface="Cambria Math"/>
              </a:rPr>
              <a:t>Step 4.  Compute:   det(C) = 24 + 10 − 12 = 22.</a:t>
            </a:r>
          </a:p>
        </p:txBody>
      </p:sp>
      <p:sp>
        <p:nvSpPr>
          <p:cNvPr id="16" name="SAns">
            <a:extLst>
              <a:ext uri="{FF2B5EF4-FFF2-40B4-BE49-F238E27FC236}">
                <a16:creationId xmlns:a16="http://schemas.microsoft.com/office/drawing/2014/main" id="{23B6367D-1354-7043-878C-BDD24DF10FF5}"/>
              </a:ext>
            </a:extLst>
          </p:cNvPr>
          <p:cNvSpPr txBox="1"/>
          <p:nvPr/>
        </p:nvSpPr>
        <p:spPr>
          <a:xfrm>
            <a:off x="558800" y="48260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4B2E83"/>
                </a:solidFill>
                <a:latin typeface="Cambria Math"/>
                <a:ea typeface="Cambria Math"/>
              </a:rPr>
              <a:t>Answer:   det(C) = 22   (non-zero → C is invertible)</a:t>
            </a:r>
          </a:p>
        </p:txBody>
      </p:sp>
      <p:sp>
        <p:nvSpPr>
          <p:cNvPr id="17" name="TkBar">
            <a:extLst>
              <a:ext uri="{FF2B5EF4-FFF2-40B4-BE49-F238E27FC236}">
                <a16:creationId xmlns:a16="http://schemas.microsoft.com/office/drawing/2014/main" id="{06C1D054-86B3-7A40-BE2F-8CDB0FE730B6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kText">
            <a:extLst>
              <a:ext uri="{FF2B5EF4-FFF2-40B4-BE49-F238E27FC236}">
                <a16:creationId xmlns:a16="http://schemas.microsoft.com/office/drawing/2014/main" id="{3B76F23A-A06E-EB4C-9776-334496C3C171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Cofactor expansion reduces an n×n determinant to a sum of (n−1)×(n−1) determinants</a:t>
            </a:r>
          </a:p>
        </p:txBody>
      </p:sp>
    </p:spTree>
    <p:extLst>
      <p:ext uri="{BB962C8B-B14F-4D97-AF65-F5344CB8AC3E}">
        <p14:creationId xmlns:p14="http://schemas.microsoft.com/office/powerpoint/2010/main" val="38335432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Bar">
            <a:extLst>
              <a:ext uri="{FF2B5EF4-FFF2-40B4-BE49-F238E27FC236}">
                <a16:creationId xmlns:a16="http://schemas.microsoft.com/office/drawing/2014/main" id="{9C77FC44-9DD9-9A42-86AD-22A81253BA00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9603CC9D-C2C3-FA44-BC8B-0A97380EA463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Inverse of a Matrix</a:t>
            </a:r>
          </a:p>
        </p:txBody>
      </p:sp>
      <p:sp>
        <p:nvSpPr>
          <p:cNvPr id="21" name="Sub">
            <a:extLst>
              <a:ext uri="{FF2B5EF4-FFF2-40B4-BE49-F238E27FC236}">
                <a16:creationId xmlns:a16="http://schemas.microsoft.com/office/drawing/2014/main" id="{B8054A1A-A25A-3C47-9FEC-16984CC915BC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The matrix that undoes A — the linear-algebra equivalent of dividing</a:t>
            </a:r>
          </a:p>
        </p:txBody>
      </p:sp>
      <p:sp>
        <p:nvSpPr>
          <p:cNvPr id="22" name="DefBox">
            <a:extLst>
              <a:ext uri="{FF2B5EF4-FFF2-40B4-BE49-F238E27FC236}">
                <a16:creationId xmlns:a16="http://schemas.microsoft.com/office/drawing/2014/main" id="{B472BA9E-9F61-8B41-94C6-5C720B74ED49}"/>
              </a:ext>
            </a:extLst>
          </p:cNvPr>
          <p:cNvSpPr/>
          <p:nvPr/>
        </p:nvSpPr>
        <p:spPr>
          <a:xfrm>
            <a:off x="381000" y="1270000"/>
            <a:ext cx="11430000" cy="1079500"/>
          </a:xfrm>
          <a:prstGeom prst="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DefLbl">
            <a:extLst>
              <a:ext uri="{FF2B5EF4-FFF2-40B4-BE49-F238E27FC236}">
                <a16:creationId xmlns:a16="http://schemas.microsoft.com/office/drawing/2014/main" id="{1C7F1D0F-6715-024C-8AC6-B5AD4C221B59}"/>
              </a:ext>
            </a:extLst>
          </p:cNvPr>
          <p:cNvSpPr txBox="1"/>
          <p:nvPr/>
        </p:nvSpPr>
        <p:spPr>
          <a:xfrm>
            <a:off x="558800" y="13716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4B2E83"/>
                </a:solidFill>
                <a:latin typeface="Arial"/>
                <a:cs typeface="Arial"/>
              </a:rPr>
              <a:t>Definition</a:t>
            </a:r>
          </a:p>
        </p:txBody>
      </p:sp>
      <p:sp>
        <p:nvSpPr>
          <p:cNvPr id="24" name="DefEq">
            <a:extLst>
              <a:ext uri="{FF2B5EF4-FFF2-40B4-BE49-F238E27FC236}">
                <a16:creationId xmlns:a16="http://schemas.microsoft.com/office/drawing/2014/main" id="{61CA78C7-B94E-9845-9C4B-D0F934D1850B}"/>
              </a:ext>
            </a:extLst>
          </p:cNvPr>
          <p:cNvSpPr txBox="1"/>
          <p:nvPr/>
        </p:nvSpPr>
        <p:spPr>
          <a:xfrm>
            <a:off x="558800" y="1625600"/>
            <a:ext cx="11049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>
                <a:solidFill>
                  <a:srgbClr val="333333"/>
                </a:solidFill>
                <a:latin typeface="Cambria Math"/>
                <a:ea typeface="Cambria Math"/>
              </a:rPr>
              <a:t>A⁻¹ is the unique matrix such that   A · A⁻¹  =  A⁻¹ · A  =  I</a:t>
            </a:r>
          </a:p>
        </p:txBody>
      </p:sp>
      <p:sp>
        <p:nvSpPr>
          <p:cNvPr id="25" name="DefNote">
            <a:extLst>
              <a:ext uri="{FF2B5EF4-FFF2-40B4-BE49-F238E27FC236}">
                <a16:creationId xmlns:a16="http://schemas.microsoft.com/office/drawing/2014/main" id="{E17F3DB6-6CFF-D745-8201-EF1DF4D996B6}"/>
              </a:ext>
            </a:extLst>
          </p:cNvPr>
          <p:cNvSpPr txBox="1"/>
          <p:nvPr/>
        </p:nvSpPr>
        <p:spPr>
          <a:xfrm>
            <a:off x="558800" y="20066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777777"/>
                </a:solidFill>
                <a:latin typeface="Cambria Math"/>
                <a:ea typeface="Cambria Math"/>
              </a:rPr>
              <a:t>Exists only if A is square AND det(A) ≠ 0.   For 2×2:  A⁻¹ = (1/det A)·[[d,-b],[-c,a]]</a:t>
            </a:r>
          </a:p>
        </p:txBody>
      </p:sp>
      <p:sp>
        <p:nvSpPr>
          <p:cNvPr id="26" name="Card30">
            <a:extLst>
              <a:ext uri="{FF2B5EF4-FFF2-40B4-BE49-F238E27FC236}">
                <a16:creationId xmlns:a16="http://schemas.microsoft.com/office/drawing/2014/main" id="{1FA726A4-4932-4249-B93A-CEEBDA16BB04}"/>
              </a:ext>
            </a:extLst>
          </p:cNvPr>
          <p:cNvSpPr/>
          <p:nvPr/>
        </p:nvSpPr>
        <p:spPr>
          <a:xfrm>
            <a:off x="381000" y="2540000"/>
            <a:ext cx="3683000" cy="2476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CardHdr30">
            <a:extLst>
              <a:ext uri="{FF2B5EF4-FFF2-40B4-BE49-F238E27FC236}">
                <a16:creationId xmlns:a16="http://schemas.microsoft.com/office/drawing/2014/main" id="{AC847A15-DB00-A14B-BEB0-5C6D89243AA7}"/>
              </a:ext>
            </a:extLst>
          </p:cNvPr>
          <p:cNvSpPr/>
          <p:nvPr/>
        </p:nvSpPr>
        <p:spPr>
          <a:xfrm>
            <a:off x="381000" y="2540000"/>
            <a:ext cx="3683000" cy="381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CardTitle30">
            <a:extLst>
              <a:ext uri="{FF2B5EF4-FFF2-40B4-BE49-F238E27FC236}">
                <a16:creationId xmlns:a16="http://schemas.microsoft.com/office/drawing/2014/main" id="{2633EEAE-616D-8843-933E-B955B8E60C35}"/>
              </a:ext>
            </a:extLst>
          </p:cNvPr>
          <p:cNvSpPr txBox="1"/>
          <p:nvPr/>
        </p:nvSpPr>
        <p:spPr>
          <a:xfrm>
            <a:off x="508000" y="26035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What it does</a:t>
            </a:r>
          </a:p>
        </p:txBody>
      </p:sp>
      <p:sp>
        <p:nvSpPr>
          <p:cNvPr id="29" name="CardBody30">
            <a:extLst>
              <a:ext uri="{FF2B5EF4-FFF2-40B4-BE49-F238E27FC236}">
                <a16:creationId xmlns:a16="http://schemas.microsoft.com/office/drawing/2014/main" id="{B7703AAF-09D7-0243-9B7A-8FAD7B595D8F}"/>
              </a:ext>
            </a:extLst>
          </p:cNvPr>
          <p:cNvSpPr txBox="1"/>
          <p:nvPr/>
        </p:nvSpPr>
        <p:spPr>
          <a:xfrm>
            <a:off x="558800" y="3022600"/>
            <a:ext cx="3327400" cy="1892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Reverses the transformation A.
If y = A·x, then x = A⁻¹·y.
It's the closest matrix analog
of scalar reciprocal 1/a.</a:t>
            </a:r>
          </a:p>
        </p:txBody>
      </p:sp>
      <p:sp>
        <p:nvSpPr>
          <p:cNvPr id="30" name="Card335">
            <a:extLst>
              <a:ext uri="{FF2B5EF4-FFF2-40B4-BE49-F238E27FC236}">
                <a16:creationId xmlns:a16="http://schemas.microsoft.com/office/drawing/2014/main" id="{046BEC73-2035-8E4F-9740-84BD5C753E8D}"/>
              </a:ext>
            </a:extLst>
          </p:cNvPr>
          <p:cNvSpPr/>
          <p:nvPr/>
        </p:nvSpPr>
        <p:spPr>
          <a:xfrm>
            <a:off x="4254500" y="2540000"/>
            <a:ext cx="3683000" cy="2476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CardHdr335">
            <a:extLst>
              <a:ext uri="{FF2B5EF4-FFF2-40B4-BE49-F238E27FC236}">
                <a16:creationId xmlns:a16="http://schemas.microsoft.com/office/drawing/2014/main" id="{96A37690-D57B-9947-95B1-0915CDE55F69}"/>
              </a:ext>
            </a:extLst>
          </p:cNvPr>
          <p:cNvSpPr/>
          <p:nvPr/>
        </p:nvSpPr>
        <p:spPr>
          <a:xfrm>
            <a:off x="4254500" y="2540000"/>
            <a:ext cx="3683000" cy="3810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CardTitle335">
            <a:extLst>
              <a:ext uri="{FF2B5EF4-FFF2-40B4-BE49-F238E27FC236}">
                <a16:creationId xmlns:a16="http://schemas.microsoft.com/office/drawing/2014/main" id="{B1B48F1E-3B09-FB4F-AE70-ED23D2E0B922}"/>
              </a:ext>
            </a:extLst>
          </p:cNvPr>
          <p:cNvSpPr txBox="1"/>
          <p:nvPr/>
        </p:nvSpPr>
        <p:spPr>
          <a:xfrm>
            <a:off x="4381500" y="26035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Geometry</a:t>
            </a:r>
          </a:p>
        </p:txBody>
      </p:sp>
      <p:sp>
        <p:nvSpPr>
          <p:cNvPr id="33" name="CardBody335">
            <a:extLst>
              <a:ext uri="{FF2B5EF4-FFF2-40B4-BE49-F238E27FC236}">
                <a16:creationId xmlns:a16="http://schemas.microsoft.com/office/drawing/2014/main" id="{B2AC3B48-961E-0C4F-949F-37F9E8B30345}"/>
              </a:ext>
            </a:extLst>
          </p:cNvPr>
          <p:cNvSpPr txBox="1"/>
          <p:nvPr/>
        </p:nvSpPr>
        <p:spPr>
          <a:xfrm>
            <a:off x="4432300" y="3022600"/>
            <a:ext cx="3327400" cy="1892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dirty="0">
                <a:solidFill>
                  <a:srgbClr val="333333"/>
                </a:solidFill>
                <a:latin typeface="Arial"/>
                <a:cs typeface="Arial"/>
              </a:rPr>
              <a:t>If A stretches by factor d,
A⁻¹ shrinks by factor 1/d.
If A rotates by </a:t>
            </a:r>
            <a:r>
              <a:rPr lang="el-GR" sz="1200" dirty="0">
                <a:solidFill>
                  <a:srgbClr val="333333"/>
                </a:solidFill>
                <a:latin typeface="Arial"/>
                <a:cs typeface="Arial"/>
              </a:rPr>
              <a:t>θ,
</a:t>
            </a:r>
            <a:r>
              <a:rPr lang="en-US" sz="1200" dirty="0">
                <a:solidFill>
                  <a:srgbClr val="333333"/>
                </a:solidFill>
                <a:latin typeface="Arial"/>
                <a:cs typeface="Arial"/>
              </a:rPr>
              <a:t>A⁻¹ rotates by −</a:t>
            </a:r>
            <a:r>
              <a:rPr lang="el-GR" sz="1200" dirty="0">
                <a:solidFill>
                  <a:srgbClr val="333333"/>
                </a:solidFill>
                <a:latin typeface="Arial"/>
                <a:cs typeface="Arial"/>
              </a:rPr>
              <a:t>θ.
</a:t>
            </a:r>
            <a:r>
              <a:rPr lang="en-US" sz="1200" dirty="0">
                <a:solidFill>
                  <a:srgbClr val="333333"/>
                </a:solidFill>
                <a:latin typeface="Arial"/>
                <a:cs typeface="Arial"/>
              </a:rPr>
              <a:t>Undoes scale, shear, rotation.</a:t>
            </a:r>
          </a:p>
        </p:txBody>
      </p:sp>
      <p:sp>
        <p:nvSpPr>
          <p:cNvPr id="34" name="Card640">
            <a:extLst>
              <a:ext uri="{FF2B5EF4-FFF2-40B4-BE49-F238E27FC236}">
                <a16:creationId xmlns:a16="http://schemas.microsoft.com/office/drawing/2014/main" id="{992E3E99-C285-4340-85A5-B90F70B6BA26}"/>
              </a:ext>
            </a:extLst>
          </p:cNvPr>
          <p:cNvSpPr/>
          <p:nvPr/>
        </p:nvSpPr>
        <p:spPr>
          <a:xfrm>
            <a:off x="8128000" y="2540000"/>
            <a:ext cx="3683000" cy="2476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CardHdr640">
            <a:extLst>
              <a:ext uri="{FF2B5EF4-FFF2-40B4-BE49-F238E27FC236}">
                <a16:creationId xmlns:a16="http://schemas.microsoft.com/office/drawing/2014/main" id="{8C591A35-C28A-4E4A-A26D-D830F64E6094}"/>
              </a:ext>
            </a:extLst>
          </p:cNvPr>
          <p:cNvSpPr/>
          <p:nvPr/>
        </p:nvSpPr>
        <p:spPr>
          <a:xfrm>
            <a:off x="8128000" y="2540000"/>
            <a:ext cx="3683000" cy="3810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6" name="CardTitle640">
            <a:extLst>
              <a:ext uri="{FF2B5EF4-FFF2-40B4-BE49-F238E27FC236}">
                <a16:creationId xmlns:a16="http://schemas.microsoft.com/office/drawing/2014/main" id="{DD194F8C-02CD-3348-92D1-9A12A58DB595}"/>
              </a:ext>
            </a:extLst>
          </p:cNvPr>
          <p:cNvSpPr txBox="1"/>
          <p:nvPr/>
        </p:nvSpPr>
        <p:spPr>
          <a:xfrm>
            <a:off x="8255000" y="26035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Why it matters</a:t>
            </a:r>
          </a:p>
        </p:txBody>
      </p:sp>
      <p:sp>
        <p:nvSpPr>
          <p:cNvPr id="37" name="CardBody640">
            <a:extLst>
              <a:ext uri="{FF2B5EF4-FFF2-40B4-BE49-F238E27FC236}">
                <a16:creationId xmlns:a16="http://schemas.microsoft.com/office/drawing/2014/main" id="{5EDF805D-2ED2-B94B-AB22-73FEBD756289}"/>
              </a:ext>
            </a:extLst>
          </p:cNvPr>
          <p:cNvSpPr txBox="1"/>
          <p:nvPr/>
        </p:nvSpPr>
        <p:spPr>
          <a:xfrm>
            <a:off x="8305800" y="3022600"/>
            <a:ext cx="3327400" cy="1892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• Solves Ax = b:  x = A⁻¹·b
• Closed-form least squares:
  </a:t>
            </a:r>
            <a:r>
              <a:rPr lang="el-GR" sz="1200">
                <a:solidFill>
                  <a:srgbClr val="333333"/>
                </a:solidFill>
                <a:latin typeface="Arial"/>
                <a:cs typeface="Arial"/>
              </a:rPr>
              <a:t>β̂ = (</a:t>
            </a:r>
            <a:r>
              <a:rPr lang="en-US" sz="1200">
                <a:solidFill>
                  <a:srgbClr val="333333"/>
                </a:solidFill>
                <a:latin typeface="Arial"/>
                <a:cs typeface="Arial"/>
              </a:rPr>
              <a:t>XᵀX)⁻¹Xᵀy
• Change of basis
• Covariance whitening, Mahalanobis
• Kalman filter update step</a:t>
            </a:r>
          </a:p>
        </p:txBody>
      </p:sp>
      <p:sp>
        <p:nvSpPr>
          <p:cNvPr id="38" name="FormStrip">
            <a:extLst>
              <a:ext uri="{FF2B5EF4-FFF2-40B4-BE49-F238E27FC236}">
                <a16:creationId xmlns:a16="http://schemas.microsoft.com/office/drawing/2014/main" id="{C4E2C88C-A32D-1C44-B6B0-BDB91E0673E2}"/>
              </a:ext>
            </a:extLst>
          </p:cNvPr>
          <p:cNvSpPr/>
          <p:nvPr/>
        </p:nvSpPr>
        <p:spPr>
          <a:xfrm>
            <a:off x="381000" y="5143500"/>
            <a:ext cx="11430000" cy="4826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9" name="FormStripT">
            <a:extLst>
              <a:ext uri="{FF2B5EF4-FFF2-40B4-BE49-F238E27FC236}">
                <a16:creationId xmlns:a16="http://schemas.microsoft.com/office/drawing/2014/main" id="{01204BCB-3694-DE40-83CD-F792D6B3A4C3}"/>
              </a:ext>
            </a:extLst>
          </p:cNvPr>
          <p:cNvSpPr txBox="1"/>
          <p:nvPr/>
        </p:nvSpPr>
        <p:spPr>
          <a:xfrm>
            <a:off x="558800" y="5207000"/>
            <a:ext cx="11049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Practical note:   in computation, solve Ax=b directly (LU, QR) rather than forming A⁻¹ — it's faster &amp; more stable.</a:t>
            </a:r>
          </a:p>
        </p:txBody>
      </p:sp>
      <p:sp>
        <p:nvSpPr>
          <p:cNvPr id="40" name="TkBar">
            <a:extLst>
              <a:ext uri="{FF2B5EF4-FFF2-40B4-BE49-F238E27FC236}">
                <a16:creationId xmlns:a16="http://schemas.microsoft.com/office/drawing/2014/main" id="{05117241-1165-5D47-BAE4-B04851394297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1" name="TkText">
            <a:extLst>
              <a:ext uri="{FF2B5EF4-FFF2-40B4-BE49-F238E27FC236}">
                <a16:creationId xmlns:a16="http://schemas.microsoft.com/office/drawing/2014/main" id="{BB054283-1644-3D4B-9656-46CB91D3BA8D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A⁻¹ undoes A — it exists when det(A) ≠ 0 and is the gateway to solving linear systems</a:t>
            </a:r>
          </a:p>
        </p:txBody>
      </p:sp>
    </p:spTree>
    <p:extLst>
      <p:ext uri="{BB962C8B-B14F-4D97-AF65-F5344CB8AC3E}">
        <p14:creationId xmlns:p14="http://schemas.microsoft.com/office/powerpoint/2010/main" val="21575988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The Inverse Undoes the Transformation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A⁻¹ applies the opposite action: solid = Ax, dashed = A⁻¹x, both from the same x.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Scale by d, rotate by θ, or shear by k — then A⁻¹ applies 1/d, −θ or −k, returning every vector to its start.</a:t>
            </a:r>
          </a:p>
        </p:txBody>
      </p:sp>
      <p:sp>
        <p:nvSpPr>
          <p:cNvPr id="7000" name="panel"/>
          <p:cNvSpPr/>
          <p:nvPr/>
        </p:nvSpPr>
        <p:spPr>
          <a:xfrm>
            <a:off x="279400" y="1270000"/>
            <a:ext cx="3810000" cy="4394200"/>
          </a:xfrm>
          <a:prstGeom prst="roundRect">
            <a:avLst>
              <a:gd name="adj" fmla="val 35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001" name="r"/>
          <p:cNvSpPr/>
          <p:nvPr/>
        </p:nvSpPr>
        <p:spPr>
          <a:xfrm>
            <a:off x="762000" y="2590800"/>
            <a:ext cx="10160" cy="2032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02" name="r"/>
          <p:cNvSpPr/>
          <p:nvPr/>
        </p:nvSpPr>
        <p:spPr>
          <a:xfrm>
            <a:off x="1143000" y="2590800"/>
            <a:ext cx="10160" cy="2032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03" name="r"/>
          <p:cNvSpPr/>
          <p:nvPr/>
        </p:nvSpPr>
        <p:spPr>
          <a:xfrm>
            <a:off x="1524000" y="2590800"/>
            <a:ext cx="10160" cy="2032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04" name="r"/>
          <p:cNvSpPr/>
          <p:nvPr/>
        </p:nvSpPr>
        <p:spPr>
          <a:xfrm>
            <a:off x="1905000" y="2590800"/>
            <a:ext cx="10160" cy="2032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05" name="r"/>
          <p:cNvSpPr/>
          <p:nvPr/>
        </p:nvSpPr>
        <p:spPr>
          <a:xfrm>
            <a:off x="2286000" y="2590800"/>
            <a:ext cx="10160" cy="2032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06" name="r"/>
          <p:cNvSpPr/>
          <p:nvPr/>
        </p:nvSpPr>
        <p:spPr>
          <a:xfrm>
            <a:off x="2667000" y="2590800"/>
            <a:ext cx="10160" cy="2032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07" name="r"/>
          <p:cNvSpPr/>
          <p:nvPr/>
        </p:nvSpPr>
        <p:spPr>
          <a:xfrm>
            <a:off x="3048000" y="2590800"/>
            <a:ext cx="10160" cy="2032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08" name="r"/>
          <p:cNvSpPr/>
          <p:nvPr/>
        </p:nvSpPr>
        <p:spPr>
          <a:xfrm>
            <a:off x="3429000" y="2590800"/>
            <a:ext cx="10160" cy="2032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09" name="r"/>
          <p:cNvSpPr/>
          <p:nvPr/>
        </p:nvSpPr>
        <p:spPr>
          <a:xfrm>
            <a:off x="3810000" y="2590800"/>
            <a:ext cx="10160" cy="2032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10" name="r"/>
          <p:cNvSpPr/>
          <p:nvPr/>
        </p:nvSpPr>
        <p:spPr>
          <a:xfrm>
            <a:off x="533400" y="4254500"/>
            <a:ext cx="33020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11" name="r"/>
          <p:cNvSpPr/>
          <p:nvPr/>
        </p:nvSpPr>
        <p:spPr>
          <a:xfrm>
            <a:off x="533400" y="3873500"/>
            <a:ext cx="33020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12" name="r"/>
          <p:cNvSpPr/>
          <p:nvPr/>
        </p:nvSpPr>
        <p:spPr>
          <a:xfrm>
            <a:off x="533400" y="3492500"/>
            <a:ext cx="33020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13" name="r"/>
          <p:cNvSpPr/>
          <p:nvPr/>
        </p:nvSpPr>
        <p:spPr>
          <a:xfrm>
            <a:off x="533400" y="3111500"/>
            <a:ext cx="33020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14" name="r"/>
          <p:cNvSpPr/>
          <p:nvPr/>
        </p:nvSpPr>
        <p:spPr>
          <a:xfrm>
            <a:off x="533400" y="2730500"/>
            <a:ext cx="33020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15" name="r"/>
          <p:cNvSpPr/>
          <p:nvPr/>
        </p:nvSpPr>
        <p:spPr>
          <a:xfrm>
            <a:off x="533400" y="3864610"/>
            <a:ext cx="3302000" cy="1778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16" name="r"/>
          <p:cNvSpPr/>
          <p:nvPr/>
        </p:nvSpPr>
        <p:spPr>
          <a:xfrm>
            <a:off x="1515110" y="2590800"/>
            <a:ext cx="17780" cy="203200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cxnSp>
        <p:nvCxnSpPr>
          <p:cNvPr id="7017" name="vec"/>
          <p:cNvCxnSpPr/>
          <p:nvPr/>
        </p:nvCxnSpPr>
        <p:spPr>
          <a:xfrm flipV="1">
            <a:off x="1524000" y="3492500"/>
            <a:ext cx="762000" cy="381000"/>
          </a:xfrm>
          <a:prstGeom prst="line">
            <a:avLst/>
          </a:prstGeom>
          <a:ln w="25400" cap="rnd">
            <a:solidFill>
              <a:srgbClr val="9A9A9A"/>
            </a:solidFill>
            <a:tailEnd type="triangle" w="med" len="med"/>
          </a:ln>
        </p:spPr>
      </p:cxnSp>
      <p:cxnSp>
        <p:nvCxnSpPr>
          <p:cNvPr id="7018" name="vec"/>
          <p:cNvCxnSpPr/>
          <p:nvPr/>
        </p:nvCxnSpPr>
        <p:spPr>
          <a:xfrm flipV="1">
            <a:off x="1524000" y="3111500"/>
            <a:ext cx="1524000" cy="762000"/>
          </a:xfrm>
          <a:prstGeom prst="line">
            <a:avLst/>
          </a:prstGeom>
          <a:ln w="38100" cap="rnd">
            <a:solidFill>
              <a:srgbClr val="00A7B5"/>
            </a:solidFill>
            <a:tailEnd type="triangle" w="med" len="med"/>
          </a:ln>
        </p:spPr>
      </p:cxnSp>
      <p:cxnSp>
        <p:nvCxnSpPr>
          <p:cNvPr id="7019" name="vec"/>
          <p:cNvCxnSpPr/>
          <p:nvPr/>
        </p:nvCxnSpPr>
        <p:spPr>
          <a:xfrm flipV="1">
            <a:off x="1524000" y="3683000"/>
            <a:ext cx="381000" cy="190500"/>
          </a:xfrm>
          <a:prstGeom prst="line">
            <a:avLst/>
          </a:prstGeom>
          <a:ln w="31750" cap="rnd">
            <a:prstDash val="dash"/>
            <a:tailEnd type="triangle" w="med" len="med"/>
          </a:ln>
        </p:spPr>
      </p:cxnSp>
      <p:sp>
        <p:nvSpPr>
          <p:cNvPr id="7020" name="tb"/>
          <p:cNvSpPr txBox="1"/>
          <p:nvPr/>
        </p:nvSpPr>
        <p:spPr>
          <a:xfrm>
            <a:off x="2235200" y="3568700"/>
            <a:ext cx="254000" cy="177800"/>
          </a:xfrm>
          <a:prstGeom prst="rect">
            <a:avLst/>
          </a:prstGeom>
          <a:noFill/>
        </p:spPr>
        <p:txBody>
          <a:bodyPr wrap="square" lIns="0" tIns="0" rIns="0" bIns="0">
            <a:normAutofit fontScale="92500" lnSpcReduction="10000"/>
          </a:bodyPr>
          <a:lstStyle/>
          <a:p>
            <a:pPr algn="l"/>
            <a:r>
              <a:rPr lang="en-US" sz="1300" b="1" i="1" dirty="0">
                <a:solidFill>
                  <a:srgbClr val="6E6E6E"/>
                </a:solidFill>
              </a:rPr>
              <a:t>x</a:t>
            </a:r>
          </a:p>
        </p:txBody>
      </p:sp>
      <p:sp>
        <p:nvSpPr>
          <p:cNvPr id="7021" name="tb"/>
          <p:cNvSpPr txBox="1"/>
          <p:nvPr/>
        </p:nvSpPr>
        <p:spPr>
          <a:xfrm>
            <a:off x="3111500" y="2882900"/>
            <a:ext cx="508000" cy="177800"/>
          </a:xfrm>
          <a:prstGeom prst="rect">
            <a:avLst/>
          </a:prstGeom>
          <a:noFill/>
        </p:spPr>
        <p:txBody>
          <a:bodyPr wrap="square" lIns="0" tIns="0" rIns="0" bIns="0">
            <a:normAutofit fontScale="92500" lnSpcReduction="10000"/>
          </a:bodyPr>
          <a:lstStyle/>
          <a:p>
            <a:pPr algn="l"/>
            <a:r>
              <a:rPr lang="en-US" sz="1300" b="1" dirty="0">
                <a:solidFill>
                  <a:srgbClr val="00A7B5"/>
                </a:solidFill>
              </a:rPr>
              <a:t>Ax</a:t>
            </a:r>
          </a:p>
        </p:txBody>
      </p:sp>
      <p:sp>
        <p:nvSpPr>
          <p:cNvPr id="7022" name="tb"/>
          <p:cNvSpPr txBox="1"/>
          <p:nvPr/>
        </p:nvSpPr>
        <p:spPr>
          <a:xfrm>
            <a:off x="1968500" y="3454400"/>
            <a:ext cx="660400" cy="177800"/>
          </a:xfrm>
          <a:prstGeom prst="rect">
            <a:avLst/>
          </a:prstGeom>
          <a:noFill/>
        </p:spPr>
        <p:txBody>
          <a:bodyPr wrap="square" lIns="0" tIns="0" rIns="0" bIns="0">
            <a:normAutofit fontScale="92500" lnSpcReduction="10000"/>
          </a:bodyPr>
          <a:lstStyle/>
          <a:p>
            <a:pPr algn="l"/>
            <a:r>
              <a:rPr lang="en-US" sz="1300" b="1" i="1" dirty="0">
                <a:solidFill>
                  <a:srgbClr val="00A7B5"/>
                </a:solidFill>
              </a:rPr>
              <a:t>A⁻¹x</a:t>
            </a:r>
          </a:p>
        </p:txBody>
      </p:sp>
      <p:sp>
        <p:nvSpPr>
          <p:cNvPr id="7023" name="tb"/>
          <p:cNvSpPr txBox="1"/>
          <p:nvPr/>
        </p:nvSpPr>
        <p:spPr>
          <a:xfrm>
            <a:off x="508000" y="1447800"/>
            <a:ext cx="3302000" cy="3048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700" b="1" dirty="0">
                <a:solidFill>
                  <a:srgbClr val="4B2E83"/>
                </a:solidFill>
              </a:rPr>
              <a:t>Scale</a:t>
            </a:r>
          </a:p>
        </p:txBody>
      </p:sp>
      <p:sp>
        <p:nvSpPr>
          <p:cNvPr id="7024" name="tb"/>
          <p:cNvSpPr txBox="1"/>
          <p:nvPr/>
        </p:nvSpPr>
        <p:spPr>
          <a:xfrm>
            <a:off x="508000" y="1879600"/>
            <a:ext cx="3365500" cy="2794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350" b="1" dirty="0">
                <a:solidFill>
                  <a:srgbClr val="333333"/>
                </a:solidFill>
              </a:rPr>
              <a:t>A = ( 2, 0 ; 0, 2 )</a:t>
            </a:r>
          </a:p>
        </p:txBody>
      </p:sp>
      <p:sp>
        <p:nvSpPr>
          <p:cNvPr id="7025" name="tb"/>
          <p:cNvSpPr txBox="1"/>
          <p:nvPr/>
        </p:nvSpPr>
        <p:spPr>
          <a:xfrm>
            <a:off x="508000" y="2209800"/>
            <a:ext cx="3365500" cy="2794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350" b="1" dirty="0">
                <a:solidFill>
                  <a:srgbClr val="00A7B5"/>
                </a:solidFill>
              </a:rPr>
              <a:t>A⁻¹ = ( ½, 0 ; 0, ½ )</a:t>
            </a:r>
          </a:p>
        </p:txBody>
      </p:sp>
      <p:sp>
        <p:nvSpPr>
          <p:cNvPr id="7026" name="tb"/>
          <p:cNvSpPr txBox="1"/>
          <p:nvPr/>
        </p:nvSpPr>
        <p:spPr>
          <a:xfrm>
            <a:off x="508000" y="4800600"/>
            <a:ext cx="3378200" cy="7366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350" i="1" dirty="0">
                <a:solidFill>
                  <a:srgbClr val="6E6E6E"/>
                </a:solidFill>
              </a:rPr>
              <a:t>Stretch by 2 → inverse shrinks by ½.</a:t>
            </a:r>
          </a:p>
        </p:txBody>
      </p:sp>
      <p:sp>
        <p:nvSpPr>
          <p:cNvPr id="7027" name="panel"/>
          <p:cNvSpPr/>
          <p:nvPr/>
        </p:nvSpPr>
        <p:spPr>
          <a:xfrm>
            <a:off x="4203700" y="1270000"/>
            <a:ext cx="3810000" cy="4394200"/>
          </a:xfrm>
          <a:prstGeom prst="roundRect">
            <a:avLst>
              <a:gd name="adj" fmla="val 35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028" name="r"/>
          <p:cNvSpPr/>
          <p:nvPr/>
        </p:nvSpPr>
        <p:spPr>
          <a:xfrm>
            <a:off x="4686300" y="2590800"/>
            <a:ext cx="10160" cy="2032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29" name="r"/>
          <p:cNvSpPr/>
          <p:nvPr/>
        </p:nvSpPr>
        <p:spPr>
          <a:xfrm>
            <a:off x="5067300" y="2590800"/>
            <a:ext cx="10160" cy="2032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30" name="r"/>
          <p:cNvSpPr/>
          <p:nvPr/>
        </p:nvSpPr>
        <p:spPr>
          <a:xfrm>
            <a:off x="5448300" y="2590800"/>
            <a:ext cx="10160" cy="2032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31" name="r"/>
          <p:cNvSpPr/>
          <p:nvPr/>
        </p:nvSpPr>
        <p:spPr>
          <a:xfrm>
            <a:off x="5829300" y="2590800"/>
            <a:ext cx="10160" cy="2032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32" name="r"/>
          <p:cNvSpPr/>
          <p:nvPr/>
        </p:nvSpPr>
        <p:spPr>
          <a:xfrm>
            <a:off x="6210300" y="2590800"/>
            <a:ext cx="10160" cy="2032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33" name="r"/>
          <p:cNvSpPr/>
          <p:nvPr/>
        </p:nvSpPr>
        <p:spPr>
          <a:xfrm>
            <a:off x="6591300" y="2590800"/>
            <a:ext cx="10160" cy="2032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34" name="r"/>
          <p:cNvSpPr/>
          <p:nvPr/>
        </p:nvSpPr>
        <p:spPr>
          <a:xfrm>
            <a:off x="6972300" y="2590800"/>
            <a:ext cx="10160" cy="2032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35" name="r"/>
          <p:cNvSpPr/>
          <p:nvPr/>
        </p:nvSpPr>
        <p:spPr>
          <a:xfrm>
            <a:off x="7353300" y="2590800"/>
            <a:ext cx="10160" cy="2032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36" name="r"/>
          <p:cNvSpPr/>
          <p:nvPr/>
        </p:nvSpPr>
        <p:spPr>
          <a:xfrm>
            <a:off x="7734300" y="2590800"/>
            <a:ext cx="10160" cy="2032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37" name="r"/>
          <p:cNvSpPr/>
          <p:nvPr/>
        </p:nvSpPr>
        <p:spPr>
          <a:xfrm>
            <a:off x="4457700" y="4254500"/>
            <a:ext cx="33020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38" name="r"/>
          <p:cNvSpPr/>
          <p:nvPr/>
        </p:nvSpPr>
        <p:spPr>
          <a:xfrm>
            <a:off x="4457700" y="3873500"/>
            <a:ext cx="33020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39" name="r"/>
          <p:cNvSpPr/>
          <p:nvPr/>
        </p:nvSpPr>
        <p:spPr>
          <a:xfrm>
            <a:off x="4457700" y="3492500"/>
            <a:ext cx="33020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40" name="r"/>
          <p:cNvSpPr/>
          <p:nvPr/>
        </p:nvSpPr>
        <p:spPr>
          <a:xfrm>
            <a:off x="4457700" y="3111500"/>
            <a:ext cx="33020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41" name="r"/>
          <p:cNvSpPr/>
          <p:nvPr/>
        </p:nvSpPr>
        <p:spPr>
          <a:xfrm>
            <a:off x="4457700" y="2730500"/>
            <a:ext cx="33020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42" name="r"/>
          <p:cNvSpPr/>
          <p:nvPr/>
        </p:nvSpPr>
        <p:spPr>
          <a:xfrm>
            <a:off x="4457700" y="3864610"/>
            <a:ext cx="3302000" cy="1778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43" name="r"/>
          <p:cNvSpPr/>
          <p:nvPr/>
        </p:nvSpPr>
        <p:spPr>
          <a:xfrm>
            <a:off x="5439410" y="2590800"/>
            <a:ext cx="17780" cy="203200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cxnSp>
        <p:nvCxnSpPr>
          <p:cNvPr id="7044" name="vec"/>
          <p:cNvCxnSpPr/>
          <p:nvPr/>
        </p:nvCxnSpPr>
        <p:spPr>
          <a:xfrm flipV="1">
            <a:off x="5448300" y="3492500"/>
            <a:ext cx="762000" cy="381000"/>
          </a:xfrm>
          <a:prstGeom prst="line">
            <a:avLst/>
          </a:prstGeom>
          <a:ln w="25400" cap="rnd">
            <a:solidFill>
              <a:srgbClr val="9A9A9A"/>
            </a:solidFill>
            <a:tailEnd type="triangle" w="med" len="med"/>
          </a:ln>
        </p:spPr>
      </p:cxnSp>
      <p:cxnSp>
        <p:nvCxnSpPr>
          <p:cNvPr id="7045" name="vec"/>
          <p:cNvCxnSpPr/>
          <p:nvPr/>
        </p:nvCxnSpPr>
        <p:spPr>
          <a:xfrm flipH="1" flipV="1">
            <a:off x="5067300" y="3111500"/>
            <a:ext cx="381000" cy="762000"/>
          </a:xfrm>
          <a:prstGeom prst="line">
            <a:avLst/>
          </a:prstGeom>
          <a:ln w="38100" cap="rnd">
            <a:solidFill>
              <a:srgbClr val="4B2E83"/>
            </a:solidFill>
            <a:tailEnd type="triangle" w="med" len="med"/>
          </a:ln>
        </p:spPr>
      </p:cxnSp>
      <p:cxnSp>
        <p:nvCxnSpPr>
          <p:cNvPr id="7046" name="vec"/>
          <p:cNvCxnSpPr/>
          <p:nvPr/>
        </p:nvCxnSpPr>
        <p:spPr>
          <a:xfrm>
            <a:off x="5448300" y="3873500"/>
            <a:ext cx="762000" cy="381000"/>
          </a:xfrm>
          <a:prstGeom prst="line">
            <a:avLst/>
          </a:prstGeom>
          <a:ln w="31750" cap="rnd">
            <a:prstDash val="dash"/>
            <a:tailEnd type="triangle" w="med" len="med"/>
          </a:ln>
        </p:spPr>
      </p:cxnSp>
      <p:sp>
        <p:nvSpPr>
          <p:cNvPr id="7047" name="tb"/>
          <p:cNvSpPr txBox="1"/>
          <p:nvPr/>
        </p:nvSpPr>
        <p:spPr>
          <a:xfrm>
            <a:off x="6159500" y="3568700"/>
            <a:ext cx="254000" cy="177800"/>
          </a:xfrm>
          <a:prstGeom prst="rect">
            <a:avLst/>
          </a:prstGeom>
          <a:noFill/>
        </p:spPr>
        <p:txBody>
          <a:bodyPr wrap="square" lIns="0" tIns="0" rIns="0" bIns="0">
            <a:normAutofit fontScale="92500" lnSpcReduction="10000"/>
          </a:bodyPr>
          <a:lstStyle/>
          <a:p>
            <a:pPr algn="l"/>
            <a:r>
              <a:rPr lang="en-US" sz="1300" b="1" i="1" dirty="0">
                <a:solidFill>
                  <a:srgbClr val="6E6E6E"/>
                </a:solidFill>
              </a:rPr>
              <a:t>x</a:t>
            </a:r>
          </a:p>
        </p:txBody>
      </p:sp>
      <p:sp>
        <p:nvSpPr>
          <p:cNvPr id="7048" name="tb"/>
          <p:cNvSpPr txBox="1"/>
          <p:nvPr/>
        </p:nvSpPr>
        <p:spPr>
          <a:xfrm>
            <a:off x="4635500" y="2882900"/>
            <a:ext cx="508000" cy="177800"/>
          </a:xfrm>
          <a:prstGeom prst="rect">
            <a:avLst/>
          </a:prstGeom>
          <a:noFill/>
        </p:spPr>
        <p:txBody>
          <a:bodyPr wrap="square" lIns="0" tIns="0" rIns="0" bIns="0">
            <a:normAutofit fontScale="92500" lnSpcReduction="10000"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Ax</a:t>
            </a:r>
          </a:p>
        </p:txBody>
      </p:sp>
      <p:sp>
        <p:nvSpPr>
          <p:cNvPr id="7049" name="tb"/>
          <p:cNvSpPr txBox="1"/>
          <p:nvPr/>
        </p:nvSpPr>
        <p:spPr>
          <a:xfrm>
            <a:off x="6273800" y="4305300"/>
            <a:ext cx="660400" cy="177800"/>
          </a:xfrm>
          <a:prstGeom prst="rect">
            <a:avLst/>
          </a:prstGeom>
          <a:noFill/>
        </p:spPr>
        <p:txBody>
          <a:bodyPr wrap="square" lIns="0" tIns="0" rIns="0" bIns="0">
            <a:normAutofit fontScale="92500" lnSpcReduction="10000"/>
          </a:bodyPr>
          <a:lstStyle/>
          <a:p>
            <a:pPr algn="l"/>
            <a:r>
              <a:rPr lang="en-US" sz="1300" b="1" i="1" dirty="0">
                <a:solidFill>
                  <a:srgbClr val="4B2E83"/>
                </a:solidFill>
              </a:rPr>
              <a:t>A⁻¹x</a:t>
            </a:r>
          </a:p>
        </p:txBody>
      </p:sp>
      <p:sp>
        <p:nvSpPr>
          <p:cNvPr id="7050" name="tb"/>
          <p:cNvSpPr txBox="1"/>
          <p:nvPr/>
        </p:nvSpPr>
        <p:spPr>
          <a:xfrm>
            <a:off x="4432300" y="1447800"/>
            <a:ext cx="3302000" cy="3048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700" b="1" dirty="0">
                <a:solidFill>
                  <a:srgbClr val="4B2E83"/>
                </a:solidFill>
              </a:rPr>
              <a:t>Rotate</a:t>
            </a:r>
          </a:p>
        </p:txBody>
      </p:sp>
      <p:sp>
        <p:nvSpPr>
          <p:cNvPr id="7051" name="tb"/>
          <p:cNvSpPr txBox="1"/>
          <p:nvPr/>
        </p:nvSpPr>
        <p:spPr>
          <a:xfrm>
            <a:off x="4432300" y="1879600"/>
            <a:ext cx="3365500" cy="2794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350" b="1" dirty="0">
                <a:solidFill>
                  <a:srgbClr val="333333"/>
                </a:solidFill>
              </a:rPr>
              <a:t>A = ( 0, −1 ; 1, 0 )</a:t>
            </a:r>
          </a:p>
        </p:txBody>
      </p:sp>
      <p:sp>
        <p:nvSpPr>
          <p:cNvPr id="7052" name="tb"/>
          <p:cNvSpPr txBox="1"/>
          <p:nvPr/>
        </p:nvSpPr>
        <p:spPr>
          <a:xfrm>
            <a:off x="4432300" y="2209800"/>
            <a:ext cx="3365500" cy="2794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350" b="1" dirty="0">
                <a:solidFill>
                  <a:srgbClr val="4B2E83"/>
                </a:solidFill>
              </a:rPr>
              <a:t>A⁻¹ = ( 0, 1 ; −1, 0 )</a:t>
            </a:r>
          </a:p>
        </p:txBody>
      </p:sp>
      <p:sp>
        <p:nvSpPr>
          <p:cNvPr id="7053" name="tb"/>
          <p:cNvSpPr txBox="1"/>
          <p:nvPr/>
        </p:nvSpPr>
        <p:spPr>
          <a:xfrm>
            <a:off x="4432300" y="4800600"/>
            <a:ext cx="3378200" cy="7366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350" i="1" dirty="0">
                <a:solidFill>
                  <a:srgbClr val="6E6E6E"/>
                </a:solidFill>
              </a:rPr>
              <a:t>Rotate by +90° → inverse rotates by −90°.</a:t>
            </a:r>
          </a:p>
        </p:txBody>
      </p:sp>
      <p:sp>
        <p:nvSpPr>
          <p:cNvPr id="7054" name="panel"/>
          <p:cNvSpPr/>
          <p:nvPr/>
        </p:nvSpPr>
        <p:spPr>
          <a:xfrm>
            <a:off x="8128000" y="1270000"/>
            <a:ext cx="3810000" cy="4394200"/>
          </a:xfrm>
          <a:prstGeom prst="roundRect">
            <a:avLst>
              <a:gd name="adj" fmla="val 35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055" name="r"/>
          <p:cNvSpPr/>
          <p:nvPr/>
        </p:nvSpPr>
        <p:spPr>
          <a:xfrm>
            <a:off x="8610600" y="2590800"/>
            <a:ext cx="10160" cy="2032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56" name="r"/>
          <p:cNvSpPr/>
          <p:nvPr/>
        </p:nvSpPr>
        <p:spPr>
          <a:xfrm>
            <a:off x="8991600" y="2590800"/>
            <a:ext cx="10160" cy="2032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57" name="r"/>
          <p:cNvSpPr/>
          <p:nvPr/>
        </p:nvSpPr>
        <p:spPr>
          <a:xfrm>
            <a:off x="9372600" y="2590800"/>
            <a:ext cx="10160" cy="2032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58" name="r"/>
          <p:cNvSpPr/>
          <p:nvPr/>
        </p:nvSpPr>
        <p:spPr>
          <a:xfrm>
            <a:off x="9753600" y="2590800"/>
            <a:ext cx="10160" cy="2032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59" name="r"/>
          <p:cNvSpPr/>
          <p:nvPr/>
        </p:nvSpPr>
        <p:spPr>
          <a:xfrm>
            <a:off x="10134600" y="2590800"/>
            <a:ext cx="10160" cy="2032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60" name="r"/>
          <p:cNvSpPr/>
          <p:nvPr/>
        </p:nvSpPr>
        <p:spPr>
          <a:xfrm>
            <a:off x="10515600" y="2590800"/>
            <a:ext cx="10160" cy="2032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61" name="r"/>
          <p:cNvSpPr/>
          <p:nvPr/>
        </p:nvSpPr>
        <p:spPr>
          <a:xfrm>
            <a:off x="10896600" y="2590800"/>
            <a:ext cx="10160" cy="2032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62" name="r"/>
          <p:cNvSpPr/>
          <p:nvPr/>
        </p:nvSpPr>
        <p:spPr>
          <a:xfrm>
            <a:off x="11277600" y="2590800"/>
            <a:ext cx="10160" cy="2032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63" name="r"/>
          <p:cNvSpPr/>
          <p:nvPr/>
        </p:nvSpPr>
        <p:spPr>
          <a:xfrm>
            <a:off x="11658600" y="2590800"/>
            <a:ext cx="10160" cy="20320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64" name="r"/>
          <p:cNvSpPr/>
          <p:nvPr/>
        </p:nvSpPr>
        <p:spPr>
          <a:xfrm>
            <a:off x="8382000" y="4254500"/>
            <a:ext cx="33020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65" name="r"/>
          <p:cNvSpPr/>
          <p:nvPr/>
        </p:nvSpPr>
        <p:spPr>
          <a:xfrm>
            <a:off x="8382000" y="3873500"/>
            <a:ext cx="33020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66" name="r"/>
          <p:cNvSpPr/>
          <p:nvPr/>
        </p:nvSpPr>
        <p:spPr>
          <a:xfrm>
            <a:off x="8382000" y="3492500"/>
            <a:ext cx="33020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67" name="r"/>
          <p:cNvSpPr/>
          <p:nvPr/>
        </p:nvSpPr>
        <p:spPr>
          <a:xfrm>
            <a:off x="8382000" y="3111500"/>
            <a:ext cx="33020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68" name="r"/>
          <p:cNvSpPr/>
          <p:nvPr/>
        </p:nvSpPr>
        <p:spPr>
          <a:xfrm>
            <a:off x="8382000" y="2730500"/>
            <a:ext cx="33020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69" name="r"/>
          <p:cNvSpPr/>
          <p:nvPr/>
        </p:nvSpPr>
        <p:spPr>
          <a:xfrm>
            <a:off x="8382000" y="3864610"/>
            <a:ext cx="3302000" cy="1778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70" name="r"/>
          <p:cNvSpPr/>
          <p:nvPr/>
        </p:nvSpPr>
        <p:spPr>
          <a:xfrm>
            <a:off x="9363710" y="2590800"/>
            <a:ext cx="17780" cy="203200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cxnSp>
        <p:nvCxnSpPr>
          <p:cNvPr id="7071" name="vec"/>
          <p:cNvCxnSpPr/>
          <p:nvPr/>
        </p:nvCxnSpPr>
        <p:spPr>
          <a:xfrm flipV="1">
            <a:off x="9372600" y="3492500"/>
            <a:ext cx="762000" cy="381000"/>
          </a:xfrm>
          <a:prstGeom prst="line">
            <a:avLst/>
          </a:prstGeom>
          <a:ln w="25400" cap="rnd">
            <a:solidFill>
              <a:srgbClr val="9A9A9A"/>
            </a:solidFill>
            <a:tailEnd type="triangle" w="med" len="med"/>
          </a:ln>
        </p:spPr>
      </p:cxnSp>
      <p:cxnSp>
        <p:nvCxnSpPr>
          <p:cNvPr id="7072" name="vec"/>
          <p:cNvCxnSpPr/>
          <p:nvPr/>
        </p:nvCxnSpPr>
        <p:spPr>
          <a:xfrm flipV="1">
            <a:off x="9372600" y="3492500"/>
            <a:ext cx="1143000" cy="381000"/>
          </a:xfrm>
          <a:prstGeom prst="line">
            <a:avLst/>
          </a:prstGeom>
          <a:ln w="38100" cap="rnd">
            <a:solidFill>
              <a:srgbClr val="7AB648"/>
            </a:solidFill>
            <a:tailEnd type="triangle" w="med" len="med"/>
          </a:ln>
        </p:spPr>
      </p:cxnSp>
      <p:cxnSp>
        <p:nvCxnSpPr>
          <p:cNvPr id="7073" name="vec"/>
          <p:cNvCxnSpPr/>
          <p:nvPr/>
        </p:nvCxnSpPr>
        <p:spPr>
          <a:xfrm flipV="1">
            <a:off x="9372600" y="3492500"/>
            <a:ext cx="381000" cy="381000"/>
          </a:xfrm>
          <a:prstGeom prst="line">
            <a:avLst/>
          </a:prstGeom>
          <a:ln w="31750" cap="rnd">
            <a:prstDash val="dash"/>
            <a:tailEnd type="triangle" w="med" len="med"/>
          </a:ln>
        </p:spPr>
      </p:cxnSp>
      <p:sp>
        <p:nvSpPr>
          <p:cNvPr id="7074" name="tb"/>
          <p:cNvSpPr txBox="1"/>
          <p:nvPr/>
        </p:nvSpPr>
        <p:spPr>
          <a:xfrm>
            <a:off x="10083800" y="3568700"/>
            <a:ext cx="254000" cy="177800"/>
          </a:xfrm>
          <a:prstGeom prst="rect">
            <a:avLst/>
          </a:prstGeom>
          <a:noFill/>
        </p:spPr>
        <p:txBody>
          <a:bodyPr wrap="square" lIns="0" tIns="0" rIns="0" bIns="0">
            <a:normAutofit fontScale="92500" lnSpcReduction="10000"/>
          </a:bodyPr>
          <a:lstStyle/>
          <a:p>
            <a:pPr algn="l"/>
            <a:r>
              <a:rPr lang="en-US" sz="1300" b="1" i="1" dirty="0">
                <a:solidFill>
                  <a:srgbClr val="6E6E6E"/>
                </a:solidFill>
              </a:rPr>
              <a:t>x</a:t>
            </a:r>
          </a:p>
        </p:txBody>
      </p:sp>
      <p:sp>
        <p:nvSpPr>
          <p:cNvPr id="7075" name="tb"/>
          <p:cNvSpPr txBox="1"/>
          <p:nvPr/>
        </p:nvSpPr>
        <p:spPr>
          <a:xfrm>
            <a:off x="10579100" y="3263900"/>
            <a:ext cx="508000" cy="177800"/>
          </a:xfrm>
          <a:prstGeom prst="rect">
            <a:avLst/>
          </a:prstGeom>
          <a:noFill/>
        </p:spPr>
        <p:txBody>
          <a:bodyPr wrap="square" lIns="0" tIns="0" rIns="0" bIns="0">
            <a:normAutofit fontScale="92500" lnSpcReduction="10000"/>
          </a:bodyPr>
          <a:lstStyle/>
          <a:p>
            <a:pPr algn="l"/>
            <a:r>
              <a:rPr lang="en-US" sz="1300" b="1" dirty="0">
                <a:solidFill>
                  <a:srgbClr val="7AB648"/>
                </a:solidFill>
              </a:rPr>
              <a:t>Ax</a:t>
            </a:r>
          </a:p>
        </p:txBody>
      </p:sp>
      <p:sp>
        <p:nvSpPr>
          <p:cNvPr id="7076" name="tb"/>
          <p:cNvSpPr txBox="1"/>
          <p:nvPr/>
        </p:nvSpPr>
        <p:spPr>
          <a:xfrm>
            <a:off x="9817100" y="3263900"/>
            <a:ext cx="660400" cy="177800"/>
          </a:xfrm>
          <a:prstGeom prst="rect">
            <a:avLst/>
          </a:prstGeom>
          <a:noFill/>
        </p:spPr>
        <p:txBody>
          <a:bodyPr wrap="square" lIns="0" tIns="0" rIns="0" bIns="0">
            <a:normAutofit fontScale="92500" lnSpcReduction="10000"/>
          </a:bodyPr>
          <a:lstStyle/>
          <a:p>
            <a:pPr algn="l"/>
            <a:r>
              <a:rPr lang="en-US" sz="1300" b="1" i="1" dirty="0">
                <a:solidFill>
                  <a:srgbClr val="7AB648"/>
                </a:solidFill>
              </a:rPr>
              <a:t>A⁻¹x</a:t>
            </a:r>
          </a:p>
        </p:txBody>
      </p:sp>
      <p:sp>
        <p:nvSpPr>
          <p:cNvPr id="7077" name="tb"/>
          <p:cNvSpPr txBox="1"/>
          <p:nvPr/>
        </p:nvSpPr>
        <p:spPr>
          <a:xfrm>
            <a:off x="8356600" y="1447800"/>
            <a:ext cx="3302000" cy="3048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700" b="1" dirty="0">
                <a:solidFill>
                  <a:srgbClr val="4B2E83"/>
                </a:solidFill>
              </a:rPr>
              <a:t>Shear</a:t>
            </a:r>
          </a:p>
        </p:txBody>
      </p:sp>
      <p:sp>
        <p:nvSpPr>
          <p:cNvPr id="7078" name="tb"/>
          <p:cNvSpPr txBox="1"/>
          <p:nvPr/>
        </p:nvSpPr>
        <p:spPr>
          <a:xfrm>
            <a:off x="8356600" y="1879600"/>
            <a:ext cx="3365500" cy="2794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350" b="1" dirty="0">
                <a:solidFill>
                  <a:srgbClr val="333333"/>
                </a:solidFill>
              </a:rPr>
              <a:t>A = ( 1, 1 ; 0, 1 )</a:t>
            </a:r>
          </a:p>
        </p:txBody>
      </p:sp>
      <p:sp>
        <p:nvSpPr>
          <p:cNvPr id="7079" name="tb"/>
          <p:cNvSpPr txBox="1"/>
          <p:nvPr/>
        </p:nvSpPr>
        <p:spPr>
          <a:xfrm>
            <a:off x="8356600" y="2209800"/>
            <a:ext cx="3365500" cy="2794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350" b="1" dirty="0">
                <a:solidFill>
                  <a:srgbClr val="7AB648"/>
                </a:solidFill>
              </a:rPr>
              <a:t>A⁻¹ = ( 1, −1 ; 0, 1 )</a:t>
            </a:r>
          </a:p>
        </p:txBody>
      </p:sp>
      <p:sp>
        <p:nvSpPr>
          <p:cNvPr id="7080" name="tb"/>
          <p:cNvSpPr txBox="1"/>
          <p:nvPr/>
        </p:nvSpPr>
        <p:spPr>
          <a:xfrm>
            <a:off x="8356600" y="4800600"/>
            <a:ext cx="3378200" cy="7366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350" i="1" dirty="0">
                <a:solidFill>
                  <a:srgbClr val="6E6E6E"/>
                </a:solidFill>
              </a:rPr>
              <a:t>Shear by +1 → inverse shears by −1.</a:t>
            </a:r>
          </a:p>
        </p:txBody>
      </p:sp>
    </p:spTree>
    <p:extLst>
      <p:ext uri="{BB962C8B-B14F-4D97-AF65-F5344CB8AC3E}">
        <p14:creationId xmlns:p14="http://schemas.microsoft.com/office/powerpoint/2010/main" val="9569474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F73ADA80-80B4-474A-AB1E-FBA7A5B57361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61C8D07E-7533-CD46-AE93-83D5AA5B41AE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Example 1 — 2×2 Inverse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2426AD8E-C20E-914A-BD6F-C409A07AA726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Standard formula on a clean 2×2</a:t>
            </a:r>
          </a:p>
        </p:txBody>
      </p:sp>
      <p:sp>
        <p:nvSpPr>
          <p:cNvPr id="5" name="QCard">
            <a:extLst>
              <a:ext uri="{FF2B5EF4-FFF2-40B4-BE49-F238E27FC236}">
                <a16:creationId xmlns:a16="http://schemas.microsoft.com/office/drawing/2014/main" id="{0A50F4D8-97C4-C848-AFA8-FCB816C25478}"/>
              </a:ext>
            </a:extLst>
          </p:cNvPr>
          <p:cNvSpPr/>
          <p:nvPr/>
        </p:nvSpPr>
        <p:spPr>
          <a:xfrm>
            <a:off x="381000" y="1270000"/>
            <a:ext cx="11430000" cy="1651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QHdr">
            <a:extLst>
              <a:ext uri="{FF2B5EF4-FFF2-40B4-BE49-F238E27FC236}">
                <a16:creationId xmlns:a16="http://schemas.microsoft.com/office/drawing/2014/main" id="{EEC451A4-852B-1949-965B-78E7C97A18CA}"/>
              </a:ext>
            </a:extLst>
          </p:cNvPr>
          <p:cNvSpPr/>
          <p:nvPr/>
        </p:nvSpPr>
        <p:spPr>
          <a:xfrm>
            <a:off x="381000" y="1270000"/>
            <a:ext cx="11430000" cy="406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QHdrT">
            <a:extLst>
              <a:ext uri="{FF2B5EF4-FFF2-40B4-BE49-F238E27FC236}">
                <a16:creationId xmlns:a16="http://schemas.microsoft.com/office/drawing/2014/main" id="{B36D3AE0-80EC-1A4C-9EAF-84CFCF8345EA}"/>
              </a:ext>
            </a:extLst>
          </p:cNvPr>
          <p:cNvSpPr txBox="1"/>
          <p:nvPr/>
        </p:nvSpPr>
        <p:spPr>
          <a:xfrm>
            <a:off x="558800" y="13335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Question</a:t>
            </a:r>
          </a:p>
        </p:txBody>
      </p:sp>
      <p:sp>
        <p:nvSpPr>
          <p:cNvPr id="8" name="QBody">
            <a:extLst>
              <a:ext uri="{FF2B5EF4-FFF2-40B4-BE49-F238E27FC236}">
                <a16:creationId xmlns:a16="http://schemas.microsoft.com/office/drawing/2014/main" id="{3993E31B-EF7D-E345-84F2-D2DB143F835C}"/>
              </a:ext>
            </a:extLst>
          </p:cNvPr>
          <p:cNvSpPr txBox="1"/>
          <p:nvPr/>
        </p:nvSpPr>
        <p:spPr>
          <a:xfrm>
            <a:off x="558800" y="1803400"/>
            <a:ext cx="11049000" cy="990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  <a:latin typeface="Cambria Math"/>
                <a:ea typeface="Cambria Math"/>
              </a:rPr>
              <a:t>Find A⁻¹  where  A = [[4, 3],
                                   [2, 1]].
Verify A · A⁻¹ = I.</a:t>
            </a:r>
          </a:p>
        </p:txBody>
      </p:sp>
      <p:sp>
        <p:nvSpPr>
          <p:cNvPr id="9" name="SCard">
            <a:extLst>
              <a:ext uri="{FF2B5EF4-FFF2-40B4-BE49-F238E27FC236}">
                <a16:creationId xmlns:a16="http://schemas.microsoft.com/office/drawing/2014/main" id="{8937429B-D89F-364F-890B-A3A99D9A664B}"/>
              </a:ext>
            </a:extLst>
          </p:cNvPr>
          <p:cNvSpPr/>
          <p:nvPr/>
        </p:nvSpPr>
        <p:spPr>
          <a:xfrm>
            <a:off x="381000" y="3111500"/>
            <a:ext cx="11430000" cy="22225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77777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SHdr">
            <a:extLst>
              <a:ext uri="{FF2B5EF4-FFF2-40B4-BE49-F238E27FC236}">
                <a16:creationId xmlns:a16="http://schemas.microsoft.com/office/drawing/2014/main" id="{029CCC5B-19F7-0F49-BEE0-0740C987ADB6}"/>
              </a:ext>
            </a:extLst>
          </p:cNvPr>
          <p:cNvSpPr/>
          <p:nvPr/>
        </p:nvSpPr>
        <p:spPr>
          <a:xfrm>
            <a:off x="381000" y="3111500"/>
            <a:ext cx="11430000" cy="3810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SHdrT">
            <a:extLst>
              <a:ext uri="{FF2B5EF4-FFF2-40B4-BE49-F238E27FC236}">
                <a16:creationId xmlns:a16="http://schemas.microsoft.com/office/drawing/2014/main" id="{321C5616-6C6D-E54A-B6E6-43A9CC29CFD3}"/>
              </a:ext>
            </a:extLst>
          </p:cNvPr>
          <p:cNvSpPr txBox="1"/>
          <p:nvPr/>
        </p:nvSpPr>
        <p:spPr>
          <a:xfrm>
            <a:off x="558800" y="31496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Solution (hidden until reveal)</a:t>
            </a:r>
          </a:p>
        </p:txBody>
      </p:sp>
      <p:sp>
        <p:nvSpPr>
          <p:cNvPr id="12" name="SStep1">
            <a:extLst>
              <a:ext uri="{FF2B5EF4-FFF2-40B4-BE49-F238E27FC236}">
                <a16:creationId xmlns:a16="http://schemas.microsoft.com/office/drawing/2014/main" id="{0F3FEB73-1FBE-534B-9A00-32A9BF455D28}"/>
              </a:ext>
            </a:extLst>
          </p:cNvPr>
          <p:cNvSpPr txBox="1"/>
          <p:nvPr/>
        </p:nvSpPr>
        <p:spPr>
          <a:xfrm>
            <a:off x="558800" y="35814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i="1">
                <a:solidFill>
                  <a:srgbClr val="B0B0B0"/>
                </a:solidFill>
                <a:latin typeface="Cambria Math"/>
                <a:ea typeface="Cambria Math"/>
              </a:rPr>
              <a:t>Step 1.  det(A) = 4·1 − 3·2 = −2  (nonzero → invertible)</a:t>
            </a:r>
          </a:p>
        </p:txBody>
      </p:sp>
      <p:sp>
        <p:nvSpPr>
          <p:cNvPr id="13" name="SStep2">
            <a:extLst>
              <a:ext uri="{FF2B5EF4-FFF2-40B4-BE49-F238E27FC236}">
                <a16:creationId xmlns:a16="http://schemas.microsoft.com/office/drawing/2014/main" id="{EB9B4117-0226-0348-A432-B023A9D0CA89}"/>
              </a:ext>
            </a:extLst>
          </p:cNvPr>
          <p:cNvSpPr txBox="1"/>
          <p:nvPr/>
        </p:nvSpPr>
        <p:spPr>
          <a:xfrm>
            <a:off x="558800" y="38608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i="1">
                <a:solidFill>
                  <a:srgbClr val="B0B0B0"/>
                </a:solidFill>
                <a:latin typeface="Cambria Math"/>
                <a:ea typeface="Cambria Math"/>
              </a:rPr>
              <a:t>Step 2.  Swap diagonal, negate off-diagonal:    [[1, −3], [−2, 4]]</a:t>
            </a:r>
          </a:p>
        </p:txBody>
      </p:sp>
      <p:sp>
        <p:nvSpPr>
          <p:cNvPr id="14" name="SStep3">
            <a:extLst>
              <a:ext uri="{FF2B5EF4-FFF2-40B4-BE49-F238E27FC236}">
                <a16:creationId xmlns:a16="http://schemas.microsoft.com/office/drawing/2014/main" id="{DBA9833D-E370-B04F-811B-066E396A39D0}"/>
              </a:ext>
            </a:extLst>
          </p:cNvPr>
          <p:cNvSpPr txBox="1"/>
          <p:nvPr/>
        </p:nvSpPr>
        <p:spPr>
          <a:xfrm>
            <a:off x="558800" y="41402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i="1">
                <a:solidFill>
                  <a:srgbClr val="B0B0B0"/>
                </a:solidFill>
                <a:latin typeface="Cambria Math"/>
                <a:ea typeface="Cambria Math"/>
              </a:rPr>
              <a:t>Step 3.  Multiply by 1/det(A) = −½ :    A⁻¹ = [[−½,  3/2], [1,  −2]]</a:t>
            </a:r>
          </a:p>
        </p:txBody>
      </p:sp>
      <p:sp>
        <p:nvSpPr>
          <p:cNvPr id="15" name="SCheck">
            <a:extLst>
              <a:ext uri="{FF2B5EF4-FFF2-40B4-BE49-F238E27FC236}">
                <a16:creationId xmlns:a16="http://schemas.microsoft.com/office/drawing/2014/main" id="{E57CFB23-BFAC-AA49-AB78-B46C65523EF8}"/>
              </a:ext>
            </a:extLst>
          </p:cNvPr>
          <p:cNvSpPr txBox="1"/>
          <p:nvPr/>
        </p:nvSpPr>
        <p:spPr>
          <a:xfrm>
            <a:off x="558800" y="44450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B0B0B0"/>
                </a:solidFill>
                <a:latin typeface="Cambria Math"/>
                <a:ea typeface="Cambria Math"/>
              </a:rPr>
              <a:t>Verify:  A · A⁻¹ = [[4·(−½)+3·1, 4·(3/2)+3·(−2)], [2·(−½)+1·1, 2·(3/2)+1·(−2)]] = [[1,0],[0,1]] = I ✓</a:t>
            </a:r>
          </a:p>
        </p:txBody>
      </p:sp>
      <p:sp>
        <p:nvSpPr>
          <p:cNvPr id="16" name="SAns">
            <a:extLst>
              <a:ext uri="{FF2B5EF4-FFF2-40B4-BE49-F238E27FC236}">
                <a16:creationId xmlns:a16="http://schemas.microsoft.com/office/drawing/2014/main" id="{C170DC3D-A43F-CF4E-BD25-5FF3C189B48E}"/>
              </a:ext>
            </a:extLst>
          </p:cNvPr>
          <p:cNvSpPr txBox="1"/>
          <p:nvPr/>
        </p:nvSpPr>
        <p:spPr>
          <a:xfrm>
            <a:off x="558800" y="48260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  <a:latin typeface="Cambria Math"/>
                <a:ea typeface="Cambria Math"/>
              </a:rPr>
              <a:t>Answer:   A⁻¹ = [[−½, 3/2], [1, −2]]</a:t>
            </a:r>
          </a:p>
        </p:txBody>
      </p:sp>
      <p:sp>
        <p:nvSpPr>
          <p:cNvPr id="17" name="TkBar">
            <a:extLst>
              <a:ext uri="{FF2B5EF4-FFF2-40B4-BE49-F238E27FC236}">
                <a16:creationId xmlns:a16="http://schemas.microsoft.com/office/drawing/2014/main" id="{FF4BB5A2-AA6E-CB41-9FF8-B6B460EA6C62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kText">
            <a:extLst>
              <a:ext uri="{FF2B5EF4-FFF2-40B4-BE49-F238E27FC236}">
                <a16:creationId xmlns:a16="http://schemas.microsoft.com/office/drawing/2014/main" id="{738715AE-3326-3C42-9C59-007F0FC6F8AC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2×2 inverse = swap diagonal, negate off-diagonal, divide by det</a:t>
            </a:r>
          </a:p>
        </p:txBody>
      </p:sp>
    </p:spTree>
    <p:extLst>
      <p:ext uri="{BB962C8B-B14F-4D97-AF65-F5344CB8AC3E}">
        <p14:creationId xmlns:p14="http://schemas.microsoft.com/office/powerpoint/2010/main" val="23895376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Bar">
            <a:extLst>
              <a:ext uri="{FF2B5EF4-FFF2-40B4-BE49-F238E27FC236}">
                <a16:creationId xmlns:a16="http://schemas.microsoft.com/office/drawing/2014/main" id="{CABF52DD-D413-9A46-BBE9-2BFFE60A1592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48C25586-10F6-2D49-97DC-559130FFBC6B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Example 2 — When Inverse Does NOT Exist</a:t>
            </a:r>
          </a:p>
        </p:txBody>
      </p:sp>
      <p:sp>
        <p:nvSpPr>
          <p:cNvPr id="21" name="Sub">
            <a:extLst>
              <a:ext uri="{FF2B5EF4-FFF2-40B4-BE49-F238E27FC236}">
                <a16:creationId xmlns:a16="http://schemas.microsoft.com/office/drawing/2014/main" id="{BE25AA40-ED4B-8A47-9EB1-A68F0B1D0746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Recognizing a singular matrix</a:t>
            </a:r>
          </a:p>
        </p:txBody>
      </p:sp>
      <p:sp>
        <p:nvSpPr>
          <p:cNvPr id="22" name="QCard">
            <a:extLst>
              <a:ext uri="{FF2B5EF4-FFF2-40B4-BE49-F238E27FC236}">
                <a16:creationId xmlns:a16="http://schemas.microsoft.com/office/drawing/2014/main" id="{6463A8C1-CB24-244D-A3D2-E5A725CF39A3}"/>
              </a:ext>
            </a:extLst>
          </p:cNvPr>
          <p:cNvSpPr/>
          <p:nvPr/>
        </p:nvSpPr>
        <p:spPr>
          <a:xfrm>
            <a:off x="381000" y="1270000"/>
            <a:ext cx="11430000" cy="1651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QHdr">
            <a:extLst>
              <a:ext uri="{FF2B5EF4-FFF2-40B4-BE49-F238E27FC236}">
                <a16:creationId xmlns:a16="http://schemas.microsoft.com/office/drawing/2014/main" id="{A873FE17-452D-1C46-BE03-87C241521CFC}"/>
              </a:ext>
            </a:extLst>
          </p:cNvPr>
          <p:cNvSpPr/>
          <p:nvPr/>
        </p:nvSpPr>
        <p:spPr>
          <a:xfrm>
            <a:off x="381000" y="1270000"/>
            <a:ext cx="11430000" cy="406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QHdrT">
            <a:extLst>
              <a:ext uri="{FF2B5EF4-FFF2-40B4-BE49-F238E27FC236}">
                <a16:creationId xmlns:a16="http://schemas.microsoft.com/office/drawing/2014/main" id="{0E8D8F98-1006-2244-8351-AB5ACD4341DA}"/>
              </a:ext>
            </a:extLst>
          </p:cNvPr>
          <p:cNvSpPr txBox="1"/>
          <p:nvPr/>
        </p:nvSpPr>
        <p:spPr>
          <a:xfrm>
            <a:off x="558800" y="13335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Question</a:t>
            </a:r>
          </a:p>
        </p:txBody>
      </p:sp>
      <p:sp>
        <p:nvSpPr>
          <p:cNvPr id="25" name="QBody">
            <a:extLst>
              <a:ext uri="{FF2B5EF4-FFF2-40B4-BE49-F238E27FC236}">
                <a16:creationId xmlns:a16="http://schemas.microsoft.com/office/drawing/2014/main" id="{78DEBAF2-2684-544B-8921-804A5084558A}"/>
              </a:ext>
            </a:extLst>
          </p:cNvPr>
          <p:cNvSpPr txBox="1"/>
          <p:nvPr/>
        </p:nvSpPr>
        <p:spPr>
          <a:xfrm>
            <a:off x="558800" y="1803400"/>
            <a:ext cx="11049000" cy="990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 dirty="0">
                <a:solidFill>
                  <a:srgbClr val="333333"/>
                </a:solidFill>
                <a:latin typeface="Cambria Math"/>
                <a:ea typeface="Cambria Math"/>
              </a:rPr>
              <a:t>Does the inverse of  B = [[2, 4],
                                                [3, 6]]  exist?
If yes, compute it; if no, explain why.</a:t>
            </a:r>
          </a:p>
        </p:txBody>
      </p:sp>
      <p:sp>
        <p:nvSpPr>
          <p:cNvPr id="26" name="SCard">
            <a:extLst>
              <a:ext uri="{FF2B5EF4-FFF2-40B4-BE49-F238E27FC236}">
                <a16:creationId xmlns:a16="http://schemas.microsoft.com/office/drawing/2014/main" id="{4AB23A27-ABF0-7648-987B-ABF17B99515C}"/>
              </a:ext>
            </a:extLst>
          </p:cNvPr>
          <p:cNvSpPr/>
          <p:nvPr/>
        </p:nvSpPr>
        <p:spPr>
          <a:xfrm>
            <a:off x="381000" y="3111500"/>
            <a:ext cx="11430000" cy="22225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77777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SHdr">
            <a:extLst>
              <a:ext uri="{FF2B5EF4-FFF2-40B4-BE49-F238E27FC236}">
                <a16:creationId xmlns:a16="http://schemas.microsoft.com/office/drawing/2014/main" id="{7E7CCE01-4BFD-6641-9313-8FC2C9BC5B74}"/>
              </a:ext>
            </a:extLst>
          </p:cNvPr>
          <p:cNvSpPr/>
          <p:nvPr/>
        </p:nvSpPr>
        <p:spPr>
          <a:xfrm>
            <a:off x="381000" y="3111500"/>
            <a:ext cx="11430000" cy="3810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SHdrT">
            <a:extLst>
              <a:ext uri="{FF2B5EF4-FFF2-40B4-BE49-F238E27FC236}">
                <a16:creationId xmlns:a16="http://schemas.microsoft.com/office/drawing/2014/main" id="{560161B7-693C-6944-B2B0-8F70909877F5}"/>
              </a:ext>
            </a:extLst>
          </p:cNvPr>
          <p:cNvSpPr txBox="1"/>
          <p:nvPr/>
        </p:nvSpPr>
        <p:spPr>
          <a:xfrm>
            <a:off x="558800" y="31496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Solution (hidden until reveal)</a:t>
            </a:r>
          </a:p>
        </p:txBody>
      </p:sp>
      <p:sp>
        <p:nvSpPr>
          <p:cNvPr id="29" name="SStep1">
            <a:extLst>
              <a:ext uri="{FF2B5EF4-FFF2-40B4-BE49-F238E27FC236}">
                <a16:creationId xmlns:a16="http://schemas.microsoft.com/office/drawing/2014/main" id="{93C505BA-1CCD-EC44-870C-26D60A6D1456}"/>
              </a:ext>
            </a:extLst>
          </p:cNvPr>
          <p:cNvSpPr txBox="1"/>
          <p:nvPr/>
        </p:nvSpPr>
        <p:spPr>
          <a:xfrm>
            <a:off x="558800" y="35814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i="1">
                <a:solidFill>
                  <a:srgbClr val="B0B0B0"/>
                </a:solidFill>
                <a:latin typeface="Cambria Math"/>
                <a:ea typeface="Cambria Math"/>
              </a:rPr>
              <a:t>Step 1.  Compute the determinant:    det(B) = 2·6 − 4·3 = 12 − 12 = 0</a:t>
            </a:r>
          </a:p>
        </p:txBody>
      </p:sp>
      <p:sp>
        <p:nvSpPr>
          <p:cNvPr id="30" name="SStep2">
            <a:extLst>
              <a:ext uri="{FF2B5EF4-FFF2-40B4-BE49-F238E27FC236}">
                <a16:creationId xmlns:a16="http://schemas.microsoft.com/office/drawing/2014/main" id="{8D1A06D9-B42F-7B4E-A5DC-3FCBC0FC6D4F}"/>
              </a:ext>
            </a:extLst>
          </p:cNvPr>
          <p:cNvSpPr txBox="1"/>
          <p:nvPr/>
        </p:nvSpPr>
        <p:spPr>
          <a:xfrm>
            <a:off x="558800" y="38608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i="1">
                <a:solidFill>
                  <a:srgbClr val="B0B0B0"/>
                </a:solidFill>
                <a:latin typeface="Cambria Math"/>
                <a:ea typeface="Cambria Math"/>
              </a:rPr>
              <a:t>Step 2.  det(B) = 0  →  B is SINGULAR (not invertible).</a:t>
            </a:r>
          </a:p>
        </p:txBody>
      </p:sp>
      <p:sp>
        <p:nvSpPr>
          <p:cNvPr id="31" name="SStep3">
            <a:extLst>
              <a:ext uri="{FF2B5EF4-FFF2-40B4-BE49-F238E27FC236}">
                <a16:creationId xmlns:a16="http://schemas.microsoft.com/office/drawing/2014/main" id="{FF88E90D-49D0-5641-B963-C726CE040A6B}"/>
              </a:ext>
            </a:extLst>
          </p:cNvPr>
          <p:cNvSpPr txBox="1"/>
          <p:nvPr/>
        </p:nvSpPr>
        <p:spPr>
          <a:xfrm>
            <a:off x="558800" y="41402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i="1">
                <a:solidFill>
                  <a:srgbClr val="B0B0B0"/>
                </a:solidFill>
                <a:latin typeface="Arial"/>
                <a:cs typeface="Arial"/>
              </a:rPr>
              <a:t>Why:  row 2 = 1.5 × row 1  →  the rows are linearly dependent.</a:t>
            </a:r>
          </a:p>
        </p:txBody>
      </p:sp>
      <p:sp>
        <p:nvSpPr>
          <p:cNvPr id="32" name="SStep4">
            <a:extLst>
              <a:ext uri="{FF2B5EF4-FFF2-40B4-BE49-F238E27FC236}">
                <a16:creationId xmlns:a16="http://schemas.microsoft.com/office/drawing/2014/main" id="{BD11E779-CBB8-9842-AE63-CA555E063D99}"/>
              </a:ext>
            </a:extLst>
          </p:cNvPr>
          <p:cNvSpPr txBox="1"/>
          <p:nvPr/>
        </p:nvSpPr>
        <p:spPr>
          <a:xfrm>
            <a:off x="558800" y="44196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B0B0B0"/>
                </a:solidFill>
                <a:latin typeface="Arial"/>
                <a:cs typeface="Arial"/>
              </a:rPr>
              <a:t>Geometrically: B collapses ℝ² onto a single line, so no transformation undoes that collapse.</a:t>
            </a:r>
          </a:p>
        </p:txBody>
      </p:sp>
      <p:sp>
        <p:nvSpPr>
          <p:cNvPr id="33" name="SAns">
            <a:extLst>
              <a:ext uri="{FF2B5EF4-FFF2-40B4-BE49-F238E27FC236}">
                <a16:creationId xmlns:a16="http://schemas.microsoft.com/office/drawing/2014/main" id="{67825858-AA79-1F47-8256-1AE74464AB28}"/>
              </a:ext>
            </a:extLst>
          </p:cNvPr>
          <p:cNvSpPr txBox="1"/>
          <p:nvPr/>
        </p:nvSpPr>
        <p:spPr>
          <a:xfrm>
            <a:off x="558800" y="48260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D1578A"/>
                </a:solidFill>
                <a:latin typeface="Cambria Math"/>
                <a:ea typeface="Cambria Math"/>
              </a:rPr>
              <a:t>Answer:   B⁻¹ does NOT exist — B is singular (det = 0).</a:t>
            </a:r>
          </a:p>
        </p:txBody>
      </p:sp>
      <p:sp>
        <p:nvSpPr>
          <p:cNvPr id="34" name="TkBar">
            <a:extLst>
              <a:ext uri="{FF2B5EF4-FFF2-40B4-BE49-F238E27FC236}">
                <a16:creationId xmlns:a16="http://schemas.microsoft.com/office/drawing/2014/main" id="{CB8D0BEE-BC87-234A-9D2A-41405E0C3703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TkText">
            <a:extLst>
              <a:ext uri="{FF2B5EF4-FFF2-40B4-BE49-F238E27FC236}">
                <a16:creationId xmlns:a16="http://schemas.microsoft.com/office/drawing/2014/main" id="{5BC792BA-3EAA-E848-BA9E-8CA3F7ECEC03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det(A) = 0  ⇔  A is singular  ⇔  A⁻¹ does not exist</a:t>
            </a:r>
          </a:p>
        </p:txBody>
      </p:sp>
    </p:spTree>
    <p:extLst>
      <p:ext uri="{BB962C8B-B14F-4D97-AF65-F5344CB8AC3E}">
        <p14:creationId xmlns:p14="http://schemas.microsoft.com/office/powerpoint/2010/main" val="1208494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102B73AF-FF1E-C54B-8087-5371AD6A82C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DF95E8F1-60BF-0C40-95BE-F79048304E52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Example 3 — Solve a Linear System Using A⁻¹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5F1A5135-CB67-744E-AE14-75E4921F1082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From Ax = b to x = A⁻¹b</a:t>
            </a:r>
          </a:p>
        </p:txBody>
      </p:sp>
      <p:sp>
        <p:nvSpPr>
          <p:cNvPr id="5" name="QCard">
            <a:extLst>
              <a:ext uri="{FF2B5EF4-FFF2-40B4-BE49-F238E27FC236}">
                <a16:creationId xmlns:a16="http://schemas.microsoft.com/office/drawing/2014/main" id="{10E6C287-E425-1641-8E39-817303B2DCEF}"/>
              </a:ext>
            </a:extLst>
          </p:cNvPr>
          <p:cNvSpPr/>
          <p:nvPr/>
        </p:nvSpPr>
        <p:spPr>
          <a:xfrm>
            <a:off x="381000" y="1270000"/>
            <a:ext cx="11430000" cy="1651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QHdr">
            <a:extLst>
              <a:ext uri="{FF2B5EF4-FFF2-40B4-BE49-F238E27FC236}">
                <a16:creationId xmlns:a16="http://schemas.microsoft.com/office/drawing/2014/main" id="{843E8D30-2ED7-3640-B3E9-97C32E928D2A}"/>
              </a:ext>
            </a:extLst>
          </p:cNvPr>
          <p:cNvSpPr/>
          <p:nvPr/>
        </p:nvSpPr>
        <p:spPr>
          <a:xfrm>
            <a:off x="381000" y="1270000"/>
            <a:ext cx="11430000" cy="406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QHdrT">
            <a:extLst>
              <a:ext uri="{FF2B5EF4-FFF2-40B4-BE49-F238E27FC236}">
                <a16:creationId xmlns:a16="http://schemas.microsoft.com/office/drawing/2014/main" id="{F457F591-9BA7-144D-9732-10FE8DDF96A4}"/>
              </a:ext>
            </a:extLst>
          </p:cNvPr>
          <p:cNvSpPr txBox="1"/>
          <p:nvPr/>
        </p:nvSpPr>
        <p:spPr>
          <a:xfrm>
            <a:off x="558800" y="13335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Question</a:t>
            </a:r>
          </a:p>
        </p:txBody>
      </p:sp>
      <p:sp>
        <p:nvSpPr>
          <p:cNvPr id="8" name="QBody">
            <a:extLst>
              <a:ext uri="{FF2B5EF4-FFF2-40B4-BE49-F238E27FC236}">
                <a16:creationId xmlns:a16="http://schemas.microsoft.com/office/drawing/2014/main" id="{E9049A33-204F-DB44-81DD-E428163D169F}"/>
              </a:ext>
            </a:extLst>
          </p:cNvPr>
          <p:cNvSpPr txBox="1"/>
          <p:nvPr/>
        </p:nvSpPr>
        <p:spPr>
          <a:xfrm>
            <a:off x="558800" y="1803400"/>
            <a:ext cx="11049000" cy="990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  <a:latin typeface="Cambria Math"/>
                <a:ea typeface="Cambria Math"/>
              </a:rPr>
              <a:t>Solve  A·x = b   for  x,  given
      A = [[1, 2], [3, 5]]      and      b = (4, 13).</a:t>
            </a:r>
          </a:p>
        </p:txBody>
      </p:sp>
      <p:sp>
        <p:nvSpPr>
          <p:cNvPr id="9" name="SCard">
            <a:extLst>
              <a:ext uri="{FF2B5EF4-FFF2-40B4-BE49-F238E27FC236}">
                <a16:creationId xmlns:a16="http://schemas.microsoft.com/office/drawing/2014/main" id="{8BADD3FB-284A-DA41-B463-0D00E5887784}"/>
              </a:ext>
            </a:extLst>
          </p:cNvPr>
          <p:cNvSpPr/>
          <p:nvPr/>
        </p:nvSpPr>
        <p:spPr>
          <a:xfrm>
            <a:off x="381000" y="3111500"/>
            <a:ext cx="11430000" cy="22225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77777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SHdr">
            <a:extLst>
              <a:ext uri="{FF2B5EF4-FFF2-40B4-BE49-F238E27FC236}">
                <a16:creationId xmlns:a16="http://schemas.microsoft.com/office/drawing/2014/main" id="{95CEE60F-90D3-324E-B39C-5BE709676BA7}"/>
              </a:ext>
            </a:extLst>
          </p:cNvPr>
          <p:cNvSpPr/>
          <p:nvPr/>
        </p:nvSpPr>
        <p:spPr>
          <a:xfrm>
            <a:off x="381000" y="3111500"/>
            <a:ext cx="11430000" cy="3810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SHdrT">
            <a:extLst>
              <a:ext uri="{FF2B5EF4-FFF2-40B4-BE49-F238E27FC236}">
                <a16:creationId xmlns:a16="http://schemas.microsoft.com/office/drawing/2014/main" id="{4B860290-F81A-2946-92CE-22BDFCD88EB7}"/>
              </a:ext>
            </a:extLst>
          </p:cNvPr>
          <p:cNvSpPr txBox="1"/>
          <p:nvPr/>
        </p:nvSpPr>
        <p:spPr>
          <a:xfrm>
            <a:off x="558800" y="31496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Solution (hidden until reveal)</a:t>
            </a:r>
          </a:p>
        </p:txBody>
      </p:sp>
      <p:sp>
        <p:nvSpPr>
          <p:cNvPr id="12" name="SStep1">
            <a:extLst>
              <a:ext uri="{FF2B5EF4-FFF2-40B4-BE49-F238E27FC236}">
                <a16:creationId xmlns:a16="http://schemas.microsoft.com/office/drawing/2014/main" id="{E2EDEA53-130A-2B46-8D11-D5E912331A61}"/>
              </a:ext>
            </a:extLst>
          </p:cNvPr>
          <p:cNvSpPr txBox="1"/>
          <p:nvPr/>
        </p:nvSpPr>
        <p:spPr>
          <a:xfrm>
            <a:off x="558800" y="35814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i="1">
                <a:solidFill>
                  <a:srgbClr val="B0B0B0"/>
                </a:solidFill>
                <a:latin typeface="Cambria Math"/>
                <a:ea typeface="Cambria Math"/>
              </a:rPr>
              <a:t>Step 1.  det(A) = 1·5 − 2·3 = −1  (nonzero → A is invertible)</a:t>
            </a:r>
          </a:p>
        </p:txBody>
      </p:sp>
      <p:sp>
        <p:nvSpPr>
          <p:cNvPr id="13" name="SStep2">
            <a:extLst>
              <a:ext uri="{FF2B5EF4-FFF2-40B4-BE49-F238E27FC236}">
                <a16:creationId xmlns:a16="http://schemas.microsoft.com/office/drawing/2014/main" id="{050BA293-F93C-7D45-AB51-1D2F117CDD7C}"/>
              </a:ext>
            </a:extLst>
          </p:cNvPr>
          <p:cNvSpPr txBox="1"/>
          <p:nvPr/>
        </p:nvSpPr>
        <p:spPr>
          <a:xfrm>
            <a:off x="558800" y="38608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i="1">
                <a:solidFill>
                  <a:srgbClr val="B0B0B0"/>
                </a:solidFill>
                <a:latin typeface="Cambria Math"/>
                <a:ea typeface="Cambria Math"/>
              </a:rPr>
              <a:t>Step 2.  A⁻¹ = (1/−1)·[[5, −2],[−3, 1]] = [[−5, 2], [3, −1]]</a:t>
            </a:r>
          </a:p>
        </p:txBody>
      </p:sp>
      <p:sp>
        <p:nvSpPr>
          <p:cNvPr id="14" name="SStep3">
            <a:extLst>
              <a:ext uri="{FF2B5EF4-FFF2-40B4-BE49-F238E27FC236}">
                <a16:creationId xmlns:a16="http://schemas.microsoft.com/office/drawing/2014/main" id="{7624052C-EE7D-B14A-AAE2-5F5B8C9C336C}"/>
              </a:ext>
            </a:extLst>
          </p:cNvPr>
          <p:cNvSpPr txBox="1"/>
          <p:nvPr/>
        </p:nvSpPr>
        <p:spPr>
          <a:xfrm>
            <a:off x="558800" y="41402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i="1">
                <a:solidFill>
                  <a:srgbClr val="B0B0B0"/>
                </a:solidFill>
                <a:latin typeface="Cambria Math"/>
                <a:ea typeface="Cambria Math"/>
              </a:rPr>
              <a:t>Step 3.  x = A⁻¹·b = [[−5,2],[3,−1]] · (4, 13) = (−5·4 + 2·13,  3·4 − 1·13)</a:t>
            </a:r>
          </a:p>
        </p:txBody>
      </p:sp>
      <p:sp>
        <p:nvSpPr>
          <p:cNvPr id="15" name="SStep4">
            <a:extLst>
              <a:ext uri="{FF2B5EF4-FFF2-40B4-BE49-F238E27FC236}">
                <a16:creationId xmlns:a16="http://schemas.microsoft.com/office/drawing/2014/main" id="{41CD0554-D61F-094B-960C-44088E1D509B}"/>
              </a:ext>
            </a:extLst>
          </p:cNvPr>
          <p:cNvSpPr txBox="1"/>
          <p:nvPr/>
        </p:nvSpPr>
        <p:spPr>
          <a:xfrm>
            <a:off x="558800" y="44196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i="1">
                <a:solidFill>
                  <a:srgbClr val="B0B0B0"/>
                </a:solidFill>
                <a:latin typeface="Cambria Math"/>
                <a:ea typeface="Cambria Math"/>
              </a:rPr>
              <a:t>                                       = (−20 + 26,   12 − 13)   =   (6, −1)</a:t>
            </a:r>
          </a:p>
        </p:txBody>
      </p:sp>
      <p:sp>
        <p:nvSpPr>
          <p:cNvPr id="16" name="SCheck">
            <a:extLst>
              <a:ext uri="{FF2B5EF4-FFF2-40B4-BE49-F238E27FC236}">
                <a16:creationId xmlns:a16="http://schemas.microsoft.com/office/drawing/2014/main" id="{4C78EB3D-AC89-B14F-BEDC-0B248E23DE1A}"/>
              </a:ext>
            </a:extLst>
          </p:cNvPr>
          <p:cNvSpPr txBox="1"/>
          <p:nvPr/>
        </p:nvSpPr>
        <p:spPr>
          <a:xfrm>
            <a:off x="558800" y="4572000"/>
            <a:ext cx="1104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B0B0B0"/>
                </a:solidFill>
                <a:latin typeface="Cambria Math"/>
                <a:ea typeface="Cambria Math"/>
              </a:rPr>
              <a:t>Verify:  A·x = (1·6 + 2·(−1),  3·6 + 5·(−1)) = (4, 13) = b ✓</a:t>
            </a:r>
          </a:p>
        </p:txBody>
      </p:sp>
      <p:sp>
        <p:nvSpPr>
          <p:cNvPr id="17" name="SAns">
            <a:extLst>
              <a:ext uri="{FF2B5EF4-FFF2-40B4-BE49-F238E27FC236}">
                <a16:creationId xmlns:a16="http://schemas.microsoft.com/office/drawing/2014/main" id="{5A6C0814-8D1E-AC43-88B2-C41B0BA2BCB5}"/>
              </a:ext>
            </a:extLst>
          </p:cNvPr>
          <p:cNvSpPr txBox="1"/>
          <p:nvPr/>
        </p:nvSpPr>
        <p:spPr>
          <a:xfrm>
            <a:off x="558800" y="48768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  <a:latin typeface="Cambria Math"/>
                <a:ea typeface="Cambria Math"/>
              </a:rPr>
              <a:t>Answer:   x = (6, −1)</a:t>
            </a:r>
          </a:p>
        </p:txBody>
      </p:sp>
      <p:sp>
        <p:nvSpPr>
          <p:cNvPr id="18" name="TkBar">
            <a:extLst>
              <a:ext uri="{FF2B5EF4-FFF2-40B4-BE49-F238E27FC236}">
                <a16:creationId xmlns:a16="http://schemas.microsoft.com/office/drawing/2014/main" id="{86E4F225-6E1E-2249-B565-8B47E77ED448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6" name="TkText">
            <a:extLst>
              <a:ext uri="{FF2B5EF4-FFF2-40B4-BE49-F238E27FC236}">
                <a16:creationId xmlns:a16="http://schemas.microsoft.com/office/drawing/2014/main" id="{DB6D7174-17D0-C04B-B9E6-DC7DA2E7D496}"/>
              </a:ext>
            </a:extLst>
          </p:cNvPr>
          <p:cNvSpPr txBox="1"/>
          <p:nvPr/>
        </p:nvSpPr>
        <p:spPr>
          <a:xfrm>
            <a:off x="381000" y="59055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Arial"/>
                <a:cs typeface="Arial"/>
              </a:rPr>
              <a:t>When A is invertible, every system Ax = b has the unique solution x = A⁻¹b</a:t>
            </a:r>
          </a:p>
        </p:txBody>
      </p:sp>
    </p:spTree>
    <p:extLst>
      <p:ext uri="{BB962C8B-B14F-4D97-AF65-F5344CB8AC3E}">
        <p14:creationId xmlns:p14="http://schemas.microsoft.com/office/powerpoint/2010/main" val="15836045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A99C01E-9AF5-A246-972D-B6F12846D509}"/>
              </a:ext>
            </a:extLst>
          </p:cNvPr>
          <p:cNvSpPr txBox="1"/>
          <p:nvPr/>
        </p:nvSpPr>
        <p:spPr>
          <a:xfrm>
            <a:off x="0" y="2870200"/>
            <a:ext cx="12192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1600" b="1" dirty="0">
                <a:solidFill>
                  <a:srgbClr val="B7A57A"/>
                </a:solidFill>
              </a:rPr>
              <a:t>LARGER MATRICES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4E7FC7-635F-B644-A810-502B5AE8B65C}"/>
              </a:ext>
            </a:extLst>
          </p:cNvPr>
          <p:cNvSpPr txBox="1"/>
          <p:nvPr/>
        </p:nvSpPr>
        <p:spPr>
          <a:xfrm>
            <a:off x="0" y="3175000"/>
            <a:ext cx="12192000" cy="939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5200" b="1" dirty="0">
                <a:solidFill>
                  <a:srgbClr val="FFFFFF"/>
                </a:solidFill>
              </a:rPr>
              <a:t>Determinant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9BF769-A120-AA4A-8AA9-9F68767A4BCF}"/>
              </a:ext>
            </a:extLst>
          </p:cNvPr>
          <p:cNvSpPr txBox="1"/>
          <p:nvPr/>
        </p:nvSpPr>
        <p:spPr>
          <a:xfrm>
            <a:off x="0" y="4241800"/>
            <a:ext cx="121920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2200" dirty="0">
                <a:solidFill>
                  <a:srgbClr val="EDE7F5"/>
                </a:solidFill>
              </a:rPr>
              <a:t>Cofactor expansion for the determinant, and the adjugate method for the inverse.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855145-CB61-834F-A334-A56A2549BBBE}"/>
              </a:ext>
            </a:extLst>
          </p:cNvPr>
          <p:cNvSpPr/>
          <p:nvPr/>
        </p:nvSpPr>
        <p:spPr>
          <a:xfrm>
            <a:off x="5461000" y="4089400"/>
            <a:ext cx="1270000" cy="381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CC1D55-465E-DD4D-B1EA-325018913BFF}"/>
              </a:ext>
            </a:extLst>
          </p:cNvPr>
          <p:cNvSpPr/>
          <p:nvPr/>
        </p:nvSpPr>
        <p:spPr>
          <a:xfrm>
            <a:off x="5207000" y="1651000"/>
            <a:ext cx="50800" cy="10414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5A408C8-C72C-DF4E-8B20-9B86628BCF24}"/>
              </a:ext>
            </a:extLst>
          </p:cNvPr>
          <p:cNvSpPr/>
          <p:nvPr/>
        </p:nvSpPr>
        <p:spPr>
          <a:xfrm>
            <a:off x="5207000" y="1651000"/>
            <a:ext cx="203200" cy="508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A69077C-D70E-9E45-819B-4085FDAC2264}"/>
              </a:ext>
            </a:extLst>
          </p:cNvPr>
          <p:cNvSpPr/>
          <p:nvPr/>
        </p:nvSpPr>
        <p:spPr>
          <a:xfrm>
            <a:off x="5207000" y="2641600"/>
            <a:ext cx="203200" cy="508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35A0C8B-B035-C04B-8982-2452373F3C61}"/>
              </a:ext>
            </a:extLst>
          </p:cNvPr>
          <p:cNvSpPr/>
          <p:nvPr/>
        </p:nvSpPr>
        <p:spPr>
          <a:xfrm>
            <a:off x="6934200" y="1651000"/>
            <a:ext cx="50800" cy="10414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F344BAA-2B8A-2749-9814-9CCB1E51DECF}"/>
              </a:ext>
            </a:extLst>
          </p:cNvPr>
          <p:cNvSpPr/>
          <p:nvPr/>
        </p:nvSpPr>
        <p:spPr>
          <a:xfrm>
            <a:off x="6781800" y="1651000"/>
            <a:ext cx="203200" cy="508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C0834F4-1032-BC4B-938B-68855366A108}"/>
              </a:ext>
            </a:extLst>
          </p:cNvPr>
          <p:cNvSpPr/>
          <p:nvPr/>
        </p:nvSpPr>
        <p:spPr>
          <a:xfrm>
            <a:off x="6781800" y="2641600"/>
            <a:ext cx="203200" cy="508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E71438A-46A8-D34E-BCCD-33DD02895FE1}"/>
              </a:ext>
            </a:extLst>
          </p:cNvPr>
          <p:cNvSpPr/>
          <p:nvPr/>
        </p:nvSpPr>
        <p:spPr>
          <a:xfrm>
            <a:off x="5549900" y="1905000"/>
            <a:ext cx="165100" cy="165100"/>
          </a:xfrm>
          <a:prstGeom prst="ellipse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01B521E-3A53-FD4D-A360-EDFA92F0C53F}"/>
              </a:ext>
            </a:extLst>
          </p:cNvPr>
          <p:cNvSpPr/>
          <p:nvPr/>
        </p:nvSpPr>
        <p:spPr>
          <a:xfrm>
            <a:off x="5549900" y="2311400"/>
            <a:ext cx="165100" cy="165100"/>
          </a:xfrm>
          <a:prstGeom prst="ellipse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9105533-7E46-F54C-B7F0-A5C4BF90B270}"/>
              </a:ext>
            </a:extLst>
          </p:cNvPr>
          <p:cNvSpPr/>
          <p:nvPr/>
        </p:nvSpPr>
        <p:spPr>
          <a:xfrm>
            <a:off x="6019800" y="1905000"/>
            <a:ext cx="165100" cy="165100"/>
          </a:xfrm>
          <a:prstGeom prst="ellips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68A2382-AFD6-8B4E-9500-94549F56EBA2}"/>
              </a:ext>
            </a:extLst>
          </p:cNvPr>
          <p:cNvSpPr/>
          <p:nvPr/>
        </p:nvSpPr>
        <p:spPr>
          <a:xfrm>
            <a:off x="6019800" y="2311400"/>
            <a:ext cx="165100" cy="165100"/>
          </a:xfrm>
          <a:prstGeom prst="ellips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BD90891-2F60-094B-9807-6AD9C525CAB4}"/>
              </a:ext>
            </a:extLst>
          </p:cNvPr>
          <p:cNvSpPr/>
          <p:nvPr/>
        </p:nvSpPr>
        <p:spPr>
          <a:xfrm>
            <a:off x="6489700" y="1905000"/>
            <a:ext cx="165100" cy="1651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49A0BF1-4C24-4D41-8A55-67C8B883E36C}"/>
              </a:ext>
            </a:extLst>
          </p:cNvPr>
          <p:cNvSpPr/>
          <p:nvPr/>
        </p:nvSpPr>
        <p:spPr>
          <a:xfrm>
            <a:off x="6489700" y="2311400"/>
            <a:ext cx="165100" cy="1651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0249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Determinant of a 3×3 by Cofactor Expansion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Expand along a row: multiply each entry by its signed 2×2 minor, then add.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Cofactor expansion reduces an n×n determinant to smaller ones — three 2×2 minors give det(A) = 1.</a:t>
            </a:r>
          </a:p>
        </p:txBody>
      </p:sp>
      <p:sp>
        <p:nvSpPr>
          <p:cNvPr id="6000" name="panel"/>
          <p:cNvSpPr/>
          <p:nvPr/>
        </p:nvSpPr>
        <p:spPr>
          <a:xfrm>
            <a:off x="304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22400"/>
            <a:ext cx="5232400" cy="355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Step 1 — Set up the expansion</a:t>
            </a:r>
          </a:p>
        </p:txBody>
      </p:sp>
      <p:sp>
        <p:nvSpPr>
          <p:cNvPr id="6002" name="tb"/>
          <p:cNvSpPr txBox="1"/>
          <p:nvPr/>
        </p:nvSpPr>
        <p:spPr>
          <a:xfrm>
            <a:off x="685800" y="1905000"/>
            <a:ext cx="1905000" cy="1143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700" b="1" dirty="0">
                <a:solidFill>
                  <a:srgbClr val="333333"/>
                </a:solidFill>
              </a:rPr>
              <a:t>A =</a:t>
            </a:r>
          </a:p>
        </p:txBody>
      </p:sp>
      <p:sp>
        <p:nvSpPr>
          <p:cNvPr id="6003" name="tb"/>
          <p:cNvSpPr txBox="1"/>
          <p:nvPr/>
        </p:nvSpPr>
        <p:spPr>
          <a:xfrm>
            <a:off x="1524000" y="1879600"/>
            <a:ext cx="2667000" cy="1219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spcBef>
                <a:spcPts val="200"/>
              </a:spcBef>
            </a:pPr>
            <a:r>
              <a:rPr lang="en-US" sz="1700" dirty="0">
                <a:solidFill>
                  <a:srgbClr val="333333"/>
                </a:solidFill>
              </a:rPr>
              <a:t>⎡  1   2   3  ⎤</a:t>
            </a:r>
          </a:p>
          <a:p>
            <a:pPr algn="l">
              <a:spcBef>
                <a:spcPts val="200"/>
              </a:spcBef>
            </a:pPr>
            <a:r>
              <a:rPr lang="en-US" sz="1700" dirty="0">
                <a:solidFill>
                  <a:srgbClr val="333333"/>
                </a:solidFill>
              </a:rPr>
              <a:t>⎢  0   1   4  ⎥</a:t>
            </a:r>
          </a:p>
          <a:p>
            <a:pPr algn="l">
              <a:spcBef>
                <a:spcPts val="200"/>
              </a:spcBef>
            </a:pPr>
            <a:r>
              <a:rPr lang="en-US" sz="1700" dirty="0">
                <a:solidFill>
                  <a:srgbClr val="333333"/>
                </a:solidFill>
              </a:rPr>
              <a:t>⎣  5   6   0  ⎦</a:t>
            </a:r>
          </a:p>
        </p:txBody>
      </p:sp>
      <p:sp>
        <p:nvSpPr>
          <p:cNvPr id="6004" name="tb"/>
          <p:cNvSpPr txBox="1"/>
          <p:nvPr/>
        </p:nvSpPr>
        <p:spPr>
          <a:xfrm>
            <a:off x="558800" y="31750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dirty="0">
                <a:solidFill>
                  <a:srgbClr val="595959"/>
                </a:solidFill>
              </a:rPr>
              <a:t>Signs along row 1:   </a:t>
            </a:r>
            <a:r>
              <a:rPr lang="en-US" sz="1600" b="1" dirty="0">
                <a:solidFill>
                  <a:srgbClr val="4B2E83"/>
                </a:solidFill>
              </a:rPr>
              <a:t>+  −  +</a:t>
            </a:r>
          </a:p>
        </p:txBody>
      </p:sp>
      <p:sp>
        <p:nvSpPr>
          <p:cNvPr id="6005" name="tb"/>
          <p:cNvSpPr txBox="1"/>
          <p:nvPr/>
        </p:nvSpPr>
        <p:spPr>
          <a:xfrm>
            <a:off x="558800" y="3657600"/>
            <a:ext cx="5232400" cy="50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333333"/>
                </a:solidFill>
              </a:rPr>
              <a:t>det(A) = +a₁₁·M₁₁ − a₁₂·M₁₂ + a₁₃·M₁₃</a:t>
            </a:r>
          </a:p>
        </p:txBody>
      </p:sp>
      <p:sp>
        <p:nvSpPr>
          <p:cNvPr id="6006" name="tb"/>
          <p:cNvSpPr txBox="1"/>
          <p:nvPr/>
        </p:nvSpPr>
        <p:spPr>
          <a:xfrm>
            <a:off x="558800" y="4292600"/>
            <a:ext cx="5232400" cy="50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i="1" dirty="0">
                <a:solidFill>
                  <a:srgbClr val="595959"/>
                </a:solidFill>
              </a:rPr>
              <a:t>with row 1 = </a:t>
            </a:r>
            <a:r>
              <a:rPr lang="en-US" sz="1450" b="1" i="1" dirty="0">
                <a:solidFill>
                  <a:srgbClr val="4B2E83"/>
                </a:solidFill>
              </a:rPr>
              <a:t>(1, 2, 3)</a:t>
            </a:r>
          </a:p>
        </p:txBody>
      </p:sp>
      <p:sp>
        <p:nvSpPr>
          <p:cNvPr id="6007" name="tb"/>
          <p:cNvSpPr txBox="1"/>
          <p:nvPr/>
        </p:nvSpPr>
        <p:spPr>
          <a:xfrm>
            <a:off x="558800" y="4902200"/>
            <a:ext cx="5232400" cy="50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50" b="1" dirty="0">
                <a:solidFill>
                  <a:srgbClr val="4B2E83"/>
                </a:solidFill>
              </a:rPr>
              <a:t>det(A) = (1)M₁₁ − (2)M₁₂ + (3)M₁₃</a:t>
            </a:r>
          </a:p>
        </p:txBody>
      </p:sp>
      <p:sp>
        <p:nvSpPr>
          <p:cNvPr id="6008" name="panel"/>
          <p:cNvSpPr/>
          <p:nvPr/>
        </p:nvSpPr>
        <p:spPr>
          <a:xfrm>
            <a:off x="6146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9" name="tb"/>
          <p:cNvSpPr txBox="1"/>
          <p:nvPr/>
        </p:nvSpPr>
        <p:spPr>
          <a:xfrm>
            <a:off x="6400800" y="1422400"/>
            <a:ext cx="5232400" cy="355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Step 2 — Minors, then combine</a:t>
            </a:r>
          </a:p>
        </p:txBody>
      </p:sp>
      <p:sp>
        <p:nvSpPr>
          <p:cNvPr id="6010" name="tb"/>
          <p:cNvSpPr txBox="1"/>
          <p:nvPr/>
        </p:nvSpPr>
        <p:spPr>
          <a:xfrm>
            <a:off x="6400800" y="1905000"/>
            <a:ext cx="5232400" cy="381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dirty="0">
                <a:solidFill>
                  <a:srgbClr val="333333"/>
                </a:solidFill>
              </a:rPr>
              <a:t>M₁₁ = det[ 1  4 ; 6  0 ] = (1)(0) − (4)(6) = </a:t>
            </a:r>
            <a:r>
              <a:rPr lang="en-US" sz="1400" b="1" dirty="0">
                <a:solidFill>
                  <a:srgbClr val="D1578A"/>
                </a:solidFill>
              </a:rPr>
              <a:t>−24</a:t>
            </a:r>
          </a:p>
        </p:txBody>
      </p:sp>
      <p:sp>
        <p:nvSpPr>
          <p:cNvPr id="6011" name="tb"/>
          <p:cNvSpPr txBox="1"/>
          <p:nvPr/>
        </p:nvSpPr>
        <p:spPr>
          <a:xfrm>
            <a:off x="6400800" y="2387600"/>
            <a:ext cx="5232400" cy="381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dirty="0">
                <a:solidFill>
                  <a:srgbClr val="333333"/>
                </a:solidFill>
              </a:rPr>
              <a:t>M₁₂ = det[ 0  4 ; 5  0 ] = (0)(0) − (4)(5) = </a:t>
            </a:r>
            <a:r>
              <a:rPr lang="en-US" sz="1400" b="1" dirty="0">
                <a:solidFill>
                  <a:srgbClr val="D1578A"/>
                </a:solidFill>
              </a:rPr>
              <a:t>−20</a:t>
            </a:r>
          </a:p>
        </p:txBody>
      </p:sp>
      <p:sp>
        <p:nvSpPr>
          <p:cNvPr id="6012" name="tb"/>
          <p:cNvSpPr txBox="1"/>
          <p:nvPr/>
        </p:nvSpPr>
        <p:spPr>
          <a:xfrm>
            <a:off x="6400800" y="2870200"/>
            <a:ext cx="5232400" cy="381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dirty="0">
                <a:solidFill>
                  <a:srgbClr val="333333"/>
                </a:solidFill>
              </a:rPr>
              <a:t>M₁₃ = det[ 0  1 ; 5  6 ] = (0)(6) − (1)(5) = </a:t>
            </a:r>
            <a:r>
              <a:rPr lang="en-US" sz="1400" b="1" dirty="0">
                <a:solidFill>
                  <a:srgbClr val="D1578A"/>
                </a:solidFill>
              </a:rPr>
              <a:t>−5</a:t>
            </a:r>
          </a:p>
        </p:txBody>
      </p:sp>
      <p:sp>
        <p:nvSpPr>
          <p:cNvPr id="6013" name="tb"/>
          <p:cNvSpPr txBox="1"/>
          <p:nvPr/>
        </p:nvSpPr>
        <p:spPr>
          <a:xfrm>
            <a:off x="6400800" y="3530600"/>
            <a:ext cx="5232400" cy="406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333333"/>
                </a:solidFill>
              </a:rPr>
              <a:t>det(A) = (1)(−24) − (2)(−20) + (3)(−5)</a:t>
            </a:r>
          </a:p>
        </p:txBody>
      </p:sp>
      <p:sp>
        <p:nvSpPr>
          <p:cNvPr id="6014" name="tb"/>
          <p:cNvSpPr txBox="1"/>
          <p:nvPr/>
        </p:nvSpPr>
        <p:spPr>
          <a:xfrm>
            <a:off x="6400800" y="4013200"/>
            <a:ext cx="5232400" cy="406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333333"/>
                </a:solidFill>
              </a:rPr>
              <a:t>        = −24 + 40 − 15</a:t>
            </a:r>
          </a:p>
        </p:txBody>
      </p:sp>
      <p:sp>
        <p:nvSpPr>
          <p:cNvPr id="6015" name="chip"/>
          <p:cNvSpPr/>
          <p:nvPr/>
        </p:nvSpPr>
        <p:spPr>
          <a:xfrm>
            <a:off x="7874000" y="4572000"/>
            <a:ext cx="2286000" cy="711200"/>
          </a:xfrm>
          <a:prstGeom prst="roundRect">
            <a:avLst>
              <a:gd name="adj" fmla="val 18000"/>
            </a:avLst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6" name="tb"/>
          <p:cNvSpPr txBox="1"/>
          <p:nvPr/>
        </p:nvSpPr>
        <p:spPr>
          <a:xfrm>
            <a:off x="7874000" y="4572000"/>
            <a:ext cx="2286000" cy="711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200" b="1" dirty="0">
                <a:solidFill>
                  <a:srgbClr val="FFFFFF"/>
                </a:solidFill>
              </a:rPr>
              <a:t>det(A) = 1</a:t>
            </a:r>
          </a:p>
        </p:txBody>
      </p:sp>
    </p:spTree>
    <p:extLst>
      <p:ext uri="{BB962C8B-B14F-4D97-AF65-F5344CB8AC3E}">
        <p14:creationId xmlns:p14="http://schemas.microsoft.com/office/powerpoint/2010/main" val="40317650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Cofactor C₁₁   ·   determinant (expand along row 1)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Multiply each row-1 entry by its signed minor.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det(A) = a₁₁C₁₁ + a₁₂C₁₂ + a₁₃C₁₃ — the three row-1 cofactors.</a:t>
            </a:r>
          </a:p>
        </p:txBody>
      </p:sp>
      <p:sp>
        <p:nvSpPr>
          <p:cNvPr id="6000" name="panel"/>
          <p:cNvSpPr/>
          <p:nvPr/>
        </p:nvSpPr>
        <p:spPr>
          <a:xfrm>
            <a:off x="304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224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Delete row 1 and column 1:</a:t>
            </a:r>
          </a:p>
        </p:txBody>
      </p:sp>
      <p:sp>
        <p:nvSpPr>
          <p:cNvPr id="6002" name="hl"/>
          <p:cNvSpPr/>
          <p:nvPr/>
        </p:nvSpPr>
        <p:spPr>
          <a:xfrm>
            <a:off x="1905000" y="2540000"/>
            <a:ext cx="736600" cy="635000"/>
          </a:xfrm>
          <a:prstGeom prst="rect">
            <a:avLst/>
          </a:prstGeom>
          <a:solidFill>
            <a:srgbClr val="4B2E83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3" name="hl"/>
          <p:cNvSpPr/>
          <p:nvPr/>
        </p:nvSpPr>
        <p:spPr>
          <a:xfrm>
            <a:off x="2641600" y="3175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4" name="hl"/>
          <p:cNvSpPr/>
          <p:nvPr/>
        </p:nvSpPr>
        <p:spPr>
          <a:xfrm>
            <a:off x="3378200" y="3175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5" name="hl"/>
          <p:cNvSpPr/>
          <p:nvPr/>
        </p:nvSpPr>
        <p:spPr>
          <a:xfrm>
            <a:off x="2641600" y="3810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6" name="hl"/>
          <p:cNvSpPr/>
          <p:nvPr/>
        </p:nvSpPr>
        <p:spPr>
          <a:xfrm>
            <a:off x="3378200" y="3810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7" name="hl"/>
          <p:cNvSpPr/>
          <p:nvPr/>
        </p:nvSpPr>
        <p:spPr>
          <a:xfrm>
            <a:off x="1752600" y="2489200"/>
            <a:ext cx="50800" cy="2006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8" name="hl"/>
          <p:cNvSpPr/>
          <p:nvPr/>
        </p:nvSpPr>
        <p:spPr>
          <a:xfrm>
            <a:off x="1752600" y="24892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9" name="hl"/>
          <p:cNvSpPr/>
          <p:nvPr/>
        </p:nvSpPr>
        <p:spPr>
          <a:xfrm>
            <a:off x="1752600" y="4445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0" name="hl"/>
          <p:cNvSpPr/>
          <p:nvPr/>
        </p:nvSpPr>
        <p:spPr>
          <a:xfrm>
            <a:off x="4216400" y="2489200"/>
            <a:ext cx="50800" cy="2006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1" name="hl"/>
          <p:cNvSpPr/>
          <p:nvPr/>
        </p:nvSpPr>
        <p:spPr>
          <a:xfrm>
            <a:off x="4114800" y="24892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2" name="hl"/>
          <p:cNvSpPr/>
          <p:nvPr/>
        </p:nvSpPr>
        <p:spPr>
          <a:xfrm>
            <a:off x="4114800" y="4445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3" name="tb"/>
          <p:cNvSpPr txBox="1"/>
          <p:nvPr/>
        </p:nvSpPr>
        <p:spPr>
          <a:xfrm>
            <a:off x="1117600" y="3175000"/>
            <a:ext cx="7112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800" b="1" dirty="0">
                <a:solidFill>
                  <a:srgbClr val="333333"/>
                </a:solidFill>
              </a:rPr>
              <a:t>A =</a:t>
            </a:r>
          </a:p>
        </p:txBody>
      </p:sp>
      <p:sp>
        <p:nvSpPr>
          <p:cNvPr id="6014" name="tb"/>
          <p:cNvSpPr txBox="1"/>
          <p:nvPr/>
        </p:nvSpPr>
        <p:spPr>
          <a:xfrm>
            <a:off x="1905000" y="254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15" name="tb"/>
          <p:cNvSpPr txBox="1"/>
          <p:nvPr/>
        </p:nvSpPr>
        <p:spPr>
          <a:xfrm>
            <a:off x="2641600" y="254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6016" name="tb"/>
          <p:cNvSpPr txBox="1"/>
          <p:nvPr/>
        </p:nvSpPr>
        <p:spPr>
          <a:xfrm>
            <a:off x="3378200" y="254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6017" name="tb"/>
          <p:cNvSpPr txBox="1"/>
          <p:nvPr/>
        </p:nvSpPr>
        <p:spPr>
          <a:xfrm>
            <a:off x="1905000" y="3175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6018" name="tb"/>
          <p:cNvSpPr txBox="1"/>
          <p:nvPr/>
        </p:nvSpPr>
        <p:spPr>
          <a:xfrm>
            <a:off x="2641600" y="3175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19" name="tb"/>
          <p:cNvSpPr txBox="1"/>
          <p:nvPr/>
        </p:nvSpPr>
        <p:spPr>
          <a:xfrm>
            <a:off x="3378200" y="3175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1905000" y="381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21" name="tb"/>
          <p:cNvSpPr txBox="1"/>
          <p:nvPr/>
        </p:nvSpPr>
        <p:spPr>
          <a:xfrm>
            <a:off x="2641600" y="381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6022" name="tb"/>
          <p:cNvSpPr txBox="1"/>
          <p:nvPr/>
        </p:nvSpPr>
        <p:spPr>
          <a:xfrm>
            <a:off x="3378200" y="381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6023" name="sq"/>
          <p:cNvSpPr/>
          <p:nvPr/>
        </p:nvSpPr>
        <p:spPr>
          <a:xfrm>
            <a:off x="889000" y="4724400"/>
            <a:ext cx="203200" cy="203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4" name="tb"/>
          <p:cNvSpPr txBox="1"/>
          <p:nvPr/>
        </p:nvSpPr>
        <p:spPr>
          <a:xfrm>
            <a:off x="1168400" y="4699000"/>
            <a:ext cx="1524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dirty="0">
                <a:solidFill>
                  <a:srgbClr val="595959"/>
                </a:solidFill>
              </a:rPr>
              <a:t>pivot a₁₁</a:t>
            </a:r>
          </a:p>
        </p:txBody>
      </p:sp>
      <p:sp>
        <p:nvSpPr>
          <p:cNvPr id="6025" name="sq"/>
          <p:cNvSpPr/>
          <p:nvPr/>
        </p:nvSpPr>
        <p:spPr>
          <a:xfrm>
            <a:off x="2667000" y="4724400"/>
            <a:ext cx="203200" cy="203200"/>
          </a:xfrm>
          <a:prstGeom prst="rect">
            <a:avLst/>
          </a:prstGeom>
          <a:solidFill>
            <a:srgbClr val="7AB64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6" name="tb"/>
          <p:cNvSpPr txBox="1"/>
          <p:nvPr/>
        </p:nvSpPr>
        <p:spPr>
          <a:xfrm>
            <a:off x="2946400" y="4699000"/>
            <a:ext cx="2032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dirty="0">
                <a:solidFill>
                  <a:srgbClr val="595959"/>
                </a:solidFill>
              </a:rPr>
              <a:t>minor M₁₁ cells</a:t>
            </a:r>
          </a:p>
        </p:txBody>
      </p:sp>
      <p:sp>
        <p:nvSpPr>
          <p:cNvPr id="6027" name="panel"/>
          <p:cNvSpPr/>
          <p:nvPr/>
        </p:nvSpPr>
        <p:spPr>
          <a:xfrm>
            <a:off x="6146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8" name="tb"/>
          <p:cNvSpPr txBox="1"/>
          <p:nvPr/>
        </p:nvSpPr>
        <p:spPr>
          <a:xfrm>
            <a:off x="6400800" y="14224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Compute the cofactor</a:t>
            </a:r>
          </a:p>
        </p:txBody>
      </p:sp>
      <p:sp>
        <p:nvSpPr>
          <p:cNvPr id="6029" name="tb"/>
          <p:cNvSpPr txBox="1"/>
          <p:nvPr/>
        </p:nvSpPr>
        <p:spPr>
          <a:xfrm>
            <a:off x="6400800" y="1854200"/>
            <a:ext cx="52324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What remains is the 2×2 minor M₁₁:</a:t>
            </a:r>
          </a:p>
        </p:txBody>
      </p:sp>
      <p:sp>
        <p:nvSpPr>
          <p:cNvPr id="6030" name="hl"/>
          <p:cNvSpPr/>
          <p:nvPr/>
        </p:nvSpPr>
        <p:spPr>
          <a:xfrm>
            <a:off x="7620000" y="23114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1" name="hl"/>
          <p:cNvSpPr/>
          <p:nvPr/>
        </p:nvSpPr>
        <p:spPr>
          <a:xfrm>
            <a:off x="8305800" y="23114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2" name="hl"/>
          <p:cNvSpPr/>
          <p:nvPr/>
        </p:nvSpPr>
        <p:spPr>
          <a:xfrm>
            <a:off x="7620000" y="28702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3" name="hl"/>
          <p:cNvSpPr/>
          <p:nvPr/>
        </p:nvSpPr>
        <p:spPr>
          <a:xfrm>
            <a:off x="8305800" y="28702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4" name="hl"/>
          <p:cNvSpPr/>
          <p:nvPr/>
        </p:nvSpPr>
        <p:spPr>
          <a:xfrm>
            <a:off x="7467600" y="2260600"/>
            <a:ext cx="50800" cy="1219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5" name="hl"/>
          <p:cNvSpPr/>
          <p:nvPr/>
        </p:nvSpPr>
        <p:spPr>
          <a:xfrm>
            <a:off x="7467600" y="22606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6" name="hl"/>
          <p:cNvSpPr/>
          <p:nvPr/>
        </p:nvSpPr>
        <p:spPr>
          <a:xfrm>
            <a:off x="7467600" y="3429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7" name="hl"/>
          <p:cNvSpPr/>
          <p:nvPr/>
        </p:nvSpPr>
        <p:spPr>
          <a:xfrm>
            <a:off x="9093200" y="2260600"/>
            <a:ext cx="50800" cy="1219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8" name="hl"/>
          <p:cNvSpPr/>
          <p:nvPr/>
        </p:nvSpPr>
        <p:spPr>
          <a:xfrm>
            <a:off x="8991600" y="22606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9" name="hl"/>
          <p:cNvSpPr/>
          <p:nvPr/>
        </p:nvSpPr>
        <p:spPr>
          <a:xfrm>
            <a:off x="8991600" y="3429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0" name="tb"/>
          <p:cNvSpPr txBox="1"/>
          <p:nvPr/>
        </p:nvSpPr>
        <p:spPr>
          <a:xfrm>
            <a:off x="7620000" y="23114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41" name="tb"/>
          <p:cNvSpPr txBox="1"/>
          <p:nvPr/>
        </p:nvSpPr>
        <p:spPr>
          <a:xfrm>
            <a:off x="8305800" y="23114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42" name="tb"/>
          <p:cNvSpPr txBox="1"/>
          <p:nvPr/>
        </p:nvSpPr>
        <p:spPr>
          <a:xfrm>
            <a:off x="7620000" y="28702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6043" name="tb"/>
          <p:cNvSpPr txBox="1"/>
          <p:nvPr/>
        </p:nvSpPr>
        <p:spPr>
          <a:xfrm>
            <a:off x="8305800" y="28702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6044" name="tb"/>
          <p:cNvSpPr txBox="1"/>
          <p:nvPr/>
        </p:nvSpPr>
        <p:spPr>
          <a:xfrm>
            <a:off x="6400800" y="36322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dirty="0">
                <a:solidFill>
                  <a:srgbClr val="333333"/>
                </a:solidFill>
              </a:rPr>
              <a:t>M₁₁ = (1)(0) − (4)(6) = </a:t>
            </a:r>
            <a:r>
              <a:rPr lang="en-US" sz="1450" b="1" dirty="0">
                <a:solidFill>
                  <a:srgbClr val="D1578A"/>
                </a:solidFill>
              </a:rPr>
              <a:t>−24</a:t>
            </a:r>
          </a:p>
        </p:txBody>
      </p:sp>
      <p:sp>
        <p:nvSpPr>
          <p:cNvPr id="6045" name="tb"/>
          <p:cNvSpPr txBox="1"/>
          <p:nvPr/>
        </p:nvSpPr>
        <p:spPr>
          <a:xfrm>
            <a:off x="6400800" y="40640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dirty="0">
                <a:solidFill>
                  <a:srgbClr val="333333"/>
                </a:solidFill>
              </a:rPr>
              <a:t>sign (−1)^(1+1) = </a:t>
            </a:r>
            <a:r>
              <a:rPr lang="en-US" sz="1450" b="1" dirty="0">
                <a:solidFill>
                  <a:srgbClr val="4B2E83"/>
                </a:solidFill>
              </a:rPr>
              <a:t>+</a:t>
            </a:r>
          </a:p>
        </p:txBody>
      </p:sp>
      <p:sp>
        <p:nvSpPr>
          <p:cNvPr id="6046" name="tb"/>
          <p:cNvSpPr txBox="1"/>
          <p:nvPr/>
        </p:nvSpPr>
        <p:spPr>
          <a:xfrm>
            <a:off x="6400800" y="44958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333333"/>
                </a:solidFill>
              </a:rPr>
              <a:t>C₁₁ = (+)(−24) = </a:t>
            </a:r>
            <a:r>
              <a:rPr lang="en-US" sz="1500" b="1" dirty="0">
                <a:solidFill>
                  <a:srgbClr val="4B2E83"/>
                </a:solidFill>
              </a:rPr>
              <a:t>−24</a:t>
            </a:r>
          </a:p>
        </p:txBody>
      </p:sp>
      <p:sp>
        <p:nvSpPr>
          <p:cNvPr id="6047" name="box"/>
          <p:cNvSpPr/>
          <p:nvPr/>
        </p:nvSpPr>
        <p:spPr>
          <a:xfrm>
            <a:off x="6400800" y="4978400"/>
            <a:ext cx="5232400" cy="660400"/>
          </a:xfrm>
          <a:prstGeom prst="roundRect">
            <a:avLst>
              <a:gd name="adj" fmla="val 10000"/>
            </a:avLst>
          </a:prstGeom>
          <a:solidFill>
            <a:srgbClr val="F4FAEF"/>
          </a:solidFill>
          <a:ln w="19050">
            <a:solidFill>
              <a:srgbClr val="7AB64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48" name="tb"/>
          <p:cNvSpPr txBox="1"/>
          <p:nvPr/>
        </p:nvSpPr>
        <p:spPr>
          <a:xfrm>
            <a:off x="6553200" y="4978400"/>
            <a:ext cx="4927600" cy="660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500" b="1" dirty="0">
                <a:solidFill>
                  <a:srgbClr val="333333"/>
                </a:solidFill>
              </a:rPr>
              <a:t>term  a₁₁·C₁₁ = (1)(−24) = </a:t>
            </a:r>
            <a:r>
              <a:rPr lang="en-US" sz="1700" b="1" dirty="0">
                <a:solidFill>
                  <a:srgbClr val="4B2E83"/>
                </a:solidFill>
              </a:rPr>
              <a:t>−24</a:t>
            </a:r>
          </a:p>
        </p:txBody>
      </p:sp>
    </p:spTree>
    <p:extLst>
      <p:ext uri="{BB962C8B-B14F-4D97-AF65-F5344CB8AC3E}">
        <p14:creationId xmlns:p14="http://schemas.microsoft.com/office/powerpoint/2010/main" val="12589969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Cofactor C₁₂   ·   determinant (expand along row 1)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Multiply each row-1 entry by its signed minor.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det(A) = a₁₁C₁₁ + a₁₂C₁₂ + a₁₃C₁₃ — the three row-1 cofactors.</a:t>
            </a:r>
          </a:p>
        </p:txBody>
      </p:sp>
      <p:sp>
        <p:nvSpPr>
          <p:cNvPr id="6000" name="panel"/>
          <p:cNvSpPr/>
          <p:nvPr/>
        </p:nvSpPr>
        <p:spPr>
          <a:xfrm>
            <a:off x="304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224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Delete row 1 and column 2:</a:t>
            </a:r>
          </a:p>
        </p:txBody>
      </p:sp>
      <p:sp>
        <p:nvSpPr>
          <p:cNvPr id="6002" name="hl"/>
          <p:cNvSpPr/>
          <p:nvPr/>
        </p:nvSpPr>
        <p:spPr>
          <a:xfrm>
            <a:off x="2641600" y="2540000"/>
            <a:ext cx="736600" cy="635000"/>
          </a:xfrm>
          <a:prstGeom prst="rect">
            <a:avLst/>
          </a:prstGeom>
          <a:solidFill>
            <a:srgbClr val="4B2E83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3" name="hl"/>
          <p:cNvSpPr/>
          <p:nvPr/>
        </p:nvSpPr>
        <p:spPr>
          <a:xfrm>
            <a:off x="1905000" y="3175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4" name="hl"/>
          <p:cNvSpPr/>
          <p:nvPr/>
        </p:nvSpPr>
        <p:spPr>
          <a:xfrm>
            <a:off x="3378200" y="3175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5" name="hl"/>
          <p:cNvSpPr/>
          <p:nvPr/>
        </p:nvSpPr>
        <p:spPr>
          <a:xfrm>
            <a:off x="1905000" y="3810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6" name="hl"/>
          <p:cNvSpPr/>
          <p:nvPr/>
        </p:nvSpPr>
        <p:spPr>
          <a:xfrm>
            <a:off x="3378200" y="3810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7" name="hl"/>
          <p:cNvSpPr/>
          <p:nvPr/>
        </p:nvSpPr>
        <p:spPr>
          <a:xfrm>
            <a:off x="1752600" y="2489200"/>
            <a:ext cx="50800" cy="2006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8" name="hl"/>
          <p:cNvSpPr/>
          <p:nvPr/>
        </p:nvSpPr>
        <p:spPr>
          <a:xfrm>
            <a:off x="1752600" y="24892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9" name="hl"/>
          <p:cNvSpPr/>
          <p:nvPr/>
        </p:nvSpPr>
        <p:spPr>
          <a:xfrm>
            <a:off x="1752600" y="4445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0" name="hl"/>
          <p:cNvSpPr/>
          <p:nvPr/>
        </p:nvSpPr>
        <p:spPr>
          <a:xfrm>
            <a:off x="4216400" y="2489200"/>
            <a:ext cx="50800" cy="2006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1" name="hl"/>
          <p:cNvSpPr/>
          <p:nvPr/>
        </p:nvSpPr>
        <p:spPr>
          <a:xfrm>
            <a:off x="4114800" y="24892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2" name="hl"/>
          <p:cNvSpPr/>
          <p:nvPr/>
        </p:nvSpPr>
        <p:spPr>
          <a:xfrm>
            <a:off x="4114800" y="4445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3" name="tb"/>
          <p:cNvSpPr txBox="1"/>
          <p:nvPr/>
        </p:nvSpPr>
        <p:spPr>
          <a:xfrm>
            <a:off x="1117600" y="3175000"/>
            <a:ext cx="7112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800" b="1" dirty="0">
                <a:solidFill>
                  <a:srgbClr val="333333"/>
                </a:solidFill>
              </a:rPr>
              <a:t>A =</a:t>
            </a:r>
          </a:p>
        </p:txBody>
      </p:sp>
      <p:sp>
        <p:nvSpPr>
          <p:cNvPr id="6014" name="tb"/>
          <p:cNvSpPr txBox="1"/>
          <p:nvPr/>
        </p:nvSpPr>
        <p:spPr>
          <a:xfrm>
            <a:off x="1905000" y="254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15" name="tb"/>
          <p:cNvSpPr txBox="1"/>
          <p:nvPr/>
        </p:nvSpPr>
        <p:spPr>
          <a:xfrm>
            <a:off x="2641600" y="254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6016" name="tb"/>
          <p:cNvSpPr txBox="1"/>
          <p:nvPr/>
        </p:nvSpPr>
        <p:spPr>
          <a:xfrm>
            <a:off x="3378200" y="254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6017" name="tb"/>
          <p:cNvSpPr txBox="1"/>
          <p:nvPr/>
        </p:nvSpPr>
        <p:spPr>
          <a:xfrm>
            <a:off x="1905000" y="3175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6018" name="tb"/>
          <p:cNvSpPr txBox="1"/>
          <p:nvPr/>
        </p:nvSpPr>
        <p:spPr>
          <a:xfrm>
            <a:off x="2641600" y="3175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19" name="tb"/>
          <p:cNvSpPr txBox="1"/>
          <p:nvPr/>
        </p:nvSpPr>
        <p:spPr>
          <a:xfrm>
            <a:off x="3378200" y="3175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1905000" y="381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21" name="tb"/>
          <p:cNvSpPr txBox="1"/>
          <p:nvPr/>
        </p:nvSpPr>
        <p:spPr>
          <a:xfrm>
            <a:off x="2641600" y="381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6022" name="tb"/>
          <p:cNvSpPr txBox="1"/>
          <p:nvPr/>
        </p:nvSpPr>
        <p:spPr>
          <a:xfrm>
            <a:off x="3378200" y="381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6023" name="sq"/>
          <p:cNvSpPr/>
          <p:nvPr/>
        </p:nvSpPr>
        <p:spPr>
          <a:xfrm>
            <a:off x="889000" y="4724400"/>
            <a:ext cx="203200" cy="203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4" name="tb"/>
          <p:cNvSpPr txBox="1"/>
          <p:nvPr/>
        </p:nvSpPr>
        <p:spPr>
          <a:xfrm>
            <a:off x="1168400" y="4699000"/>
            <a:ext cx="1524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dirty="0">
                <a:solidFill>
                  <a:srgbClr val="595959"/>
                </a:solidFill>
              </a:rPr>
              <a:t>pivot a₁₂</a:t>
            </a:r>
          </a:p>
        </p:txBody>
      </p:sp>
      <p:sp>
        <p:nvSpPr>
          <p:cNvPr id="6025" name="sq"/>
          <p:cNvSpPr/>
          <p:nvPr/>
        </p:nvSpPr>
        <p:spPr>
          <a:xfrm>
            <a:off x="2667000" y="4724400"/>
            <a:ext cx="203200" cy="203200"/>
          </a:xfrm>
          <a:prstGeom prst="rect">
            <a:avLst/>
          </a:prstGeom>
          <a:solidFill>
            <a:srgbClr val="7AB64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6" name="tb"/>
          <p:cNvSpPr txBox="1"/>
          <p:nvPr/>
        </p:nvSpPr>
        <p:spPr>
          <a:xfrm>
            <a:off x="2946400" y="4699000"/>
            <a:ext cx="2159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dirty="0">
                <a:solidFill>
                  <a:srgbClr val="595959"/>
                </a:solidFill>
              </a:rPr>
              <a:t>minor M₁₂ cells</a:t>
            </a:r>
          </a:p>
        </p:txBody>
      </p:sp>
      <p:sp>
        <p:nvSpPr>
          <p:cNvPr id="6027" name="panel"/>
          <p:cNvSpPr/>
          <p:nvPr/>
        </p:nvSpPr>
        <p:spPr>
          <a:xfrm>
            <a:off x="6146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8" name="tb"/>
          <p:cNvSpPr txBox="1"/>
          <p:nvPr/>
        </p:nvSpPr>
        <p:spPr>
          <a:xfrm>
            <a:off x="6400800" y="14224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Compute the cofactor</a:t>
            </a:r>
          </a:p>
        </p:txBody>
      </p:sp>
      <p:sp>
        <p:nvSpPr>
          <p:cNvPr id="6029" name="tb"/>
          <p:cNvSpPr txBox="1"/>
          <p:nvPr/>
        </p:nvSpPr>
        <p:spPr>
          <a:xfrm>
            <a:off x="6400800" y="1854200"/>
            <a:ext cx="52324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What remains is the 2×2 minor M₁₂:</a:t>
            </a:r>
          </a:p>
        </p:txBody>
      </p:sp>
      <p:sp>
        <p:nvSpPr>
          <p:cNvPr id="6030" name="hl"/>
          <p:cNvSpPr/>
          <p:nvPr/>
        </p:nvSpPr>
        <p:spPr>
          <a:xfrm>
            <a:off x="7620000" y="23114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1" name="hl"/>
          <p:cNvSpPr/>
          <p:nvPr/>
        </p:nvSpPr>
        <p:spPr>
          <a:xfrm>
            <a:off x="8305800" y="23114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2" name="hl"/>
          <p:cNvSpPr/>
          <p:nvPr/>
        </p:nvSpPr>
        <p:spPr>
          <a:xfrm>
            <a:off x="7620000" y="28702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3" name="hl"/>
          <p:cNvSpPr/>
          <p:nvPr/>
        </p:nvSpPr>
        <p:spPr>
          <a:xfrm>
            <a:off x="8305800" y="28702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4" name="hl"/>
          <p:cNvSpPr/>
          <p:nvPr/>
        </p:nvSpPr>
        <p:spPr>
          <a:xfrm>
            <a:off x="7467600" y="2260600"/>
            <a:ext cx="50800" cy="1219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5" name="hl"/>
          <p:cNvSpPr/>
          <p:nvPr/>
        </p:nvSpPr>
        <p:spPr>
          <a:xfrm>
            <a:off x="7467600" y="22606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6" name="hl"/>
          <p:cNvSpPr/>
          <p:nvPr/>
        </p:nvSpPr>
        <p:spPr>
          <a:xfrm>
            <a:off x="7467600" y="3429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7" name="hl"/>
          <p:cNvSpPr/>
          <p:nvPr/>
        </p:nvSpPr>
        <p:spPr>
          <a:xfrm>
            <a:off x="9093200" y="2260600"/>
            <a:ext cx="50800" cy="1219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8" name="hl"/>
          <p:cNvSpPr/>
          <p:nvPr/>
        </p:nvSpPr>
        <p:spPr>
          <a:xfrm>
            <a:off x="8991600" y="22606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9" name="hl"/>
          <p:cNvSpPr/>
          <p:nvPr/>
        </p:nvSpPr>
        <p:spPr>
          <a:xfrm>
            <a:off x="8991600" y="3429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0" name="tb"/>
          <p:cNvSpPr txBox="1"/>
          <p:nvPr/>
        </p:nvSpPr>
        <p:spPr>
          <a:xfrm>
            <a:off x="7620000" y="23114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6041" name="tb"/>
          <p:cNvSpPr txBox="1"/>
          <p:nvPr/>
        </p:nvSpPr>
        <p:spPr>
          <a:xfrm>
            <a:off x="8305800" y="23114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42" name="tb"/>
          <p:cNvSpPr txBox="1"/>
          <p:nvPr/>
        </p:nvSpPr>
        <p:spPr>
          <a:xfrm>
            <a:off x="7620000" y="28702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43" name="tb"/>
          <p:cNvSpPr txBox="1"/>
          <p:nvPr/>
        </p:nvSpPr>
        <p:spPr>
          <a:xfrm>
            <a:off x="8305800" y="28702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6044" name="tb"/>
          <p:cNvSpPr txBox="1"/>
          <p:nvPr/>
        </p:nvSpPr>
        <p:spPr>
          <a:xfrm>
            <a:off x="6400800" y="36322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dirty="0">
                <a:solidFill>
                  <a:srgbClr val="333333"/>
                </a:solidFill>
              </a:rPr>
              <a:t>M₁₂ = (0)(0) − (4)(5) = </a:t>
            </a:r>
            <a:r>
              <a:rPr lang="en-US" sz="1450" b="1" dirty="0">
                <a:solidFill>
                  <a:srgbClr val="D1578A"/>
                </a:solidFill>
              </a:rPr>
              <a:t>−20</a:t>
            </a:r>
          </a:p>
        </p:txBody>
      </p:sp>
      <p:sp>
        <p:nvSpPr>
          <p:cNvPr id="6045" name="tb"/>
          <p:cNvSpPr txBox="1"/>
          <p:nvPr/>
        </p:nvSpPr>
        <p:spPr>
          <a:xfrm>
            <a:off x="6400800" y="40640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dirty="0">
                <a:solidFill>
                  <a:srgbClr val="333333"/>
                </a:solidFill>
              </a:rPr>
              <a:t>sign (−1)^(1+2) = </a:t>
            </a:r>
            <a:r>
              <a:rPr lang="en-US" sz="1450" b="1" dirty="0">
                <a:solidFill>
                  <a:srgbClr val="4B2E83"/>
                </a:solidFill>
              </a:rPr>
              <a:t>−</a:t>
            </a:r>
          </a:p>
        </p:txBody>
      </p:sp>
      <p:sp>
        <p:nvSpPr>
          <p:cNvPr id="6046" name="tb"/>
          <p:cNvSpPr txBox="1"/>
          <p:nvPr/>
        </p:nvSpPr>
        <p:spPr>
          <a:xfrm>
            <a:off x="6400800" y="44958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333333"/>
                </a:solidFill>
              </a:rPr>
              <a:t>C₁₂ = (−)(−20) = </a:t>
            </a:r>
            <a:r>
              <a:rPr lang="en-US" sz="1500" b="1" dirty="0">
                <a:solidFill>
                  <a:srgbClr val="4B2E83"/>
                </a:solidFill>
              </a:rPr>
              <a:t>20</a:t>
            </a:r>
          </a:p>
        </p:txBody>
      </p:sp>
      <p:sp>
        <p:nvSpPr>
          <p:cNvPr id="6047" name="box"/>
          <p:cNvSpPr/>
          <p:nvPr/>
        </p:nvSpPr>
        <p:spPr>
          <a:xfrm>
            <a:off x="6400800" y="4978400"/>
            <a:ext cx="5232400" cy="660400"/>
          </a:xfrm>
          <a:prstGeom prst="roundRect">
            <a:avLst>
              <a:gd name="adj" fmla="val 10000"/>
            </a:avLst>
          </a:prstGeom>
          <a:solidFill>
            <a:srgbClr val="F4FAEF"/>
          </a:solidFill>
          <a:ln w="19050">
            <a:solidFill>
              <a:srgbClr val="7AB64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48" name="tb"/>
          <p:cNvSpPr txBox="1"/>
          <p:nvPr/>
        </p:nvSpPr>
        <p:spPr>
          <a:xfrm>
            <a:off x="6553200" y="4978400"/>
            <a:ext cx="4927600" cy="660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500" b="1" dirty="0">
                <a:solidFill>
                  <a:srgbClr val="333333"/>
                </a:solidFill>
              </a:rPr>
              <a:t>term  a₁₂·C₁₂ = (2)(20) = </a:t>
            </a:r>
            <a:r>
              <a:rPr lang="en-US" sz="1700" b="1" dirty="0">
                <a:solidFill>
                  <a:srgbClr val="4B2E83"/>
                </a:solidFill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22038712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Cofactor C₁₃   ·   determinant (expand along row 1)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Multiply each row-1 entry by its signed minor.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det(A) = a₁₁C₁₁ + a₁₂C₁₂ + a₁₃C₁₃ — the three row-1 cofactors.</a:t>
            </a:r>
          </a:p>
        </p:txBody>
      </p:sp>
      <p:sp>
        <p:nvSpPr>
          <p:cNvPr id="6000" name="panel"/>
          <p:cNvSpPr/>
          <p:nvPr/>
        </p:nvSpPr>
        <p:spPr>
          <a:xfrm>
            <a:off x="304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224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Delete row 1 and column 3:</a:t>
            </a:r>
          </a:p>
        </p:txBody>
      </p:sp>
      <p:sp>
        <p:nvSpPr>
          <p:cNvPr id="6002" name="hl"/>
          <p:cNvSpPr/>
          <p:nvPr/>
        </p:nvSpPr>
        <p:spPr>
          <a:xfrm>
            <a:off x="3378200" y="2540000"/>
            <a:ext cx="736600" cy="635000"/>
          </a:xfrm>
          <a:prstGeom prst="rect">
            <a:avLst/>
          </a:prstGeom>
          <a:solidFill>
            <a:srgbClr val="4B2E83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3" name="hl"/>
          <p:cNvSpPr/>
          <p:nvPr/>
        </p:nvSpPr>
        <p:spPr>
          <a:xfrm>
            <a:off x="1905000" y="3175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4" name="hl"/>
          <p:cNvSpPr/>
          <p:nvPr/>
        </p:nvSpPr>
        <p:spPr>
          <a:xfrm>
            <a:off x="2641600" y="3175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5" name="hl"/>
          <p:cNvSpPr/>
          <p:nvPr/>
        </p:nvSpPr>
        <p:spPr>
          <a:xfrm>
            <a:off x="1905000" y="3810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6" name="hl"/>
          <p:cNvSpPr/>
          <p:nvPr/>
        </p:nvSpPr>
        <p:spPr>
          <a:xfrm>
            <a:off x="2641600" y="3810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7" name="hl"/>
          <p:cNvSpPr/>
          <p:nvPr/>
        </p:nvSpPr>
        <p:spPr>
          <a:xfrm>
            <a:off x="1752600" y="2489200"/>
            <a:ext cx="50800" cy="2006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8" name="hl"/>
          <p:cNvSpPr/>
          <p:nvPr/>
        </p:nvSpPr>
        <p:spPr>
          <a:xfrm>
            <a:off x="1752600" y="24892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9" name="hl"/>
          <p:cNvSpPr/>
          <p:nvPr/>
        </p:nvSpPr>
        <p:spPr>
          <a:xfrm>
            <a:off x="1752600" y="4445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0" name="hl"/>
          <p:cNvSpPr/>
          <p:nvPr/>
        </p:nvSpPr>
        <p:spPr>
          <a:xfrm>
            <a:off x="4216400" y="2489200"/>
            <a:ext cx="50800" cy="2006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1" name="hl"/>
          <p:cNvSpPr/>
          <p:nvPr/>
        </p:nvSpPr>
        <p:spPr>
          <a:xfrm>
            <a:off x="4114800" y="24892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2" name="hl"/>
          <p:cNvSpPr/>
          <p:nvPr/>
        </p:nvSpPr>
        <p:spPr>
          <a:xfrm>
            <a:off x="4114800" y="4445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3" name="tb"/>
          <p:cNvSpPr txBox="1"/>
          <p:nvPr/>
        </p:nvSpPr>
        <p:spPr>
          <a:xfrm>
            <a:off x="1117600" y="3175000"/>
            <a:ext cx="7112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800" b="1" dirty="0">
                <a:solidFill>
                  <a:srgbClr val="333333"/>
                </a:solidFill>
              </a:rPr>
              <a:t>A =</a:t>
            </a:r>
          </a:p>
        </p:txBody>
      </p:sp>
      <p:sp>
        <p:nvSpPr>
          <p:cNvPr id="6014" name="tb"/>
          <p:cNvSpPr txBox="1"/>
          <p:nvPr/>
        </p:nvSpPr>
        <p:spPr>
          <a:xfrm>
            <a:off x="1905000" y="254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15" name="tb"/>
          <p:cNvSpPr txBox="1"/>
          <p:nvPr/>
        </p:nvSpPr>
        <p:spPr>
          <a:xfrm>
            <a:off x="2641600" y="254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6016" name="tb"/>
          <p:cNvSpPr txBox="1"/>
          <p:nvPr/>
        </p:nvSpPr>
        <p:spPr>
          <a:xfrm>
            <a:off x="3378200" y="254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6017" name="tb"/>
          <p:cNvSpPr txBox="1"/>
          <p:nvPr/>
        </p:nvSpPr>
        <p:spPr>
          <a:xfrm>
            <a:off x="1905000" y="3175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6018" name="tb"/>
          <p:cNvSpPr txBox="1"/>
          <p:nvPr/>
        </p:nvSpPr>
        <p:spPr>
          <a:xfrm>
            <a:off x="2641600" y="3175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19" name="tb"/>
          <p:cNvSpPr txBox="1"/>
          <p:nvPr/>
        </p:nvSpPr>
        <p:spPr>
          <a:xfrm>
            <a:off x="3378200" y="3175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1905000" y="381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21" name="tb"/>
          <p:cNvSpPr txBox="1"/>
          <p:nvPr/>
        </p:nvSpPr>
        <p:spPr>
          <a:xfrm>
            <a:off x="2641600" y="381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6022" name="tb"/>
          <p:cNvSpPr txBox="1"/>
          <p:nvPr/>
        </p:nvSpPr>
        <p:spPr>
          <a:xfrm>
            <a:off x="3378200" y="381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6023" name="sq"/>
          <p:cNvSpPr/>
          <p:nvPr/>
        </p:nvSpPr>
        <p:spPr>
          <a:xfrm>
            <a:off x="889000" y="4724400"/>
            <a:ext cx="203200" cy="203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4" name="tb"/>
          <p:cNvSpPr txBox="1"/>
          <p:nvPr/>
        </p:nvSpPr>
        <p:spPr>
          <a:xfrm>
            <a:off x="1168400" y="4699000"/>
            <a:ext cx="1524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dirty="0">
                <a:solidFill>
                  <a:srgbClr val="595959"/>
                </a:solidFill>
              </a:rPr>
              <a:t>pivot a₁₃</a:t>
            </a:r>
          </a:p>
        </p:txBody>
      </p:sp>
      <p:sp>
        <p:nvSpPr>
          <p:cNvPr id="6025" name="sq"/>
          <p:cNvSpPr/>
          <p:nvPr/>
        </p:nvSpPr>
        <p:spPr>
          <a:xfrm>
            <a:off x="2667000" y="4724400"/>
            <a:ext cx="203200" cy="203200"/>
          </a:xfrm>
          <a:prstGeom prst="rect">
            <a:avLst/>
          </a:prstGeom>
          <a:solidFill>
            <a:srgbClr val="7AB64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6" name="tb"/>
          <p:cNvSpPr txBox="1"/>
          <p:nvPr/>
        </p:nvSpPr>
        <p:spPr>
          <a:xfrm>
            <a:off x="2946400" y="4699000"/>
            <a:ext cx="2159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dirty="0">
                <a:solidFill>
                  <a:srgbClr val="595959"/>
                </a:solidFill>
              </a:rPr>
              <a:t>minor M₁₃ cells</a:t>
            </a:r>
          </a:p>
        </p:txBody>
      </p:sp>
      <p:sp>
        <p:nvSpPr>
          <p:cNvPr id="6027" name="panel"/>
          <p:cNvSpPr/>
          <p:nvPr/>
        </p:nvSpPr>
        <p:spPr>
          <a:xfrm>
            <a:off x="6146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8" name="tb"/>
          <p:cNvSpPr txBox="1"/>
          <p:nvPr/>
        </p:nvSpPr>
        <p:spPr>
          <a:xfrm>
            <a:off x="6400800" y="14224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Compute the cofactor</a:t>
            </a:r>
          </a:p>
        </p:txBody>
      </p:sp>
      <p:sp>
        <p:nvSpPr>
          <p:cNvPr id="6029" name="tb"/>
          <p:cNvSpPr txBox="1"/>
          <p:nvPr/>
        </p:nvSpPr>
        <p:spPr>
          <a:xfrm>
            <a:off x="6400800" y="1854200"/>
            <a:ext cx="52324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What remains is the 2×2 minor M₁₃:</a:t>
            </a:r>
          </a:p>
        </p:txBody>
      </p:sp>
      <p:sp>
        <p:nvSpPr>
          <p:cNvPr id="6030" name="hl"/>
          <p:cNvSpPr/>
          <p:nvPr/>
        </p:nvSpPr>
        <p:spPr>
          <a:xfrm>
            <a:off x="7620000" y="23114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1" name="hl"/>
          <p:cNvSpPr/>
          <p:nvPr/>
        </p:nvSpPr>
        <p:spPr>
          <a:xfrm>
            <a:off x="8305800" y="23114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2" name="hl"/>
          <p:cNvSpPr/>
          <p:nvPr/>
        </p:nvSpPr>
        <p:spPr>
          <a:xfrm>
            <a:off x="7620000" y="28702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3" name="hl"/>
          <p:cNvSpPr/>
          <p:nvPr/>
        </p:nvSpPr>
        <p:spPr>
          <a:xfrm>
            <a:off x="8305800" y="28702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4" name="hl"/>
          <p:cNvSpPr/>
          <p:nvPr/>
        </p:nvSpPr>
        <p:spPr>
          <a:xfrm>
            <a:off x="7467600" y="2260600"/>
            <a:ext cx="50800" cy="1219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5" name="hl"/>
          <p:cNvSpPr/>
          <p:nvPr/>
        </p:nvSpPr>
        <p:spPr>
          <a:xfrm>
            <a:off x="7467600" y="22606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6" name="hl"/>
          <p:cNvSpPr/>
          <p:nvPr/>
        </p:nvSpPr>
        <p:spPr>
          <a:xfrm>
            <a:off x="7467600" y="3429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7" name="hl"/>
          <p:cNvSpPr/>
          <p:nvPr/>
        </p:nvSpPr>
        <p:spPr>
          <a:xfrm>
            <a:off x="9093200" y="2260600"/>
            <a:ext cx="50800" cy="1219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8" name="hl"/>
          <p:cNvSpPr/>
          <p:nvPr/>
        </p:nvSpPr>
        <p:spPr>
          <a:xfrm>
            <a:off x="8991600" y="22606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9" name="hl"/>
          <p:cNvSpPr/>
          <p:nvPr/>
        </p:nvSpPr>
        <p:spPr>
          <a:xfrm>
            <a:off x="8991600" y="3429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0" name="tb"/>
          <p:cNvSpPr txBox="1"/>
          <p:nvPr/>
        </p:nvSpPr>
        <p:spPr>
          <a:xfrm>
            <a:off x="7620000" y="23114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6041" name="tb"/>
          <p:cNvSpPr txBox="1"/>
          <p:nvPr/>
        </p:nvSpPr>
        <p:spPr>
          <a:xfrm>
            <a:off x="8305800" y="23114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42" name="tb"/>
          <p:cNvSpPr txBox="1"/>
          <p:nvPr/>
        </p:nvSpPr>
        <p:spPr>
          <a:xfrm>
            <a:off x="7620000" y="28702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43" name="tb"/>
          <p:cNvSpPr txBox="1"/>
          <p:nvPr/>
        </p:nvSpPr>
        <p:spPr>
          <a:xfrm>
            <a:off x="8305800" y="28702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6044" name="tb"/>
          <p:cNvSpPr txBox="1"/>
          <p:nvPr/>
        </p:nvSpPr>
        <p:spPr>
          <a:xfrm>
            <a:off x="6400800" y="36322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dirty="0">
                <a:solidFill>
                  <a:srgbClr val="333333"/>
                </a:solidFill>
              </a:rPr>
              <a:t>M₁₃ = (0)(6) − (1)(5) = </a:t>
            </a:r>
            <a:r>
              <a:rPr lang="en-US" sz="1450" b="1" dirty="0">
                <a:solidFill>
                  <a:srgbClr val="D1578A"/>
                </a:solidFill>
              </a:rPr>
              <a:t>−5</a:t>
            </a:r>
          </a:p>
        </p:txBody>
      </p:sp>
      <p:sp>
        <p:nvSpPr>
          <p:cNvPr id="6045" name="tb"/>
          <p:cNvSpPr txBox="1"/>
          <p:nvPr/>
        </p:nvSpPr>
        <p:spPr>
          <a:xfrm>
            <a:off x="6400800" y="40640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dirty="0">
                <a:solidFill>
                  <a:srgbClr val="333333"/>
                </a:solidFill>
              </a:rPr>
              <a:t>sign (−1)^(1+3) = </a:t>
            </a:r>
            <a:r>
              <a:rPr lang="en-US" sz="1450" b="1" dirty="0">
                <a:solidFill>
                  <a:srgbClr val="4B2E83"/>
                </a:solidFill>
              </a:rPr>
              <a:t>+</a:t>
            </a:r>
          </a:p>
        </p:txBody>
      </p:sp>
      <p:sp>
        <p:nvSpPr>
          <p:cNvPr id="6046" name="tb"/>
          <p:cNvSpPr txBox="1"/>
          <p:nvPr/>
        </p:nvSpPr>
        <p:spPr>
          <a:xfrm>
            <a:off x="6400800" y="44958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333333"/>
                </a:solidFill>
              </a:rPr>
              <a:t>C₁₃ = (+)(−5) = </a:t>
            </a:r>
            <a:r>
              <a:rPr lang="en-US" sz="1500" b="1" dirty="0">
                <a:solidFill>
                  <a:srgbClr val="4B2E83"/>
                </a:solidFill>
              </a:rPr>
              <a:t>−5</a:t>
            </a:r>
          </a:p>
        </p:txBody>
      </p:sp>
      <p:sp>
        <p:nvSpPr>
          <p:cNvPr id="6047" name="box"/>
          <p:cNvSpPr/>
          <p:nvPr/>
        </p:nvSpPr>
        <p:spPr>
          <a:xfrm>
            <a:off x="6400800" y="4978400"/>
            <a:ext cx="5232400" cy="660400"/>
          </a:xfrm>
          <a:prstGeom prst="roundRect">
            <a:avLst>
              <a:gd name="adj" fmla="val 10000"/>
            </a:avLst>
          </a:prstGeom>
          <a:solidFill>
            <a:srgbClr val="F4FAEF"/>
          </a:solidFill>
          <a:ln w="19050">
            <a:solidFill>
              <a:srgbClr val="7AB64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48" name="tb"/>
          <p:cNvSpPr txBox="1"/>
          <p:nvPr/>
        </p:nvSpPr>
        <p:spPr>
          <a:xfrm>
            <a:off x="6553200" y="4978400"/>
            <a:ext cx="4927600" cy="660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500" b="1" dirty="0">
                <a:solidFill>
                  <a:srgbClr val="333333"/>
                </a:solidFill>
              </a:rPr>
              <a:t>term  a₁₃·C₁₃ = (3)(−5) = </a:t>
            </a:r>
            <a:r>
              <a:rPr lang="en-US" sz="1700" b="1" dirty="0">
                <a:solidFill>
                  <a:srgbClr val="4B2E83"/>
                </a:solidFill>
              </a:rPr>
              <a:t>−15</a:t>
            </a:r>
          </a:p>
        </p:txBody>
      </p:sp>
    </p:spTree>
    <p:extLst>
      <p:ext uri="{BB962C8B-B14F-4D97-AF65-F5344CB8AC3E}">
        <p14:creationId xmlns:p14="http://schemas.microsoft.com/office/powerpoint/2010/main" val="29376028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Determinant — Combine the Three Cofactors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Add the row-1 terms: a₁₁C₁₁ + a₁₂C₁₂ + a₁₃C₁₃.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Expanding along any row or column gives the same value — here det(A) = 1.</a:t>
            </a:r>
          </a:p>
        </p:txBody>
      </p:sp>
      <p:sp>
        <p:nvSpPr>
          <p:cNvPr id="6000" name="panel"/>
          <p:cNvSpPr/>
          <p:nvPr/>
        </p:nvSpPr>
        <p:spPr>
          <a:xfrm>
            <a:off x="304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224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Expand along row 1 (highlighted):</a:t>
            </a:r>
          </a:p>
        </p:txBody>
      </p:sp>
      <p:sp>
        <p:nvSpPr>
          <p:cNvPr id="6002" name="hl"/>
          <p:cNvSpPr/>
          <p:nvPr/>
        </p:nvSpPr>
        <p:spPr>
          <a:xfrm>
            <a:off x="1905000" y="2540000"/>
            <a:ext cx="736600" cy="635000"/>
          </a:xfrm>
          <a:prstGeom prst="rect">
            <a:avLst/>
          </a:prstGeom>
          <a:solidFill>
            <a:srgbClr val="4B2E83">
              <a:alpha val="26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3" name="hl"/>
          <p:cNvSpPr/>
          <p:nvPr/>
        </p:nvSpPr>
        <p:spPr>
          <a:xfrm>
            <a:off x="2641600" y="2540000"/>
            <a:ext cx="736600" cy="635000"/>
          </a:xfrm>
          <a:prstGeom prst="rect">
            <a:avLst/>
          </a:prstGeom>
          <a:solidFill>
            <a:srgbClr val="4B2E83">
              <a:alpha val="26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4" name="hl"/>
          <p:cNvSpPr/>
          <p:nvPr/>
        </p:nvSpPr>
        <p:spPr>
          <a:xfrm>
            <a:off x="3378200" y="2540000"/>
            <a:ext cx="736600" cy="635000"/>
          </a:xfrm>
          <a:prstGeom prst="rect">
            <a:avLst/>
          </a:prstGeom>
          <a:solidFill>
            <a:srgbClr val="4B2E83">
              <a:alpha val="26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5" name="hl"/>
          <p:cNvSpPr/>
          <p:nvPr/>
        </p:nvSpPr>
        <p:spPr>
          <a:xfrm>
            <a:off x="1752600" y="2489200"/>
            <a:ext cx="50800" cy="2006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6" name="hl"/>
          <p:cNvSpPr/>
          <p:nvPr/>
        </p:nvSpPr>
        <p:spPr>
          <a:xfrm>
            <a:off x="1752600" y="24892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7" name="hl"/>
          <p:cNvSpPr/>
          <p:nvPr/>
        </p:nvSpPr>
        <p:spPr>
          <a:xfrm>
            <a:off x="1752600" y="4445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8" name="hl"/>
          <p:cNvSpPr/>
          <p:nvPr/>
        </p:nvSpPr>
        <p:spPr>
          <a:xfrm>
            <a:off x="4216400" y="2489200"/>
            <a:ext cx="50800" cy="2006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9" name="hl"/>
          <p:cNvSpPr/>
          <p:nvPr/>
        </p:nvSpPr>
        <p:spPr>
          <a:xfrm>
            <a:off x="4114800" y="24892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0" name="hl"/>
          <p:cNvSpPr/>
          <p:nvPr/>
        </p:nvSpPr>
        <p:spPr>
          <a:xfrm>
            <a:off x="4114800" y="4445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1" name="tb"/>
          <p:cNvSpPr txBox="1"/>
          <p:nvPr/>
        </p:nvSpPr>
        <p:spPr>
          <a:xfrm>
            <a:off x="1117600" y="3175000"/>
            <a:ext cx="7112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800" b="1" dirty="0">
                <a:solidFill>
                  <a:srgbClr val="333333"/>
                </a:solidFill>
              </a:rPr>
              <a:t>A =</a:t>
            </a:r>
          </a:p>
        </p:txBody>
      </p:sp>
      <p:sp>
        <p:nvSpPr>
          <p:cNvPr id="6012" name="tb"/>
          <p:cNvSpPr txBox="1"/>
          <p:nvPr/>
        </p:nvSpPr>
        <p:spPr>
          <a:xfrm>
            <a:off x="1905000" y="254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13" name="tb"/>
          <p:cNvSpPr txBox="1"/>
          <p:nvPr/>
        </p:nvSpPr>
        <p:spPr>
          <a:xfrm>
            <a:off x="2641600" y="254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6014" name="tb"/>
          <p:cNvSpPr txBox="1"/>
          <p:nvPr/>
        </p:nvSpPr>
        <p:spPr>
          <a:xfrm>
            <a:off x="3378200" y="254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6015" name="tb"/>
          <p:cNvSpPr txBox="1"/>
          <p:nvPr/>
        </p:nvSpPr>
        <p:spPr>
          <a:xfrm>
            <a:off x="1905000" y="3175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6016" name="tb"/>
          <p:cNvSpPr txBox="1"/>
          <p:nvPr/>
        </p:nvSpPr>
        <p:spPr>
          <a:xfrm>
            <a:off x="2641600" y="3175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17" name="tb"/>
          <p:cNvSpPr txBox="1"/>
          <p:nvPr/>
        </p:nvSpPr>
        <p:spPr>
          <a:xfrm>
            <a:off x="3378200" y="3175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18" name="tb"/>
          <p:cNvSpPr txBox="1"/>
          <p:nvPr/>
        </p:nvSpPr>
        <p:spPr>
          <a:xfrm>
            <a:off x="1905000" y="381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19" name="tb"/>
          <p:cNvSpPr txBox="1"/>
          <p:nvPr/>
        </p:nvSpPr>
        <p:spPr>
          <a:xfrm>
            <a:off x="2641600" y="381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3378200" y="381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6021" name="tb"/>
          <p:cNvSpPr txBox="1"/>
          <p:nvPr/>
        </p:nvSpPr>
        <p:spPr>
          <a:xfrm>
            <a:off x="558800" y="4724400"/>
            <a:ext cx="5232400" cy="762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600" b="1" dirty="0">
                <a:solidFill>
                  <a:srgbClr val="333333"/>
                </a:solidFill>
              </a:rPr>
              <a:t>det(A) = a₁₁C₁₁ + a₁₂C₁₂ + a₁₃C₁₃</a:t>
            </a:r>
          </a:p>
        </p:txBody>
      </p:sp>
      <p:sp>
        <p:nvSpPr>
          <p:cNvPr id="6022" name="panel"/>
          <p:cNvSpPr/>
          <p:nvPr/>
        </p:nvSpPr>
        <p:spPr>
          <a:xfrm>
            <a:off x="6146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3" name="tb"/>
          <p:cNvSpPr txBox="1"/>
          <p:nvPr/>
        </p:nvSpPr>
        <p:spPr>
          <a:xfrm>
            <a:off x="6400800" y="14224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Plug in the cofactors</a:t>
            </a:r>
          </a:p>
        </p:txBody>
      </p:sp>
      <p:sp>
        <p:nvSpPr>
          <p:cNvPr id="6024" name="tb"/>
          <p:cNvSpPr txBox="1"/>
          <p:nvPr/>
        </p:nvSpPr>
        <p:spPr>
          <a:xfrm>
            <a:off x="6553200" y="1981200"/>
            <a:ext cx="5080000" cy="381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600" dirty="0">
                <a:solidFill>
                  <a:srgbClr val="333333"/>
                </a:solidFill>
              </a:rPr>
              <a:t>a₁₁·C₁₁ = (1)(−24) = </a:t>
            </a:r>
            <a:r>
              <a:rPr lang="en-US" sz="1600" b="1" dirty="0">
                <a:solidFill>
                  <a:srgbClr val="D1578A"/>
                </a:solidFill>
              </a:rPr>
              <a:t>−24</a:t>
            </a:r>
          </a:p>
        </p:txBody>
      </p:sp>
      <p:sp>
        <p:nvSpPr>
          <p:cNvPr id="6025" name="tb"/>
          <p:cNvSpPr txBox="1"/>
          <p:nvPr/>
        </p:nvSpPr>
        <p:spPr>
          <a:xfrm>
            <a:off x="6553200" y="2514600"/>
            <a:ext cx="5080000" cy="381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600" dirty="0">
                <a:solidFill>
                  <a:srgbClr val="333333"/>
                </a:solidFill>
              </a:rPr>
              <a:t>a₁₂·C₁₂ = (2)(+20) = </a:t>
            </a:r>
            <a:r>
              <a:rPr lang="en-US" sz="1600" b="1" dirty="0">
                <a:solidFill>
                  <a:srgbClr val="D1578A"/>
                </a:solidFill>
              </a:rPr>
              <a:t>+40</a:t>
            </a:r>
          </a:p>
        </p:txBody>
      </p:sp>
      <p:sp>
        <p:nvSpPr>
          <p:cNvPr id="6026" name="tb"/>
          <p:cNvSpPr txBox="1"/>
          <p:nvPr/>
        </p:nvSpPr>
        <p:spPr>
          <a:xfrm>
            <a:off x="6553200" y="3048000"/>
            <a:ext cx="5080000" cy="381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600" dirty="0">
                <a:solidFill>
                  <a:srgbClr val="333333"/>
                </a:solidFill>
              </a:rPr>
              <a:t>a₁₃·C₁₃ = (3)(−5) = </a:t>
            </a:r>
            <a:r>
              <a:rPr lang="en-US" sz="1600" b="1" dirty="0">
                <a:solidFill>
                  <a:srgbClr val="D1578A"/>
                </a:solidFill>
              </a:rPr>
              <a:t>−15</a:t>
            </a:r>
          </a:p>
        </p:txBody>
      </p:sp>
      <p:sp>
        <p:nvSpPr>
          <p:cNvPr id="6027" name="hl"/>
          <p:cNvSpPr/>
          <p:nvPr/>
        </p:nvSpPr>
        <p:spPr>
          <a:xfrm>
            <a:off x="6553200" y="3606800"/>
            <a:ext cx="5080000" cy="25400"/>
          </a:xfrm>
          <a:prstGeom prst="rect">
            <a:avLst/>
          </a:prstGeom>
          <a:solidFill>
            <a:srgbClr val="B7A57A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8" name="tb"/>
          <p:cNvSpPr txBox="1"/>
          <p:nvPr/>
        </p:nvSpPr>
        <p:spPr>
          <a:xfrm>
            <a:off x="6553200" y="3759200"/>
            <a:ext cx="5080000" cy="381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600" b="1" dirty="0">
                <a:solidFill>
                  <a:srgbClr val="333333"/>
                </a:solidFill>
              </a:rPr>
              <a:t>det(A) = −24 + 40 − 15</a:t>
            </a:r>
          </a:p>
        </p:txBody>
      </p:sp>
      <p:sp>
        <p:nvSpPr>
          <p:cNvPr id="6029" name="box"/>
          <p:cNvSpPr/>
          <p:nvPr/>
        </p:nvSpPr>
        <p:spPr>
          <a:xfrm>
            <a:off x="7620000" y="4318000"/>
            <a:ext cx="2667000" cy="736600"/>
          </a:xfrm>
          <a:prstGeom prst="roundRect">
            <a:avLst>
              <a:gd name="adj" fmla="val 14000"/>
            </a:avLst>
          </a:prstGeom>
          <a:solidFill>
            <a:srgbClr val="4B2E83"/>
          </a:solidFill>
          <a:ln w="19050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30" name="tb"/>
          <p:cNvSpPr txBox="1"/>
          <p:nvPr/>
        </p:nvSpPr>
        <p:spPr>
          <a:xfrm>
            <a:off x="7620000" y="4318000"/>
            <a:ext cx="2667000" cy="736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det(A) = 1</a:t>
            </a:r>
          </a:p>
        </p:txBody>
      </p:sp>
    </p:spTree>
    <p:extLst>
      <p:ext uri="{BB962C8B-B14F-4D97-AF65-F5344CB8AC3E}">
        <p14:creationId xmlns:p14="http://schemas.microsoft.com/office/powerpoint/2010/main" val="18306421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35C35-1A0C-EECB-30A6-80EFFFB55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AE6E523-3CDD-176C-8338-C876F0E4137E}"/>
              </a:ext>
            </a:extLst>
          </p:cNvPr>
          <p:cNvSpPr txBox="1"/>
          <p:nvPr/>
        </p:nvSpPr>
        <p:spPr>
          <a:xfrm>
            <a:off x="0" y="2870200"/>
            <a:ext cx="12192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1600" b="1" dirty="0">
                <a:solidFill>
                  <a:srgbClr val="B7A57A"/>
                </a:solidFill>
              </a:rPr>
              <a:t>LARGER MATRICES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6524A7-5645-BDDF-41E8-5AA1D54AE203}"/>
              </a:ext>
            </a:extLst>
          </p:cNvPr>
          <p:cNvSpPr txBox="1"/>
          <p:nvPr/>
        </p:nvSpPr>
        <p:spPr>
          <a:xfrm>
            <a:off x="0" y="3175000"/>
            <a:ext cx="12192000" cy="939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5200" b="1" dirty="0">
                <a:solidFill>
                  <a:srgbClr val="FFFFFF"/>
                </a:solidFill>
              </a:rPr>
              <a:t>Inverse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9F58D7-A4A5-E14C-F6C6-6F8F9A40F060}"/>
              </a:ext>
            </a:extLst>
          </p:cNvPr>
          <p:cNvSpPr txBox="1"/>
          <p:nvPr/>
        </p:nvSpPr>
        <p:spPr>
          <a:xfrm>
            <a:off x="0" y="4241800"/>
            <a:ext cx="121920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2200" dirty="0">
                <a:solidFill>
                  <a:srgbClr val="EDE7F5"/>
                </a:solidFill>
              </a:rPr>
              <a:t>Cofactor expansion for the determinant, and the adjugate method for the inverse.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DAFA6E1-FE22-5B41-E847-B052CA817743}"/>
              </a:ext>
            </a:extLst>
          </p:cNvPr>
          <p:cNvSpPr/>
          <p:nvPr/>
        </p:nvSpPr>
        <p:spPr>
          <a:xfrm>
            <a:off x="5461000" y="4089400"/>
            <a:ext cx="1270000" cy="381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03088F-47A4-278E-030D-5794452A82BF}"/>
              </a:ext>
            </a:extLst>
          </p:cNvPr>
          <p:cNvSpPr/>
          <p:nvPr/>
        </p:nvSpPr>
        <p:spPr>
          <a:xfrm>
            <a:off x="5207000" y="1651000"/>
            <a:ext cx="50800" cy="10414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9870714-12ED-D8C2-722A-D31817646453}"/>
              </a:ext>
            </a:extLst>
          </p:cNvPr>
          <p:cNvSpPr/>
          <p:nvPr/>
        </p:nvSpPr>
        <p:spPr>
          <a:xfrm>
            <a:off x="5207000" y="1651000"/>
            <a:ext cx="203200" cy="508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DA99A3-D75E-EA6B-7ED4-AB1A81938214}"/>
              </a:ext>
            </a:extLst>
          </p:cNvPr>
          <p:cNvSpPr/>
          <p:nvPr/>
        </p:nvSpPr>
        <p:spPr>
          <a:xfrm>
            <a:off x="5207000" y="2641600"/>
            <a:ext cx="203200" cy="508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E1700E-1266-BFC9-26A9-42DDF8C91005}"/>
              </a:ext>
            </a:extLst>
          </p:cNvPr>
          <p:cNvSpPr/>
          <p:nvPr/>
        </p:nvSpPr>
        <p:spPr>
          <a:xfrm>
            <a:off x="6934200" y="1651000"/>
            <a:ext cx="50800" cy="10414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332DC53-647D-227A-C933-629C1C76A9AD}"/>
              </a:ext>
            </a:extLst>
          </p:cNvPr>
          <p:cNvSpPr/>
          <p:nvPr/>
        </p:nvSpPr>
        <p:spPr>
          <a:xfrm>
            <a:off x="6781800" y="1651000"/>
            <a:ext cx="203200" cy="508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07898F-8AB2-B352-9620-7E422DBD209E}"/>
              </a:ext>
            </a:extLst>
          </p:cNvPr>
          <p:cNvSpPr/>
          <p:nvPr/>
        </p:nvSpPr>
        <p:spPr>
          <a:xfrm>
            <a:off x="6781800" y="2641600"/>
            <a:ext cx="203200" cy="508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35BDDB3-4430-C118-B736-A1A351356859}"/>
              </a:ext>
            </a:extLst>
          </p:cNvPr>
          <p:cNvSpPr/>
          <p:nvPr/>
        </p:nvSpPr>
        <p:spPr>
          <a:xfrm>
            <a:off x="5549900" y="1905000"/>
            <a:ext cx="165100" cy="165100"/>
          </a:xfrm>
          <a:prstGeom prst="ellipse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EBA2109-4AAB-BF80-688B-B6650B7FC6C9}"/>
              </a:ext>
            </a:extLst>
          </p:cNvPr>
          <p:cNvSpPr/>
          <p:nvPr/>
        </p:nvSpPr>
        <p:spPr>
          <a:xfrm>
            <a:off x="5549900" y="2311400"/>
            <a:ext cx="165100" cy="165100"/>
          </a:xfrm>
          <a:prstGeom prst="ellipse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ED2009E-85F3-C31E-ABCA-8A9EAECEDEB0}"/>
              </a:ext>
            </a:extLst>
          </p:cNvPr>
          <p:cNvSpPr/>
          <p:nvPr/>
        </p:nvSpPr>
        <p:spPr>
          <a:xfrm>
            <a:off x="6019800" y="1905000"/>
            <a:ext cx="165100" cy="165100"/>
          </a:xfrm>
          <a:prstGeom prst="ellips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3C7E69B-39B1-71F4-026B-6319E1444D3F}"/>
              </a:ext>
            </a:extLst>
          </p:cNvPr>
          <p:cNvSpPr/>
          <p:nvPr/>
        </p:nvSpPr>
        <p:spPr>
          <a:xfrm>
            <a:off x="6019800" y="2311400"/>
            <a:ext cx="165100" cy="165100"/>
          </a:xfrm>
          <a:prstGeom prst="ellips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79AD21A-C70D-AE60-487C-7EBAE1830BFE}"/>
              </a:ext>
            </a:extLst>
          </p:cNvPr>
          <p:cNvSpPr/>
          <p:nvPr/>
        </p:nvSpPr>
        <p:spPr>
          <a:xfrm>
            <a:off x="6489700" y="1905000"/>
            <a:ext cx="165100" cy="1651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44A3DA6-616C-7747-B950-BC871736073E}"/>
              </a:ext>
            </a:extLst>
          </p:cNvPr>
          <p:cNvSpPr/>
          <p:nvPr/>
        </p:nvSpPr>
        <p:spPr>
          <a:xfrm>
            <a:off x="6489700" y="2311400"/>
            <a:ext cx="165100" cy="1651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5654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The Transpose  Aᵀ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Reflect a matrix across its main diagonal — rows become columns.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Transposing swaps rows and columns: (Aᵀ)ᵢⱼ = Aⱼᵢ. The diagonal is unchanged and (Aᵀ)ᵀ = A.</a:t>
            </a:r>
          </a:p>
        </p:txBody>
      </p:sp>
      <p:sp>
        <p:nvSpPr>
          <p:cNvPr id="6000" name="panel"/>
          <p:cNvSpPr/>
          <p:nvPr/>
        </p:nvSpPr>
        <p:spPr>
          <a:xfrm>
            <a:off x="304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224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Matrix A — each row colored</a:t>
            </a:r>
          </a:p>
        </p:txBody>
      </p:sp>
      <p:sp>
        <p:nvSpPr>
          <p:cNvPr id="6002" name="hl"/>
          <p:cNvSpPr/>
          <p:nvPr/>
        </p:nvSpPr>
        <p:spPr>
          <a:xfrm>
            <a:off x="1905000" y="2413000"/>
            <a:ext cx="2209800" cy="635000"/>
          </a:xfrm>
          <a:prstGeom prst="rect">
            <a:avLst/>
          </a:prstGeom>
          <a:solidFill>
            <a:srgbClr val="4B2E83">
              <a:alpha val="2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3" name="hl"/>
          <p:cNvSpPr/>
          <p:nvPr/>
        </p:nvSpPr>
        <p:spPr>
          <a:xfrm>
            <a:off x="1905000" y="3048000"/>
            <a:ext cx="2209800" cy="635000"/>
          </a:xfrm>
          <a:prstGeom prst="rect">
            <a:avLst/>
          </a:prstGeom>
          <a:solidFill>
            <a:srgbClr val="00A7B5">
              <a:alpha val="2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4" name="hl"/>
          <p:cNvSpPr/>
          <p:nvPr/>
        </p:nvSpPr>
        <p:spPr>
          <a:xfrm>
            <a:off x="1905000" y="3683000"/>
            <a:ext cx="2209800" cy="635000"/>
          </a:xfrm>
          <a:prstGeom prst="rect">
            <a:avLst/>
          </a:prstGeom>
          <a:solidFill>
            <a:srgbClr val="B7A57A">
              <a:alpha val="2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5" name="hl"/>
          <p:cNvSpPr/>
          <p:nvPr/>
        </p:nvSpPr>
        <p:spPr>
          <a:xfrm>
            <a:off x="1752600" y="2362200"/>
            <a:ext cx="50800" cy="2006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6" name="hl"/>
          <p:cNvSpPr/>
          <p:nvPr/>
        </p:nvSpPr>
        <p:spPr>
          <a:xfrm>
            <a:off x="1752600" y="23622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7" name="hl"/>
          <p:cNvSpPr/>
          <p:nvPr/>
        </p:nvSpPr>
        <p:spPr>
          <a:xfrm>
            <a:off x="1752600" y="4318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8" name="hl"/>
          <p:cNvSpPr/>
          <p:nvPr/>
        </p:nvSpPr>
        <p:spPr>
          <a:xfrm>
            <a:off x="4216400" y="2362200"/>
            <a:ext cx="50800" cy="2006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9" name="hl"/>
          <p:cNvSpPr/>
          <p:nvPr/>
        </p:nvSpPr>
        <p:spPr>
          <a:xfrm>
            <a:off x="4114800" y="23622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0" name="hl"/>
          <p:cNvSpPr/>
          <p:nvPr/>
        </p:nvSpPr>
        <p:spPr>
          <a:xfrm>
            <a:off x="4114800" y="4318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1" name="tb"/>
          <p:cNvSpPr txBox="1"/>
          <p:nvPr/>
        </p:nvSpPr>
        <p:spPr>
          <a:xfrm>
            <a:off x="1092200" y="3048000"/>
            <a:ext cx="7112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800" b="1" dirty="0">
                <a:solidFill>
                  <a:srgbClr val="333333"/>
                </a:solidFill>
              </a:rPr>
              <a:t>A =</a:t>
            </a:r>
          </a:p>
        </p:txBody>
      </p:sp>
      <p:sp>
        <p:nvSpPr>
          <p:cNvPr id="6012" name="tb"/>
          <p:cNvSpPr txBox="1"/>
          <p:nvPr/>
        </p:nvSpPr>
        <p:spPr>
          <a:xfrm>
            <a:off x="1905000" y="2413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13" name="tb"/>
          <p:cNvSpPr txBox="1"/>
          <p:nvPr/>
        </p:nvSpPr>
        <p:spPr>
          <a:xfrm>
            <a:off x="2641600" y="2413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6014" name="tb"/>
          <p:cNvSpPr txBox="1"/>
          <p:nvPr/>
        </p:nvSpPr>
        <p:spPr>
          <a:xfrm>
            <a:off x="3378200" y="2413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6015" name="tb"/>
          <p:cNvSpPr txBox="1"/>
          <p:nvPr/>
        </p:nvSpPr>
        <p:spPr>
          <a:xfrm>
            <a:off x="1905000" y="3048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6016" name="tb"/>
          <p:cNvSpPr txBox="1"/>
          <p:nvPr/>
        </p:nvSpPr>
        <p:spPr>
          <a:xfrm>
            <a:off x="2641600" y="3048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17" name="tb"/>
          <p:cNvSpPr txBox="1"/>
          <p:nvPr/>
        </p:nvSpPr>
        <p:spPr>
          <a:xfrm>
            <a:off x="3378200" y="3048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18" name="tb"/>
          <p:cNvSpPr txBox="1"/>
          <p:nvPr/>
        </p:nvSpPr>
        <p:spPr>
          <a:xfrm>
            <a:off x="1905000" y="3683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19" name="tb"/>
          <p:cNvSpPr txBox="1"/>
          <p:nvPr/>
        </p:nvSpPr>
        <p:spPr>
          <a:xfrm>
            <a:off x="2641600" y="3683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3378200" y="3683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6021" name="tb"/>
          <p:cNvSpPr txBox="1"/>
          <p:nvPr/>
        </p:nvSpPr>
        <p:spPr>
          <a:xfrm>
            <a:off x="558800" y="4572000"/>
            <a:ext cx="5232400" cy="889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Reflect across the diagonal (↖↘): the entry in row i, column j moves to row j, column i.</a:t>
            </a:r>
          </a:p>
        </p:txBody>
      </p:sp>
      <p:sp>
        <p:nvSpPr>
          <p:cNvPr id="6022" name="panel"/>
          <p:cNvSpPr/>
          <p:nvPr/>
        </p:nvSpPr>
        <p:spPr>
          <a:xfrm>
            <a:off x="6146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3" name="tb"/>
          <p:cNvSpPr txBox="1"/>
          <p:nvPr/>
        </p:nvSpPr>
        <p:spPr>
          <a:xfrm>
            <a:off x="6400800" y="14224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Transpose Aᵀ — those rows are now columns</a:t>
            </a:r>
          </a:p>
        </p:txBody>
      </p:sp>
      <p:sp>
        <p:nvSpPr>
          <p:cNvPr id="6024" name="hl"/>
          <p:cNvSpPr/>
          <p:nvPr/>
        </p:nvSpPr>
        <p:spPr>
          <a:xfrm>
            <a:off x="7874000" y="2413000"/>
            <a:ext cx="736600" cy="1905000"/>
          </a:xfrm>
          <a:prstGeom prst="rect">
            <a:avLst/>
          </a:prstGeom>
          <a:solidFill>
            <a:srgbClr val="4B2E83">
              <a:alpha val="2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5" name="hl"/>
          <p:cNvSpPr/>
          <p:nvPr/>
        </p:nvSpPr>
        <p:spPr>
          <a:xfrm>
            <a:off x="8610600" y="2413000"/>
            <a:ext cx="736600" cy="1905000"/>
          </a:xfrm>
          <a:prstGeom prst="rect">
            <a:avLst/>
          </a:prstGeom>
          <a:solidFill>
            <a:srgbClr val="00A7B5">
              <a:alpha val="2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6" name="hl"/>
          <p:cNvSpPr/>
          <p:nvPr/>
        </p:nvSpPr>
        <p:spPr>
          <a:xfrm>
            <a:off x="9347200" y="2413000"/>
            <a:ext cx="736600" cy="1905000"/>
          </a:xfrm>
          <a:prstGeom prst="rect">
            <a:avLst/>
          </a:prstGeom>
          <a:solidFill>
            <a:srgbClr val="B7A57A">
              <a:alpha val="2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7" name="hl"/>
          <p:cNvSpPr/>
          <p:nvPr/>
        </p:nvSpPr>
        <p:spPr>
          <a:xfrm>
            <a:off x="7721600" y="2362200"/>
            <a:ext cx="50800" cy="2006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8" name="hl"/>
          <p:cNvSpPr/>
          <p:nvPr/>
        </p:nvSpPr>
        <p:spPr>
          <a:xfrm>
            <a:off x="7721600" y="23622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9" name="hl"/>
          <p:cNvSpPr/>
          <p:nvPr/>
        </p:nvSpPr>
        <p:spPr>
          <a:xfrm>
            <a:off x="7721600" y="4318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0" name="hl"/>
          <p:cNvSpPr/>
          <p:nvPr/>
        </p:nvSpPr>
        <p:spPr>
          <a:xfrm>
            <a:off x="10185400" y="2362200"/>
            <a:ext cx="50800" cy="2006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1" name="hl"/>
          <p:cNvSpPr/>
          <p:nvPr/>
        </p:nvSpPr>
        <p:spPr>
          <a:xfrm>
            <a:off x="10083800" y="23622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2" name="hl"/>
          <p:cNvSpPr/>
          <p:nvPr/>
        </p:nvSpPr>
        <p:spPr>
          <a:xfrm>
            <a:off x="10083800" y="4318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3" name="tb"/>
          <p:cNvSpPr txBox="1"/>
          <p:nvPr/>
        </p:nvSpPr>
        <p:spPr>
          <a:xfrm>
            <a:off x="6959600" y="3048000"/>
            <a:ext cx="8382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800" b="1" dirty="0">
                <a:solidFill>
                  <a:srgbClr val="333333"/>
                </a:solidFill>
              </a:rPr>
              <a:t>Aᵀ =</a:t>
            </a:r>
          </a:p>
        </p:txBody>
      </p:sp>
      <p:sp>
        <p:nvSpPr>
          <p:cNvPr id="6034" name="tb"/>
          <p:cNvSpPr txBox="1"/>
          <p:nvPr/>
        </p:nvSpPr>
        <p:spPr>
          <a:xfrm>
            <a:off x="7874000" y="2413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35" name="tb"/>
          <p:cNvSpPr txBox="1"/>
          <p:nvPr/>
        </p:nvSpPr>
        <p:spPr>
          <a:xfrm>
            <a:off x="8610600" y="2413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6036" name="tb"/>
          <p:cNvSpPr txBox="1"/>
          <p:nvPr/>
        </p:nvSpPr>
        <p:spPr>
          <a:xfrm>
            <a:off x="9347200" y="2413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37" name="tb"/>
          <p:cNvSpPr txBox="1"/>
          <p:nvPr/>
        </p:nvSpPr>
        <p:spPr>
          <a:xfrm>
            <a:off x="7874000" y="3048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6038" name="tb"/>
          <p:cNvSpPr txBox="1"/>
          <p:nvPr/>
        </p:nvSpPr>
        <p:spPr>
          <a:xfrm>
            <a:off x="8610600" y="3048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39" name="tb"/>
          <p:cNvSpPr txBox="1"/>
          <p:nvPr/>
        </p:nvSpPr>
        <p:spPr>
          <a:xfrm>
            <a:off x="9347200" y="3048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6040" name="tb"/>
          <p:cNvSpPr txBox="1"/>
          <p:nvPr/>
        </p:nvSpPr>
        <p:spPr>
          <a:xfrm>
            <a:off x="7874000" y="3683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6041" name="tb"/>
          <p:cNvSpPr txBox="1"/>
          <p:nvPr/>
        </p:nvSpPr>
        <p:spPr>
          <a:xfrm>
            <a:off x="8610600" y="3683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42" name="tb"/>
          <p:cNvSpPr txBox="1"/>
          <p:nvPr/>
        </p:nvSpPr>
        <p:spPr>
          <a:xfrm>
            <a:off x="9347200" y="3683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6043" name="tb"/>
          <p:cNvSpPr txBox="1"/>
          <p:nvPr/>
        </p:nvSpPr>
        <p:spPr>
          <a:xfrm>
            <a:off x="6400800" y="4572000"/>
            <a:ext cx="5232400" cy="50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row i of A  →  column i of Aᵀ       </a:t>
            </a:r>
            <a:r>
              <a:rPr lang="en-US" sz="1500" b="1" dirty="0">
                <a:solidFill>
                  <a:srgbClr val="4B2E83"/>
                </a:solidFill>
              </a:rPr>
              <a:t>(Aᵀ)ᵢⱼ = Aⱼᵢ</a:t>
            </a:r>
          </a:p>
        </p:txBody>
      </p:sp>
    </p:spTree>
    <p:extLst>
      <p:ext uri="{BB962C8B-B14F-4D97-AF65-F5344CB8AC3E}">
        <p14:creationId xmlns:p14="http://schemas.microsoft.com/office/powerpoint/2010/main" val="370372420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The Adjugate  adj(A)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The adjugate is the transpose of the cofactor matrix.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adj(A) collects every signed cofactor and transposes them; dividing by det(A) gives the inverse.</a:t>
            </a:r>
          </a:p>
        </p:txBody>
      </p:sp>
      <p:sp>
        <p:nvSpPr>
          <p:cNvPr id="6000" name="panel"/>
          <p:cNvSpPr/>
          <p:nvPr/>
        </p:nvSpPr>
        <p:spPr>
          <a:xfrm>
            <a:off x="304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224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Step 1 — cofactor matrix C</a:t>
            </a:r>
          </a:p>
        </p:txBody>
      </p:sp>
      <p:sp>
        <p:nvSpPr>
          <p:cNvPr id="6002" name="tb"/>
          <p:cNvSpPr txBox="1"/>
          <p:nvPr/>
        </p:nvSpPr>
        <p:spPr>
          <a:xfrm>
            <a:off x="558800" y="1854200"/>
            <a:ext cx="52324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50" i="1" dirty="0">
                <a:solidFill>
                  <a:srgbClr val="595959"/>
                </a:solidFill>
              </a:rPr>
              <a:t>Replace each entry by its signed minor Cᵢⱼ = (−1)^(i+j) Mᵢⱼ:</a:t>
            </a:r>
          </a:p>
        </p:txBody>
      </p:sp>
      <p:sp>
        <p:nvSpPr>
          <p:cNvPr id="6003" name="hl"/>
          <p:cNvSpPr/>
          <p:nvPr/>
        </p:nvSpPr>
        <p:spPr>
          <a:xfrm>
            <a:off x="1752600" y="2438400"/>
            <a:ext cx="50800" cy="2235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4" name="hl"/>
          <p:cNvSpPr/>
          <p:nvPr/>
        </p:nvSpPr>
        <p:spPr>
          <a:xfrm>
            <a:off x="1752600" y="24384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5" name="hl"/>
          <p:cNvSpPr/>
          <p:nvPr/>
        </p:nvSpPr>
        <p:spPr>
          <a:xfrm>
            <a:off x="1752600" y="46228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6" name="hl"/>
          <p:cNvSpPr/>
          <p:nvPr/>
        </p:nvSpPr>
        <p:spPr>
          <a:xfrm>
            <a:off x="5130800" y="2438400"/>
            <a:ext cx="50800" cy="2235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7" name="hl"/>
          <p:cNvSpPr/>
          <p:nvPr/>
        </p:nvSpPr>
        <p:spPr>
          <a:xfrm>
            <a:off x="5029200" y="24384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8" name="hl"/>
          <p:cNvSpPr/>
          <p:nvPr/>
        </p:nvSpPr>
        <p:spPr>
          <a:xfrm>
            <a:off x="5029200" y="46228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9" name="tb"/>
          <p:cNvSpPr txBox="1"/>
          <p:nvPr/>
        </p:nvSpPr>
        <p:spPr>
          <a:xfrm>
            <a:off x="1905000" y="2489200"/>
            <a:ext cx="1041400" cy="711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700" b="1" dirty="0">
                <a:solidFill>
                  <a:srgbClr val="D1578A"/>
                </a:solidFill>
                <a:latin typeface="Consolas"/>
                <a:cs typeface="Consolas"/>
              </a:rPr>
              <a:t>−24</a:t>
            </a:r>
          </a:p>
        </p:txBody>
      </p:sp>
      <p:sp>
        <p:nvSpPr>
          <p:cNvPr id="6010" name="tb"/>
          <p:cNvSpPr txBox="1"/>
          <p:nvPr/>
        </p:nvSpPr>
        <p:spPr>
          <a:xfrm>
            <a:off x="2946400" y="2489200"/>
            <a:ext cx="1041400" cy="711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700" b="1" dirty="0">
                <a:solidFill>
                  <a:srgbClr val="333333"/>
                </a:solidFill>
                <a:latin typeface="Consolas"/>
                <a:cs typeface="Consolas"/>
              </a:rPr>
              <a:t>20</a:t>
            </a:r>
          </a:p>
        </p:txBody>
      </p:sp>
      <p:sp>
        <p:nvSpPr>
          <p:cNvPr id="6011" name="tb"/>
          <p:cNvSpPr txBox="1"/>
          <p:nvPr/>
        </p:nvSpPr>
        <p:spPr>
          <a:xfrm>
            <a:off x="3987800" y="2489200"/>
            <a:ext cx="1041400" cy="711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700" b="1" dirty="0">
                <a:solidFill>
                  <a:srgbClr val="D1578A"/>
                </a:solidFill>
                <a:latin typeface="Consolas"/>
                <a:cs typeface="Consolas"/>
              </a:rPr>
              <a:t>−5</a:t>
            </a:r>
          </a:p>
        </p:txBody>
      </p:sp>
      <p:sp>
        <p:nvSpPr>
          <p:cNvPr id="6012" name="tb"/>
          <p:cNvSpPr txBox="1"/>
          <p:nvPr/>
        </p:nvSpPr>
        <p:spPr>
          <a:xfrm>
            <a:off x="1905000" y="3200400"/>
            <a:ext cx="1041400" cy="711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700" b="1" dirty="0">
                <a:solidFill>
                  <a:srgbClr val="333333"/>
                </a:solidFill>
                <a:latin typeface="Consolas"/>
                <a:cs typeface="Consolas"/>
              </a:rPr>
              <a:t>18</a:t>
            </a:r>
          </a:p>
        </p:txBody>
      </p:sp>
      <p:sp>
        <p:nvSpPr>
          <p:cNvPr id="6013" name="tb"/>
          <p:cNvSpPr txBox="1"/>
          <p:nvPr/>
        </p:nvSpPr>
        <p:spPr>
          <a:xfrm>
            <a:off x="2946400" y="3200400"/>
            <a:ext cx="1041400" cy="711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700" b="1" dirty="0">
                <a:solidFill>
                  <a:srgbClr val="D1578A"/>
                </a:solidFill>
                <a:latin typeface="Consolas"/>
                <a:cs typeface="Consolas"/>
              </a:rPr>
              <a:t>−15</a:t>
            </a:r>
          </a:p>
        </p:txBody>
      </p:sp>
      <p:sp>
        <p:nvSpPr>
          <p:cNvPr id="6014" name="tb"/>
          <p:cNvSpPr txBox="1"/>
          <p:nvPr/>
        </p:nvSpPr>
        <p:spPr>
          <a:xfrm>
            <a:off x="3987800" y="3200400"/>
            <a:ext cx="1041400" cy="711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70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15" name="tb"/>
          <p:cNvSpPr txBox="1"/>
          <p:nvPr/>
        </p:nvSpPr>
        <p:spPr>
          <a:xfrm>
            <a:off x="1905000" y="3911600"/>
            <a:ext cx="1041400" cy="711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70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16" name="tb"/>
          <p:cNvSpPr txBox="1"/>
          <p:nvPr/>
        </p:nvSpPr>
        <p:spPr>
          <a:xfrm>
            <a:off x="2946400" y="3911600"/>
            <a:ext cx="1041400" cy="711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700" b="1" dirty="0">
                <a:solidFill>
                  <a:srgbClr val="D1578A"/>
                </a:solidFill>
                <a:latin typeface="Consolas"/>
                <a:cs typeface="Consolas"/>
              </a:rPr>
              <a:t>−4</a:t>
            </a:r>
          </a:p>
        </p:txBody>
      </p:sp>
      <p:sp>
        <p:nvSpPr>
          <p:cNvPr id="6017" name="tb"/>
          <p:cNvSpPr txBox="1"/>
          <p:nvPr/>
        </p:nvSpPr>
        <p:spPr>
          <a:xfrm>
            <a:off x="3987800" y="3911600"/>
            <a:ext cx="1041400" cy="711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7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18" name="tb"/>
          <p:cNvSpPr txBox="1"/>
          <p:nvPr/>
        </p:nvSpPr>
        <p:spPr>
          <a:xfrm>
            <a:off x="889000" y="3200400"/>
            <a:ext cx="889000" cy="711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800" b="1" dirty="0">
                <a:solidFill>
                  <a:srgbClr val="333333"/>
                </a:solidFill>
              </a:rPr>
              <a:t>C =</a:t>
            </a:r>
          </a:p>
        </p:txBody>
      </p:sp>
      <p:sp>
        <p:nvSpPr>
          <p:cNvPr id="6019" name="panel"/>
          <p:cNvSpPr/>
          <p:nvPr/>
        </p:nvSpPr>
        <p:spPr>
          <a:xfrm>
            <a:off x="6146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0" name="tb"/>
          <p:cNvSpPr txBox="1"/>
          <p:nvPr/>
        </p:nvSpPr>
        <p:spPr>
          <a:xfrm>
            <a:off x="6400800" y="14224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Step 2 — transpose to get adj(A)</a:t>
            </a:r>
          </a:p>
        </p:txBody>
      </p:sp>
      <p:sp>
        <p:nvSpPr>
          <p:cNvPr id="6021" name="tb"/>
          <p:cNvSpPr txBox="1"/>
          <p:nvPr/>
        </p:nvSpPr>
        <p:spPr>
          <a:xfrm>
            <a:off x="6400800" y="1854200"/>
            <a:ext cx="52324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50" i="1" dirty="0">
                <a:solidFill>
                  <a:srgbClr val="595959"/>
                </a:solidFill>
              </a:rPr>
              <a:t>adj(A) = Cᵀ : row i of C becomes column i.</a:t>
            </a:r>
          </a:p>
        </p:txBody>
      </p:sp>
      <p:sp>
        <p:nvSpPr>
          <p:cNvPr id="6022" name="hl"/>
          <p:cNvSpPr/>
          <p:nvPr/>
        </p:nvSpPr>
        <p:spPr>
          <a:xfrm>
            <a:off x="7620000" y="2438400"/>
            <a:ext cx="50800" cy="2235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3" name="hl"/>
          <p:cNvSpPr/>
          <p:nvPr/>
        </p:nvSpPr>
        <p:spPr>
          <a:xfrm>
            <a:off x="7620000" y="24384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4" name="hl"/>
          <p:cNvSpPr/>
          <p:nvPr/>
        </p:nvSpPr>
        <p:spPr>
          <a:xfrm>
            <a:off x="7620000" y="46228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5" name="hl"/>
          <p:cNvSpPr/>
          <p:nvPr/>
        </p:nvSpPr>
        <p:spPr>
          <a:xfrm>
            <a:off x="10998200" y="2438400"/>
            <a:ext cx="50800" cy="2235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6" name="hl"/>
          <p:cNvSpPr/>
          <p:nvPr/>
        </p:nvSpPr>
        <p:spPr>
          <a:xfrm>
            <a:off x="10896600" y="24384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7" name="hl"/>
          <p:cNvSpPr/>
          <p:nvPr/>
        </p:nvSpPr>
        <p:spPr>
          <a:xfrm>
            <a:off x="10896600" y="46228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8" name="tb"/>
          <p:cNvSpPr txBox="1"/>
          <p:nvPr/>
        </p:nvSpPr>
        <p:spPr>
          <a:xfrm>
            <a:off x="7772400" y="2489200"/>
            <a:ext cx="1041400" cy="711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700" b="1" dirty="0">
                <a:solidFill>
                  <a:srgbClr val="D1578A"/>
                </a:solidFill>
                <a:latin typeface="Consolas"/>
                <a:cs typeface="Consolas"/>
              </a:rPr>
              <a:t>−24</a:t>
            </a:r>
          </a:p>
        </p:txBody>
      </p:sp>
      <p:sp>
        <p:nvSpPr>
          <p:cNvPr id="6029" name="tb"/>
          <p:cNvSpPr txBox="1"/>
          <p:nvPr/>
        </p:nvSpPr>
        <p:spPr>
          <a:xfrm>
            <a:off x="8813800" y="2489200"/>
            <a:ext cx="1041400" cy="711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700" b="1" dirty="0">
                <a:solidFill>
                  <a:srgbClr val="333333"/>
                </a:solidFill>
                <a:latin typeface="Consolas"/>
                <a:cs typeface="Consolas"/>
              </a:rPr>
              <a:t>18</a:t>
            </a:r>
          </a:p>
        </p:txBody>
      </p:sp>
      <p:sp>
        <p:nvSpPr>
          <p:cNvPr id="6030" name="tb"/>
          <p:cNvSpPr txBox="1"/>
          <p:nvPr/>
        </p:nvSpPr>
        <p:spPr>
          <a:xfrm>
            <a:off x="9855200" y="2489200"/>
            <a:ext cx="1041400" cy="711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70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31" name="tb"/>
          <p:cNvSpPr txBox="1"/>
          <p:nvPr/>
        </p:nvSpPr>
        <p:spPr>
          <a:xfrm>
            <a:off x="7772400" y="3200400"/>
            <a:ext cx="1041400" cy="711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700" b="1" dirty="0">
                <a:solidFill>
                  <a:srgbClr val="333333"/>
                </a:solidFill>
                <a:latin typeface="Consolas"/>
                <a:cs typeface="Consolas"/>
              </a:rPr>
              <a:t>20</a:t>
            </a:r>
          </a:p>
        </p:txBody>
      </p:sp>
      <p:sp>
        <p:nvSpPr>
          <p:cNvPr id="6032" name="tb"/>
          <p:cNvSpPr txBox="1"/>
          <p:nvPr/>
        </p:nvSpPr>
        <p:spPr>
          <a:xfrm>
            <a:off x="8813800" y="3200400"/>
            <a:ext cx="1041400" cy="711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700" b="1" dirty="0">
                <a:solidFill>
                  <a:srgbClr val="D1578A"/>
                </a:solidFill>
                <a:latin typeface="Consolas"/>
                <a:cs typeface="Consolas"/>
              </a:rPr>
              <a:t>−15</a:t>
            </a:r>
          </a:p>
        </p:txBody>
      </p:sp>
      <p:sp>
        <p:nvSpPr>
          <p:cNvPr id="6033" name="tb"/>
          <p:cNvSpPr txBox="1"/>
          <p:nvPr/>
        </p:nvSpPr>
        <p:spPr>
          <a:xfrm>
            <a:off x="9855200" y="3200400"/>
            <a:ext cx="1041400" cy="711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700" b="1" dirty="0">
                <a:solidFill>
                  <a:srgbClr val="D1578A"/>
                </a:solidFill>
                <a:latin typeface="Consolas"/>
                <a:cs typeface="Consolas"/>
              </a:rPr>
              <a:t>−4</a:t>
            </a:r>
          </a:p>
        </p:txBody>
      </p:sp>
      <p:sp>
        <p:nvSpPr>
          <p:cNvPr id="6034" name="tb"/>
          <p:cNvSpPr txBox="1"/>
          <p:nvPr/>
        </p:nvSpPr>
        <p:spPr>
          <a:xfrm>
            <a:off x="7772400" y="3911600"/>
            <a:ext cx="1041400" cy="711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700" b="1" dirty="0">
                <a:solidFill>
                  <a:srgbClr val="D1578A"/>
                </a:solidFill>
                <a:latin typeface="Consolas"/>
                <a:cs typeface="Consolas"/>
              </a:rPr>
              <a:t>−5</a:t>
            </a:r>
          </a:p>
        </p:txBody>
      </p:sp>
      <p:sp>
        <p:nvSpPr>
          <p:cNvPr id="6035" name="tb"/>
          <p:cNvSpPr txBox="1"/>
          <p:nvPr/>
        </p:nvSpPr>
        <p:spPr>
          <a:xfrm>
            <a:off x="8813800" y="3911600"/>
            <a:ext cx="1041400" cy="711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70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36" name="tb"/>
          <p:cNvSpPr txBox="1"/>
          <p:nvPr/>
        </p:nvSpPr>
        <p:spPr>
          <a:xfrm>
            <a:off x="9855200" y="3911600"/>
            <a:ext cx="1041400" cy="711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7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37" name="tb"/>
          <p:cNvSpPr txBox="1"/>
          <p:nvPr/>
        </p:nvSpPr>
        <p:spPr>
          <a:xfrm>
            <a:off x="6604000" y="3200400"/>
            <a:ext cx="1092200" cy="711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600" b="1" dirty="0">
                <a:solidFill>
                  <a:srgbClr val="333333"/>
                </a:solidFill>
              </a:rPr>
              <a:t>adj(A) =</a:t>
            </a:r>
          </a:p>
        </p:txBody>
      </p:sp>
      <p:sp>
        <p:nvSpPr>
          <p:cNvPr id="6038" name="box"/>
          <p:cNvSpPr/>
          <p:nvPr/>
        </p:nvSpPr>
        <p:spPr>
          <a:xfrm>
            <a:off x="6324600" y="4800600"/>
            <a:ext cx="5384800" cy="736600"/>
          </a:xfrm>
          <a:prstGeom prst="roundRect">
            <a:avLst>
              <a:gd name="adj" fmla="val 12000"/>
            </a:avLst>
          </a:prstGeom>
          <a:solidFill>
            <a:srgbClr val="F4FAEF"/>
          </a:solidFill>
          <a:ln w="19050">
            <a:solidFill>
              <a:srgbClr val="7AB64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39" name="tb"/>
          <p:cNvSpPr txBox="1"/>
          <p:nvPr/>
        </p:nvSpPr>
        <p:spPr>
          <a:xfrm>
            <a:off x="6477000" y="4800600"/>
            <a:ext cx="5080000" cy="736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450" b="1" dirty="0">
                <a:solidFill>
                  <a:srgbClr val="333333"/>
                </a:solidFill>
              </a:rPr>
              <a:t>A·adj(A) = det(A)·I    ⇒    </a:t>
            </a:r>
            <a:r>
              <a:rPr lang="en-US" sz="1500" b="1" dirty="0">
                <a:solidFill>
                  <a:srgbClr val="4B2E83"/>
                </a:solidFill>
              </a:rPr>
              <a:t>A⁻¹ = adj(A) / det(A)</a:t>
            </a:r>
          </a:p>
        </p:txBody>
      </p:sp>
    </p:spTree>
    <p:extLst>
      <p:ext uri="{BB962C8B-B14F-4D97-AF65-F5344CB8AC3E}">
        <p14:creationId xmlns:p14="http://schemas.microsoft.com/office/powerpoint/2010/main" val="358948381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Inverse of a 3×3 with the Adjugate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A⁻¹ = (1/det A)·adj(A), where adj(A) is the transpose of the cofactor matrix.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Cofactors → transpose → divide by det. With det(A) = 1, A⁻¹ comes out in whole numbers.</a:t>
            </a:r>
          </a:p>
        </p:txBody>
      </p:sp>
      <p:sp>
        <p:nvSpPr>
          <p:cNvPr id="7000" name="panel"/>
          <p:cNvSpPr/>
          <p:nvPr/>
        </p:nvSpPr>
        <p:spPr>
          <a:xfrm>
            <a:off x="304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001" name="tb"/>
          <p:cNvSpPr txBox="1"/>
          <p:nvPr/>
        </p:nvSpPr>
        <p:spPr>
          <a:xfrm>
            <a:off x="558800" y="14224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Step 1 — Determinant &amp; cofactors</a:t>
            </a:r>
          </a:p>
        </p:txBody>
      </p:sp>
      <p:sp>
        <p:nvSpPr>
          <p:cNvPr id="7002" name="tb"/>
          <p:cNvSpPr txBox="1"/>
          <p:nvPr/>
        </p:nvSpPr>
        <p:spPr>
          <a:xfrm>
            <a:off x="558800" y="1905000"/>
            <a:ext cx="5232400" cy="355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650" b="1" dirty="0">
                <a:solidFill>
                  <a:srgbClr val="4B2E83"/>
                </a:solidFill>
              </a:rPr>
              <a:t>A⁻¹ = adj(A) / det(A)</a:t>
            </a:r>
          </a:p>
        </p:txBody>
      </p:sp>
      <p:sp>
        <p:nvSpPr>
          <p:cNvPr id="7003" name="tb"/>
          <p:cNvSpPr txBox="1"/>
          <p:nvPr/>
        </p:nvSpPr>
        <p:spPr>
          <a:xfrm>
            <a:off x="558800" y="24130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dirty="0">
                <a:solidFill>
                  <a:srgbClr val="333333"/>
                </a:solidFill>
              </a:rPr>
              <a:t>det(A) = </a:t>
            </a:r>
            <a:r>
              <a:rPr lang="en-US" sz="1450" b="1" dirty="0">
                <a:solidFill>
                  <a:srgbClr val="4B2E83"/>
                </a:solidFill>
              </a:rPr>
              <a:t>1</a:t>
            </a:r>
            <a:r>
              <a:rPr lang="en-US" sz="1400" i="1" dirty="0">
                <a:solidFill>
                  <a:srgbClr val="595959"/>
                </a:solidFill>
              </a:rPr>
              <a:t>   (from the previous slide)</a:t>
            </a:r>
          </a:p>
        </p:txBody>
      </p:sp>
      <p:sp>
        <p:nvSpPr>
          <p:cNvPr id="7004" name="tb"/>
          <p:cNvSpPr txBox="1"/>
          <p:nvPr/>
        </p:nvSpPr>
        <p:spPr>
          <a:xfrm>
            <a:off x="558800" y="28956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Cofactor matrix  C  (signed minors of A):</a:t>
            </a:r>
          </a:p>
        </p:txBody>
      </p:sp>
      <p:sp>
        <p:nvSpPr>
          <p:cNvPr id="7005" name="tb"/>
          <p:cNvSpPr txBox="1"/>
          <p:nvPr/>
        </p:nvSpPr>
        <p:spPr>
          <a:xfrm>
            <a:off x="889000" y="3327400"/>
            <a:ext cx="4572000" cy="1905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spcBef>
                <a:spcPts val="200"/>
              </a:spcBef>
            </a:pPr>
            <a:r>
              <a:rPr lang="en-US" sz="1700" dirty="0">
                <a:solidFill>
                  <a:srgbClr val="333333"/>
                </a:solidFill>
                <a:latin typeface="Consolas"/>
                <a:cs typeface="Consolas"/>
              </a:rPr>
              <a:t>⎡  −24   20   −5  ⎤</a:t>
            </a:r>
          </a:p>
          <a:p>
            <a:pPr algn="l">
              <a:spcBef>
                <a:spcPts val="200"/>
              </a:spcBef>
            </a:pPr>
            <a:r>
              <a:rPr lang="en-US" sz="1700" dirty="0">
                <a:solidFill>
                  <a:srgbClr val="333333"/>
                </a:solidFill>
                <a:latin typeface="Consolas"/>
                <a:cs typeface="Consolas"/>
              </a:rPr>
              <a:t>⎢   18  −15    4  ⎥</a:t>
            </a:r>
          </a:p>
          <a:p>
            <a:pPr algn="l">
              <a:spcBef>
                <a:spcPts val="200"/>
              </a:spcBef>
            </a:pPr>
            <a:r>
              <a:rPr lang="en-US" sz="1700" dirty="0">
                <a:solidFill>
                  <a:srgbClr val="333333"/>
                </a:solidFill>
                <a:latin typeface="Consolas"/>
                <a:cs typeface="Consolas"/>
              </a:rPr>
              <a:t>⎣    5   −4    1  ⎦</a:t>
            </a:r>
          </a:p>
        </p:txBody>
      </p:sp>
      <p:sp>
        <p:nvSpPr>
          <p:cNvPr id="7006" name="panel"/>
          <p:cNvSpPr/>
          <p:nvPr/>
        </p:nvSpPr>
        <p:spPr>
          <a:xfrm>
            <a:off x="6146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007" name="tb"/>
          <p:cNvSpPr txBox="1"/>
          <p:nvPr/>
        </p:nvSpPr>
        <p:spPr>
          <a:xfrm>
            <a:off x="6400800" y="14224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Step 2 — Transpose, then divide</a:t>
            </a:r>
          </a:p>
        </p:txBody>
      </p:sp>
      <p:sp>
        <p:nvSpPr>
          <p:cNvPr id="7008" name="tb"/>
          <p:cNvSpPr txBox="1"/>
          <p:nvPr/>
        </p:nvSpPr>
        <p:spPr>
          <a:xfrm>
            <a:off x="6400800" y="1879600"/>
            <a:ext cx="5207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Transpose C to get adj(A); then divide every entry by det(A) = 1.</a:t>
            </a:r>
          </a:p>
        </p:txBody>
      </p:sp>
      <p:sp>
        <p:nvSpPr>
          <p:cNvPr id="7009" name="tb"/>
          <p:cNvSpPr txBox="1"/>
          <p:nvPr/>
        </p:nvSpPr>
        <p:spPr>
          <a:xfrm>
            <a:off x="6400800" y="2616200"/>
            <a:ext cx="5207000" cy="355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600" b="1" dirty="0">
                <a:solidFill>
                  <a:srgbClr val="4B2E83"/>
                </a:solidFill>
              </a:rPr>
              <a:t>A⁻¹ = adj(A) = Cᵀ</a:t>
            </a:r>
          </a:p>
        </p:txBody>
      </p:sp>
      <p:sp>
        <p:nvSpPr>
          <p:cNvPr id="7010" name="box"/>
          <p:cNvSpPr/>
          <p:nvPr/>
        </p:nvSpPr>
        <p:spPr>
          <a:xfrm>
            <a:off x="6400800" y="3098800"/>
            <a:ext cx="5232400" cy="1981200"/>
          </a:xfrm>
          <a:prstGeom prst="roundRect">
            <a:avLst>
              <a:gd name="adj" fmla="val 6000"/>
            </a:avLst>
          </a:prstGeom>
          <a:solidFill>
            <a:srgbClr val="F4FAEF"/>
          </a:solidFill>
          <a:ln w="19050">
            <a:solidFill>
              <a:srgbClr val="7AB64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011" name="tb"/>
          <p:cNvSpPr txBox="1"/>
          <p:nvPr/>
        </p:nvSpPr>
        <p:spPr>
          <a:xfrm>
            <a:off x="6654800" y="3810000"/>
            <a:ext cx="1016000" cy="558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800" b="1" dirty="0">
                <a:solidFill>
                  <a:srgbClr val="333333"/>
                </a:solidFill>
              </a:rPr>
              <a:t>A⁻¹ =</a:t>
            </a:r>
          </a:p>
        </p:txBody>
      </p:sp>
      <p:sp>
        <p:nvSpPr>
          <p:cNvPr id="7012" name="tb"/>
          <p:cNvSpPr txBox="1"/>
          <p:nvPr/>
        </p:nvSpPr>
        <p:spPr>
          <a:xfrm>
            <a:off x="7620000" y="3276600"/>
            <a:ext cx="3810000" cy="177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spcBef>
                <a:spcPts val="200"/>
              </a:spcBef>
            </a:pPr>
            <a:r>
              <a:rPr lang="en-US" sz="1700" dirty="0">
                <a:solidFill>
                  <a:srgbClr val="333333"/>
                </a:solidFill>
                <a:latin typeface="Consolas"/>
                <a:cs typeface="Consolas"/>
              </a:rPr>
              <a:t>⎡  −24   18    5  ⎤</a:t>
            </a:r>
          </a:p>
          <a:p>
            <a:pPr algn="l">
              <a:spcBef>
                <a:spcPts val="200"/>
              </a:spcBef>
            </a:pPr>
            <a:r>
              <a:rPr lang="en-US" sz="1700" dirty="0">
                <a:solidFill>
                  <a:srgbClr val="333333"/>
                </a:solidFill>
                <a:latin typeface="Consolas"/>
                <a:cs typeface="Consolas"/>
              </a:rPr>
              <a:t>⎢   20  −15   −4  ⎥</a:t>
            </a:r>
          </a:p>
          <a:p>
            <a:pPr algn="l">
              <a:spcBef>
                <a:spcPts val="200"/>
              </a:spcBef>
            </a:pPr>
            <a:r>
              <a:rPr lang="en-US" sz="1700" dirty="0">
                <a:solidFill>
                  <a:srgbClr val="333333"/>
                </a:solidFill>
                <a:latin typeface="Consolas"/>
                <a:cs typeface="Consolas"/>
              </a:rPr>
              <a:t>⎣   −5    4    1  ⎦</a:t>
            </a:r>
          </a:p>
        </p:txBody>
      </p:sp>
      <p:sp>
        <p:nvSpPr>
          <p:cNvPr id="7013" name="tb"/>
          <p:cNvSpPr txBox="1"/>
          <p:nvPr/>
        </p:nvSpPr>
        <p:spPr>
          <a:xfrm>
            <a:off x="6400800" y="5207000"/>
            <a:ext cx="5207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b="1" dirty="0">
                <a:solidFill>
                  <a:srgbClr val="7AB648"/>
                </a:solidFill>
              </a:rPr>
              <a:t>Check:  </a:t>
            </a:r>
            <a:r>
              <a:rPr lang="en-US" sz="1400" b="1" i="1" dirty="0">
                <a:solidFill>
                  <a:srgbClr val="7AB648"/>
                </a:solidFill>
              </a:rPr>
              <a:t>A · A⁻¹ = I</a:t>
            </a:r>
          </a:p>
        </p:txBody>
      </p:sp>
    </p:spTree>
    <p:extLst>
      <p:ext uri="{BB962C8B-B14F-4D97-AF65-F5344CB8AC3E}">
        <p14:creationId xmlns:p14="http://schemas.microsoft.com/office/powerpoint/2010/main" val="51239280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Cofactor C₁₁   ·   adjugate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Each entry a₁₁ has a signed cofactor; the nine of them form matrix C.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Collect all nine cofactors into C, then transpose to form adj(A).</a:t>
            </a:r>
          </a:p>
        </p:txBody>
      </p:sp>
      <p:sp>
        <p:nvSpPr>
          <p:cNvPr id="6000" name="panel"/>
          <p:cNvSpPr/>
          <p:nvPr/>
        </p:nvSpPr>
        <p:spPr>
          <a:xfrm>
            <a:off x="304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224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Delete row 1 and column 1:</a:t>
            </a:r>
          </a:p>
        </p:txBody>
      </p:sp>
      <p:sp>
        <p:nvSpPr>
          <p:cNvPr id="6002" name="hl"/>
          <p:cNvSpPr/>
          <p:nvPr/>
        </p:nvSpPr>
        <p:spPr>
          <a:xfrm>
            <a:off x="1905000" y="2540000"/>
            <a:ext cx="736600" cy="635000"/>
          </a:xfrm>
          <a:prstGeom prst="rect">
            <a:avLst/>
          </a:prstGeom>
          <a:solidFill>
            <a:srgbClr val="4B2E83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3" name="hl"/>
          <p:cNvSpPr/>
          <p:nvPr/>
        </p:nvSpPr>
        <p:spPr>
          <a:xfrm>
            <a:off x="2641600" y="3175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4" name="hl"/>
          <p:cNvSpPr/>
          <p:nvPr/>
        </p:nvSpPr>
        <p:spPr>
          <a:xfrm>
            <a:off x="3378200" y="3175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5" name="hl"/>
          <p:cNvSpPr/>
          <p:nvPr/>
        </p:nvSpPr>
        <p:spPr>
          <a:xfrm>
            <a:off x="2641600" y="3810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6" name="hl"/>
          <p:cNvSpPr/>
          <p:nvPr/>
        </p:nvSpPr>
        <p:spPr>
          <a:xfrm>
            <a:off x="3378200" y="3810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7" name="hl"/>
          <p:cNvSpPr/>
          <p:nvPr/>
        </p:nvSpPr>
        <p:spPr>
          <a:xfrm>
            <a:off x="1752600" y="2489200"/>
            <a:ext cx="50800" cy="2006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8" name="hl"/>
          <p:cNvSpPr/>
          <p:nvPr/>
        </p:nvSpPr>
        <p:spPr>
          <a:xfrm>
            <a:off x="1752600" y="24892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9" name="hl"/>
          <p:cNvSpPr/>
          <p:nvPr/>
        </p:nvSpPr>
        <p:spPr>
          <a:xfrm>
            <a:off x="1752600" y="4445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0" name="hl"/>
          <p:cNvSpPr/>
          <p:nvPr/>
        </p:nvSpPr>
        <p:spPr>
          <a:xfrm>
            <a:off x="4216400" y="2489200"/>
            <a:ext cx="50800" cy="2006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1" name="hl"/>
          <p:cNvSpPr/>
          <p:nvPr/>
        </p:nvSpPr>
        <p:spPr>
          <a:xfrm>
            <a:off x="4114800" y="24892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2" name="hl"/>
          <p:cNvSpPr/>
          <p:nvPr/>
        </p:nvSpPr>
        <p:spPr>
          <a:xfrm>
            <a:off x="4114800" y="4445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3" name="tb"/>
          <p:cNvSpPr txBox="1"/>
          <p:nvPr/>
        </p:nvSpPr>
        <p:spPr>
          <a:xfrm>
            <a:off x="1117600" y="3175000"/>
            <a:ext cx="7112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800" b="1" dirty="0">
                <a:solidFill>
                  <a:srgbClr val="333333"/>
                </a:solidFill>
              </a:rPr>
              <a:t>A =</a:t>
            </a:r>
          </a:p>
        </p:txBody>
      </p:sp>
      <p:sp>
        <p:nvSpPr>
          <p:cNvPr id="6014" name="tb"/>
          <p:cNvSpPr txBox="1"/>
          <p:nvPr/>
        </p:nvSpPr>
        <p:spPr>
          <a:xfrm>
            <a:off x="1905000" y="254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15" name="tb"/>
          <p:cNvSpPr txBox="1"/>
          <p:nvPr/>
        </p:nvSpPr>
        <p:spPr>
          <a:xfrm>
            <a:off x="2641600" y="254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6016" name="tb"/>
          <p:cNvSpPr txBox="1"/>
          <p:nvPr/>
        </p:nvSpPr>
        <p:spPr>
          <a:xfrm>
            <a:off x="3378200" y="254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6017" name="tb"/>
          <p:cNvSpPr txBox="1"/>
          <p:nvPr/>
        </p:nvSpPr>
        <p:spPr>
          <a:xfrm>
            <a:off x="1905000" y="3175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6018" name="tb"/>
          <p:cNvSpPr txBox="1"/>
          <p:nvPr/>
        </p:nvSpPr>
        <p:spPr>
          <a:xfrm>
            <a:off x="2641600" y="3175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19" name="tb"/>
          <p:cNvSpPr txBox="1"/>
          <p:nvPr/>
        </p:nvSpPr>
        <p:spPr>
          <a:xfrm>
            <a:off x="3378200" y="3175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1905000" y="381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21" name="tb"/>
          <p:cNvSpPr txBox="1"/>
          <p:nvPr/>
        </p:nvSpPr>
        <p:spPr>
          <a:xfrm>
            <a:off x="2641600" y="381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6022" name="tb"/>
          <p:cNvSpPr txBox="1"/>
          <p:nvPr/>
        </p:nvSpPr>
        <p:spPr>
          <a:xfrm>
            <a:off x="3378200" y="381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6023" name="sq"/>
          <p:cNvSpPr/>
          <p:nvPr/>
        </p:nvSpPr>
        <p:spPr>
          <a:xfrm>
            <a:off x="889000" y="4724400"/>
            <a:ext cx="203200" cy="203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4" name="tb"/>
          <p:cNvSpPr txBox="1"/>
          <p:nvPr/>
        </p:nvSpPr>
        <p:spPr>
          <a:xfrm>
            <a:off x="1168400" y="4699000"/>
            <a:ext cx="1524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dirty="0">
                <a:solidFill>
                  <a:srgbClr val="595959"/>
                </a:solidFill>
              </a:rPr>
              <a:t>pivot a₁₁</a:t>
            </a:r>
          </a:p>
        </p:txBody>
      </p:sp>
      <p:sp>
        <p:nvSpPr>
          <p:cNvPr id="6025" name="sq"/>
          <p:cNvSpPr/>
          <p:nvPr/>
        </p:nvSpPr>
        <p:spPr>
          <a:xfrm>
            <a:off x="2667000" y="4724400"/>
            <a:ext cx="203200" cy="203200"/>
          </a:xfrm>
          <a:prstGeom prst="rect">
            <a:avLst/>
          </a:prstGeom>
          <a:solidFill>
            <a:srgbClr val="7AB64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6" name="tb"/>
          <p:cNvSpPr txBox="1"/>
          <p:nvPr/>
        </p:nvSpPr>
        <p:spPr>
          <a:xfrm>
            <a:off x="2946400" y="4699000"/>
            <a:ext cx="2159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dirty="0">
                <a:solidFill>
                  <a:srgbClr val="595959"/>
                </a:solidFill>
              </a:rPr>
              <a:t>minor M₁₁ cells</a:t>
            </a:r>
          </a:p>
        </p:txBody>
      </p:sp>
      <p:sp>
        <p:nvSpPr>
          <p:cNvPr id="6027" name="panel"/>
          <p:cNvSpPr/>
          <p:nvPr/>
        </p:nvSpPr>
        <p:spPr>
          <a:xfrm>
            <a:off x="6146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8" name="tb"/>
          <p:cNvSpPr txBox="1"/>
          <p:nvPr/>
        </p:nvSpPr>
        <p:spPr>
          <a:xfrm>
            <a:off x="6400800" y="14224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Compute the cofactor</a:t>
            </a:r>
          </a:p>
        </p:txBody>
      </p:sp>
      <p:sp>
        <p:nvSpPr>
          <p:cNvPr id="6029" name="tb"/>
          <p:cNvSpPr txBox="1"/>
          <p:nvPr/>
        </p:nvSpPr>
        <p:spPr>
          <a:xfrm>
            <a:off x="6400800" y="1854200"/>
            <a:ext cx="52324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What remains is the 2×2 minor M₁₁:</a:t>
            </a:r>
          </a:p>
        </p:txBody>
      </p:sp>
      <p:sp>
        <p:nvSpPr>
          <p:cNvPr id="6030" name="hl"/>
          <p:cNvSpPr/>
          <p:nvPr/>
        </p:nvSpPr>
        <p:spPr>
          <a:xfrm>
            <a:off x="7620000" y="23114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1" name="hl"/>
          <p:cNvSpPr/>
          <p:nvPr/>
        </p:nvSpPr>
        <p:spPr>
          <a:xfrm>
            <a:off x="8305800" y="23114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2" name="hl"/>
          <p:cNvSpPr/>
          <p:nvPr/>
        </p:nvSpPr>
        <p:spPr>
          <a:xfrm>
            <a:off x="7620000" y="28702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3" name="hl"/>
          <p:cNvSpPr/>
          <p:nvPr/>
        </p:nvSpPr>
        <p:spPr>
          <a:xfrm>
            <a:off x="8305800" y="28702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4" name="hl"/>
          <p:cNvSpPr/>
          <p:nvPr/>
        </p:nvSpPr>
        <p:spPr>
          <a:xfrm>
            <a:off x="7467600" y="2260600"/>
            <a:ext cx="50800" cy="1219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5" name="hl"/>
          <p:cNvSpPr/>
          <p:nvPr/>
        </p:nvSpPr>
        <p:spPr>
          <a:xfrm>
            <a:off x="7467600" y="22606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6" name="hl"/>
          <p:cNvSpPr/>
          <p:nvPr/>
        </p:nvSpPr>
        <p:spPr>
          <a:xfrm>
            <a:off x="7467600" y="3429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7" name="hl"/>
          <p:cNvSpPr/>
          <p:nvPr/>
        </p:nvSpPr>
        <p:spPr>
          <a:xfrm>
            <a:off x="9093200" y="2260600"/>
            <a:ext cx="50800" cy="1219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8" name="hl"/>
          <p:cNvSpPr/>
          <p:nvPr/>
        </p:nvSpPr>
        <p:spPr>
          <a:xfrm>
            <a:off x="8991600" y="22606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9" name="hl"/>
          <p:cNvSpPr/>
          <p:nvPr/>
        </p:nvSpPr>
        <p:spPr>
          <a:xfrm>
            <a:off x="8991600" y="3429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0" name="tb"/>
          <p:cNvSpPr txBox="1"/>
          <p:nvPr/>
        </p:nvSpPr>
        <p:spPr>
          <a:xfrm>
            <a:off x="7620000" y="23114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41" name="tb"/>
          <p:cNvSpPr txBox="1"/>
          <p:nvPr/>
        </p:nvSpPr>
        <p:spPr>
          <a:xfrm>
            <a:off x="8305800" y="23114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42" name="tb"/>
          <p:cNvSpPr txBox="1"/>
          <p:nvPr/>
        </p:nvSpPr>
        <p:spPr>
          <a:xfrm>
            <a:off x="7620000" y="28702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6043" name="tb"/>
          <p:cNvSpPr txBox="1"/>
          <p:nvPr/>
        </p:nvSpPr>
        <p:spPr>
          <a:xfrm>
            <a:off x="8305800" y="28702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6044" name="tb"/>
          <p:cNvSpPr txBox="1"/>
          <p:nvPr/>
        </p:nvSpPr>
        <p:spPr>
          <a:xfrm>
            <a:off x="6400800" y="36322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dirty="0">
                <a:solidFill>
                  <a:srgbClr val="333333"/>
                </a:solidFill>
              </a:rPr>
              <a:t>M₁₁ = (1)(0) − (4)(6) = </a:t>
            </a:r>
            <a:r>
              <a:rPr lang="en-US" sz="1450" b="1" dirty="0">
                <a:solidFill>
                  <a:srgbClr val="D1578A"/>
                </a:solidFill>
              </a:rPr>
              <a:t>−24</a:t>
            </a:r>
          </a:p>
        </p:txBody>
      </p:sp>
      <p:sp>
        <p:nvSpPr>
          <p:cNvPr id="6045" name="tb"/>
          <p:cNvSpPr txBox="1"/>
          <p:nvPr/>
        </p:nvSpPr>
        <p:spPr>
          <a:xfrm>
            <a:off x="6400800" y="40640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dirty="0">
                <a:solidFill>
                  <a:srgbClr val="333333"/>
                </a:solidFill>
              </a:rPr>
              <a:t>sign (−1)^(1+1) = </a:t>
            </a:r>
            <a:r>
              <a:rPr lang="en-US" sz="1450" b="1" dirty="0">
                <a:solidFill>
                  <a:srgbClr val="4B2E83"/>
                </a:solidFill>
              </a:rPr>
              <a:t>+</a:t>
            </a:r>
          </a:p>
        </p:txBody>
      </p:sp>
      <p:sp>
        <p:nvSpPr>
          <p:cNvPr id="6046" name="tb"/>
          <p:cNvSpPr txBox="1"/>
          <p:nvPr/>
        </p:nvSpPr>
        <p:spPr>
          <a:xfrm>
            <a:off x="6400800" y="44958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333333"/>
                </a:solidFill>
              </a:rPr>
              <a:t>C₁₁ = (+)(−24) = </a:t>
            </a:r>
            <a:r>
              <a:rPr lang="en-US" sz="1500" b="1" dirty="0">
                <a:solidFill>
                  <a:srgbClr val="4B2E83"/>
                </a:solidFill>
              </a:rPr>
              <a:t>−24</a:t>
            </a:r>
          </a:p>
        </p:txBody>
      </p:sp>
      <p:sp>
        <p:nvSpPr>
          <p:cNvPr id="6047" name="box"/>
          <p:cNvSpPr/>
          <p:nvPr/>
        </p:nvSpPr>
        <p:spPr>
          <a:xfrm>
            <a:off x="6400800" y="4978400"/>
            <a:ext cx="5232400" cy="660400"/>
          </a:xfrm>
          <a:prstGeom prst="roundRect">
            <a:avLst>
              <a:gd name="adj" fmla="val 10000"/>
            </a:avLst>
          </a:prstGeom>
          <a:solidFill>
            <a:srgbClr val="F4FAEF"/>
          </a:solidFill>
          <a:ln w="19050">
            <a:solidFill>
              <a:srgbClr val="7AB64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48" name="tb"/>
          <p:cNvSpPr txBox="1"/>
          <p:nvPr/>
        </p:nvSpPr>
        <p:spPr>
          <a:xfrm>
            <a:off x="6553200" y="4978400"/>
            <a:ext cx="4927600" cy="660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450" b="1" dirty="0">
                <a:solidFill>
                  <a:srgbClr val="333333"/>
                </a:solidFill>
              </a:rPr>
              <a:t>→ place −24 at position (1, 1) of cofactor matrix C</a:t>
            </a:r>
          </a:p>
        </p:txBody>
      </p:sp>
    </p:spTree>
    <p:extLst>
      <p:ext uri="{BB962C8B-B14F-4D97-AF65-F5344CB8AC3E}">
        <p14:creationId xmlns:p14="http://schemas.microsoft.com/office/powerpoint/2010/main" val="377226610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Cofactor C₁₂   ·   adjugate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Each entry a₁₂ has a signed cofactor; the nine of them form matrix C.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Collect all nine cofactors into C, then transpose to form adj(A).</a:t>
            </a:r>
          </a:p>
        </p:txBody>
      </p:sp>
      <p:sp>
        <p:nvSpPr>
          <p:cNvPr id="6000" name="panel"/>
          <p:cNvSpPr/>
          <p:nvPr/>
        </p:nvSpPr>
        <p:spPr>
          <a:xfrm>
            <a:off x="304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224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Delete row 1 and column 2:</a:t>
            </a:r>
          </a:p>
        </p:txBody>
      </p:sp>
      <p:sp>
        <p:nvSpPr>
          <p:cNvPr id="6002" name="hl"/>
          <p:cNvSpPr/>
          <p:nvPr/>
        </p:nvSpPr>
        <p:spPr>
          <a:xfrm>
            <a:off x="2641600" y="2540000"/>
            <a:ext cx="736600" cy="635000"/>
          </a:xfrm>
          <a:prstGeom prst="rect">
            <a:avLst/>
          </a:prstGeom>
          <a:solidFill>
            <a:srgbClr val="4B2E83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3" name="hl"/>
          <p:cNvSpPr/>
          <p:nvPr/>
        </p:nvSpPr>
        <p:spPr>
          <a:xfrm>
            <a:off x="1905000" y="3175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4" name="hl"/>
          <p:cNvSpPr/>
          <p:nvPr/>
        </p:nvSpPr>
        <p:spPr>
          <a:xfrm>
            <a:off x="3378200" y="3175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5" name="hl"/>
          <p:cNvSpPr/>
          <p:nvPr/>
        </p:nvSpPr>
        <p:spPr>
          <a:xfrm>
            <a:off x="1905000" y="3810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6" name="hl"/>
          <p:cNvSpPr/>
          <p:nvPr/>
        </p:nvSpPr>
        <p:spPr>
          <a:xfrm>
            <a:off x="3378200" y="3810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7" name="hl"/>
          <p:cNvSpPr/>
          <p:nvPr/>
        </p:nvSpPr>
        <p:spPr>
          <a:xfrm>
            <a:off x="1752600" y="2489200"/>
            <a:ext cx="50800" cy="2006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8" name="hl"/>
          <p:cNvSpPr/>
          <p:nvPr/>
        </p:nvSpPr>
        <p:spPr>
          <a:xfrm>
            <a:off x="1752600" y="24892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9" name="hl"/>
          <p:cNvSpPr/>
          <p:nvPr/>
        </p:nvSpPr>
        <p:spPr>
          <a:xfrm>
            <a:off x="1752600" y="4445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0" name="hl"/>
          <p:cNvSpPr/>
          <p:nvPr/>
        </p:nvSpPr>
        <p:spPr>
          <a:xfrm>
            <a:off x="4216400" y="2489200"/>
            <a:ext cx="50800" cy="2006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1" name="hl"/>
          <p:cNvSpPr/>
          <p:nvPr/>
        </p:nvSpPr>
        <p:spPr>
          <a:xfrm>
            <a:off x="4114800" y="24892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2" name="hl"/>
          <p:cNvSpPr/>
          <p:nvPr/>
        </p:nvSpPr>
        <p:spPr>
          <a:xfrm>
            <a:off x="4114800" y="4445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3" name="tb"/>
          <p:cNvSpPr txBox="1"/>
          <p:nvPr/>
        </p:nvSpPr>
        <p:spPr>
          <a:xfrm>
            <a:off x="1117600" y="3175000"/>
            <a:ext cx="7112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800" b="1" dirty="0">
                <a:solidFill>
                  <a:srgbClr val="333333"/>
                </a:solidFill>
              </a:rPr>
              <a:t>A =</a:t>
            </a:r>
          </a:p>
        </p:txBody>
      </p:sp>
      <p:sp>
        <p:nvSpPr>
          <p:cNvPr id="6014" name="tb"/>
          <p:cNvSpPr txBox="1"/>
          <p:nvPr/>
        </p:nvSpPr>
        <p:spPr>
          <a:xfrm>
            <a:off x="1905000" y="254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15" name="tb"/>
          <p:cNvSpPr txBox="1"/>
          <p:nvPr/>
        </p:nvSpPr>
        <p:spPr>
          <a:xfrm>
            <a:off x="2641600" y="254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6016" name="tb"/>
          <p:cNvSpPr txBox="1"/>
          <p:nvPr/>
        </p:nvSpPr>
        <p:spPr>
          <a:xfrm>
            <a:off x="3378200" y="254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6017" name="tb"/>
          <p:cNvSpPr txBox="1"/>
          <p:nvPr/>
        </p:nvSpPr>
        <p:spPr>
          <a:xfrm>
            <a:off x="1905000" y="3175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6018" name="tb"/>
          <p:cNvSpPr txBox="1"/>
          <p:nvPr/>
        </p:nvSpPr>
        <p:spPr>
          <a:xfrm>
            <a:off x="2641600" y="3175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19" name="tb"/>
          <p:cNvSpPr txBox="1"/>
          <p:nvPr/>
        </p:nvSpPr>
        <p:spPr>
          <a:xfrm>
            <a:off x="3378200" y="3175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1905000" y="381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21" name="tb"/>
          <p:cNvSpPr txBox="1"/>
          <p:nvPr/>
        </p:nvSpPr>
        <p:spPr>
          <a:xfrm>
            <a:off x="2641600" y="381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6022" name="tb"/>
          <p:cNvSpPr txBox="1"/>
          <p:nvPr/>
        </p:nvSpPr>
        <p:spPr>
          <a:xfrm>
            <a:off x="3378200" y="381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6023" name="sq"/>
          <p:cNvSpPr/>
          <p:nvPr/>
        </p:nvSpPr>
        <p:spPr>
          <a:xfrm>
            <a:off x="889000" y="4724400"/>
            <a:ext cx="203200" cy="203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4" name="tb"/>
          <p:cNvSpPr txBox="1"/>
          <p:nvPr/>
        </p:nvSpPr>
        <p:spPr>
          <a:xfrm>
            <a:off x="1168400" y="4699000"/>
            <a:ext cx="1524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dirty="0">
                <a:solidFill>
                  <a:srgbClr val="595959"/>
                </a:solidFill>
              </a:rPr>
              <a:t>pivot a₁₂</a:t>
            </a:r>
          </a:p>
        </p:txBody>
      </p:sp>
      <p:sp>
        <p:nvSpPr>
          <p:cNvPr id="6025" name="sq"/>
          <p:cNvSpPr/>
          <p:nvPr/>
        </p:nvSpPr>
        <p:spPr>
          <a:xfrm>
            <a:off x="2667000" y="4724400"/>
            <a:ext cx="203200" cy="203200"/>
          </a:xfrm>
          <a:prstGeom prst="rect">
            <a:avLst/>
          </a:prstGeom>
          <a:solidFill>
            <a:srgbClr val="7AB64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6" name="tb"/>
          <p:cNvSpPr txBox="1"/>
          <p:nvPr/>
        </p:nvSpPr>
        <p:spPr>
          <a:xfrm>
            <a:off x="2946400" y="4699000"/>
            <a:ext cx="2159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dirty="0">
                <a:solidFill>
                  <a:srgbClr val="595959"/>
                </a:solidFill>
              </a:rPr>
              <a:t>minor M₁₂ cells</a:t>
            </a:r>
          </a:p>
        </p:txBody>
      </p:sp>
      <p:sp>
        <p:nvSpPr>
          <p:cNvPr id="6027" name="panel"/>
          <p:cNvSpPr/>
          <p:nvPr/>
        </p:nvSpPr>
        <p:spPr>
          <a:xfrm>
            <a:off x="6146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8" name="tb"/>
          <p:cNvSpPr txBox="1"/>
          <p:nvPr/>
        </p:nvSpPr>
        <p:spPr>
          <a:xfrm>
            <a:off x="6400800" y="14224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Compute the cofactor</a:t>
            </a:r>
          </a:p>
        </p:txBody>
      </p:sp>
      <p:sp>
        <p:nvSpPr>
          <p:cNvPr id="6029" name="tb"/>
          <p:cNvSpPr txBox="1"/>
          <p:nvPr/>
        </p:nvSpPr>
        <p:spPr>
          <a:xfrm>
            <a:off x="6400800" y="1854200"/>
            <a:ext cx="52324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What remains is the 2×2 minor M₁₂:</a:t>
            </a:r>
          </a:p>
        </p:txBody>
      </p:sp>
      <p:sp>
        <p:nvSpPr>
          <p:cNvPr id="6030" name="hl"/>
          <p:cNvSpPr/>
          <p:nvPr/>
        </p:nvSpPr>
        <p:spPr>
          <a:xfrm>
            <a:off x="7620000" y="23114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1" name="hl"/>
          <p:cNvSpPr/>
          <p:nvPr/>
        </p:nvSpPr>
        <p:spPr>
          <a:xfrm>
            <a:off x="8305800" y="23114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2" name="hl"/>
          <p:cNvSpPr/>
          <p:nvPr/>
        </p:nvSpPr>
        <p:spPr>
          <a:xfrm>
            <a:off x="7620000" y="28702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3" name="hl"/>
          <p:cNvSpPr/>
          <p:nvPr/>
        </p:nvSpPr>
        <p:spPr>
          <a:xfrm>
            <a:off x="8305800" y="28702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4" name="hl"/>
          <p:cNvSpPr/>
          <p:nvPr/>
        </p:nvSpPr>
        <p:spPr>
          <a:xfrm>
            <a:off x="7467600" y="2260600"/>
            <a:ext cx="50800" cy="1219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5" name="hl"/>
          <p:cNvSpPr/>
          <p:nvPr/>
        </p:nvSpPr>
        <p:spPr>
          <a:xfrm>
            <a:off x="7467600" y="22606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6" name="hl"/>
          <p:cNvSpPr/>
          <p:nvPr/>
        </p:nvSpPr>
        <p:spPr>
          <a:xfrm>
            <a:off x="7467600" y="3429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7" name="hl"/>
          <p:cNvSpPr/>
          <p:nvPr/>
        </p:nvSpPr>
        <p:spPr>
          <a:xfrm>
            <a:off x="9093200" y="2260600"/>
            <a:ext cx="50800" cy="1219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8" name="hl"/>
          <p:cNvSpPr/>
          <p:nvPr/>
        </p:nvSpPr>
        <p:spPr>
          <a:xfrm>
            <a:off x="8991600" y="22606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9" name="hl"/>
          <p:cNvSpPr/>
          <p:nvPr/>
        </p:nvSpPr>
        <p:spPr>
          <a:xfrm>
            <a:off x="8991600" y="3429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0" name="tb"/>
          <p:cNvSpPr txBox="1"/>
          <p:nvPr/>
        </p:nvSpPr>
        <p:spPr>
          <a:xfrm>
            <a:off x="7620000" y="23114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6041" name="tb"/>
          <p:cNvSpPr txBox="1"/>
          <p:nvPr/>
        </p:nvSpPr>
        <p:spPr>
          <a:xfrm>
            <a:off x="8305800" y="23114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42" name="tb"/>
          <p:cNvSpPr txBox="1"/>
          <p:nvPr/>
        </p:nvSpPr>
        <p:spPr>
          <a:xfrm>
            <a:off x="7620000" y="28702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43" name="tb"/>
          <p:cNvSpPr txBox="1"/>
          <p:nvPr/>
        </p:nvSpPr>
        <p:spPr>
          <a:xfrm>
            <a:off x="8305800" y="28702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6044" name="tb"/>
          <p:cNvSpPr txBox="1"/>
          <p:nvPr/>
        </p:nvSpPr>
        <p:spPr>
          <a:xfrm>
            <a:off x="6400800" y="36322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dirty="0">
                <a:solidFill>
                  <a:srgbClr val="333333"/>
                </a:solidFill>
              </a:rPr>
              <a:t>M₁₂ = (0)(0) − (4)(5) = </a:t>
            </a:r>
            <a:r>
              <a:rPr lang="en-US" sz="1450" b="1" dirty="0">
                <a:solidFill>
                  <a:srgbClr val="D1578A"/>
                </a:solidFill>
              </a:rPr>
              <a:t>−20</a:t>
            </a:r>
          </a:p>
        </p:txBody>
      </p:sp>
      <p:sp>
        <p:nvSpPr>
          <p:cNvPr id="6045" name="tb"/>
          <p:cNvSpPr txBox="1"/>
          <p:nvPr/>
        </p:nvSpPr>
        <p:spPr>
          <a:xfrm>
            <a:off x="6400800" y="40640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dirty="0">
                <a:solidFill>
                  <a:srgbClr val="333333"/>
                </a:solidFill>
              </a:rPr>
              <a:t>sign (−1)^(1+2) = </a:t>
            </a:r>
            <a:r>
              <a:rPr lang="en-US" sz="1450" b="1" dirty="0">
                <a:solidFill>
                  <a:srgbClr val="4B2E83"/>
                </a:solidFill>
              </a:rPr>
              <a:t>−</a:t>
            </a:r>
          </a:p>
        </p:txBody>
      </p:sp>
      <p:sp>
        <p:nvSpPr>
          <p:cNvPr id="6046" name="tb"/>
          <p:cNvSpPr txBox="1"/>
          <p:nvPr/>
        </p:nvSpPr>
        <p:spPr>
          <a:xfrm>
            <a:off x="6400800" y="44958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333333"/>
                </a:solidFill>
              </a:rPr>
              <a:t>C₁₂ = (−)(−20) = </a:t>
            </a:r>
            <a:r>
              <a:rPr lang="en-US" sz="1500" b="1" dirty="0">
                <a:solidFill>
                  <a:srgbClr val="4B2E83"/>
                </a:solidFill>
              </a:rPr>
              <a:t>20</a:t>
            </a:r>
          </a:p>
        </p:txBody>
      </p:sp>
      <p:sp>
        <p:nvSpPr>
          <p:cNvPr id="6047" name="box"/>
          <p:cNvSpPr/>
          <p:nvPr/>
        </p:nvSpPr>
        <p:spPr>
          <a:xfrm>
            <a:off x="6400800" y="4978400"/>
            <a:ext cx="5232400" cy="660400"/>
          </a:xfrm>
          <a:prstGeom prst="roundRect">
            <a:avLst>
              <a:gd name="adj" fmla="val 10000"/>
            </a:avLst>
          </a:prstGeom>
          <a:solidFill>
            <a:srgbClr val="F4FAEF"/>
          </a:solidFill>
          <a:ln w="19050">
            <a:solidFill>
              <a:srgbClr val="7AB64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48" name="tb"/>
          <p:cNvSpPr txBox="1"/>
          <p:nvPr/>
        </p:nvSpPr>
        <p:spPr>
          <a:xfrm>
            <a:off x="6553200" y="4978400"/>
            <a:ext cx="4927600" cy="660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450" b="1" dirty="0">
                <a:solidFill>
                  <a:srgbClr val="333333"/>
                </a:solidFill>
              </a:rPr>
              <a:t>→ place 20 at position (1, 2) of cofactor matrix C</a:t>
            </a:r>
          </a:p>
        </p:txBody>
      </p:sp>
    </p:spTree>
    <p:extLst>
      <p:ext uri="{BB962C8B-B14F-4D97-AF65-F5344CB8AC3E}">
        <p14:creationId xmlns:p14="http://schemas.microsoft.com/office/powerpoint/2010/main" val="150192345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Cofactor C₁₃   ·   adjugate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Each entry a₁₃ has a signed cofactor; the nine of them form matrix C.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Collect all nine cofactors into C, then transpose to form adj(A).</a:t>
            </a:r>
          </a:p>
        </p:txBody>
      </p:sp>
      <p:sp>
        <p:nvSpPr>
          <p:cNvPr id="6000" name="panel"/>
          <p:cNvSpPr/>
          <p:nvPr/>
        </p:nvSpPr>
        <p:spPr>
          <a:xfrm>
            <a:off x="304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224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Delete row 1 and column 3:</a:t>
            </a:r>
          </a:p>
        </p:txBody>
      </p:sp>
      <p:sp>
        <p:nvSpPr>
          <p:cNvPr id="6002" name="hl"/>
          <p:cNvSpPr/>
          <p:nvPr/>
        </p:nvSpPr>
        <p:spPr>
          <a:xfrm>
            <a:off x="3378200" y="2540000"/>
            <a:ext cx="736600" cy="635000"/>
          </a:xfrm>
          <a:prstGeom prst="rect">
            <a:avLst/>
          </a:prstGeom>
          <a:solidFill>
            <a:srgbClr val="4B2E83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3" name="hl"/>
          <p:cNvSpPr/>
          <p:nvPr/>
        </p:nvSpPr>
        <p:spPr>
          <a:xfrm>
            <a:off x="1905000" y="3175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4" name="hl"/>
          <p:cNvSpPr/>
          <p:nvPr/>
        </p:nvSpPr>
        <p:spPr>
          <a:xfrm>
            <a:off x="2641600" y="3175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5" name="hl"/>
          <p:cNvSpPr/>
          <p:nvPr/>
        </p:nvSpPr>
        <p:spPr>
          <a:xfrm>
            <a:off x="1905000" y="3810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6" name="hl"/>
          <p:cNvSpPr/>
          <p:nvPr/>
        </p:nvSpPr>
        <p:spPr>
          <a:xfrm>
            <a:off x="2641600" y="3810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7" name="hl"/>
          <p:cNvSpPr/>
          <p:nvPr/>
        </p:nvSpPr>
        <p:spPr>
          <a:xfrm>
            <a:off x="1752600" y="2489200"/>
            <a:ext cx="50800" cy="2006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8" name="hl"/>
          <p:cNvSpPr/>
          <p:nvPr/>
        </p:nvSpPr>
        <p:spPr>
          <a:xfrm>
            <a:off x="1752600" y="24892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9" name="hl"/>
          <p:cNvSpPr/>
          <p:nvPr/>
        </p:nvSpPr>
        <p:spPr>
          <a:xfrm>
            <a:off x="1752600" y="4445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0" name="hl"/>
          <p:cNvSpPr/>
          <p:nvPr/>
        </p:nvSpPr>
        <p:spPr>
          <a:xfrm>
            <a:off x="4216400" y="2489200"/>
            <a:ext cx="50800" cy="2006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1" name="hl"/>
          <p:cNvSpPr/>
          <p:nvPr/>
        </p:nvSpPr>
        <p:spPr>
          <a:xfrm>
            <a:off x="4114800" y="24892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2" name="hl"/>
          <p:cNvSpPr/>
          <p:nvPr/>
        </p:nvSpPr>
        <p:spPr>
          <a:xfrm>
            <a:off x="4114800" y="4445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3" name="tb"/>
          <p:cNvSpPr txBox="1"/>
          <p:nvPr/>
        </p:nvSpPr>
        <p:spPr>
          <a:xfrm>
            <a:off x="1117600" y="3175000"/>
            <a:ext cx="7112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800" b="1" dirty="0">
                <a:solidFill>
                  <a:srgbClr val="333333"/>
                </a:solidFill>
              </a:rPr>
              <a:t>A =</a:t>
            </a:r>
          </a:p>
        </p:txBody>
      </p:sp>
      <p:sp>
        <p:nvSpPr>
          <p:cNvPr id="6014" name="tb"/>
          <p:cNvSpPr txBox="1"/>
          <p:nvPr/>
        </p:nvSpPr>
        <p:spPr>
          <a:xfrm>
            <a:off x="1905000" y="254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15" name="tb"/>
          <p:cNvSpPr txBox="1"/>
          <p:nvPr/>
        </p:nvSpPr>
        <p:spPr>
          <a:xfrm>
            <a:off x="2641600" y="254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6016" name="tb"/>
          <p:cNvSpPr txBox="1"/>
          <p:nvPr/>
        </p:nvSpPr>
        <p:spPr>
          <a:xfrm>
            <a:off x="3378200" y="254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6017" name="tb"/>
          <p:cNvSpPr txBox="1"/>
          <p:nvPr/>
        </p:nvSpPr>
        <p:spPr>
          <a:xfrm>
            <a:off x="1905000" y="3175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6018" name="tb"/>
          <p:cNvSpPr txBox="1"/>
          <p:nvPr/>
        </p:nvSpPr>
        <p:spPr>
          <a:xfrm>
            <a:off x="2641600" y="3175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19" name="tb"/>
          <p:cNvSpPr txBox="1"/>
          <p:nvPr/>
        </p:nvSpPr>
        <p:spPr>
          <a:xfrm>
            <a:off x="3378200" y="3175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1905000" y="381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21" name="tb"/>
          <p:cNvSpPr txBox="1"/>
          <p:nvPr/>
        </p:nvSpPr>
        <p:spPr>
          <a:xfrm>
            <a:off x="2641600" y="381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6022" name="tb"/>
          <p:cNvSpPr txBox="1"/>
          <p:nvPr/>
        </p:nvSpPr>
        <p:spPr>
          <a:xfrm>
            <a:off x="3378200" y="381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6023" name="sq"/>
          <p:cNvSpPr/>
          <p:nvPr/>
        </p:nvSpPr>
        <p:spPr>
          <a:xfrm>
            <a:off x="889000" y="4724400"/>
            <a:ext cx="203200" cy="203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4" name="tb"/>
          <p:cNvSpPr txBox="1"/>
          <p:nvPr/>
        </p:nvSpPr>
        <p:spPr>
          <a:xfrm>
            <a:off x="1168400" y="4699000"/>
            <a:ext cx="1524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dirty="0">
                <a:solidFill>
                  <a:srgbClr val="595959"/>
                </a:solidFill>
              </a:rPr>
              <a:t>pivot a₁₃</a:t>
            </a:r>
          </a:p>
        </p:txBody>
      </p:sp>
      <p:sp>
        <p:nvSpPr>
          <p:cNvPr id="6025" name="sq"/>
          <p:cNvSpPr/>
          <p:nvPr/>
        </p:nvSpPr>
        <p:spPr>
          <a:xfrm>
            <a:off x="2667000" y="4724400"/>
            <a:ext cx="203200" cy="203200"/>
          </a:xfrm>
          <a:prstGeom prst="rect">
            <a:avLst/>
          </a:prstGeom>
          <a:solidFill>
            <a:srgbClr val="7AB64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6" name="tb"/>
          <p:cNvSpPr txBox="1"/>
          <p:nvPr/>
        </p:nvSpPr>
        <p:spPr>
          <a:xfrm>
            <a:off x="2946400" y="4699000"/>
            <a:ext cx="2159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dirty="0">
                <a:solidFill>
                  <a:srgbClr val="595959"/>
                </a:solidFill>
              </a:rPr>
              <a:t>minor M₁₃ cells</a:t>
            </a:r>
          </a:p>
        </p:txBody>
      </p:sp>
      <p:sp>
        <p:nvSpPr>
          <p:cNvPr id="6027" name="panel"/>
          <p:cNvSpPr/>
          <p:nvPr/>
        </p:nvSpPr>
        <p:spPr>
          <a:xfrm>
            <a:off x="6146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8" name="tb"/>
          <p:cNvSpPr txBox="1"/>
          <p:nvPr/>
        </p:nvSpPr>
        <p:spPr>
          <a:xfrm>
            <a:off x="6400800" y="14224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Compute the cofactor</a:t>
            </a:r>
          </a:p>
        </p:txBody>
      </p:sp>
      <p:sp>
        <p:nvSpPr>
          <p:cNvPr id="6029" name="tb"/>
          <p:cNvSpPr txBox="1"/>
          <p:nvPr/>
        </p:nvSpPr>
        <p:spPr>
          <a:xfrm>
            <a:off x="6400800" y="1854200"/>
            <a:ext cx="52324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What remains is the 2×2 minor M₁₃:</a:t>
            </a:r>
          </a:p>
        </p:txBody>
      </p:sp>
      <p:sp>
        <p:nvSpPr>
          <p:cNvPr id="6030" name="hl"/>
          <p:cNvSpPr/>
          <p:nvPr/>
        </p:nvSpPr>
        <p:spPr>
          <a:xfrm>
            <a:off x="7620000" y="23114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1" name="hl"/>
          <p:cNvSpPr/>
          <p:nvPr/>
        </p:nvSpPr>
        <p:spPr>
          <a:xfrm>
            <a:off x="8305800" y="23114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2" name="hl"/>
          <p:cNvSpPr/>
          <p:nvPr/>
        </p:nvSpPr>
        <p:spPr>
          <a:xfrm>
            <a:off x="7620000" y="28702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3" name="hl"/>
          <p:cNvSpPr/>
          <p:nvPr/>
        </p:nvSpPr>
        <p:spPr>
          <a:xfrm>
            <a:off x="8305800" y="28702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4" name="hl"/>
          <p:cNvSpPr/>
          <p:nvPr/>
        </p:nvSpPr>
        <p:spPr>
          <a:xfrm>
            <a:off x="7467600" y="2260600"/>
            <a:ext cx="50800" cy="1219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5" name="hl"/>
          <p:cNvSpPr/>
          <p:nvPr/>
        </p:nvSpPr>
        <p:spPr>
          <a:xfrm>
            <a:off x="7467600" y="22606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6" name="hl"/>
          <p:cNvSpPr/>
          <p:nvPr/>
        </p:nvSpPr>
        <p:spPr>
          <a:xfrm>
            <a:off x="7467600" y="3429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7" name="hl"/>
          <p:cNvSpPr/>
          <p:nvPr/>
        </p:nvSpPr>
        <p:spPr>
          <a:xfrm>
            <a:off x="9093200" y="2260600"/>
            <a:ext cx="50800" cy="1219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8" name="hl"/>
          <p:cNvSpPr/>
          <p:nvPr/>
        </p:nvSpPr>
        <p:spPr>
          <a:xfrm>
            <a:off x="8991600" y="22606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9" name="hl"/>
          <p:cNvSpPr/>
          <p:nvPr/>
        </p:nvSpPr>
        <p:spPr>
          <a:xfrm>
            <a:off x="8991600" y="3429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0" name="tb"/>
          <p:cNvSpPr txBox="1"/>
          <p:nvPr/>
        </p:nvSpPr>
        <p:spPr>
          <a:xfrm>
            <a:off x="7620000" y="23114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6041" name="tb"/>
          <p:cNvSpPr txBox="1"/>
          <p:nvPr/>
        </p:nvSpPr>
        <p:spPr>
          <a:xfrm>
            <a:off x="8305800" y="23114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42" name="tb"/>
          <p:cNvSpPr txBox="1"/>
          <p:nvPr/>
        </p:nvSpPr>
        <p:spPr>
          <a:xfrm>
            <a:off x="7620000" y="28702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43" name="tb"/>
          <p:cNvSpPr txBox="1"/>
          <p:nvPr/>
        </p:nvSpPr>
        <p:spPr>
          <a:xfrm>
            <a:off x="8305800" y="28702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6044" name="tb"/>
          <p:cNvSpPr txBox="1"/>
          <p:nvPr/>
        </p:nvSpPr>
        <p:spPr>
          <a:xfrm>
            <a:off x="6400800" y="36322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dirty="0">
                <a:solidFill>
                  <a:srgbClr val="333333"/>
                </a:solidFill>
              </a:rPr>
              <a:t>M₁₃ = (0)(6) − (1)(5) = </a:t>
            </a:r>
            <a:r>
              <a:rPr lang="en-US" sz="1450" b="1" dirty="0">
                <a:solidFill>
                  <a:srgbClr val="D1578A"/>
                </a:solidFill>
              </a:rPr>
              <a:t>−5</a:t>
            </a:r>
          </a:p>
        </p:txBody>
      </p:sp>
      <p:sp>
        <p:nvSpPr>
          <p:cNvPr id="6045" name="tb"/>
          <p:cNvSpPr txBox="1"/>
          <p:nvPr/>
        </p:nvSpPr>
        <p:spPr>
          <a:xfrm>
            <a:off x="6400800" y="40640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dirty="0">
                <a:solidFill>
                  <a:srgbClr val="333333"/>
                </a:solidFill>
              </a:rPr>
              <a:t>sign (−1)^(1+3) = </a:t>
            </a:r>
            <a:r>
              <a:rPr lang="en-US" sz="1450" b="1" dirty="0">
                <a:solidFill>
                  <a:srgbClr val="4B2E83"/>
                </a:solidFill>
              </a:rPr>
              <a:t>+</a:t>
            </a:r>
          </a:p>
        </p:txBody>
      </p:sp>
      <p:sp>
        <p:nvSpPr>
          <p:cNvPr id="6046" name="tb"/>
          <p:cNvSpPr txBox="1"/>
          <p:nvPr/>
        </p:nvSpPr>
        <p:spPr>
          <a:xfrm>
            <a:off x="6400800" y="44958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333333"/>
                </a:solidFill>
              </a:rPr>
              <a:t>C₁₃ = (+)(−5) = </a:t>
            </a:r>
            <a:r>
              <a:rPr lang="en-US" sz="1500" b="1" dirty="0">
                <a:solidFill>
                  <a:srgbClr val="4B2E83"/>
                </a:solidFill>
              </a:rPr>
              <a:t>−5</a:t>
            </a:r>
          </a:p>
        </p:txBody>
      </p:sp>
      <p:sp>
        <p:nvSpPr>
          <p:cNvPr id="6047" name="box"/>
          <p:cNvSpPr/>
          <p:nvPr/>
        </p:nvSpPr>
        <p:spPr>
          <a:xfrm>
            <a:off x="6400800" y="4978400"/>
            <a:ext cx="5232400" cy="660400"/>
          </a:xfrm>
          <a:prstGeom prst="roundRect">
            <a:avLst>
              <a:gd name="adj" fmla="val 10000"/>
            </a:avLst>
          </a:prstGeom>
          <a:solidFill>
            <a:srgbClr val="F4FAEF"/>
          </a:solidFill>
          <a:ln w="19050">
            <a:solidFill>
              <a:srgbClr val="7AB64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48" name="tb"/>
          <p:cNvSpPr txBox="1"/>
          <p:nvPr/>
        </p:nvSpPr>
        <p:spPr>
          <a:xfrm>
            <a:off x="6553200" y="4978400"/>
            <a:ext cx="4927600" cy="660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450" b="1" dirty="0">
                <a:solidFill>
                  <a:srgbClr val="333333"/>
                </a:solidFill>
              </a:rPr>
              <a:t>→ place −5 at position (1, 3) of cofactor matrix C</a:t>
            </a:r>
          </a:p>
        </p:txBody>
      </p:sp>
    </p:spTree>
    <p:extLst>
      <p:ext uri="{BB962C8B-B14F-4D97-AF65-F5344CB8AC3E}">
        <p14:creationId xmlns:p14="http://schemas.microsoft.com/office/powerpoint/2010/main" val="169560111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Cofactor C₂₁   ·   adjugate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Each entry a₂₁ has a signed cofactor; the nine of them form matrix C.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Collect all nine cofactors into C, then transpose to form adj(A).</a:t>
            </a:r>
          </a:p>
        </p:txBody>
      </p:sp>
      <p:sp>
        <p:nvSpPr>
          <p:cNvPr id="6000" name="panel"/>
          <p:cNvSpPr/>
          <p:nvPr/>
        </p:nvSpPr>
        <p:spPr>
          <a:xfrm>
            <a:off x="304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224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Delete row 2 and column 1:</a:t>
            </a:r>
          </a:p>
        </p:txBody>
      </p:sp>
      <p:sp>
        <p:nvSpPr>
          <p:cNvPr id="6002" name="hl"/>
          <p:cNvSpPr/>
          <p:nvPr/>
        </p:nvSpPr>
        <p:spPr>
          <a:xfrm>
            <a:off x="1905000" y="3175000"/>
            <a:ext cx="736600" cy="635000"/>
          </a:xfrm>
          <a:prstGeom prst="rect">
            <a:avLst/>
          </a:prstGeom>
          <a:solidFill>
            <a:srgbClr val="4B2E83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3" name="hl"/>
          <p:cNvSpPr/>
          <p:nvPr/>
        </p:nvSpPr>
        <p:spPr>
          <a:xfrm>
            <a:off x="2641600" y="2540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4" name="hl"/>
          <p:cNvSpPr/>
          <p:nvPr/>
        </p:nvSpPr>
        <p:spPr>
          <a:xfrm>
            <a:off x="3378200" y="2540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5" name="hl"/>
          <p:cNvSpPr/>
          <p:nvPr/>
        </p:nvSpPr>
        <p:spPr>
          <a:xfrm>
            <a:off x="2641600" y="3810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6" name="hl"/>
          <p:cNvSpPr/>
          <p:nvPr/>
        </p:nvSpPr>
        <p:spPr>
          <a:xfrm>
            <a:off x="3378200" y="3810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7" name="hl"/>
          <p:cNvSpPr/>
          <p:nvPr/>
        </p:nvSpPr>
        <p:spPr>
          <a:xfrm>
            <a:off x="1752600" y="2489200"/>
            <a:ext cx="50800" cy="2006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8" name="hl"/>
          <p:cNvSpPr/>
          <p:nvPr/>
        </p:nvSpPr>
        <p:spPr>
          <a:xfrm>
            <a:off x="1752600" y="24892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9" name="hl"/>
          <p:cNvSpPr/>
          <p:nvPr/>
        </p:nvSpPr>
        <p:spPr>
          <a:xfrm>
            <a:off x="1752600" y="4445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0" name="hl"/>
          <p:cNvSpPr/>
          <p:nvPr/>
        </p:nvSpPr>
        <p:spPr>
          <a:xfrm>
            <a:off x="4216400" y="2489200"/>
            <a:ext cx="50800" cy="2006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1" name="hl"/>
          <p:cNvSpPr/>
          <p:nvPr/>
        </p:nvSpPr>
        <p:spPr>
          <a:xfrm>
            <a:off x="4114800" y="24892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2" name="hl"/>
          <p:cNvSpPr/>
          <p:nvPr/>
        </p:nvSpPr>
        <p:spPr>
          <a:xfrm>
            <a:off x="4114800" y="4445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3" name="tb"/>
          <p:cNvSpPr txBox="1"/>
          <p:nvPr/>
        </p:nvSpPr>
        <p:spPr>
          <a:xfrm>
            <a:off x="1117600" y="3175000"/>
            <a:ext cx="7112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800" b="1" dirty="0">
                <a:solidFill>
                  <a:srgbClr val="333333"/>
                </a:solidFill>
              </a:rPr>
              <a:t>A =</a:t>
            </a:r>
          </a:p>
        </p:txBody>
      </p:sp>
      <p:sp>
        <p:nvSpPr>
          <p:cNvPr id="6014" name="tb"/>
          <p:cNvSpPr txBox="1"/>
          <p:nvPr/>
        </p:nvSpPr>
        <p:spPr>
          <a:xfrm>
            <a:off x="1905000" y="254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15" name="tb"/>
          <p:cNvSpPr txBox="1"/>
          <p:nvPr/>
        </p:nvSpPr>
        <p:spPr>
          <a:xfrm>
            <a:off x="2641600" y="254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6016" name="tb"/>
          <p:cNvSpPr txBox="1"/>
          <p:nvPr/>
        </p:nvSpPr>
        <p:spPr>
          <a:xfrm>
            <a:off x="3378200" y="254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6017" name="tb"/>
          <p:cNvSpPr txBox="1"/>
          <p:nvPr/>
        </p:nvSpPr>
        <p:spPr>
          <a:xfrm>
            <a:off x="1905000" y="3175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6018" name="tb"/>
          <p:cNvSpPr txBox="1"/>
          <p:nvPr/>
        </p:nvSpPr>
        <p:spPr>
          <a:xfrm>
            <a:off x="2641600" y="3175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19" name="tb"/>
          <p:cNvSpPr txBox="1"/>
          <p:nvPr/>
        </p:nvSpPr>
        <p:spPr>
          <a:xfrm>
            <a:off x="3378200" y="3175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1905000" y="381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21" name="tb"/>
          <p:cNvSpPr txBox="1"/>
          <p:nvPr/>
        </p:nvSpPr>
        <p:spPr>
          <a:xfrm>
            <a:off x="2641600" y="381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6022" name="tb"/>
          <p:cNvSpPr txBox="1"/>
          <p:nvPr/>
        </p:nvSpPr>
        <p:spPr>
          <a:xfrm>
            <a:off x="3378200" y="381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6023" name="sq"/>
          <p:cNvSpPr/>
          <p:nvPr/>
        </p:nvSpPr>
        <p:spPr>
          <a:xfrm>
            <a:off x="889000" y="4724400"/>
            <a:ext cx="203200" cy="203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4" name="tb"/>
          <p:cNvSpPr txBox="1"/>
          <p:nvPr/>
        </p:nvSpPr>
        <p:spPr>
          <a:xfrm>
            <a:off x="1168400" y="4699000"/>
            <a:ext cx="1524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dirty="0">
                <a:solidFill>
                  <a:srgbClr val="595959"/>
                </a:solidFill>
              </a:rPr>
              <a:t>pivot a₂₁</a:t>
            </a:r>
          </a:p>
        </p:txBody>
      </p:sp>
      <p:sp>
        <p:nvSpPr>
          <p:cNvPr id="6025" name="sq"/>
          <p:cNvSpPr/>
          <p:nvPr/>
        </p:nvSpPr>
        <p:spPr>
          <a:xfrm>
            <a:off x="2667000" y="4724400"/>
            <a:ext cx="203200" cy="203200"/>
          </a:xfrm>
          <a:prstGeom prst="rect">
            <a:avLst/>
          </a:prstGeom>
          <a:solidFill>
            <a:srgbClr val="7AB64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6" name="tb"/>
          <p:cNvSpPr txBox="1"/>
          <p:nvPr/>
        </p:nvSpPr>
        <p:spPr>
          <a:xfrm>
            <a:off x="2946400" y="4699000"/>
            <a:ext cx="2032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dirty="0">
                <a:solidFill>
                  <a:srgbClr val="595959"/>
                </a:solidFill>
              </a:rPr>
              <a:t>minor M₂₁ cells</a:t>
            </a:r>
          </a:p>
        </p:txBody>
      </p:sp>
      <p:sp>
        <p:nvSpPr>
          <p:cNvPr id="6027" name="panel"/>
          <p:cNvSpPr/>
          <p:nvPr/>
        </p:nvSpPr>
        <p:spPr>
          <a:xfrm>
            <a:off x="6146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8" name="tb"/>
          <p:cNvSpPr txBox="1"/>
          <p:nvPr/>
        </p:nvSpPr>
        <p:spPr>
          <a:xfrm>
            <a:off x="6400800" y="14224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Compute the cofactor</a:t>
            </a:r>
          </a:p>
        </p:txBody>
      </p:sp>
      <p:sp>
        <p:nvSpPr>
          <p:cNvPr id="6029" name="tb"/>
          <p:cNvSpPr txBox="1"/>
          <p:nvPr/>
        </p:nvSpPr>
        <p:spPr>
          <a:xfrm>
            <a:off x="6400800" y="1854200"/>
            <a:ext cx="52324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What remains is the 2×2 minor M₂₁:</a:t>
            </a:r>
          </a:p>
        </p:txBody>
      </p:sp>
      <p:sp>
        <p:nvSpPr>
          <p:cNvPr id="6030" name="hl"/>
          <p:cNvSpPr/>
          <p:nvPr/>
        </p:nvSpPr>
        <p:spPr>
          <a:xfrm>
            <a:off x="7620000" y="23114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1" name="hl"/>
          <p:cNvSpPr/>
          <p:nvPr/>
        </p:nvSpPr>
        <p:spPr>
          <a:xfrm>
            <a:off x="8305800" y="23114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2" name="hl"/>
          <p:cNvSpPr/>
          <p:nvPr/>
        </p:nvSpPr>
        <p:spPr>
          <a:xfrm>
            <a:off x="7620000" y="28702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3" name="hl"/>
          <p:cNvSpPr/>
          <p:nvPr/>
        </p:nvSpPr>
        <p:spPr>
          <a:xfrm>
            <a:off x="8305800" y="28702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4" name="hl"/>
          <p:cNvSpPr/>
          <p:nvPr/>
        </p:nvSpPr>
        <p:spPr>
          <a:xfrm>
            <a:off x="7467600" y="2260600"/>
            <a:ext cx="50800" cy="1219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5" name="hl"/>
          <p:cNvSpPr/>
          <p:nvPr/>
        </p:nvSpPr>
        <p:spPr>
          <a:xfrm>
            <a:off x="7467600" y="22606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6" name="hl"/>
          <p:cNvSpPr/>
          <p:nvPr/>
        </p:nvSpPr>
        <p:spPr>
          <a:xfrm>
            <a:off x="7467600" y="3429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7" name="hl"/>
          <p:cNvSpPr/>
          <p:nvPr/>
        </p:nvSpPr>
        <p:spPr>
          <a:xfrm>
            <a:off x="9093200" y="2260600"/>
            <a:ext cx="50800" cy="1219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8" name="hl"/>
          <p:cNvSpPr/>
          <p:nvPr/>
        </p:nvSpPr>
        <p:spPr>
          <a:xfrm>
            <a:off x="8991600" y="22606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9" name="hl"/>
          <p:cNvSpPr/>
          <p:nvPr/>
        </p:nvSpPr>
        <p:spPr>
          <a:xfrm>
            <a:off x="8991600" y="3429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0" name="tb"/>
          <p:cNvSpPr txBox="1"/>
          <p:nvPr/>
        </p:nvSpPr>
        <p:spPr>
          <a:xfrm>
            <a:off x="7620000" y="23114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6041" name="tb"/>
          <p:cNvSpPr txBox="1"/>
          <p:nvPr/>
        </p:nvSpPr>
        <p:spPr>
          <a:xfrm>
            <a:off x="8305800" y="23114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6042" name="tb"/>
          <p:cNvSpPr txBox="1"/>
          <p:nvPr/>
        </p:nvSpPr>
        <p:spPr>
          <a:xfrm>
            <a:off x="7620000" y="28702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6043" name="tb"/>
          <p:cNvSpPr txBox="1"/>
          <p:nvPr/>
        </p:nvSpPr>
        <p:spPr>
          <a:xfrm>
            <a:off x="8305800" y="28702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6044" name="tb"/>
          <p:cNvSpPr txBox="1"/>
          <p:nvPr/>
        </p:nvSpPr>
        <p:spPr>
          <a:xfrm>
            <a:off x="6400800" y="36322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dirty="0">
                <a:solidFill>
                  <a:srgbClr val="333333"/>
                </a:solidFill>
              </a:rPr>
              <a:t>M₂₁ = (2)(0) − (3)(6) = </a:t>
            </a:r>
            <a:r>
              <a:rPr lang="en-US" sz="1450" b="1" dirty="0">
                <a:solidFill>
                  <a:srgbClr val="D1578A"/>
                </a:solidFill>
              </a:rPr>
              <a:t>−18</a:t>
            </a:r>
          </a:p>
        </p:txBody>
      </p:sp>
      <p:sp>
        <p:nvSpPr>
          <p:cNvPr id="6045" name="tb"/>
          <p:cNvSpPr txBox="1"/>
          <p:nvPr/>
        </p:nvSpPr>
        <p:spPr>
          <a:xfrm>
            <a:off x="6400800" y="40640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dirty="0">
                <a:solidFill>
                  <a:srgbClr val="333333"/>
                </a:solidFill>
              </a:rPr>
              <a:t>sign (−1)^(2+1) = </a:t>
            </a:r>
            <a:r>
              <a:rPr lang="en-US" sz="1450" b="1" dirty="0">
                <a:solidFill>
                  <a:srgbClr val="4B2E83"/>
                </a:solidFill>
              </a:rPr>
              <a:t>−</a:t>
            </a:r>
          </a:p>
        </p:txBody>
      </p:sp>
      <p:sp>
        <p:nvSpPr>
          <p:cNvPr id="6046" name="tb"/>
          <p:cNvSpPr txBox="1"/>
          <p:nvPr/>
        </p:nvSpPr>
        <p:spPr>
          <a:xfrm>
            <a:off x="6400800" y="44958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333333"/>
                </a:solidFill>
              </a:rPr>
              <a:t>C₂₁ = (−)(−18) = </a:t>
            </a:r>
            <a:r>
              <a:rPr lang="en-US" sz="1500" b="1" dirty="0">
                <a:solidFill>
                  <a:srgbClr val="4B2E83"/>
                </a:solidFill>
              </a:rPr>
              <a:t>18</a:t>
            </a:r>
          </a:p>
        </p:txBody>
      </p:sp>
      <p:sp>
        <p:nvSpPr>
          <p:cNvPr id="6047" name="box"/>
          <p:cNvSpPr/>
          <p:nvPr/>
        </p:nvSpPr>
        <p:spPr>
          <a:xfrm>
            <a:off x="6400800" y="4978400"/>
            <a:ext cx="5232400" cy="660400"/>
          </a:xfrm>
          <a:prstGeom prst="roundRect">
            <a:avLst>
              <a:gd name="adj" fmla="val 10000"/>
            </a:avLst>
          </a:prstGeom>
          <a:solidFill>
            <a:srgbClr val="F4FAEF"/>
          </a:solidFill>
          <a:ln w="19050">
            <a:solidFill>
              <a:srgbClr val="7AB64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48" name="tb"/>
          <p:cNvSpPr txBox="1"/>
          <p:nvPr/>
        </p:nvSpPr>
        <p:spPr>
          <a:xfrm>
            <a:off x="6553200" y="4978400"/>
            <a:ext cx="4927600" cy="660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450" b="1" dirty="0">
                <a:solidFill>
                  <a:srgbClr val="333333"/>
                </a:solidFill>
              </a:rPr>
              <a:t>→ place 18 at position (2, 1) of cofactor matrix C</a:t>
            </a:r>
          </a:p>
        </p:txBody>
      </p:sp>
    </p:spTree>
    <p:extLst>
      <p:ext uri="{BB962C8B-B14F-4D97-AF65-F5344CB8AC3E}">
        <p14:creationId xmlns:p14="http://schemas.microsoft.com/office/powerpoint/2010/main" val="216477482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Cofactor C₂₂   ·   adjugate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Each entry a₂₂ has a signed cofactor; the nine of them form matrix C.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Collect all nine cofactors into C, then transpose to form adj(A).</a:t>
            </a:r>
          </a:p>
        </p:txBody>
      </p:sp>
      <p:sp>
        <p:nvSpPr>
          <p:cNvPr id="6000" name="panel"/>
          <p:cNvSpPr/>
          <p:nvPr/>
        </p:nvSpPr>
        <p:spPr>
          <a:xfrm>
            <a:off x="304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224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Delete row 2 and column 2:</a:t>
            </a:r>
          </a:p>
        </p:txBody>
      </p:sp>
      <p:sp>
        <p:nvSpPr>
          <p:cNvPr id="6002" name="hl"/>
          <p:cNvSpPr/>
          <p:nvPr/>
        </p:nvSpPr>
        <p:spPr>
          <a:xfrm>
            <a:off x="2641600" y="3175000"/>
            <a:ext cx="736600" cy="635000"/>
          </a:xfrm>
          <a:prstGeom prst="rect">
            <a:avLst/>
          </a:prstGeom>
          <a:solidFill>
            <a:srgbClr val="4B2E83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3" name="hl"/>
          <p:cNvSpPr/>
          <p:nvPr/>
        </p:nvSpPr>
        <p:spPr>
          <a:xfrm>
            <a:off x="1905000" y="2540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4" name="hl"/>
          <p:cNvSpPr/>
          <p:nvPr/>
        </p:nvSpPr>
        <p:spPr>
          <a:xfrm>
            <a:off x="3378200" y="2540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5" name="hl"/>
          <p:cNvSpPr/>
          <p:nvPr/>
        </p:nvSpPr>
        <p:spPr>
          <a:xfrm>
            <a:off x="1905000" y="3810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6" name="hl"/>
          <p:cNvSpPr/>
          <p:nvPr/>
        </p:nvSpPr>
        <p:spPr>
          <a:xfrm>
            <a:off x="3378200" y="3810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7" name="hl"/>
          <p:cNvSpPr/>
          <p:nvPr/>
        </p:nvSpPr>
        <p:spPr>
          <a:xfrm>
            <a:off x="1752600" y="2489200"/>
            <a:ext cx="50800" cy="2006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8" name="hl"/>
          <p:cNvSpPr/>
          <p:nvPr/>
        </p:nvSpPr>
        <p:spPr>
          <a:xfrm>
            <a:off x="1752600" y="24892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9" name="hl"/>
          <p:cNvSpPr/>
          <p:nvPr/>
        </p:nvSpPr>
        <p:spPr>
          <a:xfrm>
            <a:off x="1752600" y="4445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0" name="hl"/>
          <p:cNvSpPr/>
          <p:nvPr/>
        </p:nvSpPr>
        <p:spPr>
          <a:xfrm>
            <a:off x="4216400" y="2489200"/>
            <a:ext cx="50800" cy="2006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1" name="hl"/>
          <p:cNvSpPr/>
          <p:nvPr/>
        </p:nvSpPr>
        <p:spPr>
          <a:xfrm>
            <a:off x="4114800" y="24892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2" name="hl"/>
          <p:cNvSpPr/>
          <p:nvPr/>
        </p:nvSpPr>
        <p:spPr>
          <a:xfrm>
            <a:off x="4114800" y="4445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3" name="tb"/>
          <p:cNvSpPr txBox="1"/>
          <p:nvPr/>
        </p:nvSpPr>
        <p:spPr>
          <a:xfrm>
            <a:off x="1117600" y="3175000"/>
            <a:ext cx="7112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800" b="1" dirty="0">
                <a:solidFill>
                  <a:srgbClr val="333333"/>
                </a:solidFill>
              </a:rPr>
              <a:t>A =</a:t>
            </a:r>
          </a:p>
        </p:txBody>
      </p:sp>
      <p:sp>
        <p:nvSpPr>
          <p:cNvPr id="6014" name="tb"/>
          <p:cNvSpPr txBox="1"/>
          <p:nvPr/>
        </p:nvSpPr>
        <p:spPr>
          <a:xfrm>
            <a:off x="1905000" y="254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15" name="tb"/>
          <p:cNvSpPr txBox="1"/>
          <p:nvPr/>
        </p:nvSpPr>
        <p:spPr>
          <a:xfrm>
            <a:off x="2641600" y="254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6016" name="tb"/>
          <p:cNvSpPr txBox="1"/>
          <p:nvPr/>
        </p:nvSpPr>
        <p:spPr>
          <a:xfrm>
            <a:off x="3378200" y="254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6017" name="tb"/>
          <p:cNvSpPr txBox="1"/>
          <p:nvPr/>
        </p:nvSpPr>
        <p:spPr>
          <a:xfrm>
            <a:off x="1905000" y="3175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6018" name="tb"/>
          <p:cNvSpPr txBox="1"/>
          <p:nvPr/>
        </p:nvSpPr>
        <p:spPr>
          <a:xfrm>
            <a:off x="2641600" y="3175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19" name="tb"/>
          <p:cNvSpPr txBox="1"/>
          <p:nvPr/>
        </p:nvSpPr>
        <p:spPr>
          <a:xfrm>
            <a:off x="3378200" y="3175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1905000" y="381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21" name="tb"/>
          <p:cNvSpPr txBox="1"/>
          <p:nvPr/>
        </p:nvSpPr>
        <p:spPr>
          <a:xfrm>
            <a:off x="2641600" y="381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6022" name="tb"/>
          <p:cNvSpPr txBox="1"/>
          <p:nvPr/>
        </p:nvSpPr>
        <p:spPr>
          <a:xfrm>
            <a:off x="3378200" y="381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6023" name="sq"/>
          <p:cNvSpPr/>
          <p:nvPr/>
        </p:nvSpPr>
        <p:spPr>
          <a:xfrm>
            <a:off x="889000" y="4724400"/>
            <a:ext cx="203200" cy="203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4" name="tb"/>
          <p:cNvSpPr txBox="1"/>
          <p:nvPr/>
        </p:nvSpPr>
        <p:spPr>
          <a:xfrm>
            <a:off x="1168400" y="4699000"/>
            <a:ext cx="1524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dirty="0">
                <a:solidFill>
                  <a:srgbClr val="595959"/>
                </a:solidFill>
              </a:rPr>
              <a:t>pivot a₂₂</a:t>
            </a:r>
          </a:p>
        </p:txBody>
      </p:sp>
      <p:sp>
        <p:nvSpPr>
          <p:cNvPr id="6025" name="sq"/>
          <p:cNvSpPr/>
          <p:nvPr/>
        </p:nvSpPr>
        <p:spPr>
          <a:xfrm>
            <a:off x="2667000" y="4724400"/>
            <a:ext cx="203200" cy="203200"/>
          </a:xfrm>
          <a:prstGeom prst="rect">
            <a:avLst/>
          </a:prstGeom>
          <a:solidFill>
            <a:srgbClr val="7AB64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6" name="tb"/>
          <p:cNvSpPr txBox="1"/>
          <p:nvPr/>
        </p:nvSpPr>
        <p:spPr>
          <a:xfrm>
            <a:off x="2946400" y="4699000"/>
            <a:ext cx="2159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dirty="0">
                <a:solidFill>
                  <a:srgbClr val="595959"/>
                </a:solidFill>
              </a:rPr>
              <a:t>minor M₂₂ cells</a:t>
            </a:r>
          </a:p>
        </p:txBody>
      </p:sp>
      <p:sp>
        <p:nvSpPr>
          <p:cNvPr id="6027" name="panel"/>
          <p:cNvSpPr/>
          <p:nvPr/>
        </p:nvSpPr>
        <p:spPr>
          <a:xfrm>
            <a:off x="6146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8" name="tb"/>
          <p:cNvSpPr txBox="1"/>
          <p:nvPr/>
        </p:nvSpPr>
        <p:spPr>
          <a:xfrm>
            <a:off x="6400800" y="14224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Compute the cofactor</a:t>
            </a:r>
          </a:p>
        </p:txBody>
      </p:sp>
      <p:sp>
        <p:nvSpPr>
          <p:cNvPr id="6029" name="tb"/>
          <p:cNvSpPr txBox="1"/>
          <p:nvPr/>
        </p:nvSpPr>
        <p:spPr>
          <a:xfrm>
            <a:off x="6400800" y="1854200"/>
            <a:ext cx="52324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What remains is the 2×2 minor M₂₂:</a:t>
            </a:r>
          </a:p>
        </p:txBody>
      </p:sp>
      <p:sp>
        <p:nvSpPr>
          <p:cNvPr id="6030" name="hl"/>
          <p:cNvSpPr/>
          <p:nvPr/>
        </p:nvSpPr>
        <p:spPr>
          <a:xfrm>
            <a:off x="7620000" y="23114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1" name="hl"/>
          <p:cNvSpPr/>
          <p:nvPr/>
        </p:nvSpPr>
        <p:spPr>
          <a:xfrm>
            <a:off x="8305800" y="23114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2" name="hl"/>
          <p:cNvSpPr/>
          <p:nvPr/>
        </p:nvSpPr>
        <p:spPr>
          <a:xfrm>
            <a:off x="7620000" y="28702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3" name="hl"/>
          <p:cNvSpPr/>
          <p:nvPr/>
        </p:nvSpPr>
        <p:spPr>
          <a:xfrm>
            <a:off x="8305800" y="28702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4" name="hl"/>
          <p:cNvSpPr/>
          <p:nvPr/>
        </p:nvSpPr>
        <p:spPr>
          <a:xfrm>
            <a:off x="7467600" y="2260600"/>
            <a:ext cx="50800" cy="1219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5" name="hl"/>
          <p:cNvSpPr/>
          <p:nvPr/>
        </p:nvSpPr>
        <p:spPr>
          <a:xfrm>
            <a:off x="7467600" y="22606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6" name="hl"/>
          <p:cNvSpPr/>
          <p:nvPr/>
        </p:nvSpPr>
        <p:spPr>
          <a:xfrm>
            <a:off x="7467600" y="3429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7" name="hl"/>
          <p:cNvSpPr/>
          <p:nvPr/>
        </p:nvSpPr>
        <p:spPr>
          <a:xfrm>
            <a:off x="9093200" y="2260600"/>
            <a:ext cx="50800" cy="1219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8" name="hl"/>
          <p:cNvSpPr/>
          <p:nvPr/>
        </p:nvSpPr>
        <p:spPr>
          <a:xfrm>
            <a:off x="8991600" y="22606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9" name="hl"/>
          <p:cNvSpPr/>
          <p:nvPr/>
        </p:nvSpPr>
        <p:spPr>
          <a:xfrm>
            <a:off x="8991600" y="3429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0" name="tb"/>
          <p:cNvSpPr txBox="1"/>
          <p:nvPr/>
        </p:nvSpPr>
        <p:spPr>
          <a:xfrm>
            <a:off x="7620000" y="23114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41" name="tb"/>
          <p:cNvSpPr txBox="1"/>
          <p:nvPr/>
        </p:nvSpPr>
        <p:spPr>
          <a:xfrm>
            <a:off x="8305800" y="23114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6042" name="tb"/>
          <p:cNvSpPr txBox="1"/>
          <p:nvPr/>
        </p:nvSpPr>
        <p:spPr>
          <a:xfrm>
            <a:off x="7620000" y="28702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43" name="tb"/>
          <p:cNvSpPr txBox="1"/>
          <p:nvPr/>
        </p:nvSpPr>
        <p:spPr>
          <a:xfrm>
            <a:off x="8305800" y="28702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6044" name="tb"/>
          <p:cNvSpPr txBox="1"/>
          <p:nvPr/>
        </p:nvSpPr>
        <p:spPr>
          <a:xfrm>
            <a:off x="6400800" y="36322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dirty="0">
                <a:solidFill>
                  <a:srgbClr val="333333"/>
                </a:solidFill>
              </a:rPr>
              <a:t>M₂₂ = (1)(0) − (3)(5) = </a:t>
            </a:r>
            <a:r>
              <a:rPr lang="en-US" sz="1450" b="1" dirty="0">
                <a:solidFill>
                  <a:srgbClr val="D1578A"/>
                </a:solidFill>
              </a:rPr>
              <a:t>−15</a:t>
            </a:r>
          </a:p>
        </p:txBody>
      </p:sp>
      <p:sp>
        <p:nvSpPr>
          <p:cNvPr id="6045" name="tb"/>
          <p:cNvSpPr txBox="1"/>
          <p:nvPr/>
        </p:nvSpPr>
        <p:spPr>
          <a:xfrm>
            <a:off x="6400800" y="40640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dirty="0">
                <a:solidFill>
                  <a:srgbClr val="333333"/>
                </a:solidFill>
              </a:rPr>
              <a:t>sign (−1)^(2+2) = </a:t>
            </a:r>
            <a:r>
              <a:rPr lang="en-US" sz="1450" b="1" dirty="0">
                <a:solidFill>
                  <a:srgbClr val="4B2E83"/>
                </a:solidFill>
              </a:rPr>
              <a:t>+</a:t>
            </a:r>
          </a:p>
        </p:txBody>
      </p:sp>
      <p:sp>
        <p:nvSpPr>
          <p:cNvPr id="6046" name="tb"/>
          <p:cNvSpPr txBox="1"/>
          <p:nvPr/>
        </p:nvSpPr>
        <p:spPr>
          <a:xfrm>
            <a:off x="6400800" y="44958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333333"/>
                </a:solidFill>
              </a:rPr>
              <a:t>C₂₂ = (+)(−15) = </a:t>
            </a:r>
            <a:r>
              <a:rPr lang="en-US" sz="1500" b="1" dirty="0">
                <a:solidFill>
                  <a:srgbClr val="4B2E83"/>
                </a:solidFill>
              </a:rPr>
              <a:t>−15</a:t>
            </a:r>
          </a:p>
        </p:txBody>
      </p:sp>
      <p:sp>
        <p:nvSpPr>
          <p:cNvPr id="6047" name="box"/>
          <p:cNvSpPr/>
          <p:nvPr/>
        </p:nvSpPr>
        <p:spPr>
          <a:xfrm>
            <a:off x="6400800" y="4978400"/>
            <a:ext cx="5232400" cy="660400"/>
          </a:xfrm>
          <a:prstGeom prst="roundRect">
            <a:avLst>
              <a:gd name="adj" fmla="val 10000"/>
            </a:avLst>
          </a:prstGeom>
          <a:solidFill>
            <a:srgbClr val="F4FAEF"/>
          </a:solidFill>
          <a:ln w="19050">
            <a:solidFill>
              <a:srgbClr val="7AB64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48" name="tb"/>
          <p:cNvSpPr txBox="1"/>
          <p:nvPr/>
        </p:nvSpPr>
        <p:spPr>
          <a:xfrm>
            <a:off x="6553200" y="4978400"/>
            <a:ext cx="4927600" cy="660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450" b="1" dirty="0">
                <a:solidFill>
                  <a:srgbClr val="333333"/>
                </a:solidFill>
              </a:rPr>
              <a:t>→ place −15 at position (2, 2) of cofactor matrix C</a:t>
            </a:r>
          </a:p>
        </p:txBody>
      </p:sp>
    </p:spTree>
    <p:extLst>
      <p:ext uri="{BB962C8B-B14F-4D97-AF65-F5344CB8AC3E}">
        <p14:creationId xmlns:p14="http://schemas.microsoft.com/office/powerpoint/2010/main" val="393281692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Cofactor C₂₃   ·   adjugate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Each entry a₂₃ has a signed cofactor; the nine of them form matrix C.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Collect all nine cofactors into C, then transpose to form adj(A).</a:t>
            </a:r>
          </a:p>
        </p:txBody>
      </p:sp>
      <p:sp>
        <p:nvSpPr>
          <p:cNvPr id="6000" name="panel"/>
          <p:cNvSpPr/>
          <p:nvPr/>
        </p:nvSpPr>
        <p:spPr>
          <a:xfrm>
            <a:off x="304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224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Delete row 2 and column 3:</a:t>
            </a:r>
          </a:p>
        </p:txBody>
      </p:sp>
      <p:sp>
        <p:nvSpPr>
          <p:cNvPr id="6002" name="hl"/>
          <p:cNvSpPr/>
          <p:nvPr/>
        </p:nvSpPr>
        <p:spPr>
          <a:xfrm>
            <a:off x="3378200" y="3175000"/>
            <a:ext cx="736600" cy="635000"/>
          </a:xfrm>
          <a:prstGeom prst="rect">
            <a:avLst/>
          </a:prstGeom>
          <a:solidFill>
            <a:srgbClr val="4B2E83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3" name="hl"/>
          <p:cNvSpPr/>
          <p:nvPr/>
        </p:nvSpPr>
        <p:spPr>
          <a:xfrm>
            <a:off x="1905000" y="2540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4" name="hl"/>
          <p:cNvSpPr/>
          <p:nvPr/>
        </p:nvSpPr>
        <p:spPr>
          <a:xfrm>
            <a:off x="2641600" y="2540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5" name="hl"/>
          <p:cNvSpPr/>
          <p:nvPr/>
        </p:nvSpPr>
        <p:spPr>
          <a:xfrm>
            <a:off x="1905000" y="3810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6" name="hl"/>
          <p:cNvSpPr/>
          <p:nvPr/>
        </p:nvSpPr>
        <p:spPr>
          <a:xfrm>
            <a:off x="2641600" y="3810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7" name="hl"/>
          <p:cNvSpPr/>
          <p:nvPr/>
        </p:nvSpPr>
        <p:spPr>
          <a:xfrm>
            <a:off x="1752600" y="2489200"/>
            <a:ext cx="50800" cy="2006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8" name="hl"/>
          <p:cNvSpPr/>
          <p:nvPr/>
        </p:nvSpPr>
        <p:spPr>
          <a:xfrm>
            <a:off x="1752600" y="24892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9" name="hl"/>
          <p:cNvSpPr/>
          <p:nvPr/>
        </p:nvSpPr>
        <p:spPr>
          <a:xfrm>
            <a:off x="1752600" y="4445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0" name="hl"/>
          <p:cNvSpPr/>
          <p:nvPr/>
        </p:nvSpPr>
        <p:spPr>
          <a:xfrm>
            <a:off x="4216400" y="2489200"/>
            <a:ext cx="50800" cy="2006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1" name="hl"/>
          <p:cNvSpPr/>
          <p:nvPr/>
        </p:nvSpPr>
        <p:spPr>
          <a:xfrm>
            <a:off x="4114800" y="24892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2" name="hl"/>
          <p:cNvSpPr/>
          <p:nvPr/>
        </p:nvSpPr>
        <p:spPr>
          <a:xfrm>
            <a:off x="4114800" y="4445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3" name="tb"/>
          <p:cNvSpPr txBox="1"/>
          <p:nvPr/>
        </p:nvSpPr>
        <p:spPr>
          <a:xfrm>
            <a:off x="1117600" y="3175000"/>
            <a:ext cx="7112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800" b="1" dirty="0">
                <a:solidFill>
                  <a:srgbClr val="333333"/>
                </a:solidFill>
              </a:rPr>
              <a:t>A =</a:t>
            </a:r>
          </a:p>
        </p:txBody>
      </p:sp>
      <p:sp>
        <p:nvSpPr>
          <p:cNvPr id="6014" name="tb"/>
          <p:cNvSpPr txBox="1"/>
          <p:nvPr/>
        </p:nvSpPr>
        <p:spPr>
          <a:xfrm>
            <a:off x="1905000" y="254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15" name="tb"/>
          <p:cNvSpPr txBox="1"/>
          <p:nvPr/>
        </p:nvSpPr>
        <p:spPr>
          <a:xfrm>
            <a:off x="2641600" y="254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6016" name="tb"/>
          <p:cNvSpPr txBox="1"/>
          <p:nvPr/>
        </p:nvSpPr>
        <p:spPr>
          <a:xfrm>
            <a:off x="3378200" y="254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6017" name="tb"/>
          <p:cNvSpPr txBox="1"/>
          <p:nvPr/>
        </p:nvSpPr>
        <p:spPr>
          <a:xfrm>
            <a:off x="1905000" y="3175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6018" name="tb"/>
          <p:cNvSpPr txBox="1"/>
          <p:nvPr/>
        </p:nvSpPr>
        <p:spPr>
          <a:xfrm>
            <a:off x="2641600" y="3175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19" name="tb"/>
          <p:cNvSpPr txBox="1"/>
          <p:nvPr/>
        </p:nvSpPr>
        <p:spPr>
          <a:xfrm>
            <a:off x="3378200" y="3175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1905000" y="381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21" name="tb"/>
          <p:cNvSpPr txBox="1"/>
          <p:nvPr/>
        </p:nvSpPr>
        <p:spPr>
          <a:xfrm>
            <a:off x="2641600" y="381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6022" name="tb"/>
          <p:cNvSpPr txBox="1"/>
          <p:nvPr/>
        </p:nvSpPr>
        <p:spPr>
          <a:xfrm>
            <a:off x="3378200" y="381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6023" name="sq"/>
          <p:cNvSpPr/>
          <p:nvPr/>
        </p:nvSpPr>
        <p:spPr>
          <a:xfrm>
            <a:off x="889000" y="4724400"/>
            <a:ext cx="203200" cy="203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4" name="tb"/>
          <p:cNvSpPr txBox="1"/>
          <p:nvPr/>
        </p:nvSpPr>
        <p:spPr>
          <a:xfrm>
            <a:off x="1168400" y="4699000"/>
            <a:ext cx="1524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dirty="0">
                <a:solidFill>
                  <a:srgbClr val="595959"/>
                </a:solidFill>
              </a:rPr>
              <a:t>pivot a₂₃</a:t>
            </a:r>
          </a:p>
        </p:txBody>
      </p:sp>
      <p:sp>
        <p:nvSpPr>
          <p:cNvPr id="6025" name="sq"/>
          <p:cNvSpPr/>
          <p:nvPr/>
        </p:nvSpPr>
        <p:spPr>
          <a:xfrm>
            <a:off x="2667000" y="4724400"/>
            <a:ext cx="203200" cy="203200"/>
          </a:xfrm>
          <a:prstGeom prst="rect">
            <a:avLst/>
          </a:prstGeom>
          <a:solidFill>
            <a:srgbClr val="7AB64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6" name="tb"/>
          <p:cNvSpPr txBox="1"/>
          <p:nvPr/>
        </p:nvSpPr>
        <p:spPr>
          <a:xfrm>
            <a:off x="2946400" y="4699000"/>
            <a:ext cx="2159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dirty="0">
                <a:solidFill>
                  <a:srgbClr val="595959"/>
                </a:solidFill>
              </a:rPr>
              <a:t>minor M₂₃ cells</a:t>
            </a:r>
          </a:p>
        </p:txBody>
      </p:sp>
      <p:sp>
        <p:nvSpPr>
          <p:cNvPr id="6027" name="panel"/>
          <p:cNvSpPr/>
          <p:nvPr/>
        </p:nvSpPr>
        <p:spPr>
          <a:xfrm>
            <a:off x="6146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8" name="tb"/>
          <p:cNvSpPr txBox="1"/>
          <p:nvPr/>
        </p:nvSpPr>
        <p:spPr>
          <a:xfrm>
            <a:off x="6400800" y="14224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Compute the cofactor</a:t>
            </a:r>
          </a:p>
        </p:txBody>
      </p:sp>
      <p:sp>
        <p:nvSpPr>
          <p:cNvPr id="6029" name="tb"/>
          <p:cNvSpPr txBox="1"/>
          <p:nvPr/>
        </p:nvSpPr>
        <p:spPr>
          <a:xfrm>
            <a:off x="6400800" y="1854200"/>
            <a:ext cx="52324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What remains is the 2×2 minor M₂₃:</a:t>
            </a:r>
          </a:p>
        </p:txBody>
      </p:sp>
      <p:sp>
        <p:nvSpPr>
          <p:cNvPr id="6030" name="hl"/>
          <p:cNvSpPr/>
          <p:nvPr/>
        </p:nvSpPr>
        <p:spPr>
          <a:xfrm>
            <a:off x="7620000" y="23114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1" name="hl"/>
          <p:cNvSpPr/>
          <p:nvPr/>
        </p:nvSpPr>
        <p:spPr>
          <a:xfrm>
            <a:off x="8305800" y="23114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2" name="hl"/>
          <p:cNvSpPr/>
          <p:nvPr/>
        </p:nvSpPr>
        <p:spPr>
          <a:xfrm>
            <a:off x="7620000" y="28702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3" name="hl"/>
          <p:cNvSpPr/>
          <p:nvPr/>
        </p:nvSpPr>
        <p:spPr>
          <a:xfrm>
            <a:off x="8305800" y="28702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4" name="hl"/>
          <p:cNvSpPr/>
          <p:nvPr/>
        </p:nvSpPr>
        <p:spPr>
          <a:xfrm>
            <a:off x="7467600" y="2260600"/>
            <a:ext cx="50800" cy="1219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5" name="hl"/>
          <p:cNvSpPr/>
          <p:nvPr/>
        </p:nvSpPr>
        <p:spPr>
          <a:xfrm>
            <a:off x="7467600" y="22606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6" name="hl"/>
          <p:cNvSpPr/>
          <p:nvPr/>
        </p:nvSpPr>
        <p:spPr>
          <a:xfrm>
            <a:off x="7467600" y="3429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7" name="hl"/>
          <p:cNvSpPr/>
          <p:nvPr/>
        </p:nvSpPr>
        <p:spPr>
          <a:xfrm>
            <a:off x="9093200" y="2260600"/>
            <a:ext cx="50800" cy="1219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8" name="hl"/>
          <p:cNvSpPr/>
          <p:nvPr/>
        </p:nvSpPr>
        <p:spPr>
          <a:xfrm>
            <a:off x="8991600" y="22606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9" name="hl"/>
          <p:cNvSpPr/>
          <p:nvPr/>
        </p:nvSpPr>
        <p:spPr>
          <a:xfrm>
            <a:off x="8991600" y="3429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0" name="tb"/>
          <p:cNvSpPr txBox="1"/>
          <p:nvPr/>
        </p:nvSpPr>
        <p:spPr>
          <a:xfrm>
            <a:off x="7620000" y="23114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41" name="tb"/>
          <p:cNvSpPr txBox="1"/>
          <p:nvPr/>
        </p:nvSpPr>
        <p:spPr>
          <a:xfrm>
            <a:off x="8305800" y="23114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6042" name="tb"/>
          <p:cNvSpPr txBox="1"/>
          <p:nvPr/>
        </p:nvSpPr>
        <p:spPr>
          <a:xfrm>
            <a:off x="7620000" y="28702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43" name="tb"/>
          <p:cNvSpPr txBox="1"/>
          <p:nvPr/>
        </p:nvSpPr>
        <p:spPr>
          <a:xfrm>
            <a:off x="8305800" y="28702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6044" name="tb"/>
          <p:cNvSpPr txBox="1"/>
          <p:nvPr/>
        </p:nvSpPr>
        <p:spPr>
          <a:xfrm>
            <a:off x="6400800" y="36322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dirty="0">
                <a:solidFill>
                  <a:srgbClr val="333333"/>
                </a:solidFill>
              </a:rPr>
              <a:t>M₂₃ = (1)(6) − (2)(5) = </a:t>
            </a:r>
            <a:r>
              <a:rPr lang="en-US" sz="1450" b="1" dirty="0">
                <a:solidFill>
                  <a:srgbClr val="D1578A"/>
                </a:solidFill>
              </a:rPr>
              <a:t>−4</a:t>
            </a:r>
          </a:p>
        </p:txBody>
      </p:sp>
      <p:sp>
        <p:nvSpPr>
          <p:cNvPr id="6045" name="tb"/>
          <p:cNvSpPr txBox="1"/>
          <p:nvPr/>
        </p:nvSpPr>
        <p:spPr>
          <a:xfrm>
            <a:off x="6400800" y="40640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dirty="0">
                <a:solidFill>
                  <a:srgbClr val="333333"/>
                </a:solidFill>
              </a:rPr>
              <a:t>sign (−1)^(2+3) = </a:t>
            </a:r>
            <a:r>
              <a:rPr lang="en-US" sz="1450" b="1" dirty="0">
                <a:solidFill>
                  <a:srgbClr val="4B2E83"/>
                </a:solidFill>
              </a:rPr>
              <a:t>−</a:t>
            </a:r>
          </a:p>
        </p:txBody>
      </p:sp>
      <p:sp>
        <p:nvSpPr>
          <p:cNvPr id="6046" name="tb"/>
          <p:cNvSpPr txBox="1"/>
          <p:nvPr/>
        </p:nvSpPr>
        <p:spPr>
          <a:xfrm>
            <a:off x="6400800" y="44958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333333"/>
                </a:solidFill>
              </a:rPr>
              <a:t>C₂₃ = (−)(−4) = </a:t>
            </a:r>
            <a:r>
              <a:rPr lang="en-US" sz="1500" b="1" dirty="0">
                <a:solidFill>
                  <a:srgbClr val="4B2E83"/>
                </a:solidFill>
              </a:rPr>
              <a:t>4</a:t>
            </a:r>
          </a:p>
        </p:txBody>
      </p:sp>
      <p:sp>
        <p:nvSpPr>
          <p:cNvPr id="6047" name="box"/>
          <p:cNvSpPr/>
          <p:nvPr/>
        </p:nvSpPr>
        <p:spPr>
          <a:xfrm>
            <a:off x="6400800" y="4978400"/>
            <a:ext cx="5232400" cy="660400"/>
          </a:xfrm>
          <a:prstGeom prst="roundRect">
            <a:avLst>
              <a:gd name="adj" fmla="val 10000"/>
            </a:avLst>
          </a:prstGeom>
          <a:solidFill>
            <a:srgbClr val="F4FAEF"/>
          </a:solidFill>
          <a:ln w="19050">
            <a:solidFill>
              <a:srgbClr val="7AB64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48" name="tb"/>
          <p:cNvSpPr txBox="1"/>
          <p:nvPr/>
        </p:nvSpPr>
        <p:spPr>
          <a:xfrm>
            <a:off x="6553200" y="4978400"/>
            <a:ext cx="4927600" cy="660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450" b="1" dirty="0">
                <a:solidFill>
                  <a:srgbClr val="333333"/>
                </a:solidFill>
              </a:rPr>
              <a:t>→ place 4 at position (2, 3) of cofactor matrix C</a:t>
            </a:r>
          </a:p>
        </p:txBody>
      </p:sp>
    </p:spTree>
    <p:extLst>
      <p:ext uri="{BB962C8B-B14F-4D97-AF65-F5344CB8AC3E}">
        <p14:creationId xmlns:p14="http://schemas.microsoft.com/office/powerpoint/2010/main" val="180749286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Cofactor C₃₁   ·   adjugate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Each entry a₃₁ has a signed cofactor; the nine of them form matrix C.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Collect all nine cofactors into C, then transpose to form adj(A).</a:t>
            </a:r>
          </a:p>
        </p:txBody>
      </p:sp>
      <p:sp>
        <p:nvSpPr>
          <p:cNvPr id="6000" name="panel"/>
          <p:cNvSpPr/>
          <p:nvPr/>
        </p:nvSpPr>
        <p:spPr>
          <a:xfrm>
            <a:off x="304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224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Delete row 3 and column 1:</a:t>
            </a:r>
          </a:p>
        </p:txBody>
      </p:sp>
      <p:sp>
        <p:nvSpPr>
          <p:cNvPr id="6002" name="hl"/>
          <p:cNvSpPr/>
          <p:nvPr/>
        </p:nvSpPr>
        <p:spPr>
          <a:xfrm>
            <a:off x="1905000" y="3810000"/>
            <a:ext cx="736600" cy="635000"/>
          </a:xfrm>
          <a:prstGeom prst="rect">
            <a:avLst/>
          </a:prstGeom>
          <a:solidFill>
            <a:srgbClr val="4B2E83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3" name="hl"/>
          <p:cNvSpPr/>
          <p:nvPr/>
        </p:nvSpPr>
        <p:spPr>
          <a:xfrm>
            <a:off x="2641600" y="2540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4" name="hl"/>
          <p:cNvSpPr/>
          <p:nvPr/>
        </p:nvSpPr>
        <p:spPr>
          <a:xfrm>
            <a:off x="3378200" y="2540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5" name="hl"/>
          <p:cNvSpPr/>
          <p:nvPr/>
        </p:nvSpPr>
        <p:spPr>
          <a:xfrm>
            <a:off x="2641600" y="3175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6" name="hl"/>
          <p:cNvSpPr/>
          <p:nvPr/>
        </p:nvSpPr>
        <p:spPr>
          <a:xfrm>
            <a:off x="3378200" y="3175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7" name="hl"/>
          <p:cNvSpPr/>
          <p:nvPr/>
        </p:nvSpPr>
        <p:spPr>
          <a:xfrm>
            <a:off x="1752600" y="2489200"/>
            <a:ext cx="50800" cy="2006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8" name="hl"/>
          <p:cNvSpPr/>
          <p:nvPr/>
        </p:nvSpPr>
        <p:spPr>
          <a:xfrm>
            <a:off x="1752600" y="24892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9" name="hl"/>
          <p:cNvSpPr/>
          <p:nvPr/>
        </p:nvSpPr>
        <p:spPr>
          <a:xfrm>
            <a:off x="1752600" y="4445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0" name="hl"/>
          <p:cNvSpPr/>
          <p:nvPr/>
        </p:nvSpPr>
        <p:spPr>
          <a:xfrm>
            <a:off x="4216400" y="2489200"/>
            <a:ext cx="50800" cy="2006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1" name="hl"/>
          <p:cNvSpPr/>
          <p:nvPr/>
        </p:nvSpPr>
        <p:spPr>
          <a:xfrm>
            <a:off x="4114800" y="24892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2" name="hl"/>
          <p:cNvSpPr/>
          <p:nvPr/>
        </p:nvSpPr>
        <p:spPr>
          <a:xfrm>
            <a:off x="4114800" y="4445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3" name="tb"/>
          <p:cNvSpPr txBox="1"/>
          <p:nvPr/>
        </p:nvSpPr>
        <p:spPr>
          <a:xfrm>
            <a:off x="1117600" y="3175000"/>
            <a:ext cx="7112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800" b="1" dirty="0">
                <a:solidFill>
                  <a:srgbClr val="333333"/>
                </a:solidFill>
              </a:rPr>
              <a:t>A =</a:t>
            </a:r>
          </a:p>
        </p:txBody>
      </p:sp>
      <p:sp>
        <p:nvSpPr>
          <p:cNvPr id="6014" name="tb"/>
          <p:cNvSpPr txBox="1"/>
          <p:nvPr/>
        </p:nvSpPr>
        <p:spPr>
          <a:xfrm>
            <a:off x="1905000" y="254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15" name="tb"/>
          <p:cNvSpPr txBox="1"/>
          <p:nvPr/>
        </p:nvSpPr>
        <p:spPr>
          <a:xfrm>
            <a:off x="2641600" y="254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6016" name="tb"/>
          <p:cNvSpPr txBox="1"/>
          <p:nvPr/>
        </p:nvSpPr>
        <p:spPr>
          <a:xfrm>
            <a:off x="3378200" y="254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6017" name="tb"/>
          <p:cNvSpPr txBox="1"/>
          <p:nvPr/>
        </p:nvSpPr>
        <p:spPr>
          <a:xfrm>
            <a:off x="1905000" y="3175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6018" name="tb"/>
          <p:cNvSpPr txBox="1"/>
          <p:nvPr/>
        </p:nvSpPr>
        <p:spPr>
          <a:xfrm>
            <a:off x="2641600" y="3175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19" name="tb"/>
          <p:cNvSpPr txBox="1"/>
          <p:nvPr/>
        </p:nvSpPr>
        <p:spPr>
          <a:xfrm>
            <a:off x="3378200" y="3175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1905000" y="381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21" name="tb"/>
          <p:cNvSpPr txBox="1"/>
          <p:nvPr/>
        </p:nvSpPr>
        <p:spPr>
          <a:xfrm>
            <a:off x="2641600" y="381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6022" name="tb"/>
          <p:cNvSpPr txBox="1"/>
          <p:nvPr/>
        </p:nvSpPr>
        <p:spPr>
          <a:xfrm>
            <a:off x="3378200" y="381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6023" name="sq"/>
          <p:cNvSpPr/>
          <p:nvPr/>
        </p:nvSpPr>
        <p:spPr>
          <a:xfrm>
            <a:off x="889000" y="4724400"/>
            <a:ext cx="203200" cy="203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4" name="tb"/>
          <p:cNvSpPr txBox="1"/>
          <p:nvPr/>
        </p:nvSpPr>
        <p:spPr>
          <a:xfrm>
            <a:off x="1168400" y="4699000"/>
            <a:ext cx="1524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dirty="0">
                <a:solidFill>
                  <a:srgbClr val="595959"/>
                </a:solidFill>
              </a:rPr>
              <a:t>pivot a₃₁</a:t>
            </a:r>
          </a:p>
        </p:txBody>
      </p:sp>
      <p:sp>
        <p:nvSpPr>
          <p:cNvPr id="6025" name="sq"/>
          <p:cNvSpPr/>
          <p:nvPr/>
        </p:nvSpPr>
        <p:spPr>
          <a:xfrm>
            <a:off x="2667000" y="4724400"/>
            <a:ext cx="203200" cy="203200"/>
          </a:xfrm>
          <a:prstGeom prst="rect">
            <a:avLst/>
          </a:prstGeom>
          <a:solidFill>
            <a:srgbClr val="7AB64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6" name="tb"/>
          <p:cNvSpPr txBox="1"/>
          <p:nvPr/>
        </p:nvSpPr>
        <p:spPr>
          <a:xfrm>
            <a:off x="2946400" y="4699000"/>
            <a:ext cx="2032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dirty="0">
                <a:solidFill>
                  <a:srgbClr val="595959"/>
                </a:solidFill>
              </a:rPr>
              <a:t>minor M₃₁ cells</a:t>
            </a:r>
          </a:p>
        </p:txBody>
      </p:sp>
      <p:sp>
        <p:nvSpPr>
          <p:cNvPr id="6027" name="panel"/>
          <p:cNvSpPr/>
          <p:nvPr/>
        </p:nvSpPr>
        <p:spPr>
          <a:xfrm>
            <a:off x="6146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8" name="tb"/>
          <p:cNvSpPr txBox="1"/>
          <p:nvPr/>
        </p:nvSpPr>
        <p:spPr>
          <a:xfrm>
            <a:off x="6400800" y="14224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Compute the cofactor</a:t>
            </a:r>
          </a:p>
        </p:txBody>
      </p:sp>
      <p:sp>
        <p:nvSpPr>
          <p:cNvPr id="6029" name="tb"/>
          <p:cNvSpPr txBox="1"/>
          <p:nvPr/>
        </p:nvSpPr>
        <p:spPr>
          <a:xfrm>
            <a:off x="6400800" y="1854200"/>
            <a:ext cx="52324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What remains is the 2×2 minor M₃₁:</a:t>
            </a:r>
          </a:p>
        </p:txBody>
      </p:sp>
      <p:sp>
        <p:nvSpPr>
          <p:cNvPr id="6030" name="hl"/>
          <p:cNvSpPr/>
          <p:nvPr/>
        </p:nvSpPr>
        <p:spPr>
          <a:xfrm>
            <a:off x="7620000" y="23114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1" name="hl"/>
          <p:cNvSpPr/>
          <p:nvPr/>
        </p:nvSpPr>
        <p:spPr>
          <a:xfrm>
            <a:off x="8305800" y="23114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2" name="hl"/>
          <p:cNvSpPr/>
          <p:nvPr/>
        </p:nvSpPr>
        <p:spPr>
          <a:xfrm>
            <a:off x="7620000" y="28702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3" name="hl"/>
          <p:cNvSpPr/>
          <p:nvPr/>
        </p:nvSpPr>
        <p:spPr>
          <a:xfrm>
            <a:off x="8305800" y="28702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4" name="hl"/>
          <p:cNvSpPr/>
          <p:nvPr/>
        </p:nvSpPr>
        <p:spPr>
          <a:xfrm>
            <a:off x="7467600" y="2260600"/>
            <a:ext cx="50800" cy="1219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5" name="hl"/>
          <p:cNvSpPr/>
          <p:nvPr/>
        </p:nvSpPr>
        <p:spPr>
          <a:xfrm>
            <a:off x="7467600" y="22606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6" name="hl"/>
          <p:cNvSpPr/>
          <p:nvPr/>
        </p:nvSpPr>
        <p:spPr>
          <a:xfrm>
            <a:off x="7467600" y="3429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7" name="hl"/>
          <p:cNvSpPr/>
          <p:nvPr/>
        </p:nvSpPr>
        <p:spPr>
          <a:xfrm>
            <a:off x="9093200" y="2260600"/>
            <a:ext cx="50800" cy="1219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8" name="hl"/>
          <p:cNvSpPr/>
          <p:nvPr/>
        </p:nvSpPr>
        <p:spPr>
          <a:xfrm>
            <a:off x="8991600" y="22606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9" name="hl"/>
          <p:cNvSpPr/>
          <p:nvPr/>
        </p:nvSpPr>
        <p:spPr>
          <a:xfrm>
            <a:off x="8991600" y="3429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0" name="tb"/>
          <p:cNvSpPr txBox="1"/>
          <p:nvPr/>
        </p:nvSpPr>
        <p:spPr>
          <a:xfrm>
            <a:off x="7620000" y="23114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6041" name="tb"/>
          <p:cNvSpPr txBox="1"/>
          <p:nvPr/>
        </p:nvSpPr>
        <p:spPr>
          <a:xfrm>
            <a:off x="8305800" y="23114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6042" name="tb"/>
          <p:cNvSpPr txBox="1"/>
          <p:nvPr/>
        </p:nvSpPr>
        <p:spPr>
          <a:xfrm>
            <a:off x="7620000" y="28702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43" name="tb"/>
          <p:cNvSpPr txBox="1"/>
          <p:nvPr/>
        </p:nvSpPr>
        <p:spPr>
          <a:xfrm>
            <a:off x="8305800" y="28702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44" name="tb"/>
          <p:cNvSpPr txBox="1"/>
          <p:nvPr/>
        </p:nvSpPr>
        <p:spPr>
          <a:xfrm>
            <a:off x="6400800" y="36322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dirty="0">
                <a:solidFill>
                  <a:srgbClr val="333333"/>
                </a:solidFill>
              </a:rPr>
              <a:t>M₃₁ = (2)(4) − (3)(1) = </a:t>
            </a:r>
            <a:r>
              <a:rPr lang="en-US" sz="1450" b="1" dirty="0">
                <a:solidFill>
                  <a:srgbClr val="D1578A"/>
                </a:solidFill>
              </a:rPr>
              <a:t>5</a:t>
            </a:r>
          </a:p>
        </p:txBody>
      </p:sp>
      <p:sp>
        <p:nvSpPr>
          <p:cNvPr id="6045" name="tb"/>
          <p:cNvSpPr txBox="1"/>
          <p:nvPr/>
        </p:nvSpPr>
        <p:spPr>
          <a:xfrm>
            <a:off x="6400800" y="40640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dirty="0">
                <a:solidFill>
                  <a:srgbClr val="333333"/>
                </a:solidFill>
              </a:rPr>
              <a:t>sign (−1)^(3+1) = </a:t>
            </a:r>
            <a:r>
              <a:rPr lang="en-US" sz="1450" b="1" dirty="0">
                <a:solidFill>
                  <a:srgbClr val="4B2E83"/>
                </a:solidFill>
              </a:rPr>
              <a:t>+</a:t>
            </a:r>
          </a:p>
        </p:txBody>
      </p:sp>
      <p:sp>
        <p:nvSpPr>
          <p:cNvPr id="6046" name="tb"/>
          <p:cNvSpPr txBox="1"/>
          <p:nvPr/>
        </p:nvSpPr>
        <p:spPr>
          <a:xfrm>
            <a:off x="6400800" y="44958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333333"/>
                </a:solidFill>
              </a:rPr>
              <a:t>C₃₁ = (+)(5) = </a:t>
            </a:r>
            <a:r>
              <a:rPr lang="en-US" sz="1500" b="1" dirty="0">
                <a:solidFill>
                  <a:srgbClr val="4B2E83"/>
                </a:solidFill>
              </a:rPr>
              <a:t>5</a:t>
            </a:r>
          </a:p>
        </p:txBody>
      </p:sp>
      <p:sp>
        <p:nvSpPr>
          <p:cNvPr id="6047" name="box"/>
          <p:cNvSpPr/>
          <p:nvPr/>
        </p:nvSpPr>
        <p:spPr>
          <a:xfrm>
            <a:off x="6400800" y="4978400"/>
            <a:ext cx="5232400" cy="660400"/>
          </a:xfrm>
          <a:prstGeom prst="roundRect">
            <a:avLst>
              <a:gd name="adj" fmla="val 10000"/>
            </a:avLst>
          </a:prstGeom>
          <a:solidFill>
            <a:srgbClr val="F4FAEF"/>
          </a:solidFill>
          <a:ln w="19050">
            <a:solidFill>
              <a:srgbClr val="7AB64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48" name="tb"/>
          <p:cNvSpPr txBox="1"/>
          <p:nvPr/>
        </p:nvSpPr>
        <p:spPr>
          <a:xfrm>
            <a:off x="6553200" y="4978400"/>
            <a:ext cx="4927600" cy="660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450" b="1" dirty="0">
                <a:solidFill>
                  <a:srgbClr val="333333"/>
                </a:solidFill>
              </a:rPr>
              <a:t>→ place 5 at position (3, 1) of cofactor matrix C</a:t>
            </a:r>
          </a:p>
        </p:txBody>
      </p:sp>
    </p:spTree>
    <p:extLst>
      <p:ext uri="{BB962C8B-B14F-4D97-AF65-F5344CB8AC3E}">
        <p14:creationId xmlns:p14="http://schemas.microsoft.com/office/powerpoint/2010/main" val="238983637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Cofactor C₃₂   ·   adjugate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Each entry a₃₂ has a signed cofactor; the nine of them form matrix C.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Collect all nine cofactors into C, then transpose to form adj(A).</a:t>
            </a:r>
          </a:p>
        </p:txBody>
      </p:sp>
      <p:sp>
        <p:nvSpPr>
          <p:cNvPr id="6000" name="panel"/>
          <p:cNvSpPr/>
          <p:nvPr/>
        </p:nvSpPr>
        <p:spPr>
          <a:xfrm>
            <a:off x="304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224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Delete row 3 and column 2:</a:t>
            </a:r>
          </a:p>
        </p:txBody>
      </p:sp>
      <p:sp>
        <p:nvSpPr>
          <p:cNvPr id="6002" name="hl"/>
          <p:cNvSpPr/>
          <p:nvPr/>
        </p:nvSpPr>
        <p:spPr>
          <a:xfrm>
            <a:off x="2641600" y="3810000"/>
            <a:ext cx="736600" cy="635000"/>
          </a:xfrm>
          <a:prstGeom prst="rect">
            <a:avLst/>
          </a:prstGeom>
          <a:solidFill>
            <a:srgbClr val="4B2E83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3" name="hl"/>
          <p:cNvSpPr/>
          <p:nvPr/>
        </p:nvSpPr>
        <p:spPr>
          <a:xfrm>
            <a:off x="1905000" y="2540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4" name="hl"/>
          <p:cNvSpPr/>
          <p:nvPr/>
        </p:nvSpPr>
        <p:spPr>
          <a:xfrm>
            <a:off x="3378200" y="2540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5" name="hl"/>
          <p:cNvSpPr/>
          <p:nvPr/>
        </p:nvSpPr>
        <p:spPr>
          <a:xfrm>
            <a:off x="1905000" y="3175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6" name="hl"/>
          <p:cNvSpPr/>
          <p:nvPr/>
        </p:nvSpPr>
        <p:spPr>
          <a:xfrm>
            <a:off x="3378200" y="3175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7" name="hl"/>
          <p:cNvSpPr/>
          <p:nvPr/>
        </p:nvSpPr>
        <p:spPr>
          <a:xfrm>
            <a:off x="1752600" y="2489200"/>
            <a:ext cx="50800" cy="2006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8" name="hl"/>
          <p:cNvSpPr/>
          <p:nvPr/>
        </p:nvSpPr>
        <p:spPr>
          <a:xfrm>
            <a:off x="1752600" y="24892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9" name="hl"/>
          <p:cNvSpPr/>
          <p:nvPr/>
        </p:nvSpPr>
        <p:spPr>
          <a:xfrm>
            <a:off x="1752600" y="4445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0" name="hl"/>
          <p:cNvSpPr/>
          <p:nvPr/>
        </p:nvSpPr>
        <p:spPr>
          <a:xfrm>
            <a:off x="4216400" y="2489200"/>
            <a:ext cx="50800" cy="2006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1" name="hl"/>
          <p:cNvSpPr/>
          <p:nvPr/>
        </p:nvSpPr>
        <p:spPr>
          <a:xfrm>
            <a:off x="4114800" y="24892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2" name="hl"/>
          <p:cNvSpPr/>
          <p:nvPr/>
        </p:nvSpPr>
        <p:spPr>
          <a:xfrm>
            <a:off x="4114800" y="4445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3" name="tb"/>
          <p:cNvSpPr txBox="1"/>
          <p:nvPr/>
        </p:nvSpPr>
        <p:spPr>
          <a:xfrm>
            <a:off x="1117600" y="3175000"/>
            <a:ext cx="7112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800" b="1" dirty="0">
                <a:solidFill>
                  <a:srgbClr val="333333"/>
                </a:solidFill>
              </a:rPr>
              <a:t>A =</a:t>
            </a:r>
          </a:p>
        </p:txBody>
      </p:sp>
      <p:sp>
        <p:nvSpPr>
          <p:cNvPr id="6014" name="tb"/>
          <p:cNvSpPr txBox="1"/>
          <p:nvPr/>
        </p:nvSpPr>
        <p:spPr>
          <a:xfrm>
            <a:off x="1905000" y="254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15" name="tb"/>
          <p:cNvSpPr txBox="1"/>
          <p:nvPr/>
        </p:nvSpPr>
        <p:spPr>
          <a:xfrm>
            <a:off x="2641600" y="254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6016" name="tb"/>
          <p:cNvSpPr txBox="1"/>
          <p:nvPr/>
        </p:nvSpPr>
        <p:spPr>
          <a:xfrm>
            <a:off x="3378200" y="254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6017" name="tb"/>
          <p:cNvSpPr txBox="1"/>
          <p:nvPr/>
        </p:nvSpPr>
        <p:spPr>
          <a:xfrm>
            <a:off x="1905000" y="3175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6018" name="tb"/>
          <p:cNvSpPr txBox="1"/>
          <p:nvPr/>
        </p:nvSpPr>
        <p:spPr>
          <a:xfrm>
            <a:off x="2641600" y="3175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19" name="tb"/>
          <p:cNvSpPr txBox="1"/>
          <p:nvPr/>
        </p:nvSpPr>
        <p:spPr>
          <a:xfrm>
            <a:off x="3378200" y="3175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1905000" y="381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21" name="tb"/>
          <p:cNvSpPr txBox="1"/>
          <p:nvPr/>
        </p:nvSpPr>
        <p:spPr>
          <a:xfrm>
            <a:off x="2641600" y="381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6022" name="tb"/>
          <p:cNvSpPr txBox="1"/>
          <p:nvPr/>
        </p:nvSpPr>
        <p:spPr>
          <a:xfrm>
            <a:off x="3378200" y="381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6023" name="sq"/>
          <p:cNvSpPr/>
          <p:nvPr/>
        </p:nvSpPr>
        <p:spPr>
          <a:xfrm>
            <a:off x="889000" y="4724400"/>
            <a:ext cx="203200" cy="203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4" name="tb"/>
          <p:cNvSpPr txBox="1"/>
          <p:nvPr/>
        </p:nvSpPr>
        <p:spPr>
          <a:xfrm>
            <a:off x="1168400" y="4699000"/>
            <a:ext cx="1524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dirty="0">
                <a:solidFill>
                  <a:srgbClr val="595959"/>
                </a:solidFill>
              </a:rPr>
              <a:t>pivot a₃₂</a:t>
            </a:r>
          </a:p>
        </p:txBody>
      </p:sp>
      <p:sp>
        <p:nvSpPr>
          <p:cNvPr id="6025" name="sq"/>
          <p:cNvSpPr/>
          <p:nvPr/>
        </p:nvSpPr>
        <p:spPr>
          <a:xfrm>
            <a:off x="2667000" y="4724400"/>
            <a:ext cx="203200" cy="203200"/>
          </a:xfrm>
          <a:prstGeom prst="rect">
            <a:avLst/>
          </a:prstGeom>
          <a:solidFill>
            <a:srgbClr val="7AB64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6" name="tb"/>
          <p:cNvSpPr txBox="1"/>
          <p:nvPr/>
        </p:nvSpPr>
        <p:spPr>
          <a:xfrm>
            <a:off x="2946400" y="4699000"/>
            <a:ext cx="2286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dirty="0">
                <a:solidFill>
                  <a:srgbClr val="595959"/>
                </a:solidFill>
              </a:rPr>
              <a:t>minor M₃₂ cells</a:t>
            </a:r>
          </a:p>
        </p:txBody>
      </p:sp>
      <p:sp>
        <p:nvSpPr>
          <p:cNvPr id="6027" name="panel"/>
          <p:cNvSpPr/>
          <p:nvPr/>
        </p:nvSpPr>
        <p:spPr>
          <a:xfrm>
            <a:off x="6146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8" name="tb"/>
          <p:cNvSpPr txBox="1"/>
          <p:nvPr/>
        </p:nvSpPr>
        <p:spPr>
          <a:xfrm>
            <a:off x="6400800" y="14224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Compute the cofactor</a:t>
            </a:r>
          </a:p>
        </p:txBody>
      </p:sp>
      <p:sp>
        <p:nvSpPr>
          <p:cNvPr id="6029" name="tb"/>
          <p:cNvSpPr txBox="1"/>
          <p:nvPr/>
        </p:nvSpPr>
        <p:spPr>
          <a:xfrm>
            <a:off x="6400800" y="1854200"/>
            <a:ext cx="52324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What remains is the 2×2 minor M₃₂:</a:t>
            </a:r>
          </a:p>
        </p:txBody>
      </p:sp>
      <p:sp>
        <p:nvSpPr>
          <p:cNvPr id="6030" name="hl"/>
          <p:cNvSpPr/>
          <p:nvPr/>
        </p:nvSpPr>
        <p:spPr>
          <a:xfrm>
            <a:off x="7620000" y="23114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1" name="hl"/>
          <p:cNvSpPr/>
          <p:nvPr/>
        </p:nvSpPr>
        <p:spPr>
          <a:xfrm>
            <a:off x="8305800" y="23114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2" name="hl"/>
          <p:cNvSpPr/>
          <p:nvPr/>
        </p:nvSpPr>
        <p:spPr>
          <a:xfrm>
            <a:off x="7620000" y="28702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3" name="hl"/>
          <p:cNvSpPr/>
          <p:nvPr/>
        </p:nvSpPr>
        <p:spPr>
          <a:xfrm>
            <a:off x="8305800" y="28702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4" name="hl"/>
          <p:cNvSpPr/>
          <p:nvPr/>
        </p:nvSpPr>
        <p:spPr>
          <a:xfrm>
            <a:off x="7467600" y="2260600"/>
            <a:ext cx="50800" cy="1219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5" name="hl"/>
          <p:cNvSpPr/>
          <p:nvPr/>
        </p:nvSpPr>
        <p:spPr>
          <a:xfrm>
            <a:off x="7467600" y="22606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6" name="hl"/>
          <p:cNvSpPr/>
          <p:nvPr/>
        </p:nvSpPr>
        <p:spPr>
          <a:xfrm>
            <a:off x="7467600" y="3429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7" name="hl"/>
          <p:cNvSpPr/>
          <p:nvPr/>
        </p:nvSpPr>
        <p:spPr>
          <a:xfrm>
            <a:off x="9093200" y="2260600"/>
            <a:ext cx="50800" cy="1219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8" name="hl"/>
          <p:cNvSpPr/>
          <p:nvPr/>
        </p:nvSpPr>
        <p:spPr>
          <a:xfrm>
            <a:off x="8991600" y="22606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9" name="hl"/>
          <p:cNvSpPr/>
          <p:nvPr/>
        </p:nvSpPr>
        <p:spPr>
          <a:xfrm>
            <a:off x="8991600" y="3429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0" name="tb"/>
          <p:cNvSpPr txBox="1"/>
          <p:nvPr/>
        </p:nvSpPr>
        <p:spPr>
          <a:xfrm>
            <a:off x="7620000" y="23114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41" name="tb"/>
          <p:cNvSpPr txBox="1"/>
          <p:nvPr/>
        </p:nvSpPr>
        <p:spPr>
          <a:xfrm>
            <a:off x="8305800" y="23114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6042" name="tb"/>
          <p:cNvSpPr txBox="1"/>
          <p:nvPr/>
        </p:nvSpPr>
        <p:spPr>
          <a:xfrm>
            <a:off x="7620000" y="28702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6043" name="tb"/>
          <p:cNvSpPr txBox="1"/>
          <p:nvPr/>
        </p:nvSpPr>
        <p:spPr>
          <a:xfrm>
            <a:off x="8305800" y="28702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44" name="tb"/>
          <p:cNvSpPr txBox="1"/>
          <p:nvPr/>
        </p:nvSpPr>
        <p:spPr>
          <a:xfrm>
            <a:off x="6400800" y="36322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dirty="0">
                <a:solidFill>
                  <a:srgbClr val="333333"/>
                </a:solidFill>
              </a:rPr>
              <a:t>M₃₂ = (1)(4) − (3)(0) = </a:t>
            </a:r>
            <a:r>
              <a:rPr lang="en-US" sz="1450" b="1" dirty="0">
                <a:solidFill>
                  <a:srgbClr val="D1578A"/>
                </a:solidFill>
              </a:rPr>
              <a:t>4</a:t>
            </a:r>
          </a:p>
        </p:txBody>
      </p:sp>
      <p:sp>
        <p:nvSpPr>
          <p:cNvPr id="6045" name="tb"/>
          <p:cNvSpPr txBox="1"/>
          <p:nvPr/>
        </p:nvSpPr>
        <p:spPr>
          <a:xfrm>
            <a:off x="6400800" y="40640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dirty="0">
                <a:solidFill>
                  <a:srgbClr val="333333"/>
                </a:solidFill>
              </a:rPr>
              <a:t>sign (−1)^(3+2) = </a:t>
            </a:r>
            <a:r>
              <a:rPr lang="en-US" sz="1450" b="1" dirty="0">
                <a:solidFill>
                  <a:srgbClr val="4B2E83"/>
                </a:solidFill>
              </a:rPr>
              <a:t>−</a:t>
            </a:r>
          </a:p>
        </p:txBody>
      </p:sp>
      <p:sp>
        <p:nvSpPr>
          <p:cNvPr id="6046" name="tb"/>
          <p:cNvSpPr txBox="1"/>
          <p:nvPr/>
        </p:nvSpPr>
        <p:spPr>
          <a:xfrm>
            <a:off x="6400800" y="44958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333333"/>
                </a:solidFill>
              </a:rPr>
              <a:t>C₃₂ = (−)(4) = </a:t>
            </a:r>
            <a:r>
              <a:rPr lang="en-US" sz="1500" b="1" dirty="0">
                <a:solidFill>
                  <a:srgbClr val="4B2E83"/>
                </a:solidFill>
              </a:rPr>
              <a:t>−4</a:t>
            </a:r>
          </a:p>
        </p:txBody>
      </p:sp>
      <p:sp>
        <p:nvSpPr>
          <p:cNvPr id="6047" name="box"/>
          <p:cNvSpPr/>
          <p:nvPr/>
        </p:nvSpPr>
        <p:spPr>
          <a:xfrm>
            <a:off x="6400800" y="4978400"/>
            <a:ext cx="5232400" cy="660400"/>
          </a:xfrm>
          <a:prstGeom prst="roundRect">
            <a:avLst>
              <a:gd name="adj" fmla="val 10000"/>
            </a:avLst>
          </a:prstGeom>
          <a:solidFill>
            <a:srgbClr val="F4FAEF"/>
          </a:solidFill>
          <a:ln w="19050">
            <a:solidFill>
              <a:srgbClr val="7AB64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48" name="tb"/>
          <p:cNvSpPr txBox="1"/>
          <p:nvPr/>
        </p:nvSpPr>
        <p:spPr>
          <a:xfrm>
            <a:off x="6553200" y="4978400"/>
            <a:ext cx="4927600" cy="660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450" b="1" dirty="0">
                <a:solidFill>
                  <a:srgbClr val="333333"/>
                </a:solidFill>
              </a:rPr>
              <a:t>→ place −4 at position (3, 2) of cofactor matrix C</a:t>
            </a:r>
          </a:p>
        </p:txBody>
      </p:sp>
    </p:spTree>
    <p:extLst>
      <p:ext uri="{BB962C8B-B14F-4D97-AF65-F5344CB8AC3E}">
        <p14:creationId xmlns:p14="http://schemas.microsoft.com/office/powerpoint/2010/main" val="381517328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Cofactor C₃₃   ·   adjugate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Each entry a₃₃ has a signed cofactor; the nine of them form matrix C.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Collect all nine cofactors into C, then transpose to form adj(A).</a:t>
            </a:r>
          </a:p>
        </p:txBody>
      </p:sp>
      <p:sp>
        <p:nvSpPr>
          <p:cNvPr id="6000" name="panel"/>
          <p:cNvSpPr/>
          <p:nvPr/>
        </p:nvSpPr>
        <p:spPr>
          <a:xfrm>
            <a:off x="304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224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Delete row 3 and column 3:</a:t>
            </a:r>
          </a:p>
        </p:txBody>
      </p:sp>
      <p:sp>
        <p:nvSpPr>
          <p:cNvPr id="6002" name="hl"/>
          <p:cNvSpPr/>
          <p:nvPr/>
        </p:nvSpPr>
        <p:spPr>
          <a:xfrm>
            <a:off x="3378200" y="3810000"/>
            <a:ext cx="736600" cy="635000"/>
          </a:xfrm>
          <a:prstGeom prst="rect">
            <a:avLst/>
          </a:prstGeom>
          <a:solidFill>
            <a:srgbClr val="4B2E83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3" name="hl"/>
          <p:cNvSpPr/>
          <p:nvPr/>
        </p:nvSpPr>
        <p:spPr>
          <a:xfrm>
            <a:off x="1905000" y="2540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4" name="hl"/>
          <p:cNvSpPr/>
          <p:nvPr/>
        </p:nvSpPr>
        <p:spPr>
          <a:xfrm>
            <a:off x="2641600" y="2540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5" name="hl"/>
          <p:cNvSpPr/>
          <p:nvPr/>
        </p:nvSpPr>
        <p:spPr>
          <a:xfrm>
            <a:off x="1905000" y="3175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6" name="hl"/>
          <p:cNvSpPr/>
          <p:nvPr/>
        </p:nvSpPr>
        <p:spPr>
          <a:xfrm>
            <a:off x="2641600" y="3175000"/>
            <a:ext cx="736600" cy="6350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7" name="hl"/>
          <p:cNvSpPr/>
          <p:nvPr/>
        </p:nvSpPr>
        <p:spPr>
          <a:xfrm>
            <a:off x="1752600" y="2489200"/>
            <a:ext cx="50800" cy="2006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8" name="hl"/>
          <p:cNvSpPr/>
          <p:nvPr/>
        </p:nvSpPr>
        <p:spPr>
          <a:xfrm>
            <a:off x="1752600" y="24892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9" name="hl"/>
          <p:cNvSpPr/>
          <p:nvPr/>
        </p:nvSpPr>
        <p:spPr>
          <a:xfrm>
            <a:off x="1752600" y="4445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0" name="hl"/>
          <p:cNvSpPr/>
          <p:nvPr/>
        </p:nvSpPr>
        <p:spPr>
          <a:xfrm>
            <a:off x="4216400" y="2489200"/>
            <a:ext cx="50800" cy="2006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1" name="hl"/>
          <p:cNvSpPr/>
          <p:nvPr/>
        </p:nvSpPr>
        <p:spPr>
          <a:xfrm>
            <a:off x="4114800" y="24892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2" name="hl"/>
          <p:cNvSpPr/>
          <p:nvPr/>
        </p:nvSpPr>
        <p:spPr>
          <a:xfrm>
            <a:off x="4114800" y="4445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3" name="tb"/>
          <p:cNvSpPr txBox="1"/>
          <p:nvPr/>
        </p:nvSpPr>
        <p:spPr>
          <a:xfrm>
            <a:off x="1117600" y="3175000"/>
            <a:ext cx="7112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800" b="1" dirty="0">
                <a:solidFill>
                  <a:srgbClr val="333333"/>
                </a:solidFill>
              </a:rPr>
              <a:t>A =</a:t>
            </a:r>
          </a:p>
        </p:txBody>
      </p:sp>
      <p:sp>
        <p:nvSpPr>
          <p:cNvPr id="6014" name="tb"/>
          <p:cNvSpPr txBox="1"/>
          <p:nvPr/>
        </p:nvSpPr>
        <p:spPr>
          <a:xfrm>
            <a:off x="1905000" y="254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15" name="tb"/>
          <p:cNvSpPr txBox="1"/>
          <p:nvPr/>
        </p:nvSpPr>
        <p:spPr>
          <a:xfrm>
            <a:off x="2641600" y="254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6016" name="tb"/>
          <p:cNvSpPr txBox="1"/>
          <p:nvPr/>
        </p:nvSpPr>
        <p:spPr>
          <a:xfrm>
            <a:off x="3378200" y="254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6017" name="tb"/>
          <p:cNvSpPr txBox="1"/>
          <p:nvPr/>
        </p:nvSpPr>
        <p:spPr>
          <a:xfrm>
            <a:off x="1905000" y="3175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6018" name="tb"/>
          <p:cNvSpPr txBox="1"/>
          <p:nvPr/>
        </p:nvSpPr>
        <p:spPr>
          <a:xfrm>
            <a:off x="2641600" y="3175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19" name="tb"/>
          <p:cNvSpPr txBox="1"/>
          <p:nvPr/>
        </p:nvSpPr>
        <p:spPr>
          <a:xfrm>
            <a:off x="3378200" y="3175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1905000" y="381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21" name="tb"/>
          <p:cNvSpPr txBox="1"/>
          <p:nvPr/>
        </p:nvSpPr>
        <p:spPr>
          <a:xfrm>
            <a:off x="2641600" y="381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6022" name="tb"/>
          <p:cNvSpPr txBox="1"/>
          <p:nvPr/>
        </p:nvSpPr>
        <p:spPr>
          <a:xfrm>
            <a:off x="3378200" y="3810000"/>
            <a:ext cx="7366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6023" name="sq"/>
          <p:cNvSpPr/>
          <p:nvPr/>
        </p:nvSpPr>
        <p:spPr>
          <a:xfrm>
            <a:off x="889000" y="4724400"/>
            <a:ext cx="203200" cy="203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4" name="tb"/>
          <p:cNvSpPr txBox="1"/>
          <p:nvPr/>
        </p:nvSpPr>
        <p:spPr>
          <a:xfrm>
            <a:off x="1168400" y="4699000"/>
            <a:ext cx="1524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dirty="0">
                <a:solidFill>
                  <a:srgbClr val="595959"/>
                </a:solidFill>
              </a:rPr>
              <a:t>pivot a₃₃</a:t>
            </a:r>
          </a:p>
        </p:txBody>
      </p:sp>
      <p:sp>
        <p:nvSpPr>
          <p:cNvPr id="6025" name="sq"/>
          <p:cNvSpPr/>
          <p:nvPr/>
        </p:nvSpPr>
        <p:spPr>
          <a:xfrm>
            <a:off x="2667000" y="4724400"/>
            <a:ext cx="203200" cy="203200"/>
          </a:xfrm>
          <a:prstGeom prst="rect">
            <a:avLst/>
          </a:prstGeom>
          <a:solidFill>
            <a:srgbClr val="7AB64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6" name="tb"/>
          <p:cNvSpPr txBox="1"/>
          <p:nvPr/>
        </p:nvSpPr>
        <p:spPr>
          <a:xfrm>
            <a:off x="2946400" y="4699000"/>
            <a:ext cx="2032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dirty="0">
                <a:solidFill>
                  <a:srgbClr val="595959"/>
                </a:solidFill>
              </a:rPr>
              <a:t>minor M₃₃ cells</a:t>
            </a:r>
          </a:p>
        </p:txBody>
      </p:sp>
      <p:sp>
        <p:nvSpPr>
          <p:cNvPr id="6027" name="panel"/>
          <p:cNvSpPr/>
          <p:nvPr/>
        </p:nvSpPr>
        <p:spPr>
          <a:xfrm>
            <a:off x="6146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8" name="tb"/>
          <p:cNvSpPr txBox="1"/>
          <p:nvPr/>
        </p:nvSpPr>
        <p:spPr>
          <a:xfrm>
            <a:off x="6400800" y="14224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Compute the cofactor</a:t>
            </a:r>
          </a:p>
        </p:txBody>
      </p:sp>
      <p:sp>
        <p:nvSpPr>
          <p:cNvPr id="6029" name="tb"/>
          <p:cNvSpPr txBox="1"/>
          <p:nvPr/>
        </p:nvSpPr>
        <p:spPr>
          <a:xfrm>
            <a:off x="6400800" y="1854200"/>
            <a:ext cx="52324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What remains is the 2×2 minor M₃₃:</a:t>
            </a:r>
          </a:p>
        </p:txBody>
      </p:sp>
      <p:sp>
        <p:nvSpPr>
          <p:cNvPr id="6030" name="hl"/>
          <p:cNvSpPr/>
          <p:nvPr/>
        </p:nvSpPr>
        <p:spPr>
          <a:xfrm>
            <a:off x="7620000" y="23114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1" name="hl"/>
          <p:cNvSpPr/>
          <p:nvPr/>
        </p:nvSpPr>
        <p:spPr>
          <a:xfrm>
            <a:off x="8305800" y="23114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2" name="hl"/>
          <p:cNvSpPr/>
          <p:nvPr/>
        </p:nvSpPr>
        <p:spPr>
          <a:xfrm>
            <a:off x="7620000" y="28702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3" name="hl"/>
          <p:cNvSpPr/>
          <p:nvPr/>
        </p:nvSpPr>
        <p:spPr>
          <a:xfrm>
            <a:off x="8305800" y="2870200"/>
            <a:ext cx="685800" cy="558800"/>
          </a:xfrm>
          <a:prstGeom prst="rect">
            <a:avLst/>
          </a:prstGeom>
          <a:solidFill>
            <a:srgbClr val="7AB648">
              <a:alpha val="3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4" name="hl"/>
          <p:cNvSpPr/>
          <p:nvPr/>
        </p:nvSpPr>
        <p:spPr>
          <a:xfrm>
            <a:off x="7467600" y="2260600"/>
            <a:ext cx="50800" cy="1219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5" name="hl"/>
          <p:cNvSpPr/>
          <p:nvPr/>
        </p:nvSpPr>
        <p:spPr>
          <a:xfrm>
            <a:off x="7467600" y="22606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6" name="hl"/>
          <p:cNvSpPr/>
          <p:nvPr/>
        </p:nvSpPr>
        <p:spPr>
          <a:xfrm>
            <a:off x="7467600" y="3429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7" name="hl"/>
          <p:cNvSpPr/>
          <p:nvPr/>
        </p:nvSpPr>
        <p:spPr>
          <a:xfrm>
            <a:off x="9093200" y="2260600"/>
            <a:ext cx="50800" cy="1219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8" name="hl"/>
          <p:cNvSpPr/>
          <p:nvPr/>
        </p:nvSpPr>
        <p:spPr>
          <a:xfrm>
            <a:off x="8991600" y="22606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9" name="hl"/>
          <p:cNvSpPr/>
          <p:nvPr/>
        </p:nvSpPr>
        <p:spPr>
          <a:xfrm>
            <a:off x="8991600" y="3429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0" name="tb"/>
          <p:cNvSpPr txBox="1"/>
          <p:nvPr/>
        </p:nvSpPr>
        <p:spPr>
          <a:xfrm>
            <a:off x="7620000" y="23114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41" name="tb"/>
          <p:cNvSpPr txBox="1"/>
          <p:nvPr/>
        </p:nvSpPr>
        <p:spPr>
          <a:xfrm>
            <a:off x="8305800" y="23114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6042" name="tb"/>
          <p:cNvSpPr txBox="1"/>
          <p:nvPr/>
        </p:nvSpPr>
        <p:spPr>
          <a:xfrm>
            <a:off x="7620000" y="28702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0</a:t>
            </a:r>
          </a:p>
        </p:txBody>
      </p:sp>
      <p:sp>
        <p:nvSpPr>
          <p:cNvPr id="6043" name="tb"/>
          <p:cNvSpPr txBox="1"/>
          <p:nvPr/>
        </p:nvSpPr>
        <p:spPr>
          <a:xfrm>
            <a:off x="8305800" y="2870200"/>
            <a:ext cx="685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44" name="tb"/>
          <p:cNvSpPr txBox="1"/>
          <p:nvPr/>
        </p:nvSpPr>
        <p:spPr>
          <a:xfrm>
            <a:off x="6400800" y="36322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dirty="0">
                <a:solidFill>
                  <a:srgbClr val="333333"/>
                </a:solidFill>
              </a:rPr>
              <a:t>M₃₃ = (1)(1) − (2)(0) = </a:t>
            </a:r>
            <a:r>
              <a:rPr lang="en-US" sz="1450" b="1" dirty="0">
                <a:solidFill>
                  <a:srgbClr val="D1578A"/>
                </a:solidFill>
              </a:rPr>
              <a:t>1</a:t>
            </a:r>
          </a:p>
        </p:txBody>
      </p:sp>
      <p:sp>
        <p:nvSpPr>
          <p:cNvPr id="6045" name="tb"/>
          <p:cNvSpPr txBox="1"/>
          <p:nvPr/>
        </p:nvSpPr>
        <p:spPr>
          <a:xfrm>
            <a:off x="6400800" y="40640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dirty="0">
                <a:solidFill>
                  <a:srgbClr val="333333"/>
                </a:solidFill>
              </a:rPr>
              <a:t>sign (−1)^(3+3) = </a:t>
            </a:r>
            <a:r>
              <a:rPr lang="en-US" sz="1450" b="1" dirty="0">
                <a:solidFill>
                  <a:srgbClr val="4B2E83"/>
                </a:solidFill>
              </a:rPr>
              <a:t>+</a:t>
            </a:r>
          </a:p>
        </p:txBody>
      </p:sp>
      <p:sp>
        <p:nvSpPr>
          <p:cNvPr id="6046" name="tb"/>
          <p:cNvSpPr txBox="1"/>
          <p:nvPr/>
        </p:nvSpPr>
        <p:spPr>
          <a:xfrm>
            <a:off x="6400800" y="44958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333333"/>
                </a:solidFill>
              </a:rPr>
              <a:t>C₃₃ = (+)(1) = </a:t>
            </a:r>
            <a:r>
              <a:rPr lang="en-US" sz="1500" b="1" dirty="0">
                <a:solidFill>
                  <a:srgbClr val="4B2E83"/>
                </a:solidFill>
              </a:rPr>
              <a:t>1</a:t>
            </a:r>
          </a:p>
        </p:txBody>
      </p:sp>
      <p:sp>
        <p:nvSpPr>
          <p:cNvPr id="6047" name="box"/>
          <p:cNvSpPr/>
          <p:nvPr/>
        </p:nvSpPr>
        <p:spPr>
          <a:xfrm>
            <a:off x="6400800" y="4978400"/>
            <a:ext cx="5232400" cy="660400"/>
          </a:xfrm>
          <a:prstGeom prst="roundRect">
            <a:avLst>
              <a:gd name="adj" fmla="val 10000"/>
            </a:avLst>
          </a:prstGeom>
          <a:solidFill>
            <a:srgbClr val="F4FAEF"/>
          </a:solidFill>
          <a:ln w="19050">
            <a:solidFill>
              <a:srgbClr val="7AB64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48" name="tb"/>
          <p:cNvSpPr txBox="1"/>
          <p:nvPr/>
        </p:nvSpPr>
        <p:spPr>
          <a:xfrm>
            <a:off x="6553200" y="4978400"/>
            <a:ext cx="4927600" cy="660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450" b="1" dirty="0">
                <a:solidFill>
                  <a:srgbClr val="333333"/>
                </a:solidFill>
              </a:rPr>
              <a:t>→ place 1 at position (3, 3) of cofactor matrix C</a:t>
            </a:r>
          </a:p>
        </p:txBody>
      </p:sp>
    </p:spTree>
    <p:extLst>
      <p:ext uri="{BB962C8B-B14F-4D97-AF65-F5344CB8AC3E}">
        <p14:creationId xmlns:p14="http://schemas.microsoft.com/office/powerpoint/2010/main" val="236319356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Assemble the Cofactor Matrix C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Collect the nine cofactors Cᵢⱼ into one matrix, following the +−+ sign pattern.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The nine cofactors form C — transpose it next to get the adjugate adj(A).</a:t>
            </a:r>
          </a:p>
        </p:txBody>
      </p:sp>
      <p:sp>
        <p:nvSpPr>
          <p:cNvPr id="6000" name="panel"/>
          <p:cNvSpPr/>
          <p:nvPr/>
        </p:nvSpPr>
        <p:spPr>
          <a:xfrm>
            <a:off x="304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224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Sign pattern  (−1)ⁱ⁺ʲ</a:t>
            </a:r>
          </a:p>
        </p:txBody>
      </p:sp>
      <p:sp>
        <p:nvSpPr>
          <p:cNvPr id="6002" name="hl"/>
          <p:cNvSpPr/>
          <p:nvPr/>
        </p:nvSpPr>
        <p:spPr>
          <a:xfrm>
            <a:off x="1727200" y="2184400"/>
            <a:ext cx="50800" cy="2082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3" name="hl"/>
          <p:cNvSpPr/>
          <p:nvPr/>
        </p:nvSpPr>
        <p:spPr>
          <a:xfrm>
            <a:off x="1727200" y="2184400"/>
            <a:ext cx="1778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4" name="hl"/>
          <p:cNvSpPr/>
          <p:nvPr/>
        </p:nvSpPr>
        <p:spPr>
          <a:xfrm>
            <a:off x="1727200" y="4216400"/>
            <a:ext cx="1778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5" name="hl"/>
          <p:cNvSpPr/>
          <p:nvPr/>
        </p:nvSpPr>
        <p:spPr>
          <a:xfrm>
            <a:off x="4546600" y="2184400"/>
            <a:ext cx="50800" cy="2082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6" name="hl"/>
          <p:cNvSpPr/>
          <p:nvPr/>
        </p:nvSpPr>
        <p:spPr>
          <a:xfrm>
            <a:off x="4419600" y="2184400"/>
            <a:ext cx="1778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7" name="hl"/>
          <p:cNvSpPr/>
          <p:nvPr/>
        </p:nvSpPr>
        <p:spPr>
          <a:xfrm>
            <a:off x="4419600" y="4216400"/>
            <a:ext cx="1778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8" name="tb"/>
          <p:cNvSpPr txBox="1"/>
          <p:nvPr/>
        </p:nvSpPr>
        <p:spPr>
          <a:xfrm>
            <a:off x="1905000" y="2235200"/>
            <a:ext cx="838200" cy="660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200" b="1" dirty="0">
                <a:solidFill>
                  <a:srgbClr val="4B2E83"/>
                </a:solidFill>
                <a:latin typeface="Consolas"/>
                <a:cs typeface="Consolas"/>
              </a:rPr>
              <a:t>+</a:t>
            </a:r>
          </a:p>
        </p:txBody>
      </p:sp>
      <p:sp>
        <p:nvSpPr>
          <p:cNvPr id="6009" name="tb"/>
          <p:cNvSpPr txBox="1"/>
          <p:nvPr/>
        </p:nvSpPr>
        <p:spPr>
          <a:xfrm>
            <a:off x="2743200" y="2235200"/>
            <a:ext cx="838200" cy="660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200" b="1" dirty="0">
                <a:solidFill>
                  <a:srgbClr val="D1578A"/>
                </a:solidFill>
                <a:latin typeface="Consolas"/>
                <a:cs typeface="Consolas"/>
              </a:rPr>
              <a:t>−</a:t>
            </a:r>
          </a:p>
        </p:txBody>
      </p:sp>
      <p:sp>
        <p:nvSpPr>
          <p:cNvPr id="6010" name="tb"/>
          <p:cNvSpPr txBox="1"/>
          <p:nvPr/>
        </p:nvSpPr>
        <p:spPr>
          <a:xfrm>
            <a:off x="3581400" y="2235200"/>
            <a:ext cx="838200" cy="660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200" b="1" dirty="0">
                <a:solidFill>
                  <a:srgbClr val="4B2E83"/>
                </a:solidFill>
                <a:latin typeface="Consolas"/>
                <a:cs typeface="Consolas"/>
              </a:rPr>
              <a:t>+</a:t>
            </a:r>
          </a:p>
        </p:txBody>
      </p:sp>
      <p:sp>
        <p:nvSpPr>
          <p:cNvPr id="6011" name="tb"/>
          <p:cNvSpPr txBox="1"/>
          <p:nvPr/>
        </p:nvSpPr>
        <p:spPr>
          <a:xfrm>
            <a:off x="1905000" y="2895600"/>
            <a:ext cx="838200" cy="660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200" b="1" dirty="0">
                <a:solidFill>
                  <a:srgbClr val="D1578A"/>
                </a:solidFill>
                <a:latin typeface="Consolas"/>
                <a:cs typeface="Consolas"/>
              </a:rPr>
              <a:t>−</a:t>
            </a:r>
          </a:p>
        </p:txBody>
      </p:sp>
      <p:sp>
        <p:nvSpPr>
          <p:cNvPr id="6012" name="tb"/>
          <p:cNvSpPr txBox="1"/>
          <p:nvPr/>
        </p:nvSpPr>
        <p:spPr>
          <a:xfrm>
            <a:off x="2743200" y="2895600"/>
            <a:ext cx="838200" cy="660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200" b="1" dirty="0">
                <a:solidFill>
                  <a:srgbClr val="4B2E83"/>
                </a:solidFill>
                <a:latin typeface="Consolas"/>
                <a:cs typeface="Consolas"/>
              </a:rPr>
              <a:t>+</a:t>
            </a:r>
          </a:p>
        </p:txBody>
      </p:sp>
      <p:sp>
        <p:nvSpPr>
          <p:cNvPr id="6013" name="tb"/>
          <p:cNvSpPr txBox="1"/>
          <p:nvPr/>
        </p:nvSpPr>
        <p:spPr>
          <a:xfrm>
            <a:off x="3581400" y="2895600"/>
            <a:ext cx="838200" cy="660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200" b="1" dirty="0">
                <a:solidFill>
                  <a:srgbClr val="D1578A"/>
                </a:solidFill>
                <a:latin typeface="Consolas"/>
                <a:cs typeface="Consolas"/>
              </a:rPr>
              <a:t>−</a:t>
            </a:r>
          </a:p>
        </p:txBody>
      </p:sp>
      <p:sp>
        <p:nvSpPr>
          <p:cNvPr id="6014" name="tb"/>
          <p:cNvSpPr txBox="1"/>
          <p:nvPr/>
        </p:nvSpPr>
        <p:spPr>
          <a:xfrm>
            <a:off x="1905000" y="3556000"/>
            <a:ext cx="838200" cy="660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200" b="1" dirty="0">
                <a:solidFill>
                  <a:srgbClr val="4B2E83"/>
                </a:solidFill>
                <a:latin typeface="Consolas"/>
                <a:cs typeface="Consolas"/>
              </a:rPr>
              <a:t>+</a:t>
            </a:r>
          </a:p>
        </p:txBody>
      </p:sp>
      <p:sp>
        <p:nvSpPr>
          <p:cNvPr id="6015" name="tb"/>
          <p:cNvSpPr txBox="1"/>
          <p:nvPr/>
        </p:nvSpPr>
        <p:spPr>
          <a:xfrm>
            <a:off x="2743200" y="3556000"/>
            <a:ext cx="838200" cy="660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200" b="1" dirty="0">
                <a:solidFill>
                  <a:srgbClr val="D1578A"/>
                </a:solidFill>
                <a:latin typeface="Consolas"/>
                <a:cs typeface="Consolas"/>
              </a:rPr>
              <a:t>−</a:t>
            </a:r>
          </a:p>
        </p:txBody>
      </p:sp>
      <p:sp>
        <p:nvSpPr>
          <p:cNvPr id="6016" name="tb"/>
          <p:cNvSpPr txBox="1"/>
          <p:nvPr/>
        </p:nvSpPr>
        <p:spPr>
          <a:xfrm>
            <a:off x="3581400" y="3556000"/>
            <a:ext cx="838200" cy="660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200" b="1" dirty="0">
                <a:solidFill>
                  <a:srgbClr val="4B2E83"/>
                </a:solidFill>
                <a:latin typeface="Consolas"/>
                <a:cs typeface="Consolas"/>
              </a:rPr>
              <a:t>+</a:t>
            </a:r>
          </a:p>
        </p:txBody>
      </p:sp>
      <p:sp>
        <p:nvSpPr>
          <p:cNvPr id="6017" name="tb"/>
          <p:cNvSpPr txBox="1"/>
          <p:nvPr/>
        </p:nvSpPr>
        <p:spPr>
          <a:xfrm>
            <a:off x="558800" y="4521200"/>
            <a:ext cx="5232400" cy="355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600" b="1" dirty="0">
                <a:solidFill>
                  <a:srgbClr val="333333"/>
                </a:solidFill>
              </a:rPr>
              <a:t>Cᵢⱼ = (−1)ⁱ⁺ʲ · Mᵢⱼ</a:t>
            </a:r>
          </a:p>
        </p:txBody>
      </p:sp>
      <p:sp>
        <p:nvSpPr>
          <p:cNvPr id="6018" name="tb"/>
          <p:cNvSpPr txBox="1"/>
          <p:nvPr/>
        </p:nvSpPr>
        <p:spPr>
          <a:xfrm>
            <a:off x="558800" y="4978400"/>
            <a:ext cx="5232400" cy="50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50" i="1" dirty="0">
                <a:solidFill>
                  <a:srgbClr val="595959"/>
                </a:solidFill>
              </a:rPr>
              <a:t>Each cofactor = signed 2×2 minor (previous slides).</a:t>
            </a:r>
          </a:p>
        </p:txBody>
      </p:sp>
      <p:sp>
        <p:nvSpPr>
          <p:cNvPr id="6019" name="panel"/>
          <p:cNvSpPr/>
          <p:nvPr/>
        </p:nvSpPr>
        <p:spPr>
          <a:xfrm>
            <a:off x="6146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0" name="tb"/>
          <p:cNvSpPr txBox="1"/>
          <p:nvPr/>
        </p:nvSpPr>
        <p:spPr>
          <a:xfrm>
            <a:off x="6400800" y="14224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Cofactor matrix C</a:t>
            </a:r>
          </a:p>
        </p:txBody>
      </p:sp>
      <p:sp>
        <p:nvSpPr>
          <p:cNvPr id="6021" name="hl"/>
          <p:cNvSpPr/>
          <p:nvPr/>
        </p:nvSpPr>
        <p:spPr>
          <a:xfrm>
            <a:off x="7442200" y="2362200"/>
            <a:ext cx="50800" cy="25400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2" name="hl"/>
          <p:cNvSpPr/>
          <p:nvPr/>
        </p:nvSpPr>
        <p:spPr>
          <a:xfrm>
            <a:off x="7442200" y="2362200"/>
            <a:ext cx="1778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3" name="hl"/>
          <p:cNvSpPr/>
          <p:nvPr/>
        </p:nvSpPr>
        <p:spPr>
          <a:xfrm>
            <a:off x="7442200" y="4851400"/>
            <a:ext cx="1778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4" name="hl"/>
          <p:cNvSpPr/>
          <p:nvPr/>
        </p:nvSpPr>
        <p:spPr>
          <a:xfrm>
            <a:off x="11023600" y="2362200"/>
            <a:ext cx="50800" cy="25400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5" name="hl"/>
          <p:cNvSpPr/>
          <p:nvPr/>
        </p:nvSpPr>
        <p:spPr>
          <a:xfrm>
            <a:off x="10896600" y="2362200"/>
            <a:ext cx="1778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6" name="hl"/>
          <p:cNvSpPr/>
          <p:nvPr/>
        </p:nvSpPr>
        <p:spPr>
          <a:xfrm>
            <a:off x="10896600" y="4851400"/>
            <a:ext cx="1778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7" name="tb"/>
          <p:cNvSpPr txBox="1"/>
          <p:nvPr/>
        </p:nvSpPr>
        <p:spPr>
          <a:xfrm>
            <a:off x="6553200" y="3225800"/>
            <a:ext cx="914400" cy="812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</a:rPr>
              <a:t>C =</a:t>
            </a:r>
          </a:p>
        </p:txBody>
      </p:sp>
      <p:sp>
        <p:nvSpPr>
          <p:cNvPr id="6028" name="tb"/>
          <p:cNvSpPr txBox="1"/>
          <p:nvPr/>
        </p:nvSpPr>
        <p:spPr>
          <a:xfrm>
            <a:off x="7620000" y="2413000"/>
            <a:ext cx="1092200" cy="812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D1578A"/>
                </a:solidFill>
                <a:latin typeface="Consolas"/>
                <a:cs typeface="Consolas"/>
              </a:rPr>
              <a:t>−24</a:t>
            </a:r>
          </a:p>
        </p:txBody>
      </p:sp>
      <p:sp>
        <p:nvSpPr>
          <p:cNvPr id="6029" name="tb"/>
          <p:cNvSpPr txBox="1"/>
          <p:nvPr/>
        </p:nvSpPr>
        <p:spPr>
          <a:xfrm>
            <a:off x="8712200" y="2413000"/>
            <a:ext cx="1092200" cy="812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20</a:t>
            </a:r>
          </a:p>
        </p:txBody>
      </p:sp>
      <p:sp>
        <p:nvSpPr>
          <p:cNvPr id="6030" name="tb"/>
          <p:cNvSpPr txBox="1"/>
          <p:nvPr/>
        </p:nvSpPr>
        <p:spPr>
          <a:xfrm>
            <a:off x="9804400" y="2413000"/>
            <a:ext cx="1092200" cy="812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D1578A"/>
                </a:solidFill>
                <a:latin typeface="Consolas"/>
                <a:cs typeface="Consolas"/>
              </a:rPr>
              <a:t>−5</a:t>
            </a:r>
          </a:p>
        </p:txBody>
      </p:sp>
      <p:sp>
        <p:nvSpPr>
          <p:cNvPr id="6031" name="tb"/>
          <p:cNvSpPr txBox="1"/>
          <p:nvPr/>
        </p:nvSpPr>
        <p:spPr>
          <a:xfrm>
            <a:off x="7620000" y="3225800"/>
            <a:ext cx="1092200" cy="812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18</a:t>
            </a:r>
          </a:p>
        </p:txBody>
      </p:sp>
      <p:sp>
        <p:nvSpPr>
          <p:cNvPr id="6032" name="tb"/>
          <p:cNvSpPr txBox="1"/>
          <p:nvPr/>
        </p:nvSpPr>
        <p:spPr>
          <a:xfrm>
            <a:off x="8712200" y="3225800"/>
            <a:ext cx="1092200" cy="812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D1578A"/>
                </a:solidFill>
                <a:latin typeface="Consolas"/>
                <a:cs typeface="Consolas"/>
              </a:rPr>
              <a:t>−15</a:t>
            </a:r>
          </a:p>
        </p:txBody>
      </p:sp>
      <p:sp>
        <p:nvSpPr>
          <p:cNvPr id="6033" name="tb"/>
          <p:cNvSpPr txBox="1"/>
          <p:nvPr/>
        </p:nvSpPr>
        <p:spPr>
          <a:xfrm>
            <a:off x="9804400" y="3225800"/>
            <a:ext cx="1092200" cy="812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34" name="tb"/>
          <p:cNvSpPr txBox="1"/>
          <p:nvPr/>
        </p:nvSpPr>
        <p:spPr>
          <a:xfrm>
            <a:off x="7620000" y="4038600"/>
            <a:ext cx="1092200" cy="812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35" name="tb"/>
          <p:cNvSpPr txBox="1"/>
          <p:nvPr/>
        </p:nvSpPr>
        <p:spPr>
          <a:xfrm>
            <a:off x="8712200" y="4038600"/>
            <a:ext cx="1092200" cy="812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D1578A"/>
                </a:solidFill>
                <a:latin typeface="Consolas"/>
                <a:cs typeface="Consolas"/>
              </a:rPr>
              <a:t>−4</a:t>
            </a:r>
          </a:p>
        </p:txBody>
      </p:sp>
      <p:sp>
        <p:nvSpPr>
          <p:cNvPr id="6036" name="tb"/>
          <p:cNvSpPr txBox="1"/>
          <p:nvPr/>
        </p:nvSpPr>
        <p:spPr>
          <a:xfrm>
            <a:off x="9804400" y="4038600"/>
            <a:ext cx="1092200" cy="812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37" name="tb"/>
          <p:cNvSpPr txBox="1"/>
          <p:nvPr/>
        </p:nvSpPr>
        <p:spPr>
          <a:xfrm>
            <a:off x="6400800" y="5181600"/>
            <a:ext cx="5232400" cy="381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00" i="1" dirty="0">
                <a:solidFill>
                  <a:srgbClr val="595959"/>
                </a:solidFill>
              </a:rPr>
              <a:t>Negative entries shown in pink.</a:t>
            </a:r>
          </a:p>
        </p:txBody>
      </p:sp>
    </p:spTree>
    <p:extLst>
      <p:ext uri="{BB962C8B-B14F-4D97-AF65-F5344CB8AC3E}">
        <p14:creationId xmlns:p14="http://schemas.microsoft.com/office/powerpoint/2010/main" val="31499237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Transpose to Get the Adjugate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adj(A) = Cᵀ — row i of C becomes column i of adj(A).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Transposing swaps rows and columns; the result is the adjugate, adj(A) = Cᵀ.</a:t>
            </a:r>
          </a:p>
        </p:txBody>
      </p:sp>
      <p:sp>
        <p:nvSpPr>
          <p:cNvPr id="6000" name="panel"/>
          <p:cNvSpPr/>
          <p:nvPr/>
        </p:nvSpPr>
        <p:spPr>
          <a:xfrm>
            <a:off x="304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732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Cofactor matrix  C</a:t>
            </a:r>
          </a:p>
        </p:txBody>
      </p:sp>
      <p:sp>
        <p:nvSpPr>
          <p:cNvPr id="6002" name="hl"/>
          <p:cNvSpPr/>
          <p:nvPr/>
        </p:nvSpPr>
        <p:spPr>
          <a:xfrm>
            <a:off x="1524000" y="2286000"/>
            <a:ext cx="2895600" cy="889000"/>
          </a:xfrm>
          <a:prstGeom prst="rect">
            <a:avLst/>
          </a:prstGeom>
          <a:solidFill>
            <a:srgbClr val="4B2E83">
              <a:alpha val="22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3" name="hl"/>
          <p:cNvSpPr/>
          <p:nvPr/>
        </p:nvSpPr>
        <p:spPr>
          <a:xfrm>
            <a:off x="1524000" y="3175000"/>
            <a:ext cx="2895600" cy="889000"/>
          </a:xfrm>
          <a:prstGeom prst="rect">
            <a:avLst/>
          </a:prstGeom>
          <a:solidFill>
            <a:srgbClr val="00A7B5">
              <a:alpha val="22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4" name="hl"/>
          <p:cNvSpPr/>
          <p:nvPr/>
        </p:nvSpPr>
        <p:spPr>
          <a:xfrm>
            <a:off x="1524000" y="4064000"/>
            <a:ext cx="2895600" cy="889000"/>
          </a:xfrm>
          <a:prstGeom prst="rect">
            <a:avLst/>
          </a:prstGeom>
          <a:solidFill>
            <a:srgbClr val="B7A57A">
              <a:alpha val="22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5" name="hl"/>
          <p:cNvSpPr/>
          <p:nvPr/>
        </p:nvSpPr>
        <p:spPr>
          <a:xfrm>
            <a:off x="1371600" y="2235200"/>
            <a:ext cx="50800" cy="2768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6" name="hl"/>
          <p:cNvSpPr/>
          <p:nvPr/>
        </p:nvSpPr>
        <p:spPr>
          <a:xfrm>
            <a:off x="1371600" y="22352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7" name="hl"/>
          <p:cNvSpPr/>
          <p:nvPr/>
        </p:nvSpPr>
        <p:spPr>
          <a:xfrm>
            <a:off x="1371600" y="4953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8" name="hl"/>
          <p:cNvSpPr/>
          <p:nvPr/>
        </p:nvSpPr>
        <p:spPr>
          <a:xfrm>
            <a:off x="4521200" y="2235200"/>
            <a:ext cx="50800" cy="2768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9" name="hl"/>
          <p:cNvSpPr/>
          <p:nvPr/>
        </p:nvSpPr>
        <p:spPr>
          <a:xfrm>
            <a:off x="4419600" y="22352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0" name="hl"/>
          <p:cNvSpPr/>
          <p:nvPr/>
        </p:nvSpPr>
        <p:spPr>
          <a:xfrm>
            <a:off x="4419600" y="4953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1" name="tb"/>
          <p:cNvSpPr txBox="1"/>
          <p:nvPr/>
        </p:nvSpPr>
        <p:spPr>
          <a:xfrm>
            <a:off x="1524000" y="2286000"/>
            <a:ext cx="965200" cy="889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−24</a:t>
            </a:r>
          </a:p>
        </p:txBody>
      </p:sp>
      <p:sp>
        <p:nvSpPr>
          <p:cNvPr id="6012" name="tb"/>
          <p:cNvSpPr txBox="1"/>
          <p:nvPr/>
        </p:nvSpPr>
        <p:spPr>
          <a:xfrm>
            <a:off x="2489200" y="2286000"/>
            <a:ext cx="965200" cy="889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20</a:t>
            </a:r>
          </a:p>
        </p:txBody>
      </p:sp>
      <p:sp>
        <p:nvSpPr>
          <p:cNvPr id="6013" name="tb"/>
          <p:cNvSpPr txBox="1"/>
          <p:nvPr/>
        </p:nvSpPr>
        <p:spPr>
          <a:xfrm>
            <a:off x="3454400" y="2286000"/>
            <a:ext cx="965200" cy="889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−5</a:t>
            </a:r>
          </a:p>
        </p:txBody>
      </p:sp>
      <p:sp>
        <p:nvSpPr>
          <p:cNvPr id="6014" name="tb"/>
          <p:cNvSpPr txBox="1"/>
          <p:nvPr/>
        </p:nvSpPr>
        <p:spPr>
          <a:xfrm>
            <a:off x="1524000" y="3175000"/>
            <a:ext cx="965200" cy="889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18</a:t>
            </a:r>
          </a:p>
        </p:txBody>
      </p:sp>
      <p:sp>
        <p:nvSpPr>
          <p:cNvPr id="6015" name="tb"/>
          <p:cNvSpPr txBox="1"/>
          <p:nvPr/>
        </p:nvSpPr>
        <p:spPr>
          <a:xfrm>
            <a:off x="2489200" y="3175000"/>
            <a:ext cx="965200" cy="889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−15</a:t>
            </a:r>
          </a:p>
        </p:txBody>
      </p:sp>
      <p:sp>
        <p:nvSpPr>
          <p:cNvPr id="6016" name="tb"/>
          <p:cNvSpPr txBox="1"/>
          <p:nvPr/>
        </p:nvSpPr>
        <p:spPr>
          <a:xfrm>
            <a:off x="3454400" y="3175000"/>
            <a:ext cx="965200" cy="889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17" name="tb"/>
          <p:cNvSpPr txBox="1"/>
          <p:nvPr/>
        </p:nvSpPr>
        <p:spPr>
          <a:xfrm>
            <a:off x="1524000" y="4064000"/>
            <a:ext cx="965200" cy="889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18" name="tb"/>
          <p:cNvSpPr txBox="1"/>
          <p:nvPr/>
        </p:nvSpPr>
        <p:spPr>
          <a:xfrm>
            <a:off x="2489200" y="4064000"/>
            <a:ext cx="965200" cy="889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−4</a:t>
            </a:r>
          </a:p>
        </p:txBody>
      </p:sp>
      <p:sp>
        <p:nvSpPr>
          <p:cNvPr id="6019" name="tb"/>
          <p:cNvSpPr txBox="1"/>
          <p:nvPr/>
        </p:nvSpPr>
        <p:spPr>
          <a:xfrm>
            <a:off x="3454400" y="4064000"/>
            <a:ext cx="965200" cy="889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558800" y="5334000"/>
            <a:ext cx="52324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rows →</a:t>
            </a:r>
          </a:p>
        </p:txBody>
      </p:sp>
      <p:sp>
        <p:nvSpPr>
          <p:cNvPr id="6021" name="panel"/>
          <p:cNvSpPr/>
          <p:nvPr/>
        </p:nvSpPr>
        <p:spPr>
          <a:xfrm>
            <a:off x="6146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2" name="tb"/>
          <p:cNvSpPr txBox="1"/>
          <p:nvPr/>
        </p:nvSpPr>
        <p:spPr>
          <a:xfrm>
            <a:off x="6400800" y="14732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adj(A) = Cᵀ</a:t>
            </a:r>
          </a:p>
        </p:txBody>
      </p:sp>
      <p:sp>
        <p:nvSpPr>
          <p:cNvPr id="6023" name="hl"/>
          <p:cNvSpPr/>
          <p:nvPr/>
        </p:nvSpPr>
        <p:spPr>
          <a:xfrm>
            <a:off x="7112000" y="2286000"/>
            <a:ext cx="965200" cy="2667000"/>
          </a:xfrm>
          <a:prstGeom prst="rect">
            <a:avLst/>
          </a:prstGeom>
          <a:solidFill>
            <a:srgbClr val="4B2E83">
              <a:alpha val="22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4" name="hl"/>
          <p:cNvSpPr/>
          <p:nvPr/>
        </p:nvSpPr>
        <p:spPr>
          <a:xfrm>
            <a:off x="8077200" y="2286000"/>
            <a:ext cx="965200" cy="2667000"/>
          </a:xfrm>
          <a:prstGeom prst="rect">
            <a:avLst/>
          </a:prstGeom>
          <a:solidFill>
            <a:srgbClr val="00A7B5">
              <a:alpha val="22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5" name="hl"/>
          <p:cNvSpPr/>
          <p:nvPr/>
        </p:nvSpPr>
        <p:spPr>
          <a:xfrm>
            <a:off x="9042400" y="2286000"/>
            <a:ext cx="965200" cy="2667000"/>
          </a:xfrm>
          <a:prstGeom prst="rect">
            <a:avLst/>
          </a:prstGeom>
          <a:solidFill>
            <a:srgbClr val="B7A57A">
              <a:alpha val="22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6" name="hl"/>
          <p:cNvSpPr/>
          <p:nvPr/>
        </p:nvSpPr>
        <p:spPr>
          <a:xfrm>
            <a:off x="6959600" y="2235200"/>
            <a:ext cx="50800" cy="2768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7" name="hl"/>
          <p:cNvSpPr/>
          <p:nvPr/>
        </p:nvSpPr>
        <p:spPr>
          <a:xfrm>
            <a:off x="6959600" y="22352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8" name="hl"/>
          <p:cNvSpPr/>
          <p:nvPr/>
        </p:nvSpPr>
        <p:spPr>
          <a:xfrm>
            <a:off x="6959600" y="4953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9" name="hl"/>
          <p:cNvSpPr/>
          <p:nvPr/>
        </p:nvSpPr>
        <p:spPr>
          <a:xfrm>
            <a:off x="10109200" y="2235200"/>
            <a:ext cx="50800" cy="2768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0" name="hl"/>
          <p:cNvSpPr/>
          <p:nvPr/>
        </p:nvSpPr>
        <p:spPr>
          <a:xfrm>
            <a:off x="10007600" y="22352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1" name="hl"/>
          <p:cNvSpPr/>
          <p:nvPr/>
        </p:nvSpPr>
        <p:spPr>
          <a:xfrm>
            <a:off x="10007600" y="4953000"/>
            <a:ext cx="1524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2" name="tb"/>
          <p:cNvSpPr txBox="1"/>
          <p:nvPr/>
        </p:nvSpPr>
        <p:spPr>
          <a:xfrm>
            <a:off x="7112000" y="2286000"/>
            <a:ext cx="965200" cy="889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−24</a:t>
            </a:r>
          </a:p>
        </p:txBody>
      </p:sp>
      <p:sp>
        <p:nvSpPr>
          <p:cNvPr id="6033" name="tb"/>
          <p:cNvSpPr txBox="1"/>
          <p:nvPr/>
        </p:nvSpPr>
        <p:spPr>
          <a:xfrm>
            <a:off x="8077200" y="2286000"/>
            <a:ext cx="965200" cy="889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18</a:t>
            </a:r>
          </a:p>
        </p:txBody>
      </p:sp>
      <p:sp>
        <p:nvSpPr>
          <p:cNvPr id="6034" name="tb"/>
          <p:cNvSpPr txBox="1"/>
          <p:nvPr/>
        </p:nvSpPr>
        <p:spPr>
          <a:xfrm>
            <a:off x="9042400" y="2286000"/>
            <a:ext cx="965200" cy="889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35" name="tb"/>
          <p:cNvSpPr txBox="1"/>
          <p:nvPr/>
        </p:nvSpPr>
        <p:spPr>
          <a:xfrm>
            <a:off x="7112000" y="3175000"/>
            <a:ext cx="965200" cy="889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20</a:t>
            </a:r>
          </a:p>
        </p:txBody>
      </p:sp>
      <p:sp>
        <p:nvSpPr>
          <p:cNvPr id="6036" name="tb"/>
          <p:cNvSpPr txBox="1"/>
          <p:nvPr/>
        </p:nvSpPr>
        <p:spPr>
          <a:xfrm>
            <a:off x="8077200" y="3175000"/>
            <a:ext cx="965200" cy="889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−15</a:t>
            </a:r>
          </a:p>
        </p:txBody>
      </p:sp>
      <p:sp>
        <p:nvSpPr>
          <p:cNvPr id="6037" name="tb"/>
          <p:cNvSpPr txBox="1"/>
          <p:nvPr/>
        </p:nvSpPr>
        <p:spPr>
          <a:xfrm>
            <a:off x="9042400" y="3175000"/>
            <a:ext cx="965200" cy="889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−4</a:t>
            </a:r>
          </a:p>
        </p:txBody>
      </p:sp>
      <p:sp>
        <p:nvSpPr>
          <p:cNvPr id="6038" name="tb"/>
          <p:cNvSpPr txBox="1"/>
          <p:nvPr/>
        </p:nvSpPr>
        <p:spPr>
          <a:xfrm>
            <a:off x="7112000" y="4064000"/>
            <a:ext cx="965200" cy="889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−5</a:t>
            </a:r>
          </a:p>
        </p:txBody>
      </p:sp>
      <p:sp>
        <p:nvSpPr>
          <p:cNvPr id="6039" name="tb"/>
          <p:cNvSpPr txBox="1"/>
          <p:nvPr/>
        </p:nvSpPr>
        <p:spPr>
          <a:xfrm>
            <a:off x="8077200" y="4064000"/>
            <a:ext cx="965200" cy="889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40" name="tb"/>
          <p:cNvSpPr txBox="1"/>
          <p:nvPr/>
        </p:nvSpPr>
        <p:spPr>
          <a:xfrm>
            <a:off x="9042400" y="4064000"/>
            <a:ext cx="965200" cy="889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41" name="tb"/>
          <p:cNvSpPr txBox="1"/>
          <p:nvPr/>
        </p:nvSpPr>
        <p:spPr>
          <a:xfrm>
            <a:off x="6400800" y="5334000"/>
            <a:ext cx="52324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/>
            <a:r>
              <a:rPr lang="en-US" sz="1400" i="1" dirty="0">
                <a:solidFill>
                  <a:srgbClr val="595959"/>
                </a:solidFill>
              </a:rPr>
              <a:t>→ columns</a:t>
            </a:r>
          </a:p>
        </p:txBody>
      </p:sp>
    </p:spTree>
    <p:extLst>
      <p:ext uri="{BB962C8B-B14F-4D97-AF65-F5344CB8AC3E}">
        <p14:creationId xmlns:p14="http://schemas.microsoft.com/office/powerpoint/2010/main" val="258186477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Form the Inverse:  A⁻¹ = adj(A) / det(A)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Divide every entry of adj(A) by det(A) = 1.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A⁻¹ = adj(A) / det(A); since det(A) = 1, the inverse equals the adjugate exactly.</a:t>
            </a:r>
          </a:p>
        </p:txBody>
      </p:sp>
      <p:sp>
        <p:nvSpPr>
          <p:cNvPr id="6000" name="panel"/>
          <p:cNvSpPr/>
          <p:nvPr/>
        </p:nvSpPr>
        <p:spPr>
          <a:xfrm>
            <a:off x="304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73200"/>
            <a:ext cx="5232400" cy="355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Put the pieces together</a:t>
            </a:r>
          </a:p>
        </p:txBody>
      </p:sp>
      <p:sp>
        <p:nvSpPr>
          <p:cNvPr id="6002" name="tb"/>
          <p:cNvSpPr txBox="1"/>
          <p:nvPr/>
        </p:nvSpPr>
        <p:spPr>
          <a:xfrm>
            <a:off x="558800" y="2032000"/>
            <a:ext cx="5232400" cy="381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800" b="1" dirty="0">
                <a:solidFill>
                  <a:srgbClr val="4B2E83"/>
                </a:solidFill>
              </a:rPr>
              <a:t>A⁻¹ = adj(A) / det(A)</a:t>
            </a:r>
          </a:p>
        </p:txBody>
      </p:sp>
      <p:sp>
        <p:nvSpPr>
          <p:cNvPr id="6003" name="tb"/>
          <p:cNvSpPr txBox="1"/>
          <p:nvPr/>
        </p:nvSpPr>
        <p:spPr>
          <a:xfrm>
            <a:off x="558800" y="2616200"/>
            <a:ext cx="5232400" cy="355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dirty="0">
                <a:solidFill>
                  <a:srgbClr val="333333"/>
                </a:solidFill>
              </a:rPr>
              <a:t>det(A) = </a:t>
            </a:r>
            <a:r>
              <a:rPr lang="en-US" sz="1500" b="1" dirty="0">
                <a:solidFill>
                  <a:srgbClr val="D1578A"/>
                </a:solidFill>
              </a:rPr>
              <a:t>1</a:t>
            </a:r>
            <a:r>
              <a:rPr lang="en-US" sz="1350" i="1" dirty="0">
                <a:solidFill>
                  <a:srgbClr val="595959"/>
                </a:solidFill>
              </a:rPr>
              <a:t>   (from the cofactor expansion)</a:t>
            </a:r>
          </a:p>
        </p:txBody>
      </p:sp>
      <p:sp>
        <p:nvSpPr>
          <p:cNvPr id="6004" name="tb"/>
          <p:cNvSpPr txBox="1"/>
          <p:nvPr/>
        </p:nvSpPr>
        <p:spPr>
          <a:xfrm>
            <a:off x="558800" y="3175000"/>
            <a:ext cx="5232400" cy="355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dirty="0">
                <a:solidFill>
                  <a:srgbClr val="333333"/>
                </a:solidFill>
              </a:rPr>
              <a:t>adj(A) = transpose of cofactor matrix C</a:t>
            </a:r>
          </a:p>
        </p:txBody>
      </p:sp>
      <p:sp>
        <p:nvSpPr>
          <p:cNvPr id="6005" name="tb"/>
          <p:cNvSpPr txBox="1"/>
          <p:nvPr/>
        </p:nvSpPr>
        <p:spPr>
          <a:xfrm>
            <a:off x="558800" y="3810000"/>
            <a:ext cx="5232400" cy="1143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i="1" dirty="0">
                <a:solidFill>
                  <a:srgbClr val="595959"/>
                </a:solidFill>
              </a:rPr>
              <a:t>Dividing by 1 changes nothing — so the inverse is exactly adj(A). Always finish by checking A·A⁻¹ = I.</a:t>
            </a:r>
          </a:p>
        </p:txBody>
      </p:sp>
      <p:sp>
        <p:nvSpPr>
          <p:cNvPr id="6006" name="panel"/>
          <p:cNvSpPr/>
          <p:nvPr/>
        </p:nvSpPr>
        <p:spPr>
          <a:xfrm>
            <a:off x="6146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7" name="tb"/>
          <p:cNvSpPr txBox="1"/>
          <p:nvPr/>
        </p:nvSpPr>
        <p:spPr>
          <a:xfrm>
            <a:off x="6400800" y="14732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500" b="1" dirty="0">
                <a:solidFill>
                  <a:srgbClr val="4B2E83"/>
                </a:solidFill>
              </a:rPr>
              <a:t>The inverse</a:t>
            </a:r>
          </a:p>
        </p:txBody>
      </p:sp>
      <p:sp>
        <p:nvSpPr>
          <p:cNvPr id="6008" name="box"/>
          <p:cNvSpPr/>
          <p:nvPr/>
        </p:nvSpPr>
        <p:spPr>
          <a:xfrm>
            <a:off x="6858000" y="1905000"/>
            <a:ext cx="4572000" cy="2667000"/>
          </a:xfrm>
          <a:prstGeom prst="roundRect">
            <a:avLst>
              <a:gd name="adj" fmla="val 8000"/>
            </a:avLst>
          </a:prstGeom>
          <a:solidFill>
            <a:srgbClr val="F4FAEF"/>
          </a:solidFill>
          <a:ln w="22225">
            <a:solidFill>
              <a:srgbClr val="7AB64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9" name="tb"/>
          <p:cNvSpPr txBox="1"/>
          <p:nvPr/>
        </p:nvSpPr>
        <p:spPr>
          <a:xfrm>
            <a:off x="7061200" y="2235200"/>
            <a:ext cx="889000" cy="1905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800" b="1" dirty="0">
                <a:solidFill>
                  <a:srgbClr val="333333"/>
                </a:solidFill>
              </a:rPr>
              <a:t>A⁻¹ =</a:t>
            </a:r>
          </a:p>
        </p:txBody>
      </p:sp>
      <p:sp>
        <p:nvSpPr>
          <p:cNvPr id="6010" name="hl"/>
          <p:cNvSpPr/>
          <p:nvPr/>
        </p:nvSpPr>
        <p:spPr>
          <a:xfrm>
            <a:off x="8051800" y="2209800"/>
            <a:ext cx="50800" cy="2235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1" name="hl"/>
          <p:cNvSpPr/>
          <p:nvPr/>
        </p:nvSpPr>
        <p:spPr>
          <a:xfrm>
            <a:off x="8051800" y="2209800"/>
            <a:ext cx="1778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2" name="hl"/>
          <p:cNvSpPr/>
          <p:nvPr/>
        </p:nvSpPr>
        <p:spPr>
          <a:xfrm>
            <a:off x="8051800" y="4394200"/>
            <a:ext cx="1778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3" name="hl"/>
          <p:cNvSpPr/>
          <p:nvPr/>
        </p:nvSpPr>
        <p:spPr>
          <a:xfrm>
            <a:off x="11099800" y="2209800"/>
            <a:ext cx="50800" cy="2235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4" name="hl"/>
          <p:cNvSpPr/>
          <p:nvPr/>
        </p:nvSpPr>
        <p:spPr>
          <a:xfrm>
            <a:off x="10972800" y="2209800"/>
            <a:ext cx="1778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5" name="hl"/>
          <p:cNvSpPr/>
          <p:nvPr/>
        </p:nvSpPr>
        <p:spPr>
          <a:xfrm>
            <a:off x="10972800" y="4394200"/>
            <a:ext cx="177800" cy="50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6" name="tb"/>
          <p:cNvSpPr txBox="1"/>
          <p:nvPr/>
        </p:nvSpPr>
        <p:spPr>
          <a:xfrm>
            <a:off x="8229600" y="2260600"/>
            <a:ext cx="914400" cy="711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D1578A"/>
                </a:solidFill>
                <a:latin typeface="Consolas"/>
                <a:cs typeface="Consolas"/>
              </a:rPr>
              <a:t>−24</a:t>
            </a:r>
          </a:p>
        </p:txBody>
      </p:sp>
      <p:sp>
        <p:nvSpPr>
          <p:cNvPr id="6017" name="tb"/>
          <p:cNvSpPr txBox="1"/>
          <p:nvPr/>
        </p:nvSpPr>
        <p:spPr>
          <a:xfrm>
            <a:off x="9144000" y="2260600"/>
            <a:ext cx="914400" cy="711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18</a:t>
            </a:r>
          </a:p>
        </p:txBody>
      </p:sp>
      <p:sp>
        <p:nvSpPr>
          <p:cNvPr id="6018" name="tb"/>
          <p:cNvSpPr txBox="1"/>
          <p:nvPr/>
        </p:nvSpPr>
        <p:spPr>
          <a:xfrm>
            <a:off x="10058400" y="2260600"/>
            <a:ext cx="914400" cy="711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19" name="tb"/>
          <p:cNvSpPr txBox="1"/>
          <p:nvPr/>
        </p:nvSpPr>
        <p:spPr>
          <a:xfrm>
            <a:off x="8229600" y="2971800"/>
            <a:ext cx="914400" cy="711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20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9144000" y="2971800"/>
            <a:ext cx="914400" cy="711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D1578A"/>
                </a:solidFill>
                <a:latin typeface="Consolas"/>
                <a:cs typeface="Consolas"/>
              </a:rPr>
              <a:t>−15</a:t>
            </a:r>
          </a:p>
        </p:txBody>
      </p:sp>
      <p:sp>
        <p:nvSpPr>
          <p:cNvPr id="6021" name="tb"/>
          <p:cNvSpPr txBox="1"/>
          <p:nvPr/>
        </p:nvSpPr>
        <p:spPr>
          <a:xfrm>
            <a:off x="10058400" y="2971800"/>
            <a:ext cx="914400" cy="711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D1578A"/>
                </a:solidFill>
                <a:latin typeface="Consolas"/>
                <a:cs typeface="Consolas"/>
              </a:rPr>
              <a:t>−4</a:t>
            </a:r>
          </a:p>
        </p:txBody>
      </p:sp>
      <p:sp>
        <p:nvSpPr>
          <p:cNvPr id="6022" name="tb"/>
          <p:cNvSpPr txBox="1"/>
          <p:nvPr/>
        </p:nvSpPr>
        <p:spPr>
          <a:xfrm>
            <a:off x="8229600" y="3683000"/>
            <a:ext cx="914400" cy="711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D1578A"/>
                </a:solidFill>
                <a:latin typeface="Consolas"/>
                <a:cs typeface="Consolas"/>
              </a:rPr>
              <a:t>−5</a:t>
            </a:r>
          </a:p>
        </p:txBody>
      </p:sp>
      <p:sp>
        <p:nvSpPr>
          <p:cNvPr id="6023" name="tb"/>
          <p:cNvSpPr txBox="1"/>
          <p:nvPr/>
        </p:nvSpPr>
        <p:spPr>
          <a:xfrm>
            <a:off x="9144000" y="3683000"/>
            <a:ext cx="914400" cy="711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24" name="tb"/>
          <p:cNvSpPr txBox="1"/>
          <p:nvPr/>
        </p:nvSpPr>
        <p:spPr>
          <a:xfrm>
            <a:off x="10058400" y="3683000"/>
            <a:ext cx="914400" cy="711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25" name="tb"/>
          <p:cNvSpPr txBox="1"/>
          <p:nvPr/>
        </p:nvSpPr>
        <p:spPr>
          <a:xfrm>
            <a:off x="6400800" y="4826000"/>
            <a:ext cx="5232400" cy="381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500" b="1" i="1" dirty="0">
                <a:solidFill>
                  <a:srgbClr val="7AB648"/>
                </a:solidFill>
              </a:rPr>
              <a:t>Check:  A · A⁻¹ = I  ✓</a:t>
            </a:r>
          </a:p>
        </p:txBody>
      </p:sp>
    </p:spTree>
    <p:extLst>
      <p:ext uri="{BB962C8B-B14F-4D97-AF65-F5344CB8AC3E}">
        <p14:creationId xmlns:p14="http://schemas.microsoft.com/office/powerpoint/2010/main" val="287267332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C77ADC5E-4BAF-0540-8AEA-EB74CA340354}"/>
              </a:ext>
            </a:extLst>
          </p:cNvPr>
          <p:cNvSpPr/>
          <p:nvPr/>
        </p:nvSpPr>
        <p:spPr>
          <a:xfrm>
            <a:off x="381000" y="304800"/>
            <a:ext cx="11430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69FDA40E-51B5-FB47-B3E5-86469F6D5E72}"/>
              </a:ext>
            </a:extLst>
          </p:cNvPr>
          <p:cNvSpPr txBox="1"/>
          <p:nvPr/>
        </p:nvSpPr>
        <p:spPr>
          <a:xfrm>
            <a:off x="381000" y="304800"/>
            <a:ext cx="11430000" cy="482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</a:rPr>
              <a:t>Distance — a formal definition</a:t>
            </a:r>
          </a:p>
        </p:txBody>
      </p:sp>
      <p:sp>
        <p:nvSpPr>
          <p:cNvPr id="22" name="Subtitle">
            <a:extLst>
              <a:ext uri="{FF2B5EF4-FFF2-40B4-BE49-F238E27FC236}">
                <a16:creationId xmlns:a16="http://schemas.microsoft.com/office/drawing/2014/main" id="{DE630B4D-EF8A-DB4A-B933-9080D8356C7D}"/>
              </a:ext>
            </a:extLst>
          </p:cNvPr>
          <p:cNvSpPr txBox="1"/>
          <p:nvPr/>
        </p:nvSpPr>
        <p:spPr>
          <a:xfrm>
            <a:off x="381000" y="8890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</a:rPr>
              <a:t>From topology: a distance (or metric) is a function that measures how far apart two points are in a set</a:t>
            </a:r>
          </a:p>
        </p:txBody>
      </p:sp>
      <p:sp>
        <p:nvSpPr>
          <p:cNvPr id="23" name="DefCard">
            <a:extLst>
              <a:ext uri="{FF2B5EF4-FFF2-40B4-BE49-F238E27FC236}">
                <a16:creationId xmlns:a16="http://schemas.microsoft.com/office/drawing/2014/main" id="{31CEF056-F36E-DC4D-97A7-D007F21DB446}"/>
              </a:ext>
            </a:extLst>
          </p:cNvPr>
          <p:cNvSpPr/>
          <p:nvPr/>
        </p:nvSpPr>
        <p:spPr>
          <a:xfrm>
            <a:off x="381000" y="1333500"/>
            <a:ext cx="11430000" cy="13335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DefLabel">
            <a:extLst>
              <a:ext uri="{FF2B5EF4-FFF2-40B4-BE49-F238E27FC236}">
                <a16:creationId xmlns:a16="http://schemas.microsoft.com/office/drawing/2014/main" id="{2499AB30-69B0-824E-814D-49455B9EB098}"/>
              </a:ext>
            </a:extLst>
          </p:cNvPr>
          <p:cNvSpPr txBox="1"/>
          <p:nvPr/>
        </p:nvSpPr>
        <p:spPr>
          <a:xfrm>
            <a:off x="571500" y="14224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b="1">
                <a:solidFill>
                  <a:srgbClr val="4B2E83"/>
                </a:solidFill>
              </a:rPr>
              <a:t>DEFINITION</a:t>
            </a:r>
          </a:p>
        </p:txBody>
      </p:sp>
      <p:sp>
        <p:nvSpPr>
          <p:cNvPr id="25" name="DefText">
            <a:extLst>
              <a:ext uri="{FF2B5EF4-FFF2-40B4-BE49-F238E27FC236}">
                <a16:creationId xmlns:a16="http://schemas.microsoft.com/office/drawing/2014/main" id="{6A8EF6B4-5824-0D4E-A8FE-7997F009A649}"/>
              </a:ext>
            </a:extLst>
          </p:cNvPr>
          <p:cNvSpPr txBox="1"/>
          <p:nvPr/>
        </p:nvSpPr>
        <p:spPr>
          <a:xfrm>
            <a:off x="571500" y="1676400"/>
            <a:ext cx="11049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>
                <a:solidFill>
                  <a:srgbClr val="333333"/>
                </a:solidFill>
                <a:latin typeface="Cambria Math"/>
                <a:ea typeface="Cambria Math"/>
              </a:rPr>
              <a:t>A distance on a set X is a function   d : X × X  →  ℝ</a:t>
            </a:r>
          </a:p>
        </p:txBody>
      </p:sp>
      <p:sp>
        <p:nvSpPr>
          <p:cNvPr id="26" name="DefText2">
            <a:extLst>
              <a:ext uri="{FF2B5EF4-FFF2-40B4-BE49-F238E27FC236}">
                <a16:creationId xmlns:a16="http://schemas.microsoft.com/office/drawing/2014/main" id="{1958CAE9-6746-4943-B841-8E8513B4D236}"/>
              </a:ext>
            </a:extLst>
          </p:cNvPr>
          <p:cNvSpPr txBox="1"/>
          <p:nvPr/>
        </p:nvSpPr>
        <p:spPr>
          <a:xfrm>
            <a:off x="571500" y="20574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that assigns a non-negative real number d(x, y) to every pair of points x, y ∈ X.</a:t>
            </a:r>
          </a:p>
        </p:txBody>
      </p:sp>
      <p:sp>
        <p:nvSpPr>
          <p:cNvPr id="27" name="DefText3">
            <a:extLst>
              <a:ext uri="{FF2B5EF4-FFF2-40B4-BE49-F238E27FC236}">
                <a16:creationId xmlns:a16="http://schemas.microsoft.com/office/drawing/2014/main" id="{988CB359-547F-8841-96E0-DC36F75D6A5A}"/>
              </a:ext>
            </a:extLst>
          </p:cNvPr>
          <p:cNvSpPr txBox="1"/>
          <p:nvPr/>
        </p:nvSpPr>
        <p:spPr>
          <a:xfrm>
            <a:off x="571500" y="2336800"/>
            <a:ext cx="11049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i="1">
                <a:solidFill>
                  <a:srgbClr val="4B2E83"/>
                </a:solidFill>
              </a:rPr>
              <a:t>The pair (X, d) is called a metric space.</a:t>
            </a:r>
          </a:p>
        </p:txBody>
      </p:sp>
      <p:sp>
        <p:nvSpPr>
          <p:cNvPr id="37" name="Card0">
            <a:extLst>
              <a:ext uri="{FF2B5EF4-FFF2-40B4-BE49-F238E27FC236}">
                <a16:creationId xmlns:a16="http://schemas.microsoft.com/office/drawing/2014/main" id="{622220BB-1C82-744E-AA46-F1FAD9B1C310}"/>
              </a:ext>
            </a:extLst>
          </p:cNvPr>
          <p:cNvSpPr/>
          <p:nvPr/>
        </p:nvSpPr>
        <p:spPr>
          <a:xfrm>
            <a:off x="482600" y="2857500"/>
            <a:ext cx="3619500" cy="1841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8" name="CardHdr0">
            <a:extLst>
              <a:ext uri="{FF2B5EF4-FFF2-40B4-BE49-F238E27FC236}">
                <a16:creationId xmlns:a16="http://schemas.microsoft.com/office/drawing/2014/main" id="{D2765C63-5144-AB48-8CC8-B9C3B313B857}"/>
              </a:ext>
            </a:extLst>
          </p:cNvPr>
          <p:cNvSpPr/>
          <p:nvPr/>
        </p:nvSpPr>
        <p:spPr>
          <a:xfrm>
            <a:off x="482600" y="2857500"/>
            <a:ext cx="3619500" cy="381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9" name="CardNum0">
            <a:extLst>
              <a:ext uri="{FF2B5EF4-FFF2-40B4-BE49-F238E27FC236}">
                <a16:creationId xmlns:a16="http://schemas.microsoft.com/office/drawing/2014/main" id="{9493AE23-3574-9A46-879C-9E90C38A376F}"/>
              </a:ext>
            </a:extLst>
          </p:cNvPr>
          <p:cNvSpPr txBox="1"/>
          <p:nvPr/>
        </p:nvSpPr>
        <p:spPr>
          <a:xfrm>
            <a:off x="584200" y="2908300"/>
            <a:ext cx="3048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0" name="CardTitle0">
            <a:extLst>
              <a:ext uri="{FF2B5EF4-FFF2-40B4-BE49-F238E27FC236}">
                <a16:creationId xmlns:a16="http://schemas.microsoft.com/office/drawing/2014/main" id="{38633465-0175-AF4F-BE57-9FC6DA87AE35}"/>
              </a:ext>
            </a:extLst>
          </p:cNvPr>
          <p:cNvSpPr txBox="1"/>
          <p:nvPr/>
        </p:nvSpPr>
        <p:spPr>
          <a:xfrm>
            <a:off x="914400" y="2908300"/>
            <a:ext cx="31115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Same set, two points</a:t>
            </a:r>
          </a:p>
        </p:txBody>
      </p:sp>
      <p:sp>
        <p:nvSpPr>
          <p:cNvPr id="41" name="CardBody0">
            <a:extLst>
              <a:ext uri="{FF2B5EF4-FFF2-40B4-BE49-F238E27FC236}">
                <a16:creationId xmlns:a16="http://schemas.microsoft.com/office/drawing/2014/main" id="{2DB0351F-3204-EF4A-984F-68FFE1AD97C8}"/>
              </a:ext>
            </a:extLst>
          </p:cNvPr>
          <p:cNvSpPr txBox="1"/>
          <p:nvPr/>
        </p:nvSpPr>
        <p:spPr>
          <a:xfrm>
            <a:off x="660400" y="3340100"/>
            <a:ext cx="3263900" cy="12827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333333"/>
                </a:solidFill>
              </a:rPr>
              <a:t>x and y belong to the SAME set X — apples-to-apples comparison.</a:t>
            </a:r>
          </a:p>
        </p:txBody>
      </p:sp>
      <p:sp>
        <p:nvSpPr>
          <p:cNvPr id="42" name="Card1">
            <a:extLst>
              <a:ext uri="{FF2B5EF4-FFF2-40B4-BE49-F238E27FC236}">
                <a16:creationId xmlns:a16="http://schemas.microsoft.com/office/drawing/2014/main" id="{24850BB1-1520-8649-A2BC-199D1D163CD5}"/>
              </a:ext>
            </a:extLst>
          </p:cNvPr>
          <p:cNvSpPr/>
          <p:nvPr/>
        </p:nvSpPr>
        <p:spPr>
          <a:xfrm>
            <a:off x="4381500" y="2857500"/>
            <a:ext cx="3619500" cy="1841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3" name="CardHdr1">
            <a:extLst>
              <a:ext uri="{FF2B5EF4-FFF2-40B4-BE49-F238E27FC236}">
                <a16:creationId xmlns:a16="http://schemas.microsoft.com/office/drawing/2014/main" id="{9AD5D422-C94F-8A42-910E-6275A55EE42F}"/>
              </a:ext>
            </a:extLst>
          </p:cNvPr>
          <p:cNvSpPr/>
          <p:nvPr/>
        </p:nvSpPr>
        <p:spPr>
          <a:xfrm>
            <a:off x="4381500" y="2857500"/>
            <a:ext cx="3619500" cy="3810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4" name="CardNum1">
            <a:extLst>
              <a:ext uri="{FF2B5EF4-FFF2-40B4-BE49-F238E27FC236}">
                <a16:creationId xmlns:a16="http://schemas.microsoft.com/office/drawing/2014/main" id="{5007EEB8-8A52-4648-BC8C-A377F1851DF9}"/>
              </a:ext>
            </a:extLst>
          </p:cNvPr>
          <p:cNvSpPr txBox="1"/>
          <p:nvPr/>
        </p:nvSpPr>
        <p:spPr>
          <a:xfrm>
            <a:off x="4483100" y="2908300"/>
            <a:ext cx="3048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5" name="CardTitle1">
            <a:extLst>
              <a:ext uri="{FF2B5EF4-FFF2-40B4-BE49-F238E27FC236}">
                <a16:creationId xmlns:a16="http://schemas.microsoft.com/office/drawing/2014/main" id="{17B9B373-91B3-FC40-86BD-06BC6B8674EB}"/>
              </a:ext>
            </a:extLst>
          </p:cNvPr>
          <p:cNvSpPr txBox="1"/>
          <p:nvPr/>
        </p:nvSpPr>
        <p:spPr>
          <a:xfrm>
            <a:off x="4813300" y="2908300"/>
            <a:ext cx="31115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Output is a real number</a:t>
            </a:r>
          </a:p>
        </p:txBody>
      </p:sp>
      <p:sp>
        <p:nvSpPr>
          <p:cNvPr id="46" name="CardBody1">
            <a:extLst>
              <a:ext uri="{FF2B5EF4-FFF2-40B4-BE49-F238E27FC236}">
                <a16:creationId xmlns:a16="http://schemas.microsoft.com/office/drawing/2014/main" id="{CDD926E1-0679-8F46-A565-09C2DE11F59B}"/>
              </a:ext>
            </a:extLst>
          </p:cNvPr>
          <p:cNvSpPr txBox="1"/>
          <p:nvPr/>
        </p:nvSpPr>
        <p:spPr>
          <a:xfrm>
            <a:off x="4559300" y="3340100"/>
            <a:ext cx="3263900" cy="12827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333333"/>
                </a:solidFill>
              </a:rPr>
              <a:t>d(x, y) ∈ ℝ — a single scalar that quantifies separation.</a:t>
            </a:r>
          </a:p>
        </p:txBody>
      </p:sp>
      <p:sp>
        <p:nvSpPr>
          <p:cNvPr id="47" name="Card2">
            <a:extLst>
              <a:ext uri="{FF2B5EF4-FFF2-40B4-BE49-F238E27FC236}">
                <a16:creationId xmlns:a16="http://schemas.microsoft.com/office/drawing/2014/main" id="{2185F8D7-9CC6-0D48-99F4-3DA98374B2BE}"/>
              </a:ext>
            </a:extLst>
          </p:cNvPr>
          <p:cNvSpPr/>
          <p:nvPr/>
        </p:nvSpPr>
        <p:spPr>
          <a:xfrm>
            <a:off x="8280400" y="2857500"/>
            <a:ext cx="3619500" cy="18415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8" name="CardHdr2">
            <a:extLst>
              <a:ext uri="{FF2B5EF4-FFF2-40B4-BE49-F238E27FC236}">
                <a16:creationId xmlns:a16="http://schemas.microsoft.com/office/drawing/2014/main" id="{E75FCD8F-9161-4E40-9B91-CB4AD405D653}"/>
              </a:ext>
            </a:extLst>
          </p:cNvPr>
          <p:cNvSpPr/>
          <p:nvPr/>
        </p:nvSpPr>
        <p:spPr>
          <a:xfrm>
            <a:off x="8280400" y="2857500"/>
            <a:ext cx="3619500" cy="3810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9" name="CardNum2">
            <a:extLst>
              <a:ext uri="{FF2B5EF4-FFF2-40B4-BE49-F238E27FC236}">
                <a16:creationId xmlns:a16="http://schemas.microsoft.com/office/drawing/2014/main" id="{BC9B6994-D68C-0C4A-8EC1-28CE3BA07CA8}"/>
              </a:ext>
            </a:extLst>
          </p:cNvPr>
          <p:cNvSpPr txBox="1"/>
          <p:nvPr/>
        </p:nvSpPr>
        <p:spPr>
          <a:xfrm>
            <a:off x="8382000" y="2908300"/>
            <a:ext cx="3048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50" name="CardTitle2">
            <a:extLst>
              <a:ext uri="{FF2B5EF4-FFF2-40B4-BE49-F238E27FC236}">
                <a16:creationId xmlns:a16="http://schemas.microsoft.com/office/drawing/2014/main" id="{D02B1FA6-8E81-8345-89C1-540C370D2B4D}"/>
              </a:ext>
            </a:extLst>
          </p:cNvPr>
          <p:cNvSpPr txBox="1"/>
          <p:nvPr/>
        </p:nvSpPr>
        <p:spPr>
          <a:xfrm>
            <a:off x="8712200" y="2908300"/>
            <a:ext cx="31115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Geometry, not just numbers</a:t>
            </a:r>
          </a:p>
        </p:txBody>
      </p:sp>
      <p:sp>
        <p:nvSpPr>
          <p:cNvPr id="51" name="CardBody2">
            <a:extLst>
              <a:ext uri="{FF2B5EF4-FFF2-40B4-BE49-F238E27FC236}">
                <a16:creationId xmlns:a16="http://schemas.microsoft.com/office/drawing/2014/main" id="{67F11CB2-2F74-2846-BD03-0437EEC2D4DF}"/>
              </a:ext>
            </a:extLst>
          </p:cNvPr>
          <p:cNvSpPr txBox="1"/>
          <p:nvPr/>
        </p:nvSpPr>
        <p:spPr>
          <a:xfrm>
            <a:off x="8458200" y="3340100"/>
            <a:ext cx="3263900" cy="12827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333333"/>
                </a:solidFill>
              </a:rPr>
              <a:t>Distance turns a bare set into a geometric space — we can speak of 'near', 'far', and 'between'.</a:t>
            </a:r>
          </a:p>
        </p:txBody>
      </p:sp>
      <p:sp>
        <p:nvSpPr>
          <p:cNvPr id="52" name="ExStrip">
            <a:extLst>
              <a:ext uri="{FF2B5EF4-FFF2-40B4-BE49-F238E27FC236}">
                <a16:creationId xmlns:a16="http://schemas.microsoft.com/office/drawing/2014/main" id="{319B74D2-9764-6141-BFC5-E73F4D59039C}"/>
              </a:ext>
            </a:extLst>
          </p:cNvPr>
          <p:cNvSpPr/>
          <p:nvPr/>
        </p:nvSpPr>
        <p:spPr>
          <a:xfrm>
            <a:off x="381000" y="4889500"/>
            <a:ext cx="11430000" cy="762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3" name="ExLabel">
            <a:extLst>
              <a:ext uri="{FF2B5EF4-FFF2-40B4-BE49-F238E27FC236}">
                <a16:creationId xmlns:a16="http://schemas.microsoft.com/office/drawing/2014/main" id="{21E6C214-1940-5448-8CB5-78F76AD6B278}"/>
              </a:ext>
            </a:extLst>
          </p:cNvPr>
          <p:cNvSpPr txBox="1"/>
          <p:nvPr/>
        </p:nvSpPr>
        <p:spPr>
          <a:xfrm>
            <a:off x="571500" y="49657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b="1">
                <a:solidFill>
                  <a:srgbClr val="00A7B5"/>
                </a:solidFill>
              </a:rPr>
              <a:t>EXAMPLE</a:t>
            </a:r>
          </a:p>
        </p:txBody>
      </p:sp>
      <p:sp>
        <p:nvSpPr>
          <p:cNvPr id="54" name="ExText">
            <a:extLst>
              <a:ext uri="{FF2B5EF4-FFF2-40B4-BE49-F238E27FC236}">
                <a16:creationId xmlns:a16="http://schemas.microsoft.com/office/drawing/2014/main" id="{E8E5F123-41F8-3E46-9210-96713CA26722}"/>
              </a:ext>
            </a:extLst>
          </p:cNvPr>
          <p:cNvSpPr txBox="1"/>
          <p:nvPr/>
        </p:nvSpPr>
        <p:spPr>
          <a:xfrm>
            <a:off x="571500" y="52070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i="1">
                <a:solidFill>
                  <a:srgbClr val="333333"/>
                </a:solidFill>
              </a:rPr>
              <a:t>If X = ℝ² and x = (1, 2), y = (4, 6), then d(x, y) measures how far apart these two points are in the plane.</a:t>
            </a:r>
          </a:p>
        </p:txBody>
      </p:sp>
      <p:sp>
        <p:nvSpPr>
          <p:cNvPr id="55" name="TkBar">
            <a:extLst>
              <a:ext uri="{FF2B5EF4-FFF2-40B4-BE49-F238E27FC236}">
                <a16:creationId xmlns:a16="http://schemas.microsoft.com/office/drawing/2014/main" id="{4E909402-A0AF-384C-BEE0-7559ABF23678}"/>
              </a:ext>
            </a:extLst>
          </p:cNvPr>
          <p:cNvSpPr/>
          <p:nvPr/>
        </p:nvSpPr>
        <p:spPr>
          <a:xfrm>
            <a:off x="381000" y="5842000"/>
            <a:ext cx="11430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6" name="TkText">
            <a:extLst>
              <a:ext uri="{FF2B5EF4-FFF2-40B4-BE49-F238E27FC236}">
                <a16:creationId xmlns:a16="http://schemas.microsoft.com/office/drawing/2014/main" id="{8ACA0D97-D5F1-424B-B711-2BA7CF20383D}"/>
              </a:ext>
            </a:extLst>
          </p:cNvPr>
          <p:cNvSpPr txBox="1"/>
          <p:nvPr/>
        </p:nvSpPr>
        <p:spPr>
          <a:xfrm>
            <a:off x="508000" y="5842000"/>
            <a:ext cx="111760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</a:rPr>
              <a:t>A distance is the rulebook that turns a bare collection of objects into a space we can measure</a:t>
            </a:r>
          </a:p>
        </p:txBody>
      </p:sp>
    </p:spTree>
    <p:extLst>
      <p:ext uri="{BB962C8B-B14F-4D97-AF65-F5344CB8AC3E}">
        <p14:creationId xmlns:p14="http://schemas.microsoft.com/office/powerpoint/2010/main" val="402891424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A543E-FDDC-C6AC-48D6-5FB6693FB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FE4E0D-A3C4-2AB2-DF55-F0DB799B9D26}"/>
              </a:ext>
            </a:extLst>
          </p:cNvPr>
          <p:cNvSpPr txBox="1"/>
          <p:nvPr/>
        </p:nvSpPr>
        <p:spPr>
          <a:xfrm>
            <a:off x="0" y="2870200"/>
            <a:ext cx="12192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1600" b="1" dirty="0">
                <a:solidFill>
                  <a:srgbClr val="B7A57A"/>
                </a:solidFill>
              </a:rPr>
              <a:t>GEOMETRY OF VECTORS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5228A0-2670-5154-FB62-E64F61EBB13B}"/>
              </a:ext>
            </a:extLst>
          </p:cNvPr>
          <p:cNvSpPr txBox="1"/>
          <p:nvPr/>
        </p:nvSpPr>
        <p:spPr>
          <a:xfrm>
            <a:off x="0" y="3175000"/>
            <a:ext cx="12192000" cy="939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5200" b="1" dirty="0">
                <a:solidFill>
                  <a:srgbClr val="FFFFFF"/>
                </a:solidFill>
              </a:rPr>
              <a:t>Distance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5C77DD-864C-7E53-0A5D-3B73118B7D25}"/>
              </a:ext>
            </a:extLst>
          </p:cNvPr>
          <p:cNvSpPr txBox="1"/>
          <p:nvPr/>
        </p:nvSpPr>
        <p:spPr>
          <a:xfrm>
            <a:off x="0" y="4241800"/>
            <a:ext cx="121920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2200" dirty="0">
                <a:solidFill>
                  <a:srgbClr val="EDE7F5"/>
                </a:solidFill>
              </a:rPr>
              <a:t>Dot product, norm, and cosine similarity — measuring vectors and the gaps between them.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201648F-ED75-A8D0-EB98-23662FA60CBF}"/>
              </a:ext>
            </a:extLst>
          </p:cNvPr>
          <p:cNvSpPr/>
          <p:nvPr/>
        </p:nvSpPr>
        <p:spPr>
          <a:xfrm>
            <a:off x="5461000" y="4089400"/>
            <a:ext cx="1270000" cy="381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cxnSp>
        <p:nvCxnSpPr>
          <p:cNvPr id="900" name="dline"/>
          <p:cNvCxnSpPr/>
          <p:nvPr/>
        </p:nvCxnSpPr>
        <p:spPr>
          <a:xfrm flipV="1">
            <a:off x="5448300" y="2019300"/>
            <a:ext cx="1524000" cy="444500"/>
          </a:xfrm>
          <a:prstGeom prst="line">
            <a:avLst/>
          </a:prstGeom>
          <a:ln w="28575">
            <a:solidFill>
              <a:srgbClr val="B7A57A"/>
            </a:solidFill>
            <a:prstDash val="dash"/>
          </a:ln>
        </p:spPr>
      </p:cxnSp>
      <p:sp>
        <p:nvSpPr>
          <p:cNvPr id="902" name="dot"/>
          <p:cNvSpPr/>
          <p:nvPr/>
        </p:nvSpPr>
        <p:spPr>
          <a:xfrm>
            <a:off x="5334000" y="2349500"/>
            <a:ext cx="228600" cy="228600"/>
          </a:xfrm>
          <a:prstGeom prst="ellipse">
            <a:avLst/>
          </a:prstGeom>
          <a:solidFill>
            <a:srgbClr val="D1578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3" name="dot"/>
          <p:cNvSpPr/>
          <p:nvPr/>
        </p:nvSpPr>
        <p:spPr>
          <a:xfrm>
            <a:off x="6858000" y="1905000"/>
            <a:ext cx="228600" cy="228600"/>
          </a:xfrm>
          <a:prstGeom prst="ellipse">
            <a:avLst/>
          </a:prstGeom>
          <a:solidFill>
            <a:srgbClr val="00A7B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1" name="dlbl"/>
          <p:cNvSpPr txBox="1"/>
          <p:nvPr/>
        </p:nvSpPr>
        <p:spPr>
          <a:xfrm>
            <a:off x="5943600" y="1905000"/>
            <a:ext cx="381000" cy="2540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r>
              <a:rPr lang="en-US" sz="1500" b="1" i="1" dirty="0">
                <a:solidFill>
                  <a:srgbClr val="B7A57A"/>
                </a:solidFill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291472453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The Dot Product  a · b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Pair up components and add — a single number measuring how much two vectors align.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a·b pairs components and equals ‖a‖‖b‖cosθ — positive when aligned, zero when perpendicular.</a:t>
            </a:r>
          </a:p>
        </p:txBody>
      </p:sp>
      <p:sp>
        <p:nvSpPr>
          <p:cNvPr id="6000" name="panel"/>
          <p:cNvSpPr/>
          <p:nvPr/>
        </p:nvSpPr>
        <p:spPr>
          <a:xfrm>
            <a:off x="304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r"/>
          <p:cNvSpPr/>
          <p:nvPr/>
        </p:nvSpPr>
        <p:spPr>
          <a:xfrm>
            <a:off x="1219200" y="19304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2" name="r"/>
          <p:cNvSpPr/>
          <p:nvPr/>
        </p:nvSpPr>
        <p:spPr>
          <a:xfrm>
            <a:off x="1778000" y="19304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3" name="r"/>
          <p:cNvSpPr/>
          <p:nvPr/>
        </p:nvSpPr>
        <p:spPr>
          <a:xfrm>
            <a:off x="2336800" y="19304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4" name="r"/>
          <p:cNvSpPr/>
          <p:nvPr/>
        </p:nvSpPr>
        <p:spPr>
          <a:xfrm>
            <a:off x="2895600" y="19304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5" name="r"/>
          <p:cNvSpPr/>
          <p:nvPr/>
        </p:nvSpPr>
        <p:spPr>
          <a:xfrm>
            <a:off x="3454400" y="19304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6" name="r"/>
          <p:cNvSpPr/>
          <p:nvPr/>
        </p:nvSpPr>
        <p:spPr>
          <a:xfrm>
            <a:off x="4013200" y="19304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7" name="r"/>
          <p:cNvSpPr/>
          <p:nvPr/>
        </p:nvSpPr>
        <p:spPr>
          <a:xfrm>
            <a:off x="4572000" y="19304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8" name="r"/>
          <p:cNvSpPr/>
          <p:nvPr/>
        </p:nvSpPr>
        <p:spPr>
          <a:xfrm>
            <a:off x="1219200" y="52832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9" name="r"/>
          <p:cNvSpPr/>
          <p:nvPr/>
        </p:nvSpPr>
        <p:spPr>
          <a:xfrm>
            <a:off x="1219200" y="47244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0" name="r"/>
          <p:cNvSpPr/>
          <p:nvPr/>
        </p:nvSpPr>
        <p:spPr>
          <a:xfrm>
            <a:off x="1219200" y="41656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1" name="r"/>
          <p:cNvSpPr/>
          <p:nvPr/>
        </p:nvSpPr>
        <p:spPr>
          <a:xfrm>
            <a:off x="1219200" y="36068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2" name="r"/>
          <p:cNvSpPr/>
          <p:nvPr/>
        </p:nvSpPr>
        <p:spPr>
          <a:xfrm>
            <a:off x="1219200" y="30480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3" name="r"/>
          <p:cNvSpPr/>
          <p:nvPr/>
        </p:nvSpPr>
        <p:spPr>
          <a:xfrm>
            <a:off x="1219200" y="24892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4" name="r"/>
          <p:cNvSpPr/>
          <p:nvPr/>
        </p:nvSpPr>
        <p:spPr>
          <a:xfrm>
            <a:off x="1219200" y="19304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5" name="r"/>
          <p:cNvSpPr/>
          <p:nvPr/>
        </p:nvSpPr>
        <p:spPr>
          <a:xfrm>
            <a:off x="1219200" y="5273040"/>
            <a:ext cx="3352800" cy="1905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6" name="r"/>
          <p:cNvSpPr/>
          <p:nvPr/>
        </p:nvSpPr>
        <p:spPr>
          <a:xfrm>
            <a:off x="1209040" y="1930400"/>
            <a:ext cx="19050" cy="335280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7" name="tb"/>
          <p:cNvSpPr txBox="1"/>
          <p:nvPr/>
        </p:nvSpPr>
        <p:spPr>
          <a:xfrm>
            <a:off x="1676400" y="53340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1</a:t>
            </a:r>
          </a:p>
        </p:txBody>
      </p:sp>
      <p:sp>
        <p:nvSpPr>
          <p:cNvPr id="6018" name="tb"/>
          <p:cNvSpPr txBox="1"/>
          <p:nvPr/>
        </p:nvSpPr>
        <p:spPr>
          <a:xfrm>
            <a:off x="2235200" y="53340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2</a:t>
            </a:r>
          </a:p>
        </p:txBody>
      </p:sp>
      <p:sp>
        <p:nvSpPr>
          <p:cNvPr id="6019" name="tb"/>
          <p:cNvSpPr txBox="1"/>
          <p:nvPr/>
        </p:nvSpPr>
        <p:spPr>
          <a:xfrm>
            <a:off x="2794000" y="53340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3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3352800" y="53340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4</a:t>
            </a:r>
          </a:p>
        </p:txBody>
      </p:sp>
      <p:sp>
        <p:nvSpPr>
          <p:cNvPr id="6021" name="tb"/>
          <p:cNvSpPr txBox="1"/>
          <p:nvPr/>
        </p:nvSpPr>
        <p:spPr>
          <a:xfrm>
            <a:off x="3911600" y="53340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5</a:t>
            </a:r>
          </a:p>
        </p:txBody>
      </p:sp>
      <p:sp>
        <p:nvSpPr>
          <p:cNvPr id="6022" name="tb"/>
          <p:cNvSpPr txBox="1"/>
          <p:nvPr/>
        </p:nvSpPr>
        <p:spPr>
          <a:xfrm>
            <a:off x="4470400" y="53340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6</a:t>
            </a:r>
          </a:p>
        </p:txBody>
      </p:sp>
      <p:sp>
        <p:nvSpPr>
          <p:cNvPr id="6023" name="tb"/>
          <p:cNvSpPr txBox="1"/>
          <p:nvPr/>
        </p:nvSpPr>
        <p:spPr>
          <a:xfrm>
            <a:off x="1016000" y="4648200"/>
            <a:ext cx="1651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1</a:t>
            </a:r>
          </a:p>
        </p:txBody>
      </p:sp>
      <p:sp>
        <p:nvSpPr>
          <p:cNvPr id="6024" name="tb"/>
          <p:cNvSpPr txBox="1"/>
          <p:nvPr/>
        </p:nvSpPr>
        <p:spPr>
          <a:xfrm>
            <a:off x="1016000" y="4089400"/>
            <a:ext cx="1651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2</a:t>
            </a:r>
          </a:p>
        </p:txBody>
      </p:sp>
      <p:sp>
        <p:nvSpPr>
          <p:cNvPr id="6025" name="tb"/>
          <p:cNvSpPr txBox="1"/>
          <p:nvPr/>
        </p:nvSpPr>
        <p:spPr>
          <a:xfrm>
            <a:off x="1016000" y="3530600"/>
            <a:ext cx="1651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3</a:t>
            </a:r>
          </a:p>
        </p:txBody>
      </p:sp>
      <p:sp>
        <p:nvSpPr>
          <p:cNvPr id="6026" name="tb"/>
          <p:cNvSpPr txBox="1"/>
          <p:nvPr/>
        </p:nvSpPr>
        <p:spPr>
          <a:xfrm>
            <a:off x="1016000" y="2971800"/>
            <a:ext cx="1651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4</a:t>
            </a:r>
          </a:p>
        </p:txBody>
      </p:sp>
      <p:sp>
        <p:nvSpPr>
          <p:cNvPr id="6027" name="tb"/>
          <p:cNvSpPr txBox="1"/>
          <p:nvPr/>
        </p:nvSpPr>
        <p:spPr>
          <a:xfrm>
            <a:off x="1016000" y="2413000"/>
            <a:ext cx="1651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5</a:t>
            </a:r>
          </a:p>
        </p:txBody>
      </p:sp>
      <p:sp>
        <p:nvSpPr>
          <p:cNvPr id="6028" name="tb"/>
          <p:cNvSpPr txBox="1"/>
          <p:nvPr/>
        </p:nvSpPr>
        <p:spPr>
          <a:xfrm>
            <a:off x="1016000" y="1854200"/>
            <a:ext cx="1651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6</a:t>
            </a:r>
          </a:p>
        </p:txBody>
      </p:sp>
      <p:cxnSp>
        <p:nvCxnSpPr>
          <p:cNvPr id="6029" name="seg"/>
          <p:cNvCxnSpPr/>
          <p:nvPr/>
        </p:nvCxnSpPr>
        <p:spPr>
          <a:xfrm>
            <a:off x="1778000" y="3606800"/>
            <a:ext cx="361576" cy="1446306"/>
          </a:xfrm>
          <a:prstGeom prst="line">
            <a:avLst/>
          </a:prstGeom>
          <a:ln w="19050" cap="rnd">
            <a:solidFill>
              <a:srgbClr val="9A9A9A"/>
            </a:solidFill>
            <a:prstDash val="dash"/>
          </a:ln>
        </p:spPr>
      </p:cxnSp>
      <p:cxnSp>
        <p:nvCxnSpPr>
          <p:cNvPr id="6030" name="vec"/>
          <p:cNvCxnSpPr/>
          <p:nvPr/>
        </p:nvCxnSpPr>
        <p:spPr>
          <a:xfrm flipV="1">
            <a:off x="1219200" y="4724400"/>
            <a:ext cx="2235200" cy="558800"/>
          </a:xfrm>
          <a:prstGeom prst="line">
            <a:avLst/>
          </a:prstGeom>
          <a:ln w="38100" cap="rnd">
            <a:solidFill>
              <a:srgbClr val="4B2E83"/>
            </a:solidFill>
            <a:tailEnd type="triangle" w="med" len="med"/>
          </a:ln>
        </p:spPr>
      </p:cxnSp>
      <p:cxnSp>
        <p:nvCxnSpPr>
          <p:cNvPr id="6031" name="vec"/>
          <p:cNvCxnSpPr/>
          <p:nvPr/>
        </p:nvCxnSpPr>
        <p:spPr>
          <a:xfrm flipV="1">
            <a:off x="1219200" y="3606800"/>
            <a:ext cx="558800" cy="1676400"/>
          </a:xfrm>
          <a:prstGeom prst="line">
            <a:avLst/>
          </a:prstGeom>
          <a:ln w="38100" cap="rnd">
            <a:solidFill>
              <a:srgbClr val="00A7B5"/>
            </a:solidFill>
            <a:tailEnd type="triangle" w="med" len="med"/>
          </a:ln>
        </p:spPr>
      </p:cxnSp>
      <p:sp>
        <p:nvSpPr>
          <p:cNvPr id="6032" name="tb"/>
          <p:cNvSpPr txBox="1"/>
          <p:nvPr/>
        </p:nvSpPr>
        <p:spPr>
          <a:xfrm>
            <a:off x="3505200" y="4521200"/>
            <a:ext cx="1143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50" b="1" dirty="0">
                <a:solidFill>
                  <a:srgbClr val="4B2E83"/>
                </a:solidFill>
              </a:rPr>
              <a:t>a = (4,1)</a:t>
            </a:r>
          </a:p>
        </p:txBody>
      </p:sp>
      <p:sp>
        <p:nvSpPr>
          <p:cNvPr id="6033" name="tb"/>
          <p:cNvSpPr txBox="1"/>
          <p:nvPr/>
        </p:nvSpPr>
        <p:spPr>
          <a:xfrm>
            <a:off x="1828800" y="3378200"/>
            <a:ext cx="1143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50" b="1" dirty="0">
                <a:solidFill>
                  <a:srgbClr val="00A7B5"/>
                </a:solidFill>
              </a:rPr>
              <a:t>b = (1,3)</a:t>
            </a:r>
          </a:p>
        </p:txBody>
      </p:sp>
      <p:sp>
        <p:nvSpPr>
          <p:cNvPr id="6034" name="panel"/>
          <p:cNvSpPr/>
          <p:nvPr/>
        </p:nvSpPr>
        <p:spPr>
          <a:xfrm>
            <a:off x="6146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35" name="tb"/>
          <p:cNvSpPr txBox="1"/>
          <p:nvPr/>
        </p:nvSpPr>
        <p:spPr>
          <a:xfrm>
            <a:off x="6400800" y="1473200"/>
            <a:ext cx="5232400" cy="355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Component form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036" name="tb"/>
              <p:cNvSpPr txBox="1"/>
              <p:nvPr/>
            </p:nvSpPr>
            <p:spPr>
              <a:xfrm>
                <a:off x="6400800" y="1905000"/>
                <a:ext cx="5232400" cy="3810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𝑎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·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𝑏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 = </m:t>
                      </m:r>
                      <m:sSub>
                        <m:sSubPr>
                          <m:ctrlPr>
                            <a:rPr lang="en-US" sz="15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15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 + </m:t>
                      </m:r>
                      <m:sSub>
                        <m:sSubPr>
                          <m:ctrlPr>
                            <a:rPr lang="en-US" sz="15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15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6036" name="tb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1905000"/>
                <a:ext cx="5232400" cy="381000"/>
              </a:xfrm>
              <a:prstGeom prst="rect">
                <a:avLst/>
              </a:prstGeom>
              <a:blipFill>
                <a:blip r:embed="rId2"/>
                <a:stretch>
                  <a:fillRect t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37" name="tb"/>
              <p:cNvSpPr txBox="1"/>
              <p:nvPr/>
            </p:nvSpPr>
            <p:spPr>
              <a:xfrm>
                <a:off x="6400800" y="2362200"/>
                <a:ext cx="5232400" cy="3810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= (4)(1) + (1)(3) = 7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6037" name="tb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2362200"/>
                <a:ext cx="5232400" cy="381000"/>
              </a:xfrm>
              <a:prstGeom prst="rect">
                <a:avLst/>
              </a:prstGeom>
              <a:blipFill>
                <a:blip r:embed="rId3"/>
                <a:stretch>
                  <a:fillRect t="-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38" name="tb"/>
          <p:cNvSpPr txBox="1"/>
          <p:nvPr/>
        </p:nvSpPr>
        <p:spPr>
          <a:xfrm>
            <a:off x="6400800" y="2997200"/>
            <a:ext cx="5232400" cy="355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Geometric form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039" name="tb"/>
              <p:cNvSpPr txBox="1"/>
              <p:nvPr/>
            </p:nvSpPr>
            <p:spPr>
              <a:xfrm>
                <a:off x="6400800" y="3429000"/>
                <a:ext cx="5232400" cy="3810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𝑎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·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𝑏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 = ‖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𝑎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‖‖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𝑏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‖</m:t>
                      </m:r>
                      <m:r>
                        <m:rPr>
                          <m:nor/>
                        </m:rP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cos</m:t>
                      </m:r>
                      <m:r>
                        <m:rPr>
                          <m:nor/>
                        </m:rP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𝜃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6039" name="tb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3429000"/>
                <a:ext cx="5232400" cy="381000"/>
              </a:xfrm>
              <a:prstGeom prst="rect">
                <a:avLst/>
              </a:prstGeom>
              <a:blipFill>
                <a:blip r:embed="rId4"/>
                <a:stretch>
                  <a:fillRect t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40" name="box"/>
          <p:cNvSpPr/>
          <p:nvPr/>
        </p:nvSpPr>
        <p:spPr>
          <a:xfrm>
            <a:off x="6400800" y="4089400"/>
            <a:ext cx="5232400" cy="1473200"/>
          </a:xfrm>
          <a:prstGeom prst="roundRect">
            <a:avLst>
              <a:gd name="adj" fmla="val 16000"/>
            </a:avLst>
          </a:prstGeom>
          <a:solidFill>
            <a:srgbClr val="F4FAE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1" name="tb"/>
          <p:cNvSpPr txBox="1"/>
          <p:nvPr/>
        </p:nvSpPr>
        <p:spPr>
          <a:xfrm>
            <a:off x="6629400" y="4292600"/>
            <a:ext cx="4775200" cy="1143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400" dirty="0">
                <a:solidFill>
                  <a:srgbClr val="333333"/>
                </a:solidFill>
              </a:rPr>
              <a:t>•  &gt; 0  vectors point the same way</a:t>
            </a:r>
          </a:p>
          <a:p>
            <a:pPr algn="l"/>
            <a:r>
              <a:rPr lang="en-US" sz="1400" dirty="0">
                <a:solidFill>
                  <a:srgbClr val="333333"/>
                </a:solidFill>
              </a:rPr>
              <a:t>•  = 0  vectors are perpendicular</a:t>
            </a:r>
          </a:p>
          <a:p>
            <a:pPr algn="l"/>
            <a:r>
              <a:rPr lang="en-US" sz="1400" dirty="0">
                <a:solidFill>
                  <a:srgbClr val="333333"/>
                </a:solidFill>
              </a:rPr>
              <a:t>•  &lt; 0  vectors point opposite ways</a:t>
            </a:r>
          </a:p>
        </p:txBody>
      </p:sp>
    </p:spTree>
    <p:extLst>
      <p:ext uri="{BB962C8B-B14F-4D97-AF65-F5344CB8AC3E}">
        <p14:creationId xmlns:p14="http://schemas.microsoft.com/office/powerpoint/2010/main" val="168841034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The Norm  ‖a‖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The length of a vector — its straight-line distance from the origin.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The norm is a vector's length: ‖a‖ = √(a·a), the distance from the origin to its tip.</a:t>
            </a:r>
          </a:p>
        </p:txBody>
      </p:sp>
      <p:sp>
        <p:nvSpPr>
          <p:cNvPr id="6000" name="panel"/>
          <p:cNvSpPr/>
          <p:nvPr/>
        </p:nvSpPr>
        <p:spPr>
          <a:xfrm>
            <a:off x="304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r"/>
          <p:cNvSpPr/>
          <p:nvPr/>
        </p:nvSpPr>
        <p:spPr>
          <a:xfrm>
            <a:off x="1219200" y="19304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2" name="r"/>
          <p:cNvSpPr/>
          <p:nvPr/>
        </p:nvSpPr>
        <p:spPr>
          <a:xfrm>
            <a:off x="1778000" y="19304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3" name="r"/>
          <p:cNvSpPr/>
          <p:nvPr/>
        </p:nvSpPr>
        <p:spPr>
          <a:xfrm>
            <a:off x="2336800" y="19304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4" name="r"/>
          <p:cNvSpPr/>
          <p:nvPr/>
        </p:nvSpPr>
        <p:spPr>
          <a:xfrm>
            <a:off x="2895600" y="19304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5" name="r"/>
          <p:cNvSpPr/>
          <p:nvPr/>
        </p:nvSpPr>
        <p:spPr>
          <a:xfrm>
            <a:off x="3454400" y="19304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6" name="r"/>
          <p:cNvSpPr/>
          <p:nvPr/>
        </p:nvSpPr>
        <p:spPr>
          <a:xfrm>
            <a:off x="4013200" y="19304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7" name="r"/>
          <p:cNvSpPr/>
          <p:nvPr/>
        </p:nvSpPr>
        <p:spPr>
          <a:xfrm>
            <a:off x="4572000" y="19304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8" name="r"/>
          <p:cNvSpPr/>
          <p:nvPr/>
        </p:nvSpPr>
        <p:spPr>
          <a:xfrm>
            <a:off x="1219200" y="52832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9" name="r"/>
          <p:cNvSpPr/>
          <p:nvPr/>
        </p:nvSpPr>
        <p:spPr>
          <a:xfrm>
            <a:off x="1219200" y="47244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0" name="r"/>
          <p:cNvSpPr/>
          <p:nvPr/>
        </p:nvSpPr>
        <p:spPr>
          <a:xfrm>
            <a:off x="1219200" y="41656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1" name="r"/>
          <p:cNvSpPr/>
          <p:nvPr/>
        </p:nvSpPr>
        <p:spPr>
          <a:xfrm>
            <a:off x="1219200" y="36068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2" name="r"/>
          <p:cNvSpPr/>
          <p:nvPr/>
        </p:nvSpPr>
        <p:spPr>
          <a:xfrm>
            <a:off x="1219200" y="30480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3" name="r"/>
          <p:cNvSpPr/>
          <p:nvPr/>
        </p:nvSpPr>
        <p:spPr>
          <a:xfrm>
            <a:off x="1219200" y="24892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4" name="r"/>
          <p:cNvSpPr/>
          <p:nvPr/>
        </p:nvSpPr>
        <p:spPr>
          <a:xfrm>
            <a:off x="1219200" y="19304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5" name="r"/>
          <p:cNvSpPr/>
          <p:nvPr/>
        </p:nvSpPr>
        <p:spPr>
          <a:xfrm>
            <a:off x="1219200" y="5274310"/>
            <a:ext cx="3352800" cy="1778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6" name="r"/>
          <p:cNvSpPr/>
          <p:nvPr/>
        </p:nvSpPr>
        <p:spPr>
          <a:xfrm>
            <a:off x="1210310" y="1930400"/>
            <a:ext cx="17780" cy="335280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7" name="tb"/>
          <p:cNvSpPr txBox="1"/>
          <p:nvPr/>
        </p:nvSpPr>
        <p:spPr>
          <a:xfrm>
            <a:off x="1117600" y="53340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0</a:t>
            </a:r>
          </a:p>
        </p:txBody>
      </p:sp>
      <p:sp>
        <p:nvSpPr>
          <p:cNvPr id="6018" name="tb"/>
          <p:cNvSpPr txBox="1"/>
          <p:nvPr/>
        </p:nvSpPr>
        <p:spPr>
          <a:xfrm>
            <a:off x="1676400" y="53340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1</a:t>
            </a:r>
          </a:p>
        </p:txBody>
      </p:sp>
      <p:sp>
        <p:nvSpPr>
          <p:cNvPr id="6019" name="tb"/>
          <p:cNvSpPr txBox="1"/>
          <p:nvPr/>
        </p:nvSpPr>
        <p:spPr>
          <a:xfrm>
            <a:off x="2235200" y="53340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2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2794000" y="53340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3</a:t>
            </a:r>
          </a:p>
        </p:txBody>
      </p:sp>
      <p:sp>
        <p:nvSpPr>
          <p:cNvPr id="6021" name="tb"/>
          <p:cNvSpPr txBox="1"/>
          <p:nvPr/>
        </p:nvSpPr>
        <p:spPr>
          <a:xfrm>
            <a:off x="3352800" y="53340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4</a:t>
            </a:r>
          </a:p>
        </p:txBody>
      </p:sp>
      <p:sp>
        <p:nvSpPr>
          <p:cNvPr id="6022" name="tb"/>
          <p:cNvSpPr txBox="1"/>
          <p:nvPr/>
        </p:nvSpPr>
        <p:spPr>
          <a:xfrm>
            <a:off x="3911600" y="53340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5</a:t>
            </a:r>
          </a:p>
        </p:txBody>
      </p:sp>
      <p:sp>
        <p:nvSpPr>
          <p:cNvPr id="6023" name="tb"/>
          <p:cNvSpPr txBox="1"/>
          <p:nvPr/>
        </p:nvSpPr>
        <p:spPr>
          <a:xfrm>
            <a:off x="4470400" y="53340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6</a:t>
            </a:r>
          </a:p>
        </p:txBody>
      </p:sp>
      <p:sp>
        <p:nvSpPr>
          <p:cNvPr id="6024" name="tb"/>
          <p:cNvSpPr txBox="1"/>
          <p:nvPr/>
        </p:nvSpPr>
        <p:spPr>
          <a:xfrm>
            <a:off x="1016000" y="46482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1</a:t>
            </a:r>
          </a:p>
        </p:txBody>
      </p:sp>
      <p:sp>
        <p:nvSpPr>
          <p:cNvPr id="6025" name="tb"/>
          <p:cNvSpPr txBox="1"/>
          <p:nvPr/>
        </p:nvSpPr>
        <p:spPr>
          <a:xfrm>
            <a:off x="1016000" y="40894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2</a:t>
            </a:r>
          </a:p>
        </p:txBody>
      </p:sp>
      <p:sp>
        <p:nvSpPr>
          <p:cNvPr id="6026" name="tb"/>
          <p:cNvSpPr txBox="1"/>
          <p:nvPr/>
        </p:nvSpPr>
        <p:spPr>
          <a:xfrm>
            <a:off x="1016000" y="35306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3</a:t>
            </a:r>
          </a:p>
        </p:txBody>
      </p:sp>
      <p:sp>
        <p:nvSpPr>
          <p:cNvPr id="6027" name="tb"/>
          <p:cNvSpPr txBox="1"/>
          <p:nvPr/>
        </p:nvSpPr>
        <p:spPr>
          <a:xfrm>
            <a:off x="1016000" y="29718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4</a:t>
            </a:r>
          </a:p>
        </p:txBody>
      </p:sp>
      <p:sp>
        <p:nvSpPr>
          <p:cNvPr id="6028" name="tb"/>
          <p:cNvSpPr txBox="1"/>
          <p:nvPr/>
        </p:nvSpPr>
        <p:spPr>
          <a:xfrm>
            <a:off x="1016000" y="24130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5</a:t>
            </a:r>
          </a:p>
        </p:txBody>
      </p:sp>
      <p:sp>
        <p:nvSpPr>
          <p:cNvPr id="6029" name="tb"/>
          <p:cNvSpPr txBox="1"/>
          <p:nvPr/>
        </p:nvSpPr>
        <p:spPr>
          <a:xfrm>
            <a:off x="1016000" y="18542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6</a:t>
            </a:r>
          </a:p>
        </p:txBody>
      </p:sp>
      <p:cxnSp>
        <p:nvCxnSpPr>
          <p:cNvPr id="6030" name="seg"/>
          <p:cNvCxnSpPr/>
          <p:nvPr/>
        </p:nvCxnSpPr>
        <p:spPr>
          <a:xfrm>
            <a:off x="1219200" y="5283200"/>
            <a:ext cx="2235200" cy="0"/>
          </a:xfrm>
          <a:prstGeom prst="line">
            <a:avLst/>
          </a:prstGeom>
          <a:ln w="19050" cap="rnd">
            <a:solidFill>
              <a:srgbClr val="9A9A9A"/>
            </a:solidFill>
            <a:prstDash val="dash"/>
          </a:ln>
        </p:spPr>
      </p:cxnSp>
      <p:cxnSp>
        <p:nvCxnSpPr>
          <p:cNvPr id="6031" name="seg"/>
          <p:cNvCxnSpPr/>
          <p:nvPr/>
        </p:nvCxnSpPr>
        <p:spPr>
          <a:xfrm flipV="1">
            <a:off x="3454400" y="3606800"/>
            <a:ext cx="0" cy="1676400"/>
          </a:xfrm>
          <a:prstGeom prst="line">
            <a:avLst/>
          </a:prstGeom>
          <a:ln w="19050" cap="rnd">
            <a:solidFill>
              <a:srgbClr val="9A9A9A"/>
            </a:solidFill>
            <a:prstDash val="dash"/>
          </a:ln>
        </p:spPr>
      </p:cxnSp>
      <p:sp>
        <p:nvSpPr>
          <p:cNvPr id="6032" name="r"/>
          <p:cNvSpPr/>
          <p:nvPr/>
        </p:nvSpPr>
        <p:spPr>
          <a:xfrm>
            <a:off x="3276600" y="5105400"/>
            <a:ext cx="177800" cy="20320"/>
          </a:xfrm>
          <a:prstGeom prst="rect">
            <a:avLst/>
          </a:prstGeom>
          <a:solidFill>
            <a:srgbClr val="6E6E6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3" name="r"/>
          <p:cNvSpPr/>
          <p:nvPr/>
        </p:nvSpPr>
        <p:spPr>
          <a:xfrm>
            <a:off x="3276600" y="5105400"/>
            <a:ext cx="20320" cy="177800"/>
          </a:xfrm>
          <a:prstGeom prst="rect">
            <a:avLst/>
          </a:prstGeom>
          <a:solidFill>
            <a:srgbClr val="6E6E6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cxnSp>
        <p:nvCxnSpPr>
          <p:cNvPr id="6034" name="vec"/>
          <p:cNvCxnSpPr/>
          <p:nvPr/>
        </p:nvCxnSpPr>
        <p:spPr>
          <a:xfrm flipV="1">
            <a:off x="1219200" y="3606800"/>
            <a:ext cx="2235200" cy="1676400"/>
          </a:xfrm>
          <a:prstGeom prst="line">
            <a:avLst/>
          </a:prstGeom>
          <a:ln w="38100" cap="rnd">
            <a:solidFill>
              <a:srgbClr val="4B2E83"/>
            </a:solidFill>
            <a:tailEnd type="triangle" w="med" len="med"/>
          </a:ln>
        </p:spPr>
      </p:cxnSp>
      <p:sp>
        <p:nvSpPr>
          <p:cNvPr id="6035" name="tb"/>
          <p:cNvSpPr txBox="1"/>
          <p:nvPr/>
        </p:nvSpPr>
        <p:spPr>
          <a:xfrm>
            <a:off x="3530600" y="3352800"/>
            <a:ext cx="1778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a = (4, 3)</a:t>
            </a:r>
          </a:p>
        </p:txBody>
      </p:sp>
      <p:sp>
        <p:nvSpPr>
          <p:cNvPr id="6037" name="tb"/>
          <p:cNvSpPr txBox="1"/>
          <p:nvPr/>
        </p:nvSpPr>
        <p:spPr>
          <a:xfrm>
            <a:off x="3530600" y="4343400"/>
            <a:ext cx="1778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00" b="1" dirty="0">
                <a:solidFill>
                  <a:srgbClr val="6E6E6E"/>
                </a:solidFill>
              </a:rPr>
              <a:t>3</a:t>
            </a:r>
          </a:p>
        </p:txBody>
      </p:sp>
      <p:sp>
        <p:nvSpPr>
          <p:cNvPr id="6038" name="tb"/>
          <p:cNvSpPr txBox="1"/>
          <p:nvPr/>
        </p:nvSpPr>
        <p:spPr>
          <a:xfrm>
            <a:off x="1905000" y="4114800"/>
            <a:ext cx="1778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b="1" dirty="0">
                <a:solidFill>
                  <a:srgbClr val="4B2E83"/>
                </a:solidFill>
              </a:rPr>
              <a:t>‖a‖ = 5</a:t>
            </a:r>
          </a:p>
        </p:txBody>
      </p:sp>
      <p:sp>
        <p:nvSpPr>
          <p:cNvPr id="6039" name="panel"/>
          <p:cNvSpPr/>
          <p:nvPr/>
        </p:nvSpPr>
        <p:spPr>
          <a:xfrm>
            <a:off x="6146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040" name="tb"/>
              <p:cNvSpPr txBox="1"/>
              <p:nvPr/>
            </p:nvSpPr>
            <p:spPr>
              <a:xfrm>
                <a:off x="6400800" y="1524000"/>
                <a:ext cx="5232400" cy="3810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‖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𝑎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‖ = </m:t>
                      </m:r>
                      <m:rad>
                        <m:radPr>
                          <m:degHide m:val="on"/>
                          <m:ctrlPr>
                            <a:rPr lang="en-US" sz="15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15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1500" i="1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500">
                                      <a:solidFill>
                                        <a:srgbClr val="333333"/>
                                      </a:solidFill>
                                      <a:latin typeface="Cambria Math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1500">
                                      <a:solidFill>
                                        <a:srgbClr val="333333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sz="150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+ </m:t>
                          </m:r>
                          <m:sSup>
                            <m:sSupPr>
                              <m:ctrlPr>
                                <a:rPr lang="en-US" sz="15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1500" i="1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500">
                                      <a:solidFill>
                                        <a:srgbClr val="333333"/>
                                      </a:solidFill>
                                      <a:latin typeface="Cambria Math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1500">
                                      <a:solidFill>
                                        <a:srgbClr val="333333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sz="150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6040" name="tb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1524000"/>
                <a:ext cx="5232400" cy="381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41" name="tb"/>
              <p:cNvSpPr txBox="1"/>
              <p:nvPr/>
            </p:nvSpPr>
            <p:spPr>
              <a:xfrm>
                <a:off x="6400800" y="2159000"/>
                <a:ext cx="5232400" cy="4064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US" sz="15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15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50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n-US" sz="150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+ </m:t>
                          </m:r>
                          <m:sSup>
                            <m:sSupPr>
                              <m:ctrlPr>
                                <a:rPr lang="en-US" sz="15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50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3</m:t>
                              </m:r>
                            </m:e>
                            <m:sup>
                              <m:r>
                                <a:rPr lang="en-US" sz="150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 = </m:t>
                      </m:r>
                      <m:rad>
                        <m:radPr>
                          <m:degHide m:val="on"/>
                          <m:ctrlPr>
                            <a:rPr lang="en-US" sz="15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25</m:t>
                          </m:r>
                        </m:e>
                      </m:rad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 = 5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6041" name="tb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2159000"/>
                <a:ext cx="5232400" cy="4064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42" name="tb"/>
              <p:cNvSpPr txBox="1"/>
              <p:nvPr/>
            </p:nvSpPr>
            <p:spPr>
              <a:xfrm>
                <a:off x="6400800" y="2768600"/>
                <a:ext cx="5232400" cy="4064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5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‖</m:t>
                          </m:r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𝑎</m:t>
                          </m:r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‖</m:t>
                          </m:r>
                        </m:e>
                        <m:sup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 = 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𝑎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·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𝑎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6042" name="tb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2768600"/>
                <a:ext cx="5232400" cy="406400"/>
              </a:xfrm>
              <a:prstGeom prst="rect">
                <a:avLst/>
              </a:prstGeom>
              <a:blipFill>
                <a:blip r:embed="rId4"/>
                <a:stretch>
                  <a:fillRect t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43" name="tb"/>
          <p:cNvSpPr txBox="1"/>
          <p:nvPr/>
        </p:nvSpPr>
        <p:spPr>
          <a:xfrm>
            <a:off x="6400800" y="3378200"/>
            <a:ext cx="5232400" cy="355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i="1" dirty="0">
                <a:solidFill>
                  <a:srgbClr val="595959"/>
                </a:solidFill>
              </a:rPr>
              <a:t>‖a‖² = a · a   (norm from the dot product)</a:t>
            </a:r>
          </a:p>
        </p:txBody>
      </p:sp>
      <p:sp>
        <p:nvSpPr>
          <p:cNvPr id="6044" name="box"/>
          <p:cNvSpPr/>
          <p:nvPr/>
        </p:nvSpPr>
        <p:spPr>
          <a:xfrm>
            <a:off x="6324600" y="4089400"/>
            <a:ext cx="5384800" cy="1320800"/>
          </a:xfrm>
          <a:prstGeom prst="roundRect">
            <a:avLst>
              <a:gd name="adj" fmla="val 12000"/>
            </a:avLst>
          </a:prstGeom>
          <a:solidFill>
            <a:srgbClr val="F4FAEF"/>
          </a:solidFill>
          <a:ln w="19050">
            <a:solidFill>
              <a:srgbClr val="7AB64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45" name="tb"/>
          <p:cNvSpPr txBox="1"/>
          <p:nvPr/>
        </p:nvSpPr>
        <p:spPr>
          <a:xfrm>
            <a:off x="6553200" y="4292600"/>
            <a:ext cx="4927600" cy="1016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dirty="0">
                <a:solidFill>
                  <a:srgbClr val="333333"/>
                </a:solidFill>
              </a:rPr>
              <a:t>•  Distance from the origin to the tip.</a:t>
            </a:r>
          </a:p>
          <a:p>
            <a:pPr algn="l"/>
            <a:r>
              <a:rPr lang="en-US" sz="1450" dirty="0">
                <a:solidFill>
                  <a:srgbClr val="333333"/>
                </a:solidFill>
              </a:rPr>
              <a:t>•  Always ≥ 0; zero only for the zero vector.</a:t>
            </a:r>
          </a:p>
          <a:p>
            <a:pPr algn="l"/>
            <a:r>
              <a:rPr lang="en-US" sz="1450" dirty="0">
                <a:solidFill>
                  <a:srgbClr val="333333"/>
                </a:solidFill>
              </a:rPr>
              <a:t>•  ‖ka‖ = |k|·‖a‖  (scales with length).</a:t>
            </a:r>
          </a:p>
        </p:txBody>
      </p:sp>
    </p:spTree>
    <p:extLst>
      <p:ext uri="{BB962C8B-B14F-4D97-AF65-F5344CB8AC3E}">
        <p14:creationId xmlns:p14="http://schemas.microsoft.com/office/powerpoint/2010/main" val="195833305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Cosine Similarity  cos θ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How aligned two vectors are — independent of their length.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Cosine similarity reads the angle between vectors: +1 aligned, 0 perpendicular, −1 opposite.</a:t>
            </a:r>
          </a:p>
        </p:txBody>
      </p:sp>
      <p:sp>
        <p:nvSpPr>
          <p:cNvPr id="6000" name="panel"/>
          <p:cNvSpPr/>
          <p:nvPr/>
        </p:nvSpPr>
        <p:spPr>
          <a:xfrm>
            <a:off x="304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22400"/>
            <a:ext cx="52324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Angle θ between a and b</a:t>
            </a:r>
          </a:p>
        </p:txBody>
      </p:sp>
      <p:sp>
        <p:nvSpPr>
          <p:cNvPr id="6002" name="r"/>
          <p:cNvSpPr/>
          <p:nvPr/>
        </p:nvSpPr>
        <p:spPr>
          <a:xfrm>
            <a:off x="1397000" y="19812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3" name="r"/>
          <p:cNvSpPr/>
          <p:nvPr/>
        </p:nvSpPr>
        <p:spPr>
          <a:xfrm>
            <a:off x="1955800" y="19812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4" name="r"/>
          <p:cNvSpPr/>
          <p:nvPr/>
        </p:nvSpPr>
        <p:spPr>
          <a:xfrm>
            <a:off x="2514600" y="19812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5" name="r"/>
          <p:cNvSpPr/>
          <p:nvPr/>
        </p:nvSpPr>
        <p:spPr>
          <a:xfrm>
            <a:off x="3073400" y="19812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6" name="r"/>
          <p:cNvSpPr/>
          <p:nvPr/>
        </p:nvSpPr>
        <p:spPr>
          <a:xfrm>
            <a:off x="3632200" y="19812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7" name="r"/>
          <p:cNvSpPr/>
          <p:nvPr/>
        </p:nvSpPr>
        <p:spPr>
          <a:xfrm>
            <a:off x="4191000" y="19812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8" name="r"/>
          <p:cNvSpPr/>
          <p:nvPr/>
        </p:nvSpPr>
        <p:spPr>
          <a:xfrm>
            <a:off x="4749800" y="19812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9" name="r"/>
          <p:cNvSpPr/>
          <p:nvPr/>
        </p:nvSpPr>
        <p:spPr>
          <a:xfrm>
            <a:off x="1397000" y="53340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0" name="r"/>
          <p:cNvSpPr/>
          <p:nvPr/>
        </p:nvSpPr>
        <p:spPr>
          <a:xfrm>
            <a:off x="1397000" y="47752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1" name="r"/>
          <p:cNvSpPr/>
          <p:nvPr/>
        </p:nvSpPr>
        <p:spPr>
          <a:xfrm>
            <a:off x="1397000" y="42164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2" name="r"/>
          <p:cNvSpPr/>
          <p:nvPr/>
        </p:nvSpPr>
        <p:spPr>
          <a:xfrm>
            <a:off x="1397000" y="36576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3" name="r"/>
          <p:cNvSpPr/>
          <p:nvPr/>
        </p:nvSpPr>
        <p:spPr>
          <a:xfrm>
            <a:off x="1397000" y="30988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4" name="r"/>
          <p:cNvSpPr/>
          <p:nvPr/>
        </p:nvSpPr>
        <p:spPr>
          <a:xfrm>
            <a:off x="1397000" y="25400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5" name="r"/>
          <p:cNvSpPr/>
          <p:nvPr/>
        </p:nvSpPr>
        <p:spPr>
          <a:xfrm>
            <a:off x="1397000" y="19812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6" name="r"/>
          <p:cNvSpPr/>
          <p:nvPr/>
        </p:nvSpPr>
        <p:spPr>
          <a:xfrm>
            <a:off x="1397000" y="5325110"/>
            <a:ext cx="3352800" cy="1778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7" name="r"/>
          <p:cNvSpPr/>
          <p:nvPr/>
        </p:nvSpPr>
        <p:spPr>
          <a:xfrm>
            <a:off x="1388110" y="1981200"/>
            <a:ext cx="17780" cy="335280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8" name="tb"/>
          <p:cNvSpPr txBox="1"/>
          <p:nvPr/>
        </p:nvSpPr>
        <p:spPr>
          <a:xfrm>
            <a:off x="1295400" y="53848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0</a:t>
            </a:r>
          </a:p>
        </p:txBody>
      </p:sp>
      <p:sp>
        <p:nvSpPr>
          <p:cNvPr id="6019" name="tb"/>
          <p:cNvSpPr txBox="1"/>
          <p:nvPr/>
        </p:nvSpPr>
        <p:spPr>
          <a:xfrm>
            <a:off x="1854200" y="53848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1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2413000" y="53848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2</a:t>
            </a:r>
          </a:p>
        </p:txBody>
      </p:sp>
      <p:sp>
        <p:nvSpPr>
          <p:cNvPr id="6021" name="tb"/>
          <p:cNvSpPr txBox="1"/>
          <p:nvPr/>
        </p:nvSpPr>
        <p:spPr>
          <a:xfrm>
            <a:off x="2971800" y="53848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3</a:t>
            </a:r>
          </a:p>
        </p:txBody>
      </p:sp>
      <p:sp>
        <p:nvSpPr>
          <p:cNvPr id="6022" name="tb"/>
          <p:cNvSpPr txBox="1"/>
          <p:nvPr/>
        </p:nvSpPr>
        <p:spPr>
          <a:xfrm>
            <a:off x="3530600" y="53848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4</a:t>
            </a:r>
          </a:p>
        </p:txBody>
      </p:sp>
      <p:sp>
        <p:nvSpPr>
          <p:cNvPr id="6023" name="tb"/>
          <p:cNvSpPr txBox="1"/>
          <p:nvPr/>
        </p:nvSpPr>
        <p:spPr>
          <a:xfrm>
            <a:off x="4089400" y="53848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5</a:t>
            </a:r>
          </a:p>
        </p:txBody>
      </p:sp>
      <p:sp>
        <p:nvSpPr>
          <p:cNvPr id="6024" name="tb"/>
          <p:cNvSpPr txBox="1"/>
          <p:nvPr/>
        </p:nvSpPr>
        <p:spPr>
          <a:xfrm>
            <a:off x="4648200" y="53848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6</a:t>
            </a:r>
          </a:p>
        </p:txBody>
      </p:sp>
      <p:sp>
        <p:nvSpPr>
          <p:cNvPr id="6025" name="tb"/>
          <p:cNvSpPr txBox="1"/>
          <p:nvPr/>
        </p:nvSpPr>
        <p:spPr>
          <a:xfrm>
            <a:off x="1193800" y="46990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1</a:t>
            </a:r>
          </a:p>
        </p:txBody>
      </p:sp>
      <p:sp>
        <p:nvSpPr>
          <p:cNvPr id="6026" name="tb"/>
          <p:cNvSpPr txBox="1"/>
          <p:nvPr/>
        </p:nvSpPr>
        <p:spPr>
          <a:xfrm>
            <a:off x="1193800" y="41402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2</a:t>
            </a:r>
          </a:p>
        </p:txBody>
      </p:sp>
      <p:sp>
        <p:nvSpPr>
          <p:cNvPr id="6027" name="tb"/>
          <p:cNvSpPr txBox="1"/>
          <p:nvPr/>
        </p:nvSpPr>
        <p:spPr>
          <a:xfrm>
            <a:off x="1193800" y="35814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3</a:t>
            </a:r>
          </a:p>
        </p:txBody>
      </p:sp>
      <p:sp>
        <p:nvSpPr>
          <p:cNvPr id="6028" name="tb"/>
          <p:cNvSpPr txBox="1"/>
          <p:nvPr/>
        </p:nvSpPr>
        <p:spPr>
          <a:xfrm>
            <a:off x="1193800" y="30226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4</a:t>
            </a:r>
          </a:p>
        </p:txBody>
      </p:sp>
      <p:sp>
        <p:nvSpPr>
          <p:cNvPr id="6029" name="tb"/>
          <p:cNvSpPr txBox="1"/>
          <p:nvPr/>
        </p:nvSpPr>
        <p:spPr>
          <a:xfrm>
            <a:off x="1193800" y="24638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5</a:t>
            </a:r>
          </a:p>
        </p:txBody>
      </p:sp>
      <p:sp>
        <p:nvSpPr>
          <p:cNvPr id="6030" name="tb"/>
          <p:cNvSpPr txBox="1"/>
          <p:nvPr/>
        </p:nvSpPr>
        <p:spPr>
          <a:xfrm>
            <a:off x="1193800" y="19050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6</a:t>
            </a:r>
          </a:p>
        </p:txBody>
      </p:sp>
      <p:cxnSp>
        <p:nvCxnSpPr>
          <p:cNvPr id="6032" name="vec"/>
          <p:cNvCxnSpPr/>
          <p:nvPr/>
        </p:nvCxnSpPr>
        <p:spPr>
          <a:xfrm flipV="1">
            <a:off x="1397000" y="4775200"/>
            <a:ext cx="2235200" cy="558800"/>
          </a:xfrm>
          <a:prstGeom prst="line">
            <a:avLst/>
          </a:prstGeom>
          <a:ln w="34925" cap="rnd">
            <a:solidFill>
              <a:srgbClr val="4B2E83"/>
            </a:solidFill>
            <a:tailEnd type="triangle" w="med" len="med"/>
          </a:ln>
        </p:spPr>
      </p:cxnSp>
      <p:cxnSp>
        <p:nvCxnSpPr>
          <p:cNvPr id="6033" name="vec"/>
          <p:cNvCxnSpPr/>
          <p:nvPr/>
        </p:nvCxnSpPr>
        <p:spPr>
          <a:xfrm flipV="1">
            <a:off x="1397000" y="3657600"/>
            <a:ext cx="558800" cy="1676400"/>
          </a:xfrm>
          <a:prstGeom prst="line">
            <a:avLst/>
          </a:prstGeom>
          <a:ln w="34925" cap="rnd">
            <a:solidFill>
              <a:srgbClr val="00A7B5"/>
            </a:solidFill>
            <a:tailEnd type="triangle" w="med" len="med"/>
          </a:ln>
        </p:spPr>
      </p:cxnSp>
      <p:sp>
        <p:nvSpPr>
          <p:cNvPr id="6034" name="tb"/>
          <p:cNvSpPr txBox="1"/>
          <p:nvPr/>
        </p:nvSpPr>
        <p:spPr>
          <a:xfrm>
            <a:off x="3683000" y="4699000"/>
            <a:ext cx="1016000" cy="203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a</a:t>
            </a:r>
          </a:p>
        </p:txBody>
      </p:sp>
      <p:sp>
        <p:nvSpPr>
          <p:cNvPr id="6035" name="tb"/>
          <p:cNvSpPr txBox="1"/>
          <p:nvPr/>
        </p:nvSpPr>
        <p:spPr>
          <a:xfrm>
            <a:off x="2032000" y="3403600"/>
            <a:ext cx="1016000" cy="203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00A7B5"/>
                </a:solidFill>
              </a:rPr>
              <a:t>b</a:t>
            </a:r>
          </a:p>
        </p:txBody>
      </p:sp>
      <p:sp>
        <p:nvSpPr>
          <p:cNvPr id="6036" name="tb"/>
          <p:cNvSpPr txBox="1"/>
          <p:nvPr/>
        </p:nvSpPr>
        <p:spPr>
          <a:xfrm>
            <a:off x="1955800" y="4749800"/>
            <a:ext cx="3048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500" b="1" i="1" dirty="0">
                <a:solidFill>
                  <a:srgbClr val="D1578A"/>
                </a:solidFill>
              </a:rPr>
              <a:t>θ</a:t>
            </a:r>
          </a:p>
        </p:txBody>
      </p:sp>
      <p:sp>
        <p:nvSpPr>
          <p:cNvPr id="6037" name="panel"/>
          <p:cNvSpPr/>
          <p:nvPr/>
        </p:nvSpPr>
        <p:spPr>
          <a:xfrm>
            <a:off x="6146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38" name="tb"/>
          <p:cNvSpPr txBox="1"/>
          <p:nvPr/>
        </p:nvSpPr>
        <p:spPr>
          <a:xfrm>
            <a:off x="6400800" y="1422400"/>
            <a:ext cx="52324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Measure direction, not size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039" name="tb"/>
              <p:cNvSpPr txBox="1"/>
              <p:nvPr/>
            </p:nvSpPr>
            <p:spPr>
              <a:xfrm>
                <a:off x="6400800" y="1905000"/>
                <a:ext cx="5232400" cy="3810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cos</m:t>
                      </m:r>
                      <m:r>
                        <m:rPr>
                          <m:nor/>
                        </m:rP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𝜃</m:t>
                      </m:r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 = </m:t>
                      </m:r>
                      <m:f>
                        <m:fPr>
                          <m:ctrlPr>
                            <a:rPr lang="en-US" sz="15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𝑎</m:t>
                          </m:r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·</m:t>
                          </m:r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𝑏</m:t>
                          </m:r>
                        </m:num>
                        <m:den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‖</m:t>
                          </m:r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𝑎</m:t>
                          </m:r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‖‖</m:t>
                          </m:r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𝑏</m:t>
                          </m:r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‖</m:t>
                          </m:r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6039" name="tb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1905000"/>
                <a:ext cx="5232400" cy="381000"/>
              </a:xfrm>
              <a:prstGeom prst="rect">
                <a:avLst/>
              </a:prstGeom>
              <a:blipFill>
                <a:blip r:embed="rId2"/>
                <a:stretch>
                  <a:fillRect t="-3333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40" name="tb"/>
              <p:cNvSpPr txBox="1"/>
              <p:nvPr/>
            </p:nvSpPr>
            <p:spPr>
              <a:xfrm>
                <a:off x="6400800" y="2438400"/>
                <a:ext cx="5232400" cy="3556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rmAutofit fontScale="70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n-US" sz="15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7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15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50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17</m:t>
                              </m:r>
                            </m:e>
                          </m:rad>
                          <m:r>
                            <a:rPr lang="en-US" sz="15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·</m:t>
                          </m:r>
                          <m:rad>
                            <m:radPr>
                              <m:degHide m:val="on"/>
                              <m:ctrlPr>
                                <a:rPr lang="en-US" sz="15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50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10</m:t>
                              </m:r>
                            </m:e>
                          </m:rad>
                        </m:den>
                      </m:f>
                      <m:r>
                        <a:rPr lang="en-US" sz="1500">
                          <a:solidFill>
                            <a:srgbClr val="333333"/>
                          </a:solidFill>
                          <a:latin typeface="Cambria Math"/>
                        </a:rPr>
                        <m:t> ≈ 0.54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6040" name="tb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2438400"/>
                <a:ext cx="5232400" cy="355600"/>
              </a:xfrm>
              <a:prstGeom prst="rect">
                <a:avLst/>
              </a:prstGeom>
              <a:blipFill>
                <a:blip r:embed="rId3"/>
                <a:stretch>
                  <a:fillRect t="-3571"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41" name="tb"/>
          <p:cNvSpPr txBox="1"/>
          <p:nvPr/>
        </p:nvSpPr>
        <p:spPr>
          <a:xfrm>
            <a:off x="6400800" y="2844800"/>
            <a:ext cx="5232400" cy="355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dirty="0">
                <a:solidFill>
                  <a:srgbClr val="333333"/>
                </a:solidFill>
              </a:rPr>
              <a:t>θ ≈ </a:t>
            </a:r>
            <a:r>
              <a:rPr lang="en-US" sz="1500" b="1" dirty="0">
                <a:solidFill>
                  <a:srgbClr val="4B2E83"/>
                </a:solidFill>
              </a:rPr>
              <a:t>57°</a:t>
            </a:r>
          </a:p>
        </p:txBody>
      </p:sp>
      <p:sp>
        <p:nvSpPr>
          <p:cNvPr id="6042" name="tb"/>
          <p:cNvSpPr txBox="1"/>
          <p:nvPr/>
        </p:nvSpPr>
        <p:spPr>
          <a:xfrm>
            <a:off x="6400800" y="3302000"/>
            <a:ext cx="52324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Scale-invariant: cos θ ignores vector length.</a:t>
            </a:r>
          </a:p>
        </p:txBody>
      </p:sp>
      <p:sp>
        <p:nvSpPr>
          <p:cNvPr id="6043" name="box"/>
          <p:cNvSpPr/>
          <p:nvPr/>
        </p:nvSpPr>
        <p:spPr>
          <a:xfrm>
            <a:off x="6324600" y="3810000"/>
            <a:ext cx="5384800" cy="1778000"/>
          </a:xfrm>
          <a:prstGeom prst="roundRect">
            <a:avLst>
              <a:gd name="adj" fmla="val 7000"/>
            </a:avLst>
          </a:prstGeom>
          <a:solidFill>
            <a:srgbClr val="F4FAEF"/>
          </a:solidFill>
          <a:ln w="19050">
            <a:solidFill>
              <a:srgbClr val="7AB64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44" name="tb"/>
          <p:cNvSpPr txBox="1"/>
          <p:nvPr/>
        </p:nvSpPr>
        <p:spPr>
          <a:xfrm>
            <a:off x="6553200" y="3987800"/>
            <a:ext cx="4978400" cy="381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7AB648"/>
                </a:solidFill>
              </a:rPr>
              <a:t>cos θ = +1</a:t>
            </a:r>
            <a:r>
              <a:rPr lang="en-US" sz="1400" dirty="0">
                <a:solidFill>
                  <a:srgbClr val="333333"/>
                </a:solidFill>
              </a:rPr>
              <a:t>   same direction</a:t>
            </a:r>
          </a:p>
        </p:txBody>
      </p:sp>
      <p:sp>
        <p:nvSpPr>
          <p:cNvPr id="6045" name="tb"/>
          <p:cNvSpPr txBox="1"/>
          <p:nvPr/>
        </p:nvSpPr>
        <p:spPr>
          <a:xfrm>
            <a:off x="6553200" y="4445000"/>
            <a:ext cx="4978400" cy="381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B7A57A"/>
                </a:solidFill>
              </a:rPr>
              <a:t>cos θ = 0</a:t>
            </a:r>
            <a:r>
              <a:rPr lang="en-US" sz="1400" dirty="0">
                <a:solidFill>
                  <a:srgbClr val="333333"/>
                </a:solidFill>
              </a:rPr>
              <a:t>    perpendicular (unrelated)</a:t>
            </a:r>
          </a:p>
        </p:txBody>
      </p:sp>
      <p:sp>
        <p:nvSpPr>
          <p:cNvPr id="6046" name="tb"/>
          <p:cNvSpPr txBox="1"/>
          <p:nvPr/>
        </p:nvSpPr>
        <p:spPr>
          <a:xfrm>
            <a:off x="6553200" y="4902200"/>
            <a:ext cx="4978400" cy="381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D1578A"/>
                </a:solidFill>
              </a:rPr>
              <a:t>cos θ = −1</a:t>
            </a:r>
            <a:r>
              <a:rPr lang="en-US" sz="1400" dirty="0">
                <a:solidFill>
                  <a:srgbClr val="333333"/>
                </a:solidFill>
              </a:rPr>
              <a:t>   opposite direction</a:t>
            </a:r>
          </a:p>
        </p:txBody>
      </p:sp>
      <p:sp>
        <p:nvSpPr>
          <p:cNvPr id="6047" name="tb"/>
          <p:cNvSpPr txBox="1"/>
          <p:nvPr/>
        </p:nvSpPr>
        <p:spPr>
          <a:xfrm>
            <a:off x="6553200" y="5283200"/>
            <a:ext cx="49784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50" i="1" dirty="0">
                <a:solidFill>
                  <a:srgbClr val="595959"/>
                </a:solidFill>
              </a:rPr>
              <a:t>Range:  −1 ≤ cos θ ≤ +1</a:t>
            </a:r>
          </a:p>
        </p:txBody>
      </p:sp>
    </p:spTree>
    <p:extLst>
      <p:ext uri="{BB962C8B-B14F-4D97-AF65-F5344CB8AC3E}">
        <p14:creationId xmlns:p14="http://schemas.microsoft.com/office/powerpoint/2010/main" val="223554190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Distance Between People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Each person is a point: x = Age, y = Income. Closer points mean more similar people.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Treat each person as a vector — the distance between their points measures how similar they are.</a:t>
            </a:r>
          </a:p>
        </p:txBody>
      </p:sp>
      <p:sp>
        <p:nvSpPr>
          <p:cNvPr id="6000" name="panel"/>
          <p:cNvSpPr/>
          <p:nvPr/>
        </p:nvSpPr>
        <p:spPr>
          <a:xfrm>
            <a:off x="304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r"/>
          <p:cNvSpPr/>
          <p:nvPr/>
        </p:nvSpPr>
        <p:spPr>
          <a:xfrm>
            <a:off x="1524000" y="19558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2" name="r"/>
          <p:cNvSpPr/>
          <p:nvPr/>
        </p:nvSpPr>
        <p:spPr>
          <a:xfrm>
            <a:off x="2082800" y="19558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3" name="r"/>
          <p:cNvSpPr/>
          <p:nvPr/>
        </p:nvSpPr>
        <p:spPr>
          <a:xfrm>
            <a:off x="2641600" y="19558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4" name="r"/>
          <p:cNvSpPr/>
          <p:nvPr/>
        </p:nvSpPr>
        <p:spPr>
          <a:xfrm>
            <a:off x="3200400" y="19558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5" name="r"/>
          <p:cNvSpPr/>
          <p:nvPr/>
        </p:nvSpPr>
        <p:spPr>
          <a:xfrm>
            <a:off x="3759200" y="19558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6" name="r"/>
          <p:cNvSpPr/>
          <p:nvPr/>
        </p:nvSpPr>
        <p:spPr>
          <a:xfrm>
            <a:off x="4318000" y="19558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7" name="r"/>
          <p:cNvSpPr/>
          <p:nvPr/>
        </p:nvSpPr>
        <p:spPr>
          <a:xfrm>
            <a:off x="4876800" y="19558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8" name="r"/>
          <p:cNvSpPr/>
          <p:nvPr/>
        </p:nvSpPr>
        <p:spPr>
          <a:xfrm>
            <a:off x="1524000" y="53086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9" name="r"/>
          <p:cNvSpPr/>
          <p:nvPr/>
        </p:nvSpPr>
        <p:spPr>
          <a:xfrm>
            <a:off x="1524000" y="47498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0" name="r"/>
          <p:cNvSpPr/>
          <p:nvPr/>
        </p:nvSpPr>
        <p:spPr>
          <a:xfrm>
            <a:off x="1524000" y="41910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1" name="r"/>
          <p:cNvSpPr/>
          <p:nvPr/>
        </p:nvSpPr>
        <p:spPr>
          <a:xfrm>
            <a:off x="1524000" y="36322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2" name="r"/>
          <p:cNvSpPr/>
          <p:nvPr/>
        </p:nvSpPr>
        <p:spPr>
          <a:xfrm>
            <a:off x="1524000" y="30734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3" name="r"/>
          <p:cNvSpPr/>
          <p:nvPr/>
        </p:nvSpPr>
        <p:spPr>
          <a:xfrm>
            <a:off x="1524000" y="25146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4" name="r"/>
          <p:cNvSpPr/>
          <p:nvPr/>
        </p:nvSpPr>
        <p:spPr>
          <a:xfrm>
            <a:off x="1524000" y="19558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5" name="r"/>
          <p:cNvSpPr/>
          <p:nvPr/>
        </p:nvSpPr>
        <p:spPr>
          <a:xfrm>
            <a:off x="1524000" y="5299710"/>
            <a:ext cx="3352800" cy="1778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6" name="r"/>
          <p:cNvSpPr/>
          <p:nvPr/>
        </p:nvSpPr>
        <p:spPr>
          <a:xfrm>
            <a:off x="1515110" y="1955800"/>
            <a:ext cx="17780" cy="335280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7" name="tb"/>
          <p:cNvSpPr txBox="1"/>
          <p:nvPr/>
        </p:nvSpPr>
        <p:spPr>
          <a:xfrm>
            <a:off x="1422400" y="53721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0</a:t>
            </a:r>
          </a:p>
        </p:txBody>
      </p:sp>
      <p:sp>
        <p:nvSpPr>
          <p:cNvPr id="6018" name="tb"/>
          <p:cNvSpPr txBox="1"/>
          <p:nvPr/>
        </p:nvSpPr>
        <p:spPr>
          <a:xfrm>
            <a:off x="1981200" y="53721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1</a:t>
            </a:r>
          </a:p>
        </p:txBody>
      </p:sp>
      <p:sp>
        <p:nvSpPr>
          <p:cNvPr id="6019" name="tb"/>
          <p:cNvSpPr txBox="1"/>
          <p:nvPr/>
        </p:nvSpPr>
        <p:spPr>
          <a:xfrm>
            <a:off x="2540000" y="53721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2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3098800" y="53721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3</a:t>
            </a:r>
          </a:p>
        </p:txBody>
      </p:sp>
      <p:sp>
        <p:nvSpPr>
          <p:cNvPr id="6021" name="tb"/>
          <p:cNvSpPr txBox="1"/>
          <p:nvPr/>
        </p:nvSpPr>
        <p:spPr>
          <a:xfrm>
            <a:off x="3657600" y="53721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4</a:t>
            </a:r>
          </a:p>
        </p:txBody>
      </p:sp>
      <p:sp>
        <p:nvSpPr>
          <p:cNvPr id="6022" name="tb"/>
          <p:cNvSpPr txBox="1"/>
          <p:nvPr/>
        </p:nvSpPr>
        <p:spPr>
          <a:xfrm>
            <a:off x="4216400" y="53721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5</a:t>
            </a:r>
          </a:p>
        </p:txBody>
      </p:sp>
      <p:sp>
        <p:nvSpPr>
          <p:cNvPr id="6023" name="tb"/>
          <p:cNvSpPr txBox="1"/>
          <p:nvPr/>
        </p:nvSpPr>
        <p:spPr>
          <a:xfrm>
            <a:off x="4775200" y="53721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6</a:t>
            </a:r>
          </a:p>
        </p:txBody>
      </p:sp>
      <p:sp>
        <p:nvSpPr>
          <p:cNvPr id="6024" name="tb"/>
          <p:cNvSpPr txBox="1"/>
          <p:nvPr/>
        </p:nvSpPr>
        <p:spPr>
          <a:xfrm>
            <a:off x="1308100" y="4673600"/>
            <a:ext cx="1778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1</a:t>
            </a:r>
          </a:p>
        </p:txBody>
      </p:sp>
      <p:sp>
        <p:nvSpPr>
          <p:cNvPr id="6025" name="tb"/>
          <p:cNvSpPr txBox="1"/>
          <p:nvPr/>
        </p:nvSpPr>
        <p:spPr>
          <a:xfrm>
            <a:off x="1308100" y="4114800"/>
            <a:ext cx="1778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2</a:t>
            </a:r>
          </a:p>
        </p:txBody>
      </p:sp>
      <p:sp>
        <p:nvSpPr>
          <p:cNvPr id="6026" name="tb"/>
          <p:cNvSpPr txBox="1"/>
          <p:nvPr/>
        </p:nvSpPr>
        <p:spPr>
          <a:xfrm>
            <a:off x="1308100" y="3556000"/>
            <a:ext cx="1778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3</a:t>
            </a:r>
          </a:p>
        </p:txBody>
      </p:sp>
      <p:sp>
        <p:nvSpPr>
          <p:cNvPr id="6027" name="tb"/>
          <p:cNvSpPr txBox="1"/>
          <p:nvPr/>
        </p:nvSpPr>
        <p:spPr>
          <a:xfrm>
            <a:off x="1308100" y="2997200"/>
            <a:ext cx="1778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4</a:t>
            </a:r>
          </a:p>
        </p:txBody>
      </p:sp>
      <p:sp>
        <p:nvSpPr>
          <p:cNvPr id="6028" name="tb"/>
          <p:cNvSpPr txBox="1"/>
          <p:nvPr/>
        </p:nvSpPr>
        <p:spPr>
          <a:xfrm>
            <a:off x="1308100" y="2438400"/>
            <a:ext cx="1778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5</a:t>
            </a:r>
          </a:p>
        </p:txBody>
      </p:sp>
      <p:sp>
        <p:nvSpPr>
          <p:cNvPr id="6029" name="tb"/>
          <p:cNvSpPr txBox="1"/>
          <p:nvPr/>
        </p:nvSpPr>
        <p:spPr>
          <a:xfrm>
            <a:off x="1308100" y="1879600"/>
            <a:ext cx="1778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6</a:t>
            </a:r>
          </a:p>
        </p:txBody>
      </p:sp>
      <p:sp>
        <p:nvSpPr>
          <p:cNvPr id="6030" name="tb"/>
          <p:cNvSpPr txBox="1"/>
          <p:nvPr/>
        </p:nvSpPr>
        <p:spPr>
          <a:xfrm>
            <a:off x="1905000" y="5384800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Age →</a:t>
            </a:r>
          </a:p>
        </p:txBody>
      </p:sp>
      <p:sp>
        <p:nvSpPr>
          <p:cNvPr id="6031" name="tb"/>
          <p:cNvSpPr txBox="1"/>
          <p:nvPr/>
        </p:nvSpPr>
        <p:spPr>
          <a:xfrm>
            <a:off x="889000" y="1905000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Income ↑</a:t>
            </a:r>
          </a:p>
        </p:txBody>
      </p:sp>
      <p:cxnSp>
        <p:nvCxnSpPr>
          <p:cNvPr id="6032" name="seg"/>
          <p:cNvCxnSpPr/>
          <p:nvPr/>
        </p:nvCxnSpPr>
        <p:spPr>
          <a:xfrm flipV="1">
            <a:off x="2082800" y="2514600"/>
            <a:ext cx="1676400" cy="1676400"/>
          </a:xfrm>
          <a:prstGeom prst="line">
            <a:avLst/>
          </a:prstGeom>
          <a:ln w="28575" cap="rnd">
            <a:solidFill>
              <a:srgbClr val="4B2E83"/>
            </a:solidFill>
            <a:prstDash val="dash"/>
          </a:ln>
        </p:spPr>
      </p:cxnSp>
      <p:sp>
        <p:nvSpPr>
          <p:cNvPr id="6033" name="tb"/>
          <p:cNvSpPr txBox="1"/>
          <p:nvPr/>
        </p:nvSpPr>
        <p:spPr>
          <a:xfrm>
            <a:off x="2997200" y="3098800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d ≈ 4.24</a:t>
            </a:r>
          </a:p>
        </p:txBody>
      </p:sp>
      <p:sp>
        <p:nvSpPr>
          <p:cNvPr id="6034" name="ph"/>
          <p:cNvSpPr/>
          <p:nvPr/>
        </p:nvSpPr>
        <p:spPr>
          <a:xfrm>
            <a:off x="1987550" y="3886200"/>
            <a:ext cx="190500" cy="190500"/>
          </a:xfrm>
          <a:prstGeom prst="ellipse">
            <a:avLst/>
          </a:prstGeom>
          <a:solidFill>
            <a:srgbClr val="D1578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5" name="pb"/>
          <p:cNvSpPr/>
          <p:nvPr/>
        </p:nvSpPr>
        <p:spPr>
          <a:xfrm>
            <a:off x="1917700" y="4102100"/>
            <a:ext cx="330200" cy="266700"/>
          </a:xfrm>
          <a:prstGeom prst="trapezoid">
            <a:avLst>
              <a:gd name="adj" fmla="val 28000"/>
            </a:avLst>
          </a:prstGeom>
          <a:solidFill>
            <a:srgbClr val="D1578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6" name="tb"/>
          <p:cNvSpPr txBox="1"/>
          <p:nvPr/>
        </p:nvSpPr>
        <p:spPr>
          <a:xfrm>
            <a:off x="1752600" y="4394200"/>
            <a:ext cx="6858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200" b="1" dirty="0">
                <a:solidFill>
                  <a:srgbClr val="333333"/>
                </a:solidFill>
              </a:rPr>
              <a:t>Ann</a:t>
            </a:r>
          </a:p>
        </p:txBody>
      </p:sp>
      <p:sp>
        <p:nvSpPr>
          <p:cNvPr id="6037" name="ph"/>
          <p:cNvSpPr/>
          <p:nvPr/>
        </p:nvSpPr>
        <p:spPr>
          <a:xfrm>
            <a:off x="3663950" y="2209800"/>
            <a:ext cx="190500" cy="190500"/>
          </a:xfrm>
          <a:prstGeom prst="ellipse">
            <a:avLst/>
          </a:prstGeom>
          <a:solidFill>
            <a:srgbClr val="00A7B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8" name="pb"/>
          <p:cNvSpPr/>
          <p:nvPr/>
        </p:nvSpPr>
        <p:spPr>
          <a:xfrm>
            <a:off x="3594100" y="2425700"/>
            <a:ext cx="330200" cy="266700"/>
          </a:xfrm>
          <a:prstGeom prst="trapezoid">
            <a:avLst>
              <a:gd name="adj" fmla="val 28000"/>
            </a:avLst>
          </a:prstGeom>
          <a:solidFill>
            <a:srgbClr val="00A7B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9" name="tb"/>
          <p:cNvSpPr txBox="1"/>
          <p:nvPr/>
        </p:nvSpPr>
        <p:spPr>
          <a:xfrm>
            <a:off x="3429000" y="2717800"/>
            <a:ext cx="6858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200" b="1" dirty="0">
                <a:solidFill>
                  <a:srgbClr val="333333"/>
                </a:solidFill>
              </a:rPr>
              <a:t>Bob</a:t>
            </a:r>
          </a:p>
        </p:txBody>
      </p:sp>
      <p:sp>
        <p:nvSpPr>
          <p:cNvPr id="6040" name="ph"/>
          <p:cNvSpPr/>
          <p:nvPr/>
        </p:nvSpPr>
        <p:spPr>
          <a:xfrm>
            <a:off x="2546350" y="2768600"/>
            <a:ext cx="190500" cy="190500"/>
          </a:xfrm>
          <a:prstGeom prst="ellipse">
            <a:avLst/>
          </a:prstGeom>
          <a:solidFill>
            <a:srgbClr val="7AB64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1" name="pb"/>
          <p:cNvSpPr/>
          <p:nvPr/>
        </p:nvSpPr>
        <p:spPr>
          <a:xfrm>
            <a:off x="2476500" y="2984500"/>
            <a:ext cx="330200" cy="266700"/>
          </a:xfrm>
          <a:prstGeom prst="trapezoid">
            <a:avLst>
              <a:gd name="adj" fmla="val 28000"/>
            </a:avLst>
          </a:prstGeom>
          <a:solidFill>
            <a:srgbClr val="7AB64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2" name="tb"/>
          <p:cNvSpPr txBox="1"/>
          <p:nvPr/>
        </p:nvSpPr>
        <p:spPr>
          <a:xfrm>
            <a:off x="2311400" y="3276600"/>
            <a:ext cx="6858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200" b="1" dirty="0">
                <a:solidFill>
                  <a:srgbClr val="333333"/>
                </a:solidFill>
              </a:rPr>
              <a:t>Carol</a:t>
            </a:r>
          </a:p>
        </p:txBody>
      </p:sp>
      <p:sp>
        <p:nvSpPr>
          <p:cNvPr id="6043" name="panel"/>
          <p:cNvSpPr/>
          <p:nvPr/>
        </p:nvSpPr>
        <p:spPr>
          <a:xfrm>
            <a:off x="6146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44" name="tb"/>
          <p:cNvSpPr txBox="1"/>
          <p:nvPr/>
        </p:nvSpPr>
        <p:spPr>
          <a:xfrm>
            <a:off x="6400800" y="14732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Each person = a point (Age, Income)</a:t>
            </a:r>
          </a:p>
        </p:txBody>
      </p:sp>
      <p:sp>
        <p:nvSpPr>
          <p:cNvPr id="6045" name="tb"/>
          <p:cNvSpPr txBox="1"/>
          <p:nvPr/>
        </p:nvSpPr>
        <p:spPr>
          <a:xfrm>
            <a:off x="6400800" y="1981200"/>
            <a:ext cx="52324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dirty="0">
                <a:solidFill>
                  <a:srgbClr val="333333"/>
                </a:solidFill>
              </a:rPr>
              <a:t>Ann = (1, 2)  Bob = (4, 5)  Carol = (2, 4)</a:t>
            </a:r>
          </a:p>
        </p:txBody>
      </p:sp>
      <p:sp>
        <p:nvSpPr>
          <p:cNvPr id="6046" name="tb"/>
          <p:cNvSpPr txBox="1"/>
          <p:nvPr/>
        </p:nvSpPr>
        <p:spPr>
          <a:xfrm>
            <a:off x="6400800" y="2540000"/>
            <a:ext cx="52324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Euclidean distance between two people:</a:t>
            </a:r>
          </a:p>
        </p:txBody>
      </p:sp>
      <p:sp>
        <p:nvSpPr>
          <p:cNvPr id="6047" name="tb"/>
          <p:cNvSpPr txBox="1"/>
          <p:nvPr/>
        </p:nvSpPr>
        <p:spPr>
          <a:xfrm>
            <a:off x="6400800" y="3022600"/>
            <a:ext cx="5232400" cy="355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50" b="1" dirty="0">
                <a:solidFill>
                  <a:srgbClr val="333333"/>
                </a:solidFill>
              </a:rPr>
              <a:t>d(Ann, Bob) = √((4−1)² + (5−2)²)</a:t>
            </a:r>
          </a:p>
        </p:txBody>
      </p:sp>
      <p:sp>
        <p:nvSpPr>
          <p:cNvPr id="6048" name="tb"/>
          <p:cNvSpPr txBox="1"/>
          <p:nvPr/>
        </p:nvSpPr>
        <p:spPr>
          <a:xfrm>
            <a:off x="6858000" y="3505200"/>
            <a:ext cx="4826000" cy="355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50" b="1" dirty="0">
                <a:solidFill>
                  <a:srgbClr val="4B2E83"/>
                </a:solidFill>
              </a:rPr>
              <a:t>= √(9 + 9) = √18 ≈ 4.24</a:t>
            </a:r>
          </a:p>
        </p:txBody>
      </p:sp>
      <p:sp>
        <p:nvSpPr>
          <p:cNvPr id="6049" name="box"/>
          <p:cNvSpPr/>
          <p:nvPr/>
        </p:nvSpPr>
        <p:spPr>
          <a:xfrm>
            <a:off x="6324600" y="4191000"/>
            <a:ext cx="5384800" cy="1320800"/>
          </a:xfrm>
          <a:prstGeom prst="roundRect">
            <a:avLst>
              <a:gd name="adj" fmla="val 10000"/>
            </a:avLst>
          </a:prstGeom>
          <a:solidFill>
            <a:srgbClr val="F4FAEF"/>
          </a:solidFill>
          <a:ln w="19050">
            <a:solidFill>
              <a:srgbClr val="7AB64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50" name="tb"/>
          <p:cNvSpPr txBox="1"/>
          <p:nvPr/>
        </p:nvSpPr>
        <p:spPr>
          <a:xfrm>
            <a:off x="6527800" y="4368800"/>
            <a:ext cx="4978400" cy="381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b="1" dirty="0">
                <a:solidFill>
                  <a:srgbClr val="333333"/>
                </a:solidFill>
              </a:rPr>
              <a:t>Smaller distance → more similar people.</a:t>
            </a:r>
          </a:p>
        </p:txBody>
      </p:sp>
      <p:sp>
        <p:nvSpPr>
          <p:cNvPr id="6051" name="tb"/>
          <p:cNvSpPr txBox="1"/>
          <p:nvPr/>
        </p:nvSpPr>
        <p:spPr>
          <a:xfrm>
            <a:off x="6527800" y="4775200"/>
            <a:ext cx="4978400" cy="660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50" i="1" dirty="0">
                <a:solidFill>
                  <a:srgbClr val="595959"/>
                </a:solidFill>
              </a:rPr>
              <a:t>Tip: standardize Age and Income first, so the large income numbers don’t dominate the distance.</a:t>
            </a:r>
          </a:p>
        </p:txBody>
      </p:sp>
    </p:spTree>
    <p:extLst>
      <p:ext uri="{BB962C8B-B14F-4D97-AF65-F5344CB8AC3E}">
        <p14:creationId xmlns:p14="http://schemas.microsoft.com/office/powerpoint/2010/main" val="414334914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Ann ↔ Bob: Distance Between Vectors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Each person is a vector from the origin; the gap between their tips is ‖Ann − Bob‖.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Distance between observations = ‖ a − b ‖ = distance between their vectors.</a:t>
            </a:r>
          </a:p>
        </p:txBody>
      </p:sp>
      <p:sp>
        <p:nvSpPr>
          <p:cNvPr id="6000" name="panel"/>
          <p:cNvSpPr/>
          <p:nvPr/>
        </p:nvSpPr>
        <p:spPr>
          <a:xfrm>
            <a:off x="304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r"/>
          <p:cNvSpPr/>
          <p:nvPr/>
        </p:nvSpPr>
        <p:spPr>
          <a:xfrm>
            <a:off x="1397000" y="19812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2" name="r"/>
          <p:cNvSpPr/>
          <p:nvPr/>
        </p:nvSpPr>
        <p:spPr>
          <a:xfrm>
            <a:off x="1955800" y="19812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3" name="r"/>
          <p:cNvSpPr/>
          <p:nvPr/>
        </p:nvSpPr>
        <p:spPr>
          <a:xfrm>
            <a:off x="2514600" y="19812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4" name="r"/>
          <p:cNvSpPr/>
          <p:nvPr/>
        </p:nvSpPr>
        <p:spPr>
          <a:xfrm>
            <a:off x="3073400" y="19812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5" name="r"/>
          <p:cNvSpPr/>
          <p:nvPr/>
        </p:nvSpPr>
        <p:spPr>
          <a:xfrm>
            <a:off x="3632200" y="19812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6" name="r"/>
          <p:cNvSpPr/>
          <p:nvPr/>
        </p:nvSpPr>
        <p:spPr>
          <a:xfrm>
            <a:off x="4191000" y="19812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7" name="r"/>
          <p:cNvSpPr/>
          <p:nvPr/>
        </p:nvSpPr>
        <p:spPr>
          <a:xfrm>
            <a:off x="4749800" y="19812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8" name="r"/>
          <p:cNvSpPr/>
          <p:nvPr/>
        </p:nvSpPr>
        <p:spPr>
          <a:xfrm>
            <a:off x="1397000" y="53340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9" name="r"/>
          <p:cNvSpPr/>
          <p:nvPr/>
        </p:nvSpPr>
        <p:spPr>
          <a:xfrm>
            <a:off x="1397000" y="47752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0" name="r"/>
          <p:cNvSpPr/>
          <p:nvPr/>
        </p:nvSpPr>
        <p:spPr>
          <a:xfrm>
            <a:off x="1397000" y="42164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1" name="r"/>
          <p:cNvSpPr/>
          <p:nvPr/>
        </p:nvSpPr>
        <p:spPr>
          <a:xfrm>
            <a:off x="1397000" y="36576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2" name="r"/>
          <p:cNvSpPr/>
          <p:nvPr/>
        </p:nvSpPr>
        <p:spPr>
          <a:xfrm>
            <a:off x="1397000" y="30988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3" name="r"/>
          <p:cNvSpPr/>
          <p:nvPr/>
        </p:nvSpPr>
        <p:spPr>
          <a:xfrm>
            <a:off x="1397000" y="25400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4" name="r"/>
          <p:cNvSpPr/>
          <p:nvPr/>
        </p:nvSpPr>
        <p:spPr>
          <a:xfrm>
            <a:off x="1397000" y="19812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5" name="r"/>
          <p:cNvSpPr/>
          <p:nvPr/>
        </p:nvSpPr>
        <p:spPr>
          <a:xfrm>
            <a:off x="1397000" y="5325110"/>
            <a:ext cx="3352800" cy="1778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6" name="r"/>
          <p:cNvSpPr/>
          <p:nvPr/>
        </p:nvSpPr>
        <p:spPr>
          <a:xfrm>
            <a:off x="1388110" y="1981200"/>
            <a:ext cx="17780" cy="335280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7" name="tb"/>
          <p:cNvSpPr txBox="1"/>
          <p:nvPr/>
        </p:nvSpPr>
        <p:spPr>
          <a:xfrm>
            <a:off x="1295400" y="53848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0</a:t>
            </a:r>
          </a:p>
        </p:txBody>
      </p:sp>
      <p:sp>
        <p:nvSpPr>
          <p:cNvPr id="6018" name="tb"/>
          <p:cNvSpPr txBox="1"/>
          <p:nvPr/>
        </p:nvSpPr>
        <p:spPr>
          <a:xfrm>
            <a:off x="1854200" y="53848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1</a:t>
            </a:r>
          </a:p>
        </p:txBody>
      </p:sp>
      <p:sp>
        <p:nvSpPr>
          <p:cNvPr id="6019" name="tb"/>
          <p:cNvSpPr txBox="1"/>
          <p:nvPr/>
        </p:nvSpPr>
        <p:spPr>
          <a:xfrm>
            <a:off x="2413000" y="53848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2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2971800" y="53848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3</a:t>
            </a:r>
          </a:p>
        </p:txBody>
      </p:sp>
      <p:sp>
        <p:nvSpPr>
          <p:cNvPr id="6021" name="tb"/>
          <p:cNvSpPr txBox="1"/>
          <p:nvPr/>
        </p:nvSpPr>
        <p:spPr>
          <a:xfrm>
            <a:off x="3530600" y="53848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4</a:t>
            </a:r>
          </a:p>
        </p:txBody>
      </p:sp>
      <p:sp>
        <p:nvSpPr>
          <p:cNvPr id="6022" name="tb"/>
          <p:cNvSpPr txBox="1"/>
          <p:nvPr/>
        </p:nvSpPr>
        <p:spPr>
          <a:xfrm>
            <a:off x="4089400" y="53848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5</a:t>
            </a:r>
          </a:p>
        </p:txBody>
      </p:sp>
      <p:sp>
        <p:nvSpPr>
          <p:cNvPr id="6023" name="tb"/>
          <p:cNvSpPr txBox="1"/>
          <p:nvPr/>
        </p:nvSpPr>
        <p:spPr>
          <a:xfrm>
            <a:off x="4648200" y="53848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6</a:t>
            </a:r>
          </a:p>
        </p:txBody>
      </p:sp>
      <p:sp>
        <p:nvSpPr>
          <p:cNvPr id="6024" name="tb"/>
          <p:cNvSpPr txBox="1"/>
          <p:nvPr/>
        </p:nvSpPr>
        <p:spPr>
          <a:xfrm>
            <a:off x="1193800" y="46990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1</a:t>
            </a:r>
          </a:p>
        </p:txBody>
      </p:sp>
      <p:sp>
        <p:nvSpPr>
          <p:cNvPr id="6025" name="tb"/>
          <p:cNvSpPr txBox="1"/>
          <p:nvPr/>
        </p:nvSpPr>
        <p:spPr>
          <a:xfrm>
            <a:off x="1193800" y="41402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2</a:t>
            </a:r>
          </a:p>
        </p:txBody>
      </p:sp>
      <p:sp>
        <p:nvSpPr>
          <p:cNvPr id="6026" name="tb"/>
          <p:cNvSpPr txBox="1"/>
          <p:nvPr/>
        </p:nvSpPr>
        <p:spPr>
          <a:xfrm>
            <a:off x="1193800" y="35814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3</a:t>
            </a:r>
          </a:p>
        </p:txBody>
      </p:sp>
      <p:sp>
        <p:nvSpPr>
          <p:cNvPr id="6027" name="tb"/>
          <p:cNvSpPr txBox="1"/>
          <p:nvPr/>
        </p:nvSpPr>
        <p:spPr>
          <a:xfrm>
            <a:off x="1193800" y="30226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4</a:t>
            </a:r>
          </a:p>
        </p:txBody>
      </p:sp>
      <p:sp>
        <p:nvSpPr>
          <p:cNvPr id="6028" name="tb"/>
          <p:cNvSpPr txBox="1"/>
          <p:nvPr/>
        </p:nvSpPr>
        <p:spPr>
          <a:xfrm>
            <a:off x="1193800" y="24638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5</a:t>
            </a:r>
          </a:p>
        </p:txBody>
      </p:sp>
      <p:sp>
        <p:nvSpPr>
          <p:cNvPr id="6029" name="tb"/>
          <p:cNvSpPr txBox="1"/>
          <p:nvPr/>
        </p:nvSpPr>
        <p:spPr>
          <a:xfrm>
            <a:off x="1193800" y="19050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6</a:t>
            </a:r>
          </a:p>
        </p:txBody>
      </p:sp>
      <p:sp>
        <p:nvSpPr>
          <p:cNvPr id="6030" name="tb"/>
          <p:cNvSpPr txBox="1"/>
          <p:nvPr/>
        </p:nvSpPr>
        <p:spPr>
          <a:xfrm>
            <a:off x="3073400" y="5638800"/>
            <a:ext cx="1016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b="1" dirty="0">
                <a:solidFill>
                  <a:srgbClr val="7A7A7A"/>
                </a:solidFill>
              </a:rPr>
              <a:t>Age →</a:t>
            </a:r>
          </a:p>
        </p:txBody>
      </p:sp>
      <p:sp>
        <p:nvSpPr>
          <p:cNvPr id="6031" name="tb"/>
          <p:cNvSpPr txBox="1"/>
          <p:nvPr/>
        </p:nvSpPr>
        <p:spPr>
          <a:xfrm>
            <a:off x="1371600" y="1701800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b="1" dirty="0">
                <a:solidFill>
                  <a:srgbClr val="7A7A7A"/>
                </a:solidFill>
              </a:rPr>
              <a:t>↑ Income</a:t>
            </a:r>
          </a:p>
        </p:txBody>
      </p:sp>
      <p:cxnSp>
        <p:nvCxnSpPr>
          <p:cNvPr id="6032" name="vec"/>
          <p:cNvCxnSpPr/>
          <p:nvPr/>
        </p:nvCxnSpPr>
        <p:spPr>
          <a:xfrm flipV="1">
            <a:off x="1397000" y="4216400"/>
            <a:ext cx="558800" cy="1117600"/>
          </a:xfrm>
          <a:prstGeom prst="line">
            <a:avLst/>
          </a:prstGeom>
          <a:ln w="22225" cap="rnd">
            <a:solidFill>
              <a:srgbClr val="D1578A"/>
            </a:solidFill>
            <a:tailEnd type="triangle" w="med" len="med"/>
          </a:ln>
        </p:spPr>
      </p:cxnSp>
      <p:cxnSp>
        <p:nvCxnSpPr>
          <p:cNvPr id="6033" name="vec"/>
          <p:cNvCxnSpPr/>
          <p:nvPr/>
        </p:nvCxnSpPr>
        <p:spPr>
          <a:xfrm flipV="1">
            <a:off x="1397000" y="2540000"/>
            <a:ext cx="2235200" cy="2794000"/>
          </a:xfrm>
          <a:prstGeom prst="line">
            <a:avLst/>
          </a:prstGeom>
          <a:ln w="22225" cap="rnd">
            <a:solidFill>
              <a:srgbClr val="00A7B5"/>
            </a:solidFill>
            <a:tailEnd type="triangle" w="med" len="med"/>
          </a:ln>
        </p:spPr>
      </p:cxnSp>
      <p:cxnSp>
        <p:nvCxnSpPr>
          <p:cNvPr id="6034" name="diff"/>
          <p:cNvCxnSpPr/>
          <p:nvPr/>
        </p:nvCxnSpPr>
        <p:spPr>
          <a:xfrm flipV="1">
            <a:off x="1955800" y="2540000"/>
            <a:ext cx="1676400" cy="1676400"/>
          </a:xfrm>
          <a:prstGeom prst="line">
            <a:avLst/>
          </a:prstGeom>
          <a:ln w="31750" cap="rnd">
            <a:solidFill>
              <a:srgbClr val="4B2E83"/>
            </a:solidFill>
            <a:prstDash val="dash"/>
            <a:headEnd type="triangle" w="med" len="med"/>
            <a:tailEnd type="triangle" w="med" len="med"/>
          </a:ln>
        </p:spPr>
      </p:cxnSp>
      <p:sp>
        <p:nvSpPr>
          <p:cNvPr id="6035" name="head"/>
          <p:cNvSpPr/>
          <p:nvPr/>
        </p:nvSpPr>
        <p:spPr>
          <a:xfrm>
            <a:off x="1873250" y="3924300"/>
            <a:ext cx="165100" cy="165100"/>
          </a:xfrm>
          <a:prstGeom prst="ellipse">
            <a:avLst/>
          </a:prstGeom>
          <a:solidFill>
            <a:srgbClr val="D1578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6" name="body"/>
          <p:cNvSpPr/>
          <p:nvPr/>
        </p:nvSpPr>
        <p:spPr>
          <a:xfrm>
            <a:off x="1816100" y="4102100"/>
            <a:ext cx="279400" cy="228600"/>
          </a:xfrm>
          <a:prstGeom prst="trapezoid">
            <a:avLst>
              <a:gd name="adj" fmla="val 30000"/>
            </a:avLst>
          </a:prstGeom>
          <a:solidFill>
            <a:srgbClr val="D1578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7" name="head"/>
          <p:cNvSpPr/>
          <p:nvPr/>
        </p:nvSpPr>
        <p:spPr>
          <a:xfrm>
            <a:off x="3549650" y="2247900"/>
            <a:ext cx="165100" cy="165100"/>
          </a:xfrm>
          <a:prstGeom prst="ellipse">
            <a:avLst/>
          </a:prstGeom>
          <a:solidFill>
            <a:srgbClr val="00A7B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8" name="body"/>
          <p:cNvSpPr/>
          <p:nvPr/>
        </p:nvSpPr>
        <p:spPr>
          <a:xfrm>
            <a:off x="3492500" y="2425700"/>
            <a:ext cx="279400" cy="228600"/>
          </a:xfrm>
          <a:prstGeom prst="trapezoid">
            <a:avLst>
              <a:gd name="adj" fmla="val 30000"/>
            </a:avLst>
          </a:prstGeom>
          <a:solidFill>
            <a:srgbClr val="00A7B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9" name="tb"/>
          <p:cNvSpPr txBox="1"/>
          <p:nvPr/>
        </p:nvSpPr>
        <p:spPr>
          <a:xfrm>
            <a:off x="2082800" y="4140200"/>
            <a:ext cx="889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b="1" dirty="0">
                <a:solidFill>
                  <a:srgbClr val="D1578A"/>
                </a:solidFill>
              </a:rPr>
              <a:t>Ann (1,2)</a:t>
            </a:r>
          </a:p>
        </p:txBody>
      </p:sp>
      <p:sp>
        <p:nvSpPr>
          <p:cNvPr id="6040" name="tb"/>
          <p:cNvSpPr txBox="1"/>
          <p:nvPr/>
        </p:nvSpPr>
        <p:spPr>
          <a:xfrm>
            <a:off x="3759200" y="2463800"/>
            <a:ext cx="889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b="1" dirty="0">
                <a:solidFill>
                  <a:srgbClr val="00A7B5"/>
                </a:solidFill>
              </a:rPr>
              <a:t>Bob (4,5)</a:t>
            </a:r>
          </a:p>
        </p:txBody>
      </p:sp>
      <p:sp>
        <p:nvSpPr>
          <p:cNvPr id="6041" name="tb"/>
          <p:cNvSpPr txBox="1"/>
          <p:nvPr/>
        </p:nvSpPr>
        <p:spPr>
          <a:xfrm>
            <a:off x="2895600" y="3098800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b="1" dirty="0">
                <a:solidFill>
                  <a:srgbClr val="4B2E83"/>
                </a:solidFill>
              </a:rPr>
              <a:t>d ≈ 4.24</a:t>
            </a:r>
          </a:p>
        </p:txBody>
      </p:sp>
      <p:sp>
        <p:nvSpPr>
          <p:cNvPr id="6042" name="panel"/>
          <p:cNvSpPr/>
          <p:nvPr/>
        </p:nvSpPr>
        <p:spPr>
          <a:xfrm>
            <a:off x="6146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43" name="tb"/>
          <p:cNvSpPr txBox="1"/>
          <p:nvPr/>
        </p:nvSpPr>
        <p:spPr>
          <a:xfrm>
            <a:off x="6400800" y="14986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600" b="1" dirty="0">
                <a:solidFill>
                  <a:srgbClr val="4B2E83"/>
                </a:solidFill>
              </a:rPr>
              <a:t>Subtract the two vectors</a:t>
            </a:r>
          </a:p>
        </p:txBody>
      </p:sp>
      <p:sp>
        <p:nvSpPr>
          <p:cNvPr id="6044" name="tb"/>
          <p:cNvSpPr txBox="1"/>
          <p:nvPr/>
        </p:nvSpPr>
        <p:spPr>
          <a:xfrm>
            <a:off x="6400800" y="1981200"/>
            <a:ext cx="52324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dirty="0">
                <a:solidFill>
                  <a:srgbClr val="333333"/>
                </a:solidFill>
              </a:rPr>
              <a:t>Ann = (1, 2)     Bob = (4, 5)</a:t>
            </a:r>
          </a:p>
        </p:txBody>
      </p:sp>
      <p:sp>
        <p:nvSpPr>
          <p:cNvPr id="6045" name="tb"/>
          <p:cNvSpPr txBox="1"/>
          <p:nvPr/>
        </p:nvSpPr>
        <p:spPr>
          <a:xfrm>
            <a:off x="6400800" y="2540000"/>
            <a:ext cx="52324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The distance is the length of the difference:</a:t>
            </a:r>
          </a:p>
        </p:txBody>
      </p:sp>
      <p:sp>
        <p:nvSpPr>
          <p:cNvPr id="6046" name="tb"/>
          <p:cNvSpPr txBox="1"/>
          <p:nvPr/>
        </p:nvSpPr>
        <p:spPr>
          <a:xfrm>
            <a:off x="6400800" y="3022600"/>
            <a:ext cx="5232400" cy="355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600" b="1" dirty="0">
                <a:solidFill>
                  <a:srgbClr val="333333"/>
                </a:solidFill>
              </a:rPr>
              <a:t>Bob − Ann = (3, 3)</a:t>
            </a:r>
          </a:p>
        </p:txBody>
      </p:sp>
      <p:sp>
        <p:nvSpPr>
          <p:cNvPr id="6047" name="tb"/>
          <p:cNvSpPr txBox="1"/>
          <p:nvPr/>
        </p:nvSpPr>
        <p:spPr>
          <a:xfrm>
            <a:off x="6400800" y="3530600"/>
            <a:ext cx="5232400" cy="355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333333"/>
                </a:solidFill>
              </a:rPr>
              <a:t>d = ‖(3, 3)‖ = √(9 + 9) = </a:t>
            </a:r>
            <a:r>
              <a:rPr lang="en-US" sz="1500" b="1" dirty="0">
                <a:solidFill>
                  <a:srgbClr val="4B2E83"/>
                </a:solidFill>
              </a:rPr>
              <a:t>√18 ≈ 4.24</a:t>
            </a:r>
          </a:p>
        </p:txBody>
      </p:sp>
      <p:sp>
        <p:nvSpPr>
          <p:cNvPr id="6048" name="box"/>
          <p:cNvSpPr/>
          <p:nvPr/>
        </p:nvSpPr>
        <p:spPr>
          <a:xfrm>
            <a:off x="6324600" y="4191000"/>
            <a:ext cx="5384800" cy="1320800"/>
          </a:xfrm>
          <a:prstGeom prst="roundRect">
            <a:avLst>
              <a:gd name="adj" fmla="val 10000"/>
            </a:avLst>
          </a:prstGeom>
          <a:solidFill>
            <a:srgbClr val="F4FAEF"/>
          </a:solidFill>
          <a:ln w="19050">
            <a:solidFill>
              <a:srgbClr val="7AB64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49" name="tb"/>
          <p:cNvSpPr txBox="1"/>
          <p:nvPr/>
        </p:nvSpPr>
        <p:spPr>
          <a:xfrm>
            <a:off x="6553200" y="4394200"/>
            <a:ext cx="4978400" cy="965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400" dirty="0">
                <a:solidFill>
                  <a:srgbClr val="333333"/>
                </a:solidFill>
              </a:rPr>
              <a:t>The dashed segment joining the two tips is the vector Bob − Ann. </a:t>
            </a:r>
            <a:r>
              <a:rPr lang="en-US" sz="1400" b="1" dirty="0">
                <a:solidFill>
                  <a:srgbClr val="333333"/>
                </a:solidFill>
              </a:rPr>
              <a:t>Its length is the distance between the two observations — the same as the distance between their vectors.</a:t>
            </a:r>
          </a:p>
        </p:txBody>
      </p:sp>
    </p:spTree>
    <p:extLst>
      <p:ext uri="{BB962C8B-B14F-4D97-AF65-F5344CB8AC3E}">
        <p14:creationId xmlns:p14="http://schemas.microsoft.com/office/powerpoint/2010/main" val="89835519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Ann ↔ Carol: Distance Between Vectors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Each person is a vector from the origin; the gap between their tips is ‖Ann − Carol‖.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Distance between observations = ‖ a − b ‖ = distance between their vectors.</a:t>
            </a:r>
          </a:p>
        </p:txBody>
      </p:sp>
      <p:sp>
        <p:nvSpPr>
          <p:cNvPr id="6000" name="panel"/>
          <p:cNvSpPr/>
          <p:nvPr/>
        </p:nvSpPr>
        <p:spPr>
          <a:xfrm>
            <a:off x="304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r"/>
          <p:cNvSpPr/>
          <p:nvPr/>
        </p:nvSpPr>
        <p:spPr>
          <a:xfrm>
            <a:off x="1397000" y="19812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2" name="r"/>
          <p:cNvSpPr/>
          <p:nvPr/>
        </p:nvSpPr>
        <p:spPr>
          <a:xfrm>
            <a:off x="1955800" y="19812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3" name="r"/>
          <p:cNvSpPr/>
          <p:nvPr/>
        </p:nvSpPr>
        <p:spPr>
          <a:xfrm>
            <a:off x="2514600" y="19812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4" name="r"/>
          <p:cNvSpPr/>
          <p:nvPr/>
        </p:nvSpPr>
        <p:spPr>
          <a:xfrm>
            <a:off x="3073400" y="19812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5" name="r"/>
          <p:cNvSpPr/>
          <p:nvPr/>
        </p:nvSpPr>
        <p:spPr>
          <a:xfrm>
            <a:off x="3632200" y="19812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6" name="r"/>
          <p:cNvSpPr/>
          <p:nvPr/>
        </p:nvSpPr>
        <p:spPr>
          <a:xfrm>
            <a:off x="4191000" y="19812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7" name="r"/>
          <p:cNvSpPr/>
          <p:nvPr/>
        </p:nvSpPr>
        <p:spPr>
          <a:xfrm>
            <a:off x="4749800" y="19812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8" name="r"/>
          <p:cNvSpPr/>
          <p:nvPr/>
        </p:nvSpPr>
        <p:spPr>
          <a:xfrm>
            <a:off x="1397000" y="53340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9" name="r"/>
          <p:cNvSpPr/>
          <p:nvPr/>
        </p:nvSpPr>
        <p:spPr>
          <a:xfrm>
            <a:off x="1397000" y="47752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0" name="r"/>
          <p:cNvSpPr/>
          <p:nvPr/>
        </p:nvSpPr>
        <p:spPr>
          <a:xfrm>
            <a:off x="1397000" y="42164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1" name="r"/>
          <p:cNvSpPr/>
          <p:nvPr/>
        </p:nvSpPr>
        <p:spPr>
          <a:xfrm>
            <a:off x="1397000" y="36576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2" name="r"/>
          <p:cNvSpPr/>
          <p:nvPr/>
        </p:nvSpPr>
        <p:spPr>
          <a:xfrm>
            <a:off x="1397000" y="30988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3" name="r"/>
          <p:cNvSpPr/>
          <p:nvPr/>
        </p:nvSpPr>
        <p:spPr>
          <a:xfrm>
            <a:off x="1397000" y="25400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4" name="r"/>
          <p:cNvSpPr/>
          <p:nvPr/>
        </p:nvSpPr>
        <p:spPr>
          <a:xfrm>
            <a:off x="1397000" y="19812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5" name="r"/>
          <p:cNvSpPr/>
          <p:nvPr/>
        </p:nvSpPr>
        <p:spPr>
          <a:xfrm>
            <a:off x="1397000" y="5325110"/>
            <a:ext cx="3352800" cy="1778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6" name="r"/>
          <p:cNvSpPr/>
          <p:nvPr/>
        </p:nvSpPr>
        <p:spPr>
          <a:xfrm>
            <a:off x="1388110" y="1981200"/>
            <a:ext cx="17780" cy="335280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7" name="tb"/>
          <p:cNvSpPr txBox="1"/>
          <p:nvPr/>
        </p:nvSpPr>
        <p:spPr>
          <a:xfrm>
            <a:off x="1295400" y="53848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0</a:t>
            </a:r>
          </a:p>
        </p:txBody>
      </p:sp>
      <p:sp>
        <p:nvSpPr>
          <p:cNvPr id="6018" name="tb"/>
          <p:cNvSpPr txBox="1"/>
          <p:nvPr/>
        </p:nvSpPr>
        <p:spPr>
          <a:xfrm>
            <a:off x="1854200" y="53848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1</a:t>
            </a:r>
          </a:p>
        </p:txBody>
      </p:sp>
      <p:sp>
        <p:nvSpPr>
          <p:cNvPr id="6019" name="tb"/>
          <p:cNvSpPr txBox="1"/>
          <p:nvPr/>
        </p:nvSpPr>
        <p:spPr>
          <a:xfrm>
            <a:off x="2413000" y="53848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2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2971800" y="53848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3</a:t>
            </a:r>
          </a:p>
        </p:txBody>
      </p:sp>
      <p:sp>
        <p:nvSpPr>
          <p:cNvPr id="6021" name="tb"/>
          <p:cNvSpPr txBox="1"/>
          <p:nvPr/>
        </p:nvSpPr>
        <p:spPr>
          <a:xfrm>
            <a:off x="3530600" y="53848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4</a:t>
            </a:r>
          </a:p>
        </p:txBody>
      </p:sp>
      <p:sp>
        <p:nvSpPr>
          <p:cNvPr id="6022" name="tb"/>
          <p:cNvSpPr txBox="1"/>
          <p:nvPr/>
        </p:nvSpPr>
        <p:spPr>
          <a:xfrm>
            <a:off x="4089400" y="53848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5</a:t>
            </a:r>
          </a:p>
        </p:txBody>
      </p:sp>
      <p:sp>
        <p:nvSpPr>
          <p:cNvPr id="6023" name="tb"/>
          <p:cNvSpPr txBox="1"/>
          <p:nvPr/>
        </p:nvSpPr>
        <p:spPr>
          <a:xfrm>
            <a:off x="4648200" y="53848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6</a:t>
            </a:r>
          </a:p>
        </p:txBody>
      </p:sp>
      <p:sp>
        <p:nvSpPr>
          <p:cNvPr id="6024" name="tb"/>
          <p:cNvSpPr txBox="1"/>
          <p:nvPr/>
        </p:nvSpPr>
        <p:spPr>
          <a:xfrm>
            <a:off x="1193800" y="46990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1</a:t>
            </a:r>
          </a:p>
        </p:txBody>
      </p:sp>
      <p:sp>
        <p:nvSpPr>
          <p:cNvPr id="6025" name="tb"/>
          <p:cNvSpPr txBox="1"/>
          <p:nvPr/>
        </p:nvSpPr>
        <p:spPr>
          <a:xfrm>
            <a:off x="1193800" y="41402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2</a:t>
            </a:r>
          </a:p>
        </p:txBody>
      </p:sp>
      <p:sp>
        <p:nvSpPr>
          <p:cNvPr id="6026" name="tb"/>
          <p:cNvSpPr txBox="1"/>
          <p:nvPr/>
        </p:nvSpPr>
        <p:spPr>
          <a:xfrm>
            <a:off x="1193800" y="35814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3</a:t>
            </a:r>
          </a:p>
        </p:txBody>
      </p:sp>
      <p:sp>
        <p:nvSpPr>
          <p:cNvPr id="6027" name="tb"/>
          <p:cNvSpPr txBox="1"/>
          <p:nvPr/>
        </p:nvSpPr>
        <p:spPr>
          <a:xfrm>
            <a:off x="1193800" y="30226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4</a:t>
            </a:r>
          </a:p>
        </p:txBody>
      </p:sp>
      <p:sp>
        <p:nvSpPr>
          <p:cNvPr id="6028" name="tb"/>
          <p:cNvSpPr txBox="1"/>
          <p:nvPr/>
        </p:nvSpPr>
        <p:spPr>
          <a:xfrm>
            <a:off x="1193800" y="24638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5</a:t>
            </a:r>
          </a:p>
        </p:txBody>
      </p:sp>
      <p:sp>
        <p:nvSpPr>
          <p:cNvPr id="6029" name="tb"/>
          <p:cNvSpPr txBox="1"/>
          <p:nvPr/>
        </p:nvSpPr>
        <p:spPr>
          <a:xfrm>
            <a:off x="1193800" y="19050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6</a:t>
            </a:r>
          </a:p>
        </p:txBody>
      </p:sp>
      <p:sp>
        <p:nvSpPr>
          <p:cNvPr id="6030" name="tb"/>
          <p:cNvSpPr txBox="1"/>
          <p:nvPr/>
        </p:nvSpPr>
        <p:spPr>
          <a:xfrm>
            <a:off x="3073400" y="5638800"/>
            <a:ext cx="1016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b="1" dirty="0">
                <a:solidFill>
                  <a:srgbClr val="7A7A7A"/>
                </a:solidFill>
              </a:rPr>
              <a:t>Age →</a:t>
            </a:r>
          </a:p>
        </p:txBody>
      </p:sp>
      <p:sp>
        <p:nvSpPr>
          <p:cNvPr id="6031" name="tb"/>
          <p:cNvSpPr txBox="1"/>
          <p:nvPr/>
        </p:nvSpPr>
        <p:spPr>
          <a:xfrm>
            <a:off x="1371600" y="1701800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b="1" dirty="0">
                <a:solidFill>
                  <a:srgbClr val="7A7A7A"/>
                </a:solidFill>
              </a:rPr>
              <a:t>↑ Income</a:t>
            </a:r>
          </a:p>
        </p:txBody>
      </p:sp>
      <p:cxnSp>
        <p:nvCxnSpPr>
          <p:cNvPr id="6032" name="vec"/>
          <p:cNvCxnSpPr/>
          <p:nvPr/>
        </p:nvCxnSpPr>
        <p:spPr>
          <a:xfrm flipV="1">
            <a:off x="1397000" y="4216400"/>
            <a:ext cx="558800" cy="1117600"/>
          </a:xfrm>
          <a:prstGeom prst="line">
            <a:avLst/>
          </a:prstGeom>
          <a:ln w="22225" cap="rnd">
            <a:solidFill>
              <a:srgbClr val="D1578A"/>
            </a:solidFill>
            <a:tailEnd type="triangle" w="med" len="med"/>
          </a:ln>
        </p:spPr>
      </p:cxnSp>
      <p:cxnSp>
        <p:nvCxnSpPr>
          <p:cNvPr id="6033" name="vec"/>
          <p:cNvCxnSpPr/>
          <p:nvPr/>
        </p:nvCxnSpPr>
        <p:spPr>
          <a:xfrm flipV="1">
            <a:off x="1397000" y="3098800"/>
            <a:ext cx="1117600" cy="2235200"/>
          </a:xfrm>
          <a:prstGeom prst="line">
            <a:avLst/>
          </a:prstGeom>
          <a:ln w="22225" cap="rnd">
            <a:solidFill>
              <a:srgbClr val="7AB648"/>
            </a:solidFill>
            <a:tailEnd type="triangle" w="med" len="med"/>
          </a:ln>
        </p:spPr>
      </p:cxnSp>
      <p:cxnSp>
        <p:nvCxnSpPr>
          <p:cNvPr id="6034" name="diff"/>
          <p:cNvCxnSpPr/>
          <p:nvPr/>
        </p:nvCxnSpPr>
        <p:spPr>
          <a:xfrm flipV="1">
            <a:off x="1955800" y="3098800"/>
            <a:ext cx="558800" cy="1117600"/>
          </a:xfrm>
          <a:prstGeom prst="line">
            <a:avLst/>
          </a:prstGeom>
          <a:ln w="31750" cap="rnd">
            <a:solidFill>
              <a:srgbClr val="4B2E83"/>
            </a:solidFill>
            <a:prstDash val="dash"/>
            <a:headEnd type="triangle" w="med" len="med"/>
            <a:tailEnd type="triangle" w="med" len="med"/>
          </a:ln>
        </p:spPr>
      </p:cxnSp>
      <p:sp>
        <p:nvSpPr>
          <p:cNvPr id="6035" name="head"/>
          <p:cNvSpPr/>
          <p:nvPr/>
        </p:nvSpPr>
        <p:spPr>
          <a:xfrm>
            <a:off x="1873250" y="3924300"/>
            <a:ext cx="165100" cy="165100"/>
          </a:xfrm>
          <a:prstGeom prst="ellipse">
            <a:avLst/>
          </a:prstGeom>
          <a:solidFill>
            <a:srgbClr val="D1578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6" name="body"/>
          <p:cNvSpPr/>
          <p:nvPr/>
        </p:nvSpPr>
        <p:spPr>
          <a:xfrm>
            <a:off x="1816100" y="4102100"/>
            <a:ext cx="279400" cy="228600"/>
          </a:xfrm>
          <a:prstGeom prst="trapezoid">
            <a:avLst>
              <a:gd name="adj" fmla="val 30000"/>
            </a:avLst>
          </a:prstGeom>
          <a:solidFill>
            <a:srgbClr val="D1578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7" name="head"/>
          <p:cNvSpPr/>
          <p:nvPr/>
        </p:nvSpPr>
        <p:spPr>
          <a:xfrm>
            <a:off x="2432050" y="2806700"/>
            <a:ext cx="165100" cy="165100"/>
          </a:xfrm>
          <a:prstGeom prst="ellipse">
            <a:avLst/>
          </a:prstGeom>
          <a:solidFill>
            <a:srgbClr val="7AB64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8" name="body"/>
          <p:cNvSpPr/>
          <p:nvPr/>
        </p:nvSpPr>
        <p:spPr>
          <a:xfrm>
            <a:off x="2374900" y="2984500"/>
            <a:ext cx="279400" cy="228600"/>
          </a:xfrm>
          <a:prstGeom prst="trapezoid">
            <a:avLst>
              <a:gd name="adj" fmla="val 30000"/>
            </a:avLst>
          </a:prstGeom>
          <a:solidFill>
            <a:srgbClr val="7AB64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9" name="tb"/>
          <p:cNvSpPr txBox="1"/>
          <p:nvPr/>
        </p:nvSpPr>
        <p:spPr>
          <a:xfrm>
            <a:off x="2108200" y="4241800"/>
            <a:ext cx="1016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b="1" dirty="0">
                <a:solidFill>
                  <a:srgbClr val="D1578A"/>
                </a:solidFill>
              </a:rPr>
              <a:t>Ann (1,2)</a:t>
            </a:r>
          </a:p>
        </p:txBody>
      </p:sp>
      <p:sp>
        <p:nvSpPr>
          <p:cNvPr id="6040" name="tb"/>
          <p:cNvSpPr txBox="1"/>
          <p:nvPr/>
        </p:nvSpPr>
        <p:spPr>
          <a:xfrm>
            <a:off x="2667000" y="3022600"/>
            <a:ext cx="1016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b="1" dirty="0">
                <a:solidFill>
                  <a:srgbClr val="7AB648"/>
                </a:solidFill>
              </a:rPr>
              <a:t>Carol (2,4)</a:t>
            </a:r>
          </a:p>
        </p:txBody>
      </p:sp>
      <p:sp>
        <p:nvSpPr>
          <p:cNvPr id="6041" name="tb"/>
          <p:cNvSpPr txBox="1"/>
          <p:nvPr/>
        </p:nvSpPr>
        <p:spPr>
          <a:xfrm>
            <a:off x="1600200" y="3403600"/>
            <a:ext cx="1016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/>
            <a:r>
              <a:rPr lang="en-US" sz="1400" b="1" dirty="0">
                <a:solidFill>
                  <a:srgbClr val="4B2E83"/>
                </a:solidFill>
              </a:rPr>
              <a:t>d ≈ 2.24</a:t>
            </a:r>
          </a:p>
        </p:txBody>
      </p:sp>
      <p:sp>
        <p:nvSpPr>
          <p:cNvPr id="6042" name="panel"/>
          <p:cNvSpPr/>
          <p:nvPr/>
        </p:nvSpPr>
        <p:spPr>
          <a:xfrm>
            <a:off x="6146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43" name="tb"/>
          <p:cNvSpPr txBox="1"/>
          <p:nvPr/>
        </p:nvSpPr>
        <p:spPr>
          <a:xfrm>
            <a:off x="6400800" y="14986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600" b="1" dirty="0">
                <a:solidFill>
                  <a:srgbClr val="4B2E83"/>
                </a:solidFill>
              </a:rPr>
              <a:t>Subtract the two vectors</a:t>
            </a:r>
          </a:p>
        </p:txBody>
      </p:sp>
      <p:sp>
        <p:nvSpPr>
          <p:cNvPr id="6044" name="tb"/>
          <p:cNvSpPr txBox="1"/>
          <p:nvPr/>
        </p:nvSpPr>
        <p:spPr>
          <a:xfrm>
            <a:off x="6400800" y="1981200"/>
            <a:ext cx="52324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dirty="0">
                <a:solidFill>
                  <a:srgbClr val="333333"/>
                </a:solidFill>
              </a:rPr>
              <a:t>Ann = (1, 2)     Carol = (2, 4)</a:t>
            </a:r>
          </a:p>
        </p:txBody>
      </p:sp>
      <p:sp>
        <p:nvSpPr>
          <p:cNvPr id="6045" name="tb"/>
          <p:cNvSpPr txBox="1"/>
          <p:nvPr/>
        </p:nvSpPr>
        <p:spPr>
          <a:xfrm>
            <a:off x="6400800" y="2540000"/>
            <a:ext cx="52324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The distance is the length of the difference:</a:t>
            </a:r>
          </a:p>
        </p:txBody>
      </p:sp>
      <p:sp>
        <p:nvSpPr>
          <p:cNvPr id="6046" name="tb"/>
          <p:cNvSpPr txBox="1"/>
          <p:nvPr/>
        </p:nvSpPr>
        <p:spPr>
          <a:xfrm>
            <a:off x="6400800" y="3022600"/>
            <a:ext cx="5232400" cy="355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600" b="1" dirty="0">
                <a:solidFill>
                  <a:srgbClr val="333333"/>
                </a:solidFill>
              </a:rPr>
              <a:t>Carol − Ann = (1, 2)</a:t>
            </a:r>
          </a:p>
        </p:txBody>
      </p:sp>
      <p:sp>
        <p:nvSpPr>
          <p:cNvPr id="6047" name="tb"/>
          <p:cNvSpPr txBox="1"/>
          <p:nvPr/>
        </p:nvSpPr>
        <p:spPr>
          <a:xfrm>
            <a:off x="6400800" y="3530600"/>
            <a:ext cx="5232400" cy="355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333333"/>
                </a:solidFill>
              </a:rPr>
              <a:t>d = ‖(1, 2)‖ = √(1 + 4) = </a:t>
            </a:r>
            <a:r>
              <a:rPr lang="en-US" sz="1500" b="1" dirty="0">
                <a:solidFill>
                  <a:srgbClr val="4B2E83"/>
                </a:solidFill>
              </a:rPr>
              <a:t>√5 ≈ 2.24</a:t>
            </a:r>
          </a:p>
        </p:txBody>
      </p:sp>
      <p:sp>
        <p:nvSpPr>
          <p:cNvPr id="6048" name="box"/>
          <p:cNvSpPr/>
          <p:nvPr/>
        </p:nvSpPr>
        <p:spPr>
          <a:xfrm>
            <a:off x="6324600" y="4191000"/>
            <a:ext cx="5384800" cy="1320800"/>
          </a:xfrm>
          <a:prstGeom prst="roundRect">
            <a:avLst>
              <a:gd name="adj" fmla="val 10000"/>
            </a:avLst>
          </a:prstGeom>
          <a:solidFill>
            <a:srgbClr val="F4FAEF"/>
          </a:solidFill>
          <a:ln w="19050">
            <a:solidFill>
              <a:srgbClr val="7AB64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49" name="tb"/>
          <p:cNvSpPr txBox="1"/>
          <p:nvPr/>
        </p:nvSpPr>
        <p:spPr>
          <a:xfrm>
            <a:off x="6553200" y="4394200"/>
            <a:ext cx="4978400" cy="965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400" dirty="0">
                <a:solidFill>
                  <a:srgbClr val="333333"/>
                </a:solidFill>
              </a:rPr>
              <a:t>The dashed segment joining the two tips is the vector Carol − Ann. </a:t>
            </a:r>
            <a:r>
              <a:rPr lang="en-US" sz="1400" b="1" dirty="0">
                <a:solidFill>
                  <a:srgbClr val="333333"/>
                </a:solidFill>
              </a:rPr>
              <a:t>Its length is the distance between the two observations — the same as the distance between their vectors.</a:t>
            </a:r>
          </a:p>
        </p:txBody>
      </p:sp>
    </p:spTree>
    <p:extLst>
      <p:ext uri="{BB962C8B-B14F-4D97-AF65-F5344CB8AC3E}">
        <p14:creationId xmlns:p14="http://schemas.microsoft.com/office/powerpoint/2010/main" val="20939567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Carol ↔ Bob: Distance Between Vectors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Each person is a vector from the origin; the gap between their tips is ‖Carol − Bob‖.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Distance between observations = ‖ a − b ‖ = distance between their vectors.</a:t>
            </a:r>
          </a:p>
        </p:txBody>
      </p:sp>
      <p:sp>
        <p:nvSpPr>
          <p:cNvPr id="6000" name="panel"/>
          <p:cNvSpPr/>
          <p:nvPr/>
        </p:nvSpPr>
        <p:spPr>
          <a:xfrm>
            <a:off x="304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r"/>
          <p:cNvSpPr/>
          <p:nvPr/>
        </p:nvSpPr>
        <p:spPr>
          <a:xfrm>
            <a:off x="1397000" y="19812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2" name="r"/>
          <p:cNvSpPr/>
          <p:nvPr/>
        </p:nvSpPr>
        <p:spPr>
          <a:xfrm>
            <a:off x="1955800" y="19812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3" name="r"/>
          <p:cNvSpPr/>
          <p:nvPr/>
        </p:nvSpPr>
        <p:spPr>
          <a:xfrm>
            <a:off x="2514600" y="19812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4" name="r"/>
          <p:cNvSpPr/>
          <p:nvPr/>
        </p:nvSpPr>
        <p:spPr>
          <a:xfrm>
            <a:off x="3073400" y="19812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5" name="r"/>
          <p:cNvSpPr/>
          <p:nvPr/>
        </p:nvSpPr>
        <p:spPr>
          <a:xfrm>
            <a:off x="3632200" y="19812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6" name="r"/>
          <p:cNvSpPr/>
          <p:nvPr/>
        </p:nvSpPr>
        <p:spPr>
          <a:xfrm>
            <a:off x="4191000" y="19812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7" name="r"/>
          <p:cNvSpPr/>
          <p:nvPr/>
        </p:nvSpPr>
        <p:spPr>
          <a:xfrm>
            <a:off x="4749800" y="1981200"/>
            <a:ext cx="10160" cy="335280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8" name="r"/>
          <p:cNvSpPr/>
          <p:nvPr/>
        </p:nvSpPr>
        <p:spPr>
          <a:xfrm>
            <a:off x="1397000" y="53340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9" name="r"/>
          <p:cNvSpPr/>
          <p:nvPr/>
        </p:nvSpPr>
        <p:spPr>
          <a:xfrm>
            <a:off x="1397000" y="47752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0" name="r"/>
          <p:cNvSpPr/>
          <p:nvPr/>
        </p:nvSpPr>
        <p:spPr>
          <a:xfrm>
            <a:off x="1397000" y="42164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1" name="r"/>
          <p:cNvSpPr/>
          <p:nvPr/>
        </p:nvSpPr>
        <p:spPr>
          <a:xfrm>
            <a:off x="1397000" y="36576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2" name="r"/>
          <p:cNvSpPr/>
          <p:nvPr/>
        </p:nvSpPr>
        <p:spPr>
          <a:xfrm>
            <a:off x="1397000" y="30988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3" name="r"/>
          <p:cNvSpPr/>
          <p:nvPr/>
        </p:nvSpPr>
        <p:spPr>
          <a:xfrm>
            <a:off x="1397000" y="25400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4" name="r"/>
          <p:cNvSpPr/>
          <p:nvPr/>
        </p:nvSpPr>
        <p:spPr>
          <a:xfrm>
            <a:off x="1397000" y="1981200"/>
            <a:ext cx="3352800" cy="10160"/>
          </a:xfrm>
          <a:prstGeom prst="rect">
            <a:avLst/>
          </a:prstGeom>
          <a:solidFill>
            <a:srgbClr val="E6E1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5" name="r"/>
          <p:cNvSpPr/>
          <p:nvPr/>
        </p:nvSpPr>
        <p:spPr>
          <a:xfrm>
            <a:off x="1397000" y="5325110"/>
            <a:ext cx="3352800" cy="1778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6" name="r"/>
          <p:cNvSpPr/>
          <p:nvPr/>
        </p:nvSpPr>
        <p:spPr>
          <a:xfrm>
            <a:off x="1388110" y="1981200"/>
            <a:ext cx="17780" cy="335280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7" name="tb"/>
          <p:cNvSpPr txBox="1"/>
          <p:nvPr/>
        </p:nvSpPr>
        <p:spPr>
          <a:xfrm>
            <a:off x="1295400" y="53848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0</a:t>
            </a:r>
          </a:p>
        </p:txBody>
      </p:sp>
      <p:sp>
        <p:nvSpPr>
          <p:cNvPr id="6018" name="tb"/>
          <p:cNvSpPr txBox="1"/>
          <p:nvPr/>
        </p:nvSpPr>
        <p:spPr>
          <a:xfrm>
            <a:off x="1854200" y="53848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1</a:t>
            </a:r>
          </a:p>
        </p:txBody>
      </p:sp>
      <p:sp>
        <p:nvSpPr>
          <p:cNvPr id="6019" name="tb"/>
          <p:cNvSpPr txBox="1"/>
          <p:nvPr/>
        </p:nvSpPr>
        <p:spPr>
          <a:xfrm>
            <a:off x="2413000" y="53848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2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2971800" y="53848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3</a:t>
            </a:r>
          </a:p>
        </p:txBody>
      </p:sp>
      <p:sp>
        <p:nvSpPr>
          <p:cNvPr id="6021" name="tb"/>
          <p:cNvSpPr txBox="1"/>
          <p:nvPr/>
        </p:nvSpPr>
        <p:spPr>
          <a:xfrm>
            <a:off x="3530600" y="53848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4</a:t>
            </a:r>
          </a:p>
        </p:txBody>
      </p:sp>
      <p:sp>
        <p:nvSpPr>
          <p:cNvPr id="6022" name="tb"/>
          <p:cNvSpPr txBox="1"/>
          <p:nvPr/>
        </p:nvSpPr>
        <p:spPr>
          <a:xfrm>
            <a:off x="4089400" y="53848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5</a:t>
            </a:r>
          </a:p>
        </p:txBody>
      </p:sp>
      <p:sp>
        <p:nvSpPr>
          <p:cNvPr id="6023" name="tb"/>
          <p:cNvSpPr txBox="1"/>
          <p:nvPr/>
        </p:nvSpPr>
        <p:spPr>
          <a:xfrm>
            <a:off x="4648200" y="53848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6</a:t>
            </a:r>
          </a:p>
        </p:txBody>
      </p:sp>
      <p:sp>
        <p:nvSpPr>
          <p:cNvPr id="6024" name="tb"/>
          <p:cNvSpPr txBox="1"/>
          <p:nvPr/>
        </p:nvSpPr>
        <p:spPr>
          <a:xfrm>
            <a:off x="1193800" y="46990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1</a:t>
            </a:r>
          </a:p>
        </p:txBody>
      </p:sp>
      <p:sp>
        <p:nvSpPr>
          <p:cNvPr id="6025" name="tb"/>
          <p:cNvSpPr txBox="1"/>
          <p:nvPr/>
        </p:nvSpPr>
        <p:spPr>
          <a:xfrm>
            <a:off x="1193800" y="41402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2</a:t>
            </a:r>
          </a:p>
        </p:txBody>
      </p:sp>
      <p:sp>
        <p:nvSpPr>
          <p:cNvPr id="6026" name="tb"/>
          <p:cNvSpPr txBox="1"/>
          <p:nvPr/>
        </p:nvSpPr>
        <p:spPr>
          <a:xfrm>
            <a:off x="1193800" y="35814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3</a:t>
            </a:r>
          </a:p>
        </p:txBody>
      </p:sp>
      <p:sp>
        <p:nvSpPr>
          <p:cNvPr id="6027" name="tb"/>
          <p:cNvSpPr txBox="1"/>
          <p:nvPr/>
        </p:nvSpPr>
        <p:spPr>
          <a:xfrm>
            <a:off x="1193800" y="30226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4</a:t>
            </a:r>
          </a:p>
        </p:txBody>
      </p:sp>
      <p:sp>
        <p:nvSpPr>
          <p:cNvPr id="6028" name="tb"/>
          <p:cNvSpPr txBox="1"/>
          <p:nvPr/>
        </p:nvSpPr>
        <p:spPr>
          <a:xfrm>
            <a:off x="1193800" y="24638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5</a:t>
            </a:r>
          </a:p>
        </p:txBody>
      </p:sp>
      <p:sp>
        <p:nvSpPr>
          <p:cNvPr id="6029" name="tb"/>
          <p:cNvSpPr txBox="1"/>
          <p:nvPr/>
        </p:nvSpPr>
        <p:spPr>
          <a:xfrm>
            <a:off x="1193800" y="1905000"/>
            <a:ext cx="203200" cy="152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900" dirty="0">
                <a:solidFill>
                  <a:srgbClr val="7A7A7A"/>
                </a:solidFill>
              </a:rPr>
              <a:t>6</a:t>
            </a:r>
          </a:p>
        </p:txBody>
      </p:sp>
      <p:sp>
        <p:nvSpPr>
          <p:cNvPr id="6030" name="tb"/>
          <p:cNvSpPr txBox="1"/>
          <p:nvPr/>
        </p:nvSpPr>
        <p:spPr>
          <a:xfrm>
            <a:off x="3073400" y="5638800"/>
            <a:ext cx="1016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b="1" dirty="0">
                <a:solidFill>
                  <a:srgbClr val="7A7A7A"/>
                </a:solidFill>
              </a:rPr>
              <a:t>Age →</a:t>
            </a:r>
          </a:p>
        </p:txBody>
      </p:sp>
      <p:sp>
        <p:nvSpPr>
          <p:cNvPr id="6031" name="tb"/>
          <p:cNvSpPr txBox="1"/>
          <p:nvPr/>
        </p:nvSpPr>
        <p:spPr>
          <a:xfrm>
            <a:off x="1371600" y="1701800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b="1" dirty="0">
                <a:solidFill>
                  <a:srgbClr val="7A7A7A"/>
                </a:solidFill>
              </a:rPr>
              <a:t>↑ Income</a:t>
            </a:r>
          </a:p>
        </p:txBody>
      </p:sp>
      <p:cxnSp>
        <p:nvCxnSpPr>
          <p:cNvPr id="6032" name="vec"/>
          <p:cNvCxnSpPr/>
          <p:nvPr/>
        </p:nvCxnSpPr>
        <p:spPr>
          <a:xfrm flipV="1">
            <a:off x="1397000" y="3098800"/>
            <a:ext cx="1117600" cy="2235200"/>
          </a:xfrm>
          <a:prstGeom prst="line">
            <a:avLst/>
          </a:prstGeom>
          <a:ln w="22225" cap="rnd">
            <a:solidFill>
              <a:srgbClr val="7AB648"/>
            </a:solidFill>
            <a:tailEnd type="triangle" w="med" len="med"/>
          </a:ln>
        </p:spPr>
      </p:cxnSp>
      <p:cxnSp>
        <p:nvCxnSpPr>
          <p:cNvPr id="6033" name="vec"/>
          <p:cNvCxnSpPr/>
          <p:nvPr/>
        </p:nvCxnSpPr>
        <p:spPr>
          <a:xfrm flipV="1">
            <a:off x="1397000" y="2540000"/>
            <a:ext cx="2235200" cy="2794000"/>
          </a:xfrm>
          <a:prstGeom prst="line">
            <a:avLst/>
          </a:prstGeom>
          <a:ln w="22225" cap="rnd">
            <a:solidFill>
              <a:srgbClr val="00A7B5"/>
            </a:solidFill>
            <a:tailEnd type="triangle" w="med" len="med"/>
          </a:ln>
        </p:spPr>
      </p:cxnSp>
      <p:cxnSp>
        <p:nvCxnSpPr>
          <p:cNvPr id="6034" name="diff"/>
          <p:cNvCxnSpPr/>
          <p:nvPr/>
        </p:nvCxnSpPr>
        <p:spPr>
          <a:xfrm flipV="1">
            <a:off x="2514600" y="2540000"/>
            <a:ext cx="1117600" cy="558800"/>
          </a:xfrm>
          <a:prstGeom prst="line">
            <a:avLst/>
          </a:prstGeom>
          <a:ln w="31750" cap="rnd">
            <a:solidFill>
              <a:srgbClr val="4B2E83"/>
            </a:solidFill>
            <a:prstDash val="dash"/>
            <a:headEnd type="triangle" w="med" len="med"/>
            <a:tailEnd type="triangle" w="med" len="med"/>
          </a:ln>
        </p:spPr>
      </p:cxnSp>
      <p:sp>
        <p:nvSpPr>
          <p:cNvPr id="6035" name="head"/>
          <p:cNvSpPr/>
          <p:nvPr/>
        </p:nvSpPr>
        <p:spPr>
          <a:xfrm>
            <a:off x="2432050" y="2806700"/>
            <a:ext cx="165100" cy="165100"/>
          </a:xfrm>
          <a:prstGeom prst="ellipse">
            <a:avLst/>
          </a:prstGeom>
          <a:solidFill>
            <a:srgbClr val="7AB64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6" name="body"/>
          <p:cNvSpPr/>
          <p:nvPr/>
        </p:nvSpPr>
        <p:spPr>
          <a:xfrm>
            <a:off x="2374900" y="2984500"/>
            <a:ext cx="279400" cy="228600"/>
          </a:xfrm>
          <a:prstGeom prst="trapezoid">
            <a:avLst>
              <a:gd name="adj" fmla="val 30000"/>
            </a:avLst>
          </a:prstGeom>
          <a:solidFill>
            <a:srgbClr val="7AB64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7" name="head"/>
          <p:cNvSpPr/>
          <p:nvPr/>
        </p:nvSpPr>
        <p:spPr>
          <a:xfrm>
            <a:off x="3549650" y="2247900"/>
            <a:ext cx="165100" cy="165100"/>
          </a:xfrm>
          <a:prstGeom prst="ellipse">
            <a:avLst/>
          </a:prstGeom>
          <a:solidFill>
            <a:srgbClr val="00A7B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8" name="body"/>
          <p:cNvSpPr/>
          <p:nvPr/>
        </p:nvSpPr>
        <p:spPr>
          <a:xfrm>
            <a:off x="3492500" y="2425700"/>
            <a:ext cx="279400" cy="228600"/>
          </a:xfrm>
          <a:prstGeom prst="trapezoid">
            <a:avLst>
              <a:gd name="adj" fmla="val 30000"/>
            </a:avLst>
          </a:prstGeom>
          <a:solidFill>
            <a:srgbClr val="00A7B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9" name="tb"/>
          <p:cNvSpPr txBox="1"/>
          <p:nvPr/>
        </p:nvSpPr>
        <p:spPr>
          <a:xfrm>
            <a:off x="2641600" y="3022600"/>
            <a:ext cx="1016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b="1" dirty="0">
                <a:solidFill>
                  <a:srgbClr val="7AB648"/>
                </a:solidFill>
              </a:rPr>
              <a:t>Carol (2,4)</a:t>
            </a:r>
          </a:p>
        </p:txBody>
      </p:sp>
      <p:sp>
        <p:nvSpPr>
          <p:cNvPr id="6040" name="tb"/>
          <p:cNvSpPr txBox="1"/>
          <p:nvPr/>
        </p:nvSpPr>
        <p:spPr>
          <a:xfrm>
            <a:off x="3759200" y="2463800"/>
            <a:ext cx="1016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b="1" dirty="0">
                <a:solidFill>
                  <a:srgbClr val="00A7B5"/>
                </a:solidFill>
              </a:rPr>
              <a:t>Bob (4,5)</a:t>
            </a:r>
          </a:p>
        </p:txBody>
      </p:sp>
      <p:sp>
        <p:nvSpPr>
          <p:cNvPr id="6041" name="tb"/>
          <p:cNvSpPr txBox="1"/>
          <p:nvPr/>
        </p:nvSpPr>
        <p:spPr>
          <a:xfrm>
            <a:off x="2413000" y="2565400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/>
            <a:r>
              <a:rPr lang="en-US" sz="1400" b="1" dirty="0">
                <a:solidFill>
                  <a:srgbClr val="4B2E83"/>
                </a:solidFill>
              </a:rPr>
              <a:t>d ≈ 2.24</a:t>
            </a:r>
          </a:p>
        </p:txBody>
      </p:sp>
      <p:sp>
        <p:nvSpPr>
          <p:cNvPr id="6042" name="panel"/>
          <p:cNvSpPr/>
          <p:nvPr/>
        </p:nvSpPr>
        <p:spPr>
          <a:xfrm>
            <a:off x="6146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43" name="tb"/>
          <p:cNvSpPr txBox="1"/>
          <p:nvPr/>
        </p:nvSpPr>
        <p:spPr>
          <a:xfrm>
            <a:off x="6400800" y="1498600"/>
            <a:ext cx="52324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600" b="1" dirty="0">
                <a:solidFill>
                  <a:srgbClr val="4B2E83"/>
                </a:solidFill>
              </a:rPr>
              <a:t>Subtract the two vectors</a:t>
            </a:r>
          </a:p>
        </p:txBody>
      </p:sp>
      <p:sp>
        <p:nvSpPr>
          <p:cNvPr id="6044" name="tb"/>
          <p:cNvSpPr txBox="1"/>
          <p:nvPr/>
        </p:nvSpPr>
        <p:spPr>
          <a:xfrm>
            <a:off x="6400800" y="1981200"/>
            <a:ext cx="52324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dirty="0">
                <a:solidFill>
                  <a:srgbClr val="333333"/>
                </a:solidFill>
              </a:rPr>
              <a:t>Carol = (2, 4)     Bob = (4, 5)</a:t>
            </a:r>
          </a:p>
        </p:txBody>
      </p:sp>
      <p:sp>
        <p:nvSpPr>
          <p:cNvPr id="6045" name="tb"/>
          <p:cNvSpPr txBox="1"/>
          <p:nvPr/>
        </p:nvSpPr>
        <p:spPr>
          <a:xfrm>
            <a:off x="6400800" y="2540000"/>
            <a:ext cx="52324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The distance is the length of the difference:</a:t>
            </a:r>
          </a:p>
        </p:txBody>
      </p:sp>
      <p:sp>
        <p:nvSpPr>
          <p:cNvPr id="6046" name="tb"/>
          <p:cNvSpPr txBox="1"/>
          <p:nvPr/>
        </p:nvSpPr>
        <p:spPr>
          <a:xfrm>
            <a:off x="6400800" y="3022600"/>
            <a:ext cx="5232400" cy="355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600" b="1" dirty="0">
                <a:solidFill>
                  <a:srgbClr val="333333"/>
                </a:solidFill>
              </a:rPr>
              <a:t>Bob − Carol = (2, 1)</a:t>
            </a:r>
          </a:p>
        </p:txBody>
      </p:sp>
      <p:sp>
        <p:nvSpPr>
          <p:cNvPr id="6047" name="tb"/>
          <p:cNvSpPr txBox="1"/>
          <p:nvPr/>
        </p:nvSpPr>
        <p:spPr>
          <a:xfrm>
            <a:off x="6400800" y="3530600"/>
            <a:ext cx="5232400" cy="355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333333"/>
                </a:solidFill>
              </a:rPr>
              <a:t>d = ‖(2, 1)‖ = √(4 + 1) = </a:t>
            </a:r>
            <a:r>
              <a:rPr lang="en-US" sz="1500" b="1" dirty="0">
                <a:solidFill>
                  <a:srgbClr val="4B2E83"/>
                </a:solidFill>
              </a:rPr>
              <a:t>√5 ≈ 2.24</a:t>
            </a:r>
          </a:p>
        </p:txBody>
      </p:sp>
      <p:sp>
        <p:nvSpPr>
          <p:cNvPr id="6048" name="box"/>
          <p:cNvSpPr/>
          <p:nvPr/>
        </p:nvSpPr>
        <p:spPr>
          <a:xfrm>
            <a:off x="6324600" y="4191000"/>
            <a:ext cx="5384800" cy="1320800"/>
          </a:xfrm>
          <a:prstGeom prst="roundRect">
            <a:avLst>
              <a:gd name="adj" fmla="val 10000"/>
            </a:avLst>
          </a:prstGeom>
          <a:solidFill>
            <a:srgbClr val="F4FAEF"/>
          </a:solidFill>
          <a:ln w="19050">
            <a:solidFill>
              <a:srgbClr val="7AB64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49" name="tb"/>
          <p:cNvSpPr txBox="1"/>
          <p:nvPr/>
        </p:nvSpPr>
        <p:spPr>
          <a:xfrm>
            <a:off x="6553200" y="4394200"/>
            <a:ext cx="4978400" cy="965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400" dirty="0">
                <a:solidFill>
                  <a:srgbClr val="333333"/>
                </a:solidFill>
              </a:rPr>
              <a:t>The dashed segment joining the two tips is the vector Bob − Carol. </a:t>
            </a:r>
            <a:r>
              <a:rPr lang="en-US" sz="1400" b="1" dirty="0">
                <a:solidFill>
                  <a:srgbClr val="333333"/>
                </a:solidFill>
              </a:rPr>
              <a:t>Its length is the distance between the two observations — the same as the distance between their vectors.</a:t>
            </a:r>
          </a:p>
        </p:txBody>
      </p:sp>
    </p:spTree>
    <p:extLst>
      <p:ext uri="{BB962C8B-B14F-4D97-AF65-F5344CB8AC3E}">
        <p14:creationId xmlns:p14="http://schemas.microsoft.com/office/powerpoint/2010/main" val="426184730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Properties: Dot Product · Norm · Cosine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Key rules behind the three vector measures.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Dot product pairs components, norm gives length, cosine gives direction — together they measure vectors and distances.</a:t>
            </a:r>
          </a:p>
        </p:txBody>
      </p:sp>
      <p:sp>
        <p:nvSpPr>
          <p:cNvPr id="6000" name="card"/>
          <p:cNvSpPr/>
          <p:nvPr/>
        </p:nvSpPr>
        <p:spPr>
          <a:xfrm>
            <a:off x="304800" y="1270000"/>
            <a:ext cx="3759200" cy="4470400"/>
          </a:xfrm>
          <a:prstGeom prst="roundRect">
            <a:avLst>
              <a:gd name="adj" fmla="val 4000"/>
            </a:avLst>
          </a:prstGeom>
          <a:solidFill>
            <a:srgbClr val="F5F0E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bar"/>
          <p:cNvSpPr/>
          <p:nvPr/>
        </p:nvSpPr>
        <p:spPr>
          <a:xfrm>
            <a:off x="508000" y="1524000"/>
            <a:ext cx="1016000" cy="635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2" name="tb"/>
          <p:cNvSpPr txBox="1"/>
          <p:nvPr/>
        </p:nvSpPr>
        <p:spPr>
          <a:xfrm>
            <a:off x="508000" y="1701800"/>
            <a:ext cx="3352800" cy="381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700" b="1" dirty="0">
                <a:solidFill>
                  <a:srgbClr val="4B2E83"/>
                </a:solidFill>
              </a:rPr>
              <a:t>Dot product  a·b</a:t>
            </a:r>
          </a:p>
        </p:txBody>
      </p:sp>
      <p:sp>
        <p:nvSpPr>
          <p:cNvPr id="6003" name="tb"/>
          <p:cNvSpPr txBox="1"/>
          <p:nvPr/>
        </p:nvSpPr>
        <p:spPr>
          <a:xfrm>
            <a:off x="533400" y="2260600"/>
            <a:ext cx="3327400" cy="3327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a·b = b·a   (commutative)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a·(b+c) = a·b + a·c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a·a = ‖a‖²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a·b = 0  ⇔  a ⊥ b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(k a)·b = k (a·b)</a:t>
            </a:r>
          </a:p>
        </p:txBody>
      </p:sp>
      <p:sp>
        <p:nvSpPr>
          <p:cNvPr id="6004" name="card"/>
          <p:cNvSpPr/>
          <p:nvPr/>
        </p:nvSpPr>
        <p:spPr>
          <a:xfrm>
            <a:off x="4216400" y="1270000"/>
            <a:ext cx="3759200" cy="4470400"/>
          </a:xfrm>
          <a:prstGeom prst="roundRect">
            <a:avLst>
              <a:gd name="adj" fmla="val 4000"/>
            </a:avLst>
          </a:prstGeom>
          <a:solidFill>
            <a:srgbClr val="F5F0EB"/>
          </a:solidFill>
          <a:ln w="15875">
            <a:solidFill>
              <a:srgbClr val="00A7B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5" name="bar"/>
          <p:cNvSpPr/>
          <p:nvPr/>
        </p:nvSpPr>
        <p:spPr>
          <a:xfrm>
            <a:off x="4419600" y="1524000"/>
            <a:ext cx="1016000" cy="63500"/>
          </a:xfrm>
          <a:prstGeom prst="rect">
            <a:avLst/>
          </a:prstGeom>
          <a:solidFill>
            <a:srgbClr val="00A7B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6" name="tb"/>
          <p:cNvSpPr txBox="1"/>
          <p:nvPr/>
        </p:nvSpPr>
        <p:spPr>
          <a:xfrm>
            <a:off x="4419600" y="1701800"/>
            <a:ext cx="3352800" cy="381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700" b="1" dirty="0">
                <a:solidFill>
                  <a:srgbClr val="00A7B5"/>
                </a:solidFill>
              </a:rPr>
              <a:t>Norm  ‖a‖</a:t>
            </a:r>
          </a:p>
        </p:txBody>
      </p:sp>
      <p:sp>
        <p:nvSpPr>
          <p:cNvPr id="6007" name="tb"/>
          <p:cNvSpPr txBox="1"/>
          <p:nvPr/>
        </p:nvSpPr>
        <p:spPr>
          <a:xfrm>
            <a:off x="4445000" y="2260600"/>
            <a:ext cx="3327400" cy="3327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‖a‖ ≥ 0;  = 0 only if a = 0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‖k a‖ = |k| · ‖a‖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‖a+b‖ ≤ ‖a‖ + ‖b‖   (triangle)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‖a‖ = √(a·a)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Distance from the origin</a:t>
            </a:r>
          </a:p>
        </p:txBody>
      </p:sp>
      <p:sp>
        <p:nvSpPr>
          <p:cNvPr id="6008" name="card"/>
          <p:cNvSpPr/>
          <p:nvPr/>
        </p:nvSpPr>
        <p:spPr>
          <a:xfrm>
            <a:off x="8128000" y="1270000"/>
            <a:ext cx="3759200" cy="4470400"/>
          </a:xfrm>
          <a:prstGeom prst="roundRect">
            <a:avLst>
              <a:gd name="adj" fmla="val 4000"/>
            </a:avLst>
          </a:prstGeom>
          <a:solidFill>
            <a:srgbClr val="F5F0EB"/>
          </a:solidFill>
          <a:ln w="15875">
            <a:solidFill>
              <a:srgbClr val="7AB64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9" name="bar"/>
          <p:cNvSpPr/>
          <p:nvPr/>
        </p:nvSpPr>
        <p:spPr>
          <a:xfrm>
            <a:off x="8331200" y="1524000"/>
            <a:ext cx="1016000" cy="63500"/>
          </a:xfrm>
          <a:prstGeom prst="rect">
            <a:avLst/>
          </a:prstGeom>
          <a:solidFill>
            <a:srgbClr val="7AB64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0" name="tb"/>
          <p:cNvSpPr txBox="1"/>
          <p:nvPr/>
        </p:nvSpPr>
        <p:spPr>
          <a:xfrm>
            <a:off x="8331200" y="1701800"/>
            <a:ext cx="3352800" cy="381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700" b="1" dirty="0">
                <a:solidFill>
                  <a:srgbClr val="7AB648"/>
                </a:solidFill>
              </a:rPr>
              <a:t>Cosine similarity</a:t>
            </a:r>
          </a:p>
        </p:txBody>
      </p:sp>
      <p:sp>
        <p:nvSpPr>
          <p:cNvPr id="6011" name="tb"/>
          <p:cNvSpPr txBox="1"/>
          <p:nvPr/>
        </p:nvSpPr>
        <p:spPr>
          <a:xfrm>
            <a:off x="8356600" y="2260600"/>
            <a:ext cx="3327400" cy="3327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cos θ = (a·b) / (‖a‖‖b‖)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−1 ≤ cos θ ≤ 1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1 same dir · 0 ⊥ · −1 opposite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Scale-invariant (ignores length)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Direction, not magnitude</a:t>
            </a:r>
          </a:p>
        </p:txBody>
      </p:sp>
    </p:spTree>
    <p:extLst>
      <p:ext uri="{BB962C8B-B14F-4D97-AF65-F5344CB8AC3E}">
        <p14:creationId xmlns:p14="http://schemas.microsoft.com/office/powerpoint/2010/main" val="142415018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F8F523B6-0FC5-E945-9EEE-60E3E0ACC201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EDFBA58F-5C09-8547-8001-F731245B17BA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</a:rPr>
              <a:t>Properties of a distance (metric axioms)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F47AF71F-A234-FB43-A7F8-849BD2EA65A1}"/>
              </a:ext>
            </a:extLst>
          </p:cNvPr>
          <p:cNvSpPr txBox="1"/>
          <p:nvPr/>
        </p:nvSpPr>
        <p:spPr>
          <a:xfrm>
            <a:off x="381000" y="9144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 i="1">
                <a:solidFill>
                  <a:srgbClr val="777777"/>
                </a:solidFill>
              </a:rPr>
              <a:t>A function d : X × X → ℝ is a metric only if it satisfies these four axioms:</a:t>
            </a:r>
          </a:p>
        </p:txBody>
      </p:sp>
      <p:sp>
        <p:nvSpPr>
          <p:cNvPr id="5" name="Card1">
            <a:extLst>
              <a:ext uri="{FF2B5EF4-FFF2-40B4-BE49-F238E27FC236}">
                <a16:creationId xmlns:a16="http://schemas.microsoft.com/office/drawing/2014/main" id="{6B3905CB-FAAF-7146-AA37-E27308B47317}"/>
              </a:ext>
            </a:extLst>
          </p:cNvPr>
          <p:cNvSpPr/>
          <p:nvPr/>
        </p:nvSpPr>
        <p:spPr>
          <a:xfrm>
            <a:off x="381000" y="1333500"/>
            <a:ext cx="5588000" cy="2032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Card1Hdr">
            <a:extLst>
              <a:ext uri="{FF2B5EF4-FFF2-40B4-BE49-F238E27FC236}">
                <a16:creationId xmlns:a16="http://schemas.microsoft.com/office/drawing/2014/main" id="{CF9169EE-E916-624E-B22A-7A1695EB524B}"/>
              </a:ext>
            </a:extLst>
          </p:cNvPr>
          <p:cNvSpPr/>
          <p:nvPr/>
        </p:nvSpPr>
        <p:spPr>
          <a:xfrm>
            <a:off x="381000" y="1333500"/>
            <a:ext cx="5588000" cy="355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Card1Title">
            <a:extLst>
              <a:ext uri="{FF2B5EF4-FFF2-40B4-BE49-F238E27FC236}">
                <a16:creationId xmlns:a16="http://schemas.microsoft.com/office/drawing/2014/main" id="{43EAD0E3-2B34-EC47-953D-FB79C7EDA1C3}"/>
              </a:ext>
            </a:extLst>
          </p:cNvPr>
          <p:cNvSpPr txBox="1"/>
          <p:nvPr/>
        </p:nvSpPr>
        <p:spPr>
          <a:xfrm>
            <a:off x="533400" y="1371600"/>
            <a:ext cx="52832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1. Non-negativity</a:t>
            </a:r>
          </a:p>
        </p:txBody>
      </p:sp>
      <p:sp>
        <p:nvSpPr>
          <p:cNvPr id="8" name="Card1Form">
            <a:extLst>
              <a:ext uri="{FF2B5EF4-FFF2-40B4-BE49-F238E27FC236}">
                <a16:creationId xmlns:a16="http://schemas.microsoft.com/office/drawing/2014/main" id="{8AEA6F77-93BC-3347-8157-1CD94D89FEEB}"/>
              </a:ext>
            </a:extLst>
          </p:cNvPr>
          <p:cNvSpPr txBox="1"/>
          <p:nvPr/>
        </p:nvSpPr>
        <p:spPr>
          <a:xfrm>
            <a:off x="584200" y="1790700"/>
            <a:ext cx="51816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b="1">
                <a:solidFill>
                  <a:srgbClr val="4B2E83"/>
                </a:solidFill>
                <a:latin typeface="Cambria Math"/>
                <a:ea typeface="Cambria Math"/>
              </a:rPr>
              <a:t>d(x, y) ≥ 0</a:t>
            </a:r>
          </a:p>
        </p:txBody>
      </p:sp>
      <p:sp>
        <p:nvSpPr>
          <p:cNvPr id="9" name="Card1Desc">
            <a:extLst>
              <a:ext uri="{FF2B5EF4-FFF2-40B4-BE49-F238E27FC236}">
                <a16:creationId xmlns:a16="http://schemas.microsoft.com/office/drawing/2014/main" id="{B80EDF0E-6A85-4141-BF6B-C0DD6DF5835B}"/>
              </a:ext>
            </a:extLst>
          </p:cNvPr>
          <p:cNvSpPr txBox="1"/>
          <p:nvPr/>
        </p:nvSpPr>
        <p:spPr>
          <a:xfrm>
            <a:off x="584200" y="2298700"/>
            <a:ext cx="5181600" cy="889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333333"/>
                </a:solidFill>
              </a:rPr>
              <a:t>Distance is never negative. There is no such thing as 'negative far'.</a:t>
            </a:r>
          </a:p>
        </p:txBody>
      </p:sp>
      <p:sp>
        <p:nvSpPr>
          <p:cNvPr id="10" name="Card2">
            <a:extLst>
              <a:ext uri="{FF2B5EF4-FFF2-40B4-BE49-F238E27FC236}">
                <a16:creationId xmlns:a16="http://schemas.microsoft.com/office/drawing/2014/main" id="{D7024AF2-E596-BC4B-939D-E33AE0D46DA7}"/>
              </a:ext>
            </a:extLst>
          </p:cNvPr>
          <p:cNvSpPr/>
          <p:nvPr/>
        </p:nvSpPr>
        <p:spPr>
          <a:xfrm>
            <a:off x="6223000" y="1333500"/>
            <a:ext cx="5588000" cy="2032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Card2Hdr">
            <a:extLst>
              <a:ext uri="{FF2B5EF4-FFF2-40B4-BE49-F238E27FC236}">
                <a16:creationId xmlns:a16="http://schemas.microsoft.com/office/drawing/2014/main" id="{606FAF10-33A8-7E42-AFF2-1F05221AC018}"/>
              </a:ext>
            </a:extLst>
          </p:cNvPr>
          <p:cNvSpPr/>
          <p:nvPr/>
        </p:nvSpPr>
        <p:spPr>
          <a:xfrm>
            <a:off x="6223000" y="1333500"/>
            <a:ext cx="5588000" cy="3556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Card2Title">
            <a:extLst>
              <a:ext uri="{FF2B5EF4-FFF2-40B4-BE49-F238E27FC236}">
                <a16:creationId xmlns:a16="http://schemas.microsoft.com/office/drawing/2014/main" id="{690D4E56-13C2-A346-B06F-D3B6E5B1A87E}"/>
              </a:ext>
            </a:extLst>
          </p:cNvPr>
          <p:cNvSpPr txBox="1"/>
          <p:nvPr/>
        </p:nvSpPr>
        <p:spPr>
          <a:xfrm>
            <a:off x="6375400" y="1371600"/>
            <a:ext cx="52832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2. Identity of indiscernibles</a:t>
            </a:r>
          </a:p>
        </p:txBody>
      </p:sp>
      <p:sp>
        <p:nvSpPr>
          <p:cNvPr id="13" name="Card2Form">
            <a:extLst>
              <a:ext uri="{FF2B5EF4-FFF2-40B4-BE49-F238E27FC236}">
                <a16:creationId xmlns:a16="http://schemas.microsoft.com/office/drawing/2014/main" id="{7B6F697B-FC6A-2641-80CD-5A7BFFBF5643}"/>
              </a:ext>
            </a:extLst>
          </p:cNvPr>
          <p:cNvSpPr txBox="1"/>
          <p:nvPr/>
        </p:nvSpPr>
        <p:spPr>
          <a:xfrm>
            <a:off x="6426200" y="1790700"/>
            <a:ext cx="51816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b="1">
                <a:solidFill>
                  <a:srgbClr val="00A7B5"/>
                </a:solidFill>
                <a:latin typeface="Cambria Math"/>
                <a:ea typeface="Cambria Math"/>
              </a:rPr>
              <a:t>d(x, y) = 0 ⟺ x = y</a:t>
            </a:r>
          </a:p>
        </p:txBody>
      </p:sp>
      <p:sp>
        <p:nvSpPr>
          <p:cNvPr id="14" name="Card2Desc">
            <a:extLst>
              <a:ext uri="{FF2B5EF4-FFF2-40B4-BE49-F238E27FC236}">
                <a16:creationId xmlns:a16="http://schemas.microsoft.com/office/drawing/2014/main" id="{43AB5D37-3133-B644-AC7C-AB898892D43C}"/>
              </a:ext>
            </a:extLst>
          </p:cNvPr>
          <p:cNvSpPr txBox="1"/>
          <p:nvPr/>
        </p:nvSpPr>
        <p:spPr>
          <a:xfrm>
            <a:off x="6426200" y="2298700"/>
            <a:ext cx="5181600" cy="889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333333"/>
                </a:solidFill>
              </a:rPr>
              <a:t>Zero distance happens only when the two points are the same point.</a:t>
            </a:r>
          </a:p>
        </p:txBody>
      </p:sp>
      <p:sp>
        <p:nvSpPr>
          <p:cNvPr id="15" name="Card3">
            <a:extLst>
              <a:ext uri="{FF2B5EF4-FFF2-40B4-BE49-F238E27FC236}">
                <a16:creationId xmlns:a16="http://schemas.microsoft.com/office/drawing/2014/main" id="{94F241A9-096D-A648-BF6D-FC9E29CF8461}"/>
              </a:ext>
            </a:extLst>
          </p:cNvPr>
          <p:cNvSpPr/>
          <p:nvPr/>
        </p:nvSpPr>
        <p:spPr>
          <a:xfrm>
            <a:off x="381000" y="3556000"/>
            <a:ext cx="5588000" cy="2032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Card3Hdr">
            <a:extLst>
              <a:ext uri="{FF2B5EF4-FFF2-40B4-BE49-F238E27FC236}">
                <a16:creationId xmlns:a16="http://schemas.microsoft.com/office/drawing/2014/main" id="{717D4A9C-1076-5B42-A4F2-E6864C39C8B6}"/>
              </a:ext>
            </a:extLst>
          </p:cNvPr>
          <p:cNvSpPr/>
          <p:nvPr/>
        </p:nvSpPr>
        <p:spPr>
          <a:xfrm>
            <a:off x="381000" y="3556000"/>
            <a:ext cx="5588000" cy="3556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Card3Title">
            <a:extLst>
              <a:ext uri="{FF2B5EF4-FFF2-40B4-BE49-F238E27FC236}">
                <a16:creationId xmlns:a16="http://schemas.microsoft.com/office/drawing/2014/main" id="{CDC3396A-9D08-724E-A099-148F816EAE41}"/>
              </a:ext>
            </a:extLst>
          </p:cNvPr>
          <p:cNvSpPr txBox="1"/>
          <p:nvPr/>
        </p:nvSpPr>
        <p:spPr>
          <a:xfrm>
            <a:off x="533400" y="3594100"/>
            <a:ext cx="52832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3. Symmetry</a:t>
            </a:r>
          </a:p>
        </p:txBody>
      </p:sp>
      <p:sp>
        <p:nvSpPr>
          <p:cNvPr id="18" name="Card3Form">
            <a:extLst>
              <a:ext uri="{FF2B5EF4-FFF2-40B4-BE49-F238E27FC236}">
                <a16:creationId xmlns:a16="http://schemas.microsoft.com/office/drawing/2014/main" id="{B0AD4140-4EC2-5545-99ED-5160325D1DE3}"/>
              </a:ext>
            </a:extLst>
          </p:cNvPr>
          <p:cNvSpPr txBox="1"/>
          <p:nvPr/>
        </p:nvSpPr>
        <p:spPr>
          <a:xfrm>
            <a:off x="584200" y="4013200"/>
            <a:ext cx="51816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b="1">
                <a:solidFill>
                  <a:srgbClr val="D1578A"/>
                </a:solidFill>
                <a:latin typeface="Cambria Math"/>
                <a:ea typeface="Cambria Math"/>
              </a:rPr>
              <a:t>d(x, y) = d(y, x)</a:t>
            </a:r>
          </a:p>
        </p:txBody>
      </p:sp>
      <p:sp>
        <p:nvSpPr>
          <p:cNvPr id="19" name="Card3Desc">
            <a:extLst>
              <a:ext uri="{FF2B5EF4-FFF2-40B4-BE49-F238E27FC236}">
                <a16:creationId xmlns:a16="http://schemas.microsoft.com/office/drawing/2014/main" id="{0FCC90ED-3290-304D-8B4E-F543F9D96D94}"/>
              </a:ext>
            </a:extLst>
          </p:cNvPr>
          <p:cNvSpPr txBox="1"/>
          <p:nvPr/>
        </p:nvSpPr>
        <p:spPr>
          <a:xfrm>
            <a:off x="584200" y="4521200"/>
            <a:ext cx="5181600" cy="889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333333"/>
                </a:solidFill>
              </a:rPr>
              <a:t>Distance from x to y equals distance from y to x. Direction does not matter.</a:t>
            </a:r>
          </a:p>
        </p:txBody>
      </p:sp>
      <p:sp>
        <p:nvSpPr>
          <p:cNvPr id="28" name="Card4">
            <a:extLst>
              <a:ext uri="{FF2B5EF4-FFF2-40B4-BE49-F238E27FC236}">
                <a16:creationId xmlns:a16="http://schemas.microsoft.com/office/drawing/2014/main" id="{C9D416AF-3328-954E-B96F-80A87342E448}"/>
              </a:ext>
            </a:extLst>
          </p:cNvPr>
          <p:cNvSpPr/>
          <p:nvPr/>
        </p:nvSpPr>
        <p:spPr>
          <a:xfrm>
            <a:off x="6223000" y="3556000"/>
            <a:ext cx="5588000" cy="2032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Card4Hdr">
            <a:extLst>
              <a:ext uri="{FF2B5EF4-FFF2-40B4-BE49-F238E27FC236}">
                <a16:creationId xmlns:a16="http://schemas.microsoft.com/office/drawing/2014/main" id="{E81993C9-D401-9C46-B106-43E7AB1CDD63}"/>
              </a:ext>
            </a:extLst>
          </p:cNvPr>
          <p:cNvSpPr/>
          <p:nvPr/>
        </p:nvSpPr>
        <p:spPr>
          <a:xfrm>
            <a:off x="6223000" y="3556000"/>
            <a:ext cx="5588000" cy="3556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0" name="Card4Title">
            <a:extLst>
              <a:ext uri="{FF2B5EF4-FFF2-40B4-BE49-F238E27FC236}">
                <a16:creationId xmlns:a16="http://schemas.microsoft.com/office/drawing/2014/main" id="{AA1C578B-9740-BC48-B585-B845CB214309}"/>
              </a:ext>
            </a:extLst>
          </p:cNvPr>
          <p:cNvSpPr txBox="1"/>
          <p:nvPr/>
        </p:nvSpPr>
        <p:spPr>
          <a:xfrm>
            <a:off x="6375400" y="3594100"/>
            <a:ext cx="52832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4. Triangle inequality</a:t>
            </a:r>
          </a:p>
        </p:txBody>
      </p:sp>
      <p:sp>
        <p:nvSpPr>
          <p:cNvPr id="31" name="Card4Form">
            <a:extLst>
              <a:ext uri="{FF2B5EF4-FFF2-40B4-BE49-F238E27FC236}">
                <a16:creationId xmlns:a16="http://schemas.microsoft.com/office/drawing/2014/main" id="{DBFD4C50-A685-D049-882F-F97243447073}"/>
              </a:ext>
            </a:extLst>
          </p:cNvPr>
          <p:cNvSpPr txBox="1"/>
          <p:nvPr/>
        </p:nvSpPr>
        <p:spPr>
          <a:xfrm>
            <a:off x="6426200" y="4013200"/>
            <a:ext cx="51816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b="1">
                <a:solidFill>
                  <a:srgbClr val="B7A57A"/>
                </a:solidFill>
                <a:latin typeface="Cambria Math"/>
                <a:ea typeface="Cambria Math"/>
              </a:rPr>
              <a:t>d(x, z) ≤ d(x, y) + d(y, z)</a:t>
            </a:r>
          </a:p>
        </p:txBody>
      </p:sp>
      <p:sp>
        <p:nvSpPr>
          <p:cNvPr id="32" name="Card4Desc">
            <a:extLst>
              <a:ext uri="{FF2B5EF4-FFF2-40B4-BE49-F238E27FC236}">
                <a16:creationId xmlns:a16="http://schemas.microsoft.com/office/drawing/2014/main" id="{A8B6B26E-9382-CC4A-9197-CC2EDAD94F77}"/>
              </a:ext>
            </a:extLst>
          </p:cNvPr>
          <p:cNvSpPr txBox="1"/>
          <p:nvPr/>
        </p:nvSpPr>
        <p:spPr>
          <a:xfrm>
            <a:off x="6426200" y="4521200"/>
            <a:ext cx="5181600" cy="889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333333"/>
                </a:solidFill>
              </a:rPr>
              <a:t>A detour through a third point is never shorter than going direct.</a:t>
            </a:r>
          </a:p>
        </p:txBody>
      </p:sp>
      <p:sp>
        <p:nvSpPr>
          <p:cNvPr id="33" name="TkBar">
            <a:extLst>
              <a:ext uri="{FF2B5EF4-FFF2-40B4-BE49-F238E27FC236}">
                <a16:creationId xmlns:a16="http://schemas.microsoft.com/office/drawing/2014/main" id="{3FFCFEDF-4ADE-2549-A935-DDE69B7D81F9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4" name="TkText">
            <a:extLst>
              <a:ext uri="{FF2B5EF4-FFF2-40B4-BE49-F238E27FC236}">
                <a16:creationId xmlns:a16="http://schemas.microsoft.com/office/drawing/2014/main" id="{4FB64814-6ED7-8146-8548-881F5C16AF7D}"/>
              </a:ext>
            </a:extLst>
          </p:cNvPr>
          <p:cNvSpPr txBox="1"/>
          <p:nvPr/>
        </p:nvSpPr>
        <p:spPr>
          <a:xfrm>
            <a:off x="381000" y="5842000"/>
            <a:ext cx="114300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i="1">
                <a:solidFill>
                  <a:srgbClr val="FFFFFF"/>
                </a:solidFill>
              </a:rPr>
              <a:t>All four axioms together capture what we intuitively mean by "distance." Any function meeting them is a valid metric.</a:t>
            </a:r>
          </a:p>
        </p:txBody>
      </p:sp>
    </p:spTree>
    <p:extLst>
      <p:ext uri="{BB962C8B-B14F-4D97-AF65-F5344CB8AC3E}">
        <p14:creationId xmlns:p14="http://schemas.microsoft.com/office/powerpoint/2010/main" val="155736536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D19EFE67-DB3E-E04E-93D6-74C66119CB3F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305F6275-9CF7-6346-B61C-8959CC4CA41B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</a:rPr>
              <a:t>Vectorized distance — compute it the smart way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FC73EBE1-E68F-BA4D-A4AC-DD2DE4E5B703}"/>
              </a:ext>
            </a:extLst>
          </p:cNvPr>
          <p:cNvSpPr txBox="1"/>
          <p:nvPr/>
        </p:nvSpPr>
        <p:spPr>
          <a:xfrm>
            <a:off x="381000" y="8890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 i="1">
                <a:solidFill>
                  <a:srgbClr val="777777"/>
                </a:solidFill>
              </a:rPr>
              <a:t>Once data lives in ℝⁿ, distance becomes a single algebraic formula — no loops needed.</a:t>
            </a:r>
          </a:p>
        </p:txBody>
      </p:sp>
      <p:sp>
        <p:nvSpPr>
          <p:cNvPr id="23" name="NaiveCard">
            <a:extLst>
              <a:ext uri="{FF2B5EF4-FFF2-40B4-BE49-F238E27FC236}">
                <a16:creationId xmlns:a16="http://schemas.microsoft.com/office/drawing/2014/main" id="{1314DDD7-FCF9-7D4C-B327-DF3E1F66F989}"/>
              </a:ext>
            </a:extLst>
          </p:cNvPr>
          <p:cNvSpPr/>
          <p:nvPr/>
        </p:nvSpPr>
        <p:spPr>
          <a:xfrm>
            <a:off x="381000" y="1333500"/>
            <a:ext cx="5524500" cy="2222500"/>
          </a:xfrm>
          <a:prstGeom prst="rect">
            <a:avLst/>
          </a:prstGeom>
          <a:solidFill>
            <a:srgbClr val="F5F0EB"/>
          </a:solidFill>
          <a:ln w="1905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NaiveHdr">
            <a:extLst>
              <a:ext uri="{FF2B5EF4-FFF2-40B4-BE49-F238E27FC236}">
                <a16:creationId xmlns:a16="http://schemas.microsoft.com/office/drawing/2014/main" id="{6721BEA2-11E3-2A43-8B91-2A300BDD8EB2}"/>
              </a:ext>
            </a:extLst>
          </p:cNvPr>
          <p:cNvSpPr/>
          <p:nvPr/>
        </p:nvSpPr>
        <p:spPr>
          <a:xfrm>
            <a:off x="381000" y="1333500"/>
            <a:ext cx="5524500" cy="3556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NaiveH">
            <a:extLst>
              <a:ext uri="{FF2B5EF4-FFF2-40B4-BE49-F238E27FC236}">
                <a16:creationId xmlns:a16="http://schemas.microsoft.com/office/drawing/2014/main" id="{A62E6A6A-3D3D-D24C-8341-D752A2C66062}"/>
              </a:ext>
            </a:extLst>
          </p:cNvPr>
          <p:cNvSpPr txBox="1"/>
          <p:nvPr/>
        </p:nvSpPr>
        <p:spPr>
          <a:xfrm>
            <a:off x="508000" y="1384300"/>
            <a:ext cx="52705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Scalar approach — loop over coordinates</a:t>
            </a:r>
          </a:p>
        </p:txBody>
      </p:sp>
      <p:sp>
        <p:nvSpPr>
          <p:cNvPr id="26" name="NaiveCode">
            <a:extLst>
              <a:ext uri="{FF2B5EF4-FFF2-40B4-BE49-F238E27FC236}">
                <a16:creationId xmlns:a16="http://schemas.microsoft.com/office/drawing/2014/main" id="{6C588E69-FFCB-7A43-A751-3EE5AE7A282A}"/>
              </a:ext>
            </a:extLst>
          </p:cNvPr>
          <p:cNvSpPr txBox="1"/>
          <p:nvPr/>
        </p:nvSpPr>
        <p:spPr>
          <a:xfrm>
            <a:off x="635000" y="1841500"/>
            <a:ext cx="5080000" cy="952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onsolas"/>
                <a:cs typeface="Consolas"/>
              </a:rPr>
              <a:t>d = 0
for i in 1..n:
   d += (uᵢ − vᵢ)²
d = √d</a:t>
            </a:r>
          </a:p>
        </p:txBody>
      </p:sp>
      <p:sp>
        <p:nvSpPr>
          <p:cNvPr id="27" name="NaiveNote">
            <a:extLst>
              <a:ext uri="{FF2B5EF4-FFF2-40B4-BE49-F238E27FC236}">
                <a16:creationId xmlns:a16="http://schemas.microsoft.com/office/drawing/2014/main" id="{A739DE2D-97C7-C34B-848C-104AAF8F6900}"/>
              </a:ext>
            </a:extLst>
          </p:cNvPr>
          <p:cNvSpPr txBox="1"/>
          <p:nvPr/>
        </p:nvSpPr>
        <p:spPr>
          <a:xfrm>
            <a:off x="635000" y="29210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777777"/>
                </a:solidFill>
              </a:rPr>
              <a:t>Works, but slow — n iterations per distance.</a:t>
            </a:r>
          </a:p>
        </p:txBody>
      </p:sp>
      <p:sp>
        <p:nvSpPr>
          <p:cNvPr id="35" name="NaiveTag">
            <a:extLst>
              <a:ext uri="{FF2B5EF4-FFF2-40B4-BE49-F238E27FC236}">
                <a16:creationId xmlns:a16="http://schemas.microsoft.com/office/drawing/2014/main" id="{C098B363-77D9-2B46-9EA0-890C7BEA31D7}"/>
              </a:ext>
            </a:extLst>
          </p:cNvPr>
          <p:cNvSpPr txBox="1"/>
          <p:nvPr/>
        </p:nvSpPr>
        <p:spPr>
          <a:xfrm>
            <a:off x="635000" y="32004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D1578A"/>
                </a:solidFill>
              </a:rPr>
              <a:t>✗  O(n) loop in Python</a:t>
            </a:r>
          </a:p>
        </p:txBody>
      </p:sp>
      <p:sp>
        <p:nvSpPr>
          <p:cNvPr id="36" name="VecCard">
            <a:extLst>
              <a:ext uri="{FF2B5EF4-FFF2-40B4-BE49-F238E27FC236}">
                <a16:creationId xmlns:a16="http://schemas.microsoft.com/office/drawing/2014/main" id="{E58DC7C1-4442-3D47-8B65-7874AF9E9457}"/>
              </a:ext>
            </a:extLst>
          </p:cNvPr>
          <p:cNvSpPr/>
          <p:nvPr/>
        </p:nvSpPr>
        <p:spPr>
          <a:xfrm>
            <a:off x="6286500" y="1333500"/>
            <a:ext cx="5524500" cy="2222500"/>
          </a:xfrm>
          <a:prstGeom prst="rect">
            <a:avLst/>
          </a:prstGeom>
          <a:solidFill>
            <a:srgbClr val="F5F0EB"/>
          </a:solidFill>
          <a:ln w="1905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7" name="VecHdr">
            <a:extLst>
              <a:ext uri="{FF2B5EF4-FFF2-40B4-BE49-F238E27FC236}">
                <a16:creationId xmlns:a16="http://schemas.microsoft.com/office/drawing/2014/main" id="{43042A21-CA2A-434A-B219-8C0FC1A2715A}"/>
              </a:ext>
            </a:extLst>
          </p:cNvPr>
          <p:cNvSpPr/>
          <p:nvPr/>
        </p:nvSpPr>
        <p:spPr>
          <a:xfrm>
            <a:off x="6286500" y="1333500"/>
            <a:ext cx="5524500" cy="3556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8" name="VecH">
            <a:extLst>
              <a:ext uri="{FF2B5EF4-FFF2-40B4-BE49-F238E27FC236}">
                <a16:creationId xmlns:a16="http://schemas.microsoft.com/office/drawing/2014/main" id="{B5AAAB53-4A24-5B4C-93BF-70EBC549C5FB}"/>
              </a:ext>
            </a:extLst>
          </p:cNvPr>
          <p:cNvSpPr txBox="1"/>
          <p:nvPr/>
        </p:nvSpPr>
        <p:spPr>
          <a:xfrm>
            <a:off x="6413500" y="1384300"/>
            <a:ext cx="52705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Vectorized approach — one expression</a:t>
            </a:r>
          </a:p>
        </p:txBody>
      </p:sp>
      <p:sp>
        <p:nvSpPr>
          <p:cNvPr id="39" name="VecFormula">
            <a:extLst>
              <a:ext uri="{FF2B5EF4-FFF2-40B4-BE49-F238E27FC236}">
                <a16:creationId xmlns:a16="http://schemas.microsoft.com/office/drawing/2014/main" id="{CD3A8F0C-E475-1C47-9637-1E2FF91B5025}"/>
              </a:ext>
            </a:extLst>
          </p:cNvPr>
          <p:cNvSpPr txBox="1"/>
          <p:nvPr/>
        </p:nvSpPr>
        <p:spPr>
          <a:xfrm>
            <a:off x="6413500" y="1841500"/>
            <a:ext cx="52705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200" b="1">
                <a:solidFill>
                  <a:srgbClr val="4B2E83"/>
                </a:solidFill>
                <a:latin typeface="Cambria Math"/>
                <a:ea typeface="Cambria Math"/>
              </a:rPr>
              <a:t>d(u, v) = ‖u − v‖</a:t>
            </a:r>
          </a:p>
        </p:txBody>
      </p:sp>
      <p:sp>
        <p:nvSpPr>
          <p:cNvPr id="40" name="VecCode">
            <a:extLst>
              <a:ext uri="{FF2B5EF4-FFF2-40B4-BE49-F238E27FC236}">
                <a16:creationId xmlns:a16="http://schemas.microsoft.com/office/drawing/2014/main" id="{BC667A1F-9FDB-6C4A-A1E1-D344E8BE68BE}"/>
              </a:ext>
            </a:extLst>
          </p:cNvPr>
          <p:cNvSpPr txBox="1"/>
          <p:nvPr/>
        </p:nvSpPr>
        <p:spPr>
          <a:xfrm>
            <a:off x="6413500" y="2387600"/>
            <a:ext cx="5270500" cy="33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onsolas"/>
                <a:cs typeface="Consolas"/>
              </a:rPr>
              <a:t>d = np.linalg.norm(u - v)</a:t>
            </a:r>
          </a:p>
        </p:txBody>
      </p:sp>
      <p:sp>
        <p:nvSpPr>
          <p:cNvPr id="41" name="VecNote">
            <a:extLst>
              <a:ext uri="{FF2B5EF4-FFF2-40B4-BE49-F238E27FC236}">
                <a16:creationId xmlns:a16="http://schemas.microsoft.com/office/drawing/2014/main" id="{DF980989-4263-274C-901A-6FC07194CCD0}"/>
              </a:ext>
            </a:extLst>
          </p:cNvPr>
          <p:cNvSpPr txBox="1"/>
          <p:nvPr/>
        </p:nvSpPr>
        <p:spPr>
          <a:xfrm>
            <a:off x="6413500" y="2819400"/>
            <a:ext cx="52705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777777"/>
                </a:solidFill>
              </a:rPr>
              <a:t>Subtract vectors, take the norm — done.</a:t>
            </a:r>
          </a:p>
        </p:txBody>
      </p:sp>
      <p:sp>
        <p:nvSpPr>
          <p:cNvPr id="42" name="VecTag">
            <a:extLst>
              <a:ext uri="{FF2B5EF4-FFF2-40B4-BE49-F238E27FC236}">
                <a16:creationId xmlns:a16="http://schemas.microsoft.com/office/drawing/2014/main" id="{BAAC836F-C771-1C4E-B117-1AA6BBD5D1F5}"/>
              </a:ext>
            </a:extLst>
          </p:cNvPr>
          <p:cNvSpPr txBox="1"/>
          <p:nvPr/>
        </p:nvSpPr>
        <p:spPr>
          <a:xfrm>
            <a:off x="6413500" y="3200400"/>
            <a:ext cx="52705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00A7B5"/>
                </a:solidFill>
              </a:rPr>
              <a:t>✓  Runs in compiled BLAS — orders of magnitude faster</a:t>
            </a:r>
          </a:p>
        </p:txBody>
      </p:sp>
      <p:sp>
        <p:nvSpPr>
          <p:cNvPr id="43" name="ExBar">
            <a:extLst>
              <a:ext uri="{FF2B5EF4-FFF2-40B4-BE49-F238E27FC236}">
                <a16:creationId xmlns:a16="http://schemas.microsoft.com/office/drawing/2014/main" id="{081F641B-11F1-064C-B5D3-C00A594F3DB4}"/>
              </a:ext>
            </a:extLst>
          </p:cNvPr>
          <p:cNvSpPr/>
          <p:nvPr/>
        </p:nvSpPr>
        <p:spPr>
          <a:xfrm>
            <a:off x="381000" y="3746500"/>
            <a:ext cx="11430000" cy="3556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4" name="ExBarT">
            <a:extLst>
              <a:ext uri="{FF2B5EF4-FFF2-40B4-BE49-F238E27FC236}">
                <a16:creationId xmlns:a16="http://schemas.microsoft.com/office/drawing/2014/main" id="{76F33A32-8944-C24F-8B73-50C44C7FBD6E}"/>
              </a:ext>
            </a:extLst>
          </p:cNvPr>
          <p:cNvSpPr txBox="1"/>
          <p:nvPr/>
        </p:nvSpPr>
        <p:spPr>
          <a:xfrm>
            <a:off x="508000" y="3797300"/>
            <a:ext cx="11176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Concrete example  —  u = [1, 4, 2],   v = [3, 0, 5]</a:t>
            </a:r>
          </a:p>
        </p:txBody>
      </p:sp>
      <p:sp>
        <p:nvSpPr>
          <p:cNvPr id="45" name="ExCard">
            <a:extLst>
              <a:ext uri="{FF2B5EF4-FFF2-40B4-BE49-F238E27FC236}">
                <a16:creationId xmlns:a16="http://schemas.microsoft.com/office/drawing/2014/main" id="{A78900B5-6824-7B4C-AFD4-29A90B6FD44A}"/>
              </a:ext>
            </a:extLst>
          </p:cNvPr>
          <p:cNvSpPr/>
          <p:nvPr/>
        </p:nvSpPr>
        <p:spPr>
          <a:xfrm>
            <a:off x="381000" y="4102100"/>
            <a:ext cx="11430000" cy="9525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6" name="ExStep1">
            <a:extLst>
              <a:ext uri="{FF2B5EF4-FFF2-40B4-BE49-F238E27FC236}">
                <a16:creationId xmlns:a16="http://schemas.microsoft.com/office/drawing/2014/main" id="{AB969EB8-DBD8-1F47-AF26-6F2BAD9EDD6A}"/>
              </a:ext>
            </a:extLst>
          </p:cNvPr>
          <p:cNvSpPr txBox="1"/>
          <p:nvPr/>
        </p:nvSpPr>
        <p:spPr>
          <a:xfrm>
            <a:off x="635000" y="4191000"/>
            <a:ext cx="11176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u − v  =  [1−3,  4−0,  2−5]  =  [−2,  4,  −3]</a:t>
            </a:r>
          </a:p>
        </p:txBody>
      </p:sp>
      <p:sp>
        <p:nvSpPr>
          <p:cNvPr id="47" name="ExStep2">
            <a:extLst>
              <a:ext uri="{FF2B5EF4-FFF2-40B4-BE49-F238E27FC236}">
                <a16:creationId xmlns:a16="http://schemas.microsoft.com/office/drawing/2014/main" id="{9471463A-24DC-4C4F-A534-75B7459965B0}"/>
              </a:ext>
            </a:extLst>
          </p:cNvPr>
          <p:cNvSpPr txBox="1"/>
          <p:nvPr/>
        </p:nvSpPr>
        <p:spPr>
          <a:xfrm>
            <a:off x="635000" y="4508500"/>
            <a:ext cx="11176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 b="1">
                <a:solidFill>
                  <a:srgbClr val="4B2E83"/>
                </a:solidFill>
                <a:latin typeface="Cambria Math"/>
                <a:ea typeface="Cambria Math"/>
              </a:rPr>
              <a:t>‖u − v‖  =  √((−2)² + 4² + (−3)²)  =  √(4 + 16 + 9)  =  √29  ≈  5.39</a:t>
            </a:r>
          </a:p>
        </p:txBody>
      </p:sp>
      <p:sp>
        <p:nvSpPr>
          <p:cNvPr id="48" name="ExLabel">
            <a:extLst>
              <a:ext uri="{FF2B5EF4-FFF2-40B4-BE49-F238E27FC236}">
                <a16:creationId xmlns:a16="http://schemas.microsoft.com/office/drawing/2014/main" id="{BAE2155E-812A-6B4B-80CD-FF50C9921418}"/>
              </a:ext>
            </a:extLst>
          </p:cNvPr>
          <p:cNvSpPr txBox="1"/>
          <p:nvPr/>
        </p:nvSpPr>
        <p:spPr>
          <a:xfrm>
            <a:off x="635000" y="4800600"/>
            <a:ext cx="11176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777777"/>
                </a:solidFill>
              </a:rPr>
              <a:t>→  one line of code, three multiplications, one square root</a:t>
            </a:r>
          </a:p>
        </p:txBody>
      </p:sp>
      <p:sp>
        <p:nvSpPr>
          <p:cNvPr id="49" name="WhyStrip">
            <a:extLst>
              <a:ext uri="{FF2B5EF4-FFF2-40B4-BE49-F238E27FC236}">
                <a16:creationId xmlns:a16="http://schemas.microsoft.com/office/drawing/2014/main" id="{CAA379F3-1FFC-A84C-BD0D-175DDE31777E}"/>
              </a:ext>
            </a:extLst>
          </p:cNvPr>
          <p:cNvSpPr/>
          <p:nvPr/>
        </p:nvSpPr>
        <p:spPr>
          <a:xfrm>
            <a:off x="381000" y="5207000"/>
            <a:ext cx="11430000" cy="508000"/>
          </a:xfrm>
          <a:prstGeom prst="rect">
            <a:avLst/>
          </a:prstGeom>
          <a:solidFill>
            <a:srgbClr val="FAF6F0"/>
          </a:solidFill>
          <a:ln w="1905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0" name="WhyT">
            <a:extLst>
              <a:ext uri="{FF2B5EF4-FFF2-40B4-BE49-F238E27FC236}">
                <a16:creationId xmlns:a16="http://schemas.microsoft.com/office/drawing/2014/main" id="{985A7CBF-76C1-C145-B431-EE5595CE923F}"/>
              </a:ext>
            </a:extLst>
          </p:cNvPr>
          <p:cNvSpPr txBox="1"/>
          <p:nvPr/>
        </p:nvSpPr>
        <p:spPr>
          <a:xfrm>
            <a:off x="571500" y="5283200"/>
            <a:ext cx="1651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B7A57A"/>
                </a:solidFill>
              </a:rPr>
              <a:t>Why vectorize?</a:t>
            </a:r>
          </a:p>
        </p:txBody>
      </p:sp>
      <p:sp>
        <p:nvSpPr>
          <p:cNvPr id="51" name="WhyB">
            <a:extLst>
              <a:ext uri="{FF2B5EF4-FFF2-40B4-BE49-F238E27FC236}">
                <a16:creationId xmlns:a16="http://schemas.microsoft.com/office/drawing/2014/main" id="{5AAE2570-1218-854A-B674-C683F79E00C7}"/>
              </a:ext>
            </a:extLst>
          </p:cNvPr>
          <p:cNvSpPr txBox="1"/>
          <p:nvPr/>
        </p:nvSpPr>
        <p:spPr>
          <a:xfrm>
            <a:off x="2286000" y="5283200"/>
            <a:ext cx="9398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</a:rPr>
              <a:t>• Hardware-friendly:  SIMD + cache-aligned BLAS routines    • Code clarity:  formula ≈ math    • Scales: same line works for n = 4 or n = 4,000,000</a:t>
            </a:r>
          </a:p>
        </p:txBody>
      </p:sp>
      <p:sp>
        <p:nvSpPr>
          <p:cNvPr id="52" name="TkBar">
            <a:extLst>
              <a:ext uri="{FF2B5EF4-FFF2-40B4-BE49-F238E27FC236}">
                <a16:creationId xmlns:a16="http://schemas.microsoft.com/office/drawing/2014/main" id="{D0EE22C6-FDA6-B74F-8C8D-BB3EB0F658E2}"/>
              </a:ext>
            </a:extLst>
          </p:cNvPr>
          <p:cNvSpPr/>
          <p:nvPr/>
        </p:nvSpPr>
        <p:spPr>
          <a:xfrm>
            <a:off x="381000" y="5842000"/>
            <a:ext cx="11430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3" name="TkText">
            <a:extLst>
              <a:ext uri="{FF2B5EF4-FFF2-40B4-BE49-F238E27FC236}">
                <a16:creationId xmlns:a16="http://schemas.microsoft.com/office/drawing/2014/main" id="{2C7889EF-1350-C94B-AD32-1BF5A3338DBB}"/>
              </a:ext>
            </a:extLst>
          </p:cNvPr>
          <p:cNvSpPr txBox="1"/>
          <p:nvPr/>
        </p:nvSpPr>
        <p:spPr>
          <a:xfrm>
            <a:off x="635000" y="5969000"/>
            <a:ext cx="10922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500" b="1" i="1">
                <a:solidFill>
                  <a:srgbClr val="FFFFFF"/>
                </a:solidFill>
              </a:rPr>
              <a:t>Think in vectors, not in loops — ‖u − v‖ is the lingua franca of distance in ML.</a:t>
            </a:r>
          </a:p>
        </p:txBody>
      </p:sp>
    </p:spTree>
    <p:extLst>
      <p:ext uri="{BB962C8B-B14F-4D97-AF65-F5344CB8AC3E}">
        <p14:creationId xmlns:p14="http://schemas.microsoft.com/office/powerpoint/2010/main" val="381636653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A0934610-6AD5-554F-8D2E-4ACB937EB478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F5F5E2BA-5FA3-DE4A-8D2F-B568A7548995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</a:rPr>
              <a:t>What is a norm? — measuring the size of a vector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9485D5EE-7C8F-D547-8A39-30B077A81F2D}"/>
              </a:ext>
            </a:extLst>
          </p:cNvPr>
          <p:cNvSpPr txBox="1"/>
          <p:nvPr/>
        </p:nvSpPr>
        <p:spPr>
          <a:xfrm>
            <a:off x="381000" y="8890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 i="1">
                <a:solidFill>
                  <a:srgbClr val="777777"/>
                </a:solidFill>
              </a:rPr>
              <a:t>A norm assigns a non-negative 'length' to every vector. Distance is then just the length of the difference.</a:t>
            </a:r>
          </a:p>
        </p:txBody>
      </p:sp>
      <p:sp>
        <p:nvSpPr>
          <p:cNvPr id="5" name="DefCard">
            <a:extLst>
              <a:ext uri="{FF2B5EF4-FFF2-40B4-BE49-F238E27FC236}">
                <a16:creationId xmlns:a16="http://schemas.microsoft.com/office/drawing/2014/main" id="{166F9F07-BCCC-3244-BCCF-E9B30CD59EB0}"/>
              </a:ext>
            </a:extLst>
          </p:cNvPr>
          <p:cNvSpPr/>
          <p:nvPr/>
        </p:nvSpPr>
        <p:spPr>
          <a:xfrm>
            <a:off x="381000" y="1333500"/>
            <a:ext cx="11430000" cy="1206500"/>
          </a:xfrm>
          <a:prstGeom prst="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DefHdr">
            <a:extLst>
              <a:ext uri="{FF2B5EF4-FFF2-40B4-BE49-F238E27FC236}">
                <a16:creationId xmlns:a16="http://schemas.microsoft.com/office/drawing/2014/main" id="{03613C5B-A837-CE48-BF27-EC303ED4CE98}"/>
              </a:ext>
            </a:extLst>
          </p:cNvPr>
          <p:cNvSpPr/>
          <p:nvPr/>
        </p:nvSpPr>
        <p:spPr>
          <a:xfrm>
            <a:off x="381000" y="1333500"/>
            <a:ext cx="11430000" cy="355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DefH">
            <a:extLst>
              <a:ext uri="{FF2B5EF4-FFF2-40B4-BE49-F238E27FC236}">
                <a16:creationId xmlns:a16="http://schemas.microsoft.com/office/drawing/2014/main" id="{A9245914-C599-0E4A-B88B-76C2DC3BEB79}"/>
              </a:ext>
            </a:extLst>
          </p:cNvPr>
          <p:cNvSpPr txBox="1"/>
          <p:nvPr/>
        </p:nvSpPr>
        <p:spPr>
          <a:xfrm>
            <a:off x="571500" y="1384300"/>
            <a:ext cx="11176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Formal definition</a:t>
            </a:r>
          </a:p>
        </p:txBody>
      </p:sp>
      <p:sp>
        <p:nvSpPr>
          <p:cNvPr id="8" name="DefBody">
            <a:extLst>
              <a:ext uri="{FF2B5EF4-FFF2-40B4-BE49-F238E27FC236}">
                <a16:creationId xmlns:a16="http://schemas.microsoft.com/office/drawing/2014/main" id="{9B9AC301-6F92-0948-84DB-4DAA3DC1C07D}"/>
              </a:ext>
            </a:extLst>
          </p:cNvPr>
          <p:cNvSpPr txBox="1"/>
          <p:nvPr/>
        </p:nvSpPr>
        <p:spPr>
          <a:xfrm>
            <a:off x="571500" y="17526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A norm is a function  ‖·‖ : V → ℝ  that maps each vector v in a vector space V to a real number ‖v‖, satisfying three axioms (below).</a:t>
            </a:r>
          </a:p>
        </p:txBody>
      </p:sp>
      <p:sp>
        <p:nvSpPr>
          <p:cNvPr id="9" name="DefBody2">
            <a:extLst>
              <a:ext uri="{FF2B5EF4-FFF2-40B4-BE49-F238E27FC236}">
                <a16:creationId xmlns:a16="http://schemas.microsoft.com/office/drawing/2014/main" id="{284988F9-2C1F-BA41-B0DA-A8DCB301BD80}"/>
              </a:ext>
            </a:extLst>
          </p:cNvPr>
          <p:cNvSpPr txBox="1"/>
          <p:nvPr/>
        </p:nvSpPr>
        <p:spPr>
          <a:xfrm>
            <a:off x="571500" y="2095500"/>
            <a:ext cx="11049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 b="1">
                <a:solidFill>
                  <a:srgbClr val="4B2E83"/>
                </a:solidFill>
                <a:latin typeface="Cambria Math"/>
                <a:ea typeface="Cambria Math"/>
              </a:rPr>
              <a:t>The distance between two vectors u and v is then defined as  d(u, v) = ‖u − v‖.</a:t>
            </a:r>
          </a:p>
        </p:txBody>
      </p:sp>
      <p:sp>
        <p:nvSpPr>
          <p:cNvPr id="10" name="AxCard0">
            <a:extLst>
              <a:ext uri="{FF2B5EF4-FFF2-40B4-BE49-F238E27FC236}">
                <a16:creationId xmlns:a16="http://schemas.microsoft.com/office/drawing/2014/main" id="{5653F341-A0F3-D74B-9235-0B0CAEFEDBE7}"/>
              </a:ext>
            </a:extLst>
          </p:cNvPr>
          <p:cNvSpPr/>
          <p:nvPr/>
        </p:nvSpPr>
        <p:spPr>
          <a:xfrm>
            <a:off x="482600" y="2730500"/>
            <a:ext cx="3619500" cy="20955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AxBadge0">
            <a:extLst>
              <a:ext uri="{FF2B5EF4-FFF2-40B4-BE49-F238E27FC236}">
                <a16:creationId xmlns:a16="http://schemas.microsoft.com/office/drawing/2014/main" id="{6ED069E0-D591-5447-88DB-613D65FC1EA6}"/>
              </a:ext>
            </a:extLst>
          </p:cNvPr>
          <p:cNvSpPr/>
          <p:nvPr/>
        </p:nvSpPr>
        <p:spPr>
          <a:xfrm>
            <a:off x="482600" y="2730500"/>
            <a:ext cx="406400" cy="406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AxN0">
            <a:extLst>
              <a:ext uri="{FF2B5EF4-FFF2-40B4-BE49-F238E27FC236}">
                <a16:creationId xmlns:a16="http://schemas.microsoft.com/office/drawing/2014/main" id="{46AC521C-0E0D-014A-B434-D0650A6F5A3D}"/>
              </a:ext>
            </a:extLst>
          </p:cNvPr>
          <p:cNvSpPr txBox="1"/>
          <p:nvPr/>
        </p:nvSpPr>
        <p:spPr>
          <a:xfrm>
            <a:off x="482600" y="2755900"/>
            <a:ext cx="4064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AxT0">
            <a:extLst>
              <a:ext uri="{FF2B5EF4-FFF2-40B4-BE49-F238E27FC236}">
                <a16:creationId xmlns:a16="http://schemas.microsoft.com/office/drawing/2014/main" id="{00E0BF7D-BA23-B045-926E-B54135CA8E73}"/>
              </a:ext>
            </a:extLst>
          </p:cNvPr>
          <p:cNvSpPr txBox="1"/>
          <p:nvPr/>
        </p:nvSpPr>
        <p:spPr>
          <a:xfrm>
            <a:off x="965200" y="2781300"/>
            <a:ext cx="30607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b="1">
                <a:solidFill>
                  <a:srgbClr val="4B2E83"/>
                </a:solidFill>
              </a:rPr>
              <a:t>Non-negativity &amp; definiteness</a:t>
            </a:r>
          </a:p>
        </p:txBody>
      </p:sp>
      <p:sp>
        <p:nvSpPr>
          <p:cNvPr id="14" name="AxFB0">
            <a:extLst>
              <a:ext uri="{FF2B5EF4-FFF2-40B4-BE49-F238E27FC236}">
                <a16:creationId xmlns:a16="http://schemas.microsoft.com/office/drawing/2014/main" id="{7C368D59-B0E6-BF4B-84BD-358BD94212F9}"/>
              </a:ext>
            </a:extLst>
          </p:cNvPr>
          <p:cNvSpPr/>
          <p:nvPr/>
        </p:nvSpPr>
        <p:spPr>
          <a:xfrm>
            <a:off x="609600" y="3238500"/>
            <a:ext cx="3365500" cy="482600"/>
          </a:xfrm>
          <a:prstGeom prst="rect">
            <a:avLst/>
          </a:prstGeom>
          <a:solidFill>
            <a:srgbClr val="FAF6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AxF0">
            <a:extLst>
              <a:ext uri="{FF2B5EF4-FFF2-40B4-BE49-F238E27FC236}">
                <a16:creationId xmlns:a16="http://schemas.microsoft.com/office/drawing/2014/main" id="{104DB1AE-4038-9840-A8B6-080253D81509}"/>
              </a:ext>
            </a:extLst>
          </p:cNvPr>
          <p:cNvSpPr txBox="1"/>
          <p:nvPr/>
        </p:nvSpPr>
        <p:spPr>
          <a:xfrm>
            <a:off x="609600" y="3263900"/>
            <a:ext cx="33655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‖v‖ ≥ 0,   and   ‖v‖ = 0 ⟺ v = 0</a:t>
            </a:r>
          </a:p>
        </p:txBody>
      </p:sp>
      <p:sp>
        <p:nvSpPr>
          <p:cNvPr id="16" name="AxI0">
            <a:extLst>
              <a:ext uri="{FF2B5EF4-FFF2-40B4-BE49-F238E27FC236}">
                <a16:creationId xmlns:a16="http://schemas.microsoft.com/office/drawing/2014/main" id="{AC678AED-6F2A-1140-8F3F-EB22F8609922}"/>
              </a:ext>
            </a:extLst>
          </p:cNvPr>
          <p:cNvSpPr txBox="1"/>
          <p:nvPr/>
        </p:nvSpPr>
        <p:spPr>
          <a:xfrm>
            <a:off x="635000" y="3810000"/>
            <a:ext cx="3314700" cy="952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333333"/>
                </a:solidFill>
              </a:rPr>
              <a:t>Only the zero vector has zero length. Everything else has positive size.</a:t>
            </a:r>
          </a:p>
        </p:txBody>
      </p:sp>
      <p:sp>
        <p:nvSpPr>
          <p:cNvPr id="17" name="AxCard1">
            <a:extLst>
              <a:ext uri="{FF2B5EF4-FFF2-40B4-BE49-F238E27FC236}">
                <a16:creationId xmlns:a16="http://schemas.microsoft.com/office/drawing/2014/main" id="{BA61E5EF-FF58-4B41-966E-E1F5BE4FA5DE}"/>
              </a:ext>
            </a:extLst>
          </p:cNvPr>
          <p:cNvSpPr/>
          <p:nvPr/>
        </p:nvSpPr>
        <p:spPr>
          <a:xfrm>
            <a:off x="4381500" y="2730500"/>
            <a:ext cx="3619500" cy="20955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AxBadge1">
            <a:extLst>
              <a:ext uri="{FF2B5EF4-FFF2-40B4-BE49-F238E27FC236}">
                <a16:creationId xmlns:a16="http://schemas.microsoft.com/office/drawing/2014/main" id="{58AAB3DF-2F86-864B-8653-1264C6A3D2EE}"/>
              </a:ext>
            </a:extLst>
          </p:cNvPr>
          <p:cNvSpPr/>
          <p:nvPr/>
        </p:nvSpPr>
        <p:spPr>
          <a:xfrm>
            <a:off x="4381500" y="2730500"/>
            <a:ext cx="406400" cy="4064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AxN1">
            <a:extLst>
              <a:ext uri="{FF2B5EF4-FFF2-40B4-BE49-F238E27FC236}">
                <a16:creationId xmlns:a16="http://schemas.microsoft.com/office/drawing/2014/main" id="{E80DD037-907E-EF41-AF67-DE7A9F3E67CC}"/>
              </a:ext>
            </a:extLst>
          </p:cNvPr>
          <p:cNvSpPr txBox="1"/>
          <p:nvPr/>
        </p:nvSpPr>
        <p:spPr>
          <a:xfrm>
            <a:off x="4381500" y="2755900"/>
            <a:ext cx="4064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8" name="AxT1">
            <a:extLst>
              <a:ext uri="{FF2B5EF4-FFF2-40B4-BE49-F238E27FC236}">
                <a16:creationId xmlns:a16="http://schemas.microsoft.com/office/drawing/2014/main" id="{8005D54E-4F66-E44B-B734-185DAE1A487C}"/>
              </a:ext>
            </a:extLst>
          </p:cNvPr>
          <p:cNvSpPr txBox="1"/>
          <p:nvPr/>
        </p:nvSpPr>
        <p:spPr>
          <a:xfrm>
            <a:off x="4864100" y="2781300"/>
            <a:ext cx="30607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b="1">
                <a:solidFill>
                  <a:srgbClr val="00A7B5"/>
                </a:solidFill>
              </a:rPr>
              <a:t>Absolute homogeneity</a:t>
            </a:r>
          </a:p>
        </p:txBody>
      </p:sp>
      <p:sp>
        <p:nvSpPr>
          <p:cNvPr id="29" name="AxFB1">
            <a:extLst>
              <a:ext uri="{FF2B5EF4-FFF2-40B4-BE49-F238E27FC236}">
                <a16:creationId xmlns:a16="http://schemas.microsoft.com/office/drawing/2014/main" id="{7EB684C9-2582-924D-9A60-46C553FE5DF5}"/>
              </a:ext>
            </a:extLst>
          </p:cNvPr>
          <p:cNvSpPr/>
          <p:nvPr/>
        </p:nvSpPr>
        <p:spPr>
          <a:xfrm>
            <a:off x="4508500" y="3238500"/>
            <a:ext cx="3365500" cy="482600"/>
          </a:xfrm>
          <a:prstGeom prst="rect">
            <a:avLst/>
          </a:prstGeom>
          <a:solidFill>
            <a:srgbClr val="FAF6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0" name="AxF1">
            <a:extLst>
              <a:ext uri="{FF2B5EF4-FFF2-40B4-BE49-F238E27FC236}">
                <a16:creationId xmlns:a16="http://schemas.microsoft.com/office/drawing/2014/main" id="{1A862F37-97BA-DF41-ABD4-6536A24F5E9F}"/>
              </a:ext>
            </a:extLst>
          </p:cNvPr>
          <p:cNvSpPr txBox="1"/>
          <p:nvPr/>
        </p:nvSpPr>
        <p:spPr>
          <a:xfrm>
            <a:off x="4508500" y="3263900"/>
            <a:ext cx="33655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‖α·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v‖ = |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α| · ‖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v‖</a:t>
            </a:r>
          </a:p>
        </p:txBody>
      </p:sp>
      <p:sp>
        <p:nvSpPr>
          <p:cNvPr id="31" name="AxI1">
            <a:extLst>
              <a:ext uri="{FF2B5EF4-FFF2-40B4-BE49-F238E27FC236}">
                <a16:creationId xmlns:a16="http://schemas.microsoft.com/office/drawing/2014/main" id="{A27BD711-8D91-3F4F-97CB-80A7C7793F71}"/>
              </a:ext>
            </a:extLst>
          </p:cNvPr>
          <p:cNvSpPr txBox="1"/>
          <p:nvPr/>
        </p:nvSpPr>
        <p:spPr>
          <a:xfrm>
            <a:off x="4533900" y="3810000"/>
            <a:ext cx="3314700" cy="952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333333"/>
                </a:solidFill>
              </a:rPr>
              <a:t>Scaling a vector by </a:t>
            </a:r>
            <a:r>
              <a:rPr lang="el-GR" sz="1200" i="1">
                <a:solidFill>
                  <a:srgbClr val="333333"/>
                </a:solidFill>
              </a:rPr>
              <a:t>α </a:t>
            </a:r>
            <a:r>
              <a:rPr lang="en-US" sz="1200" i="1">
                <a:solidFill>
                  <a:srgbClr val="333333"/>
                </a:solidFill>
              </a:rPr>
              <a:t>stretches its length by |</a:t>
            </a:r>
            <a:r>
              <a:rPr lang="el-GR" sz="1200" i="1">
                <a:solidFill>
                  <a:srgbClr val="333333"/>
                </a:solidFill>
              </a:rPr>
              <a:t>α|. </a:t>
            </a:r>
            <a:r>
              <a:rPr lang="en-US" sz="1200" i="1">
                <a:solidFill>
                  <a:srgbClr val="333333"/>
                </a:solidFill>
              </a:rPr>
              <a:t>Direction doesn't matter, only magnitude.</a:t>
            </a:r>
          </a:p>
        </p:txBody>
      </p:sp>
      <p:sp>
        <p:nvSpPr>
          <p:cNvPr id="32" name="AxCard2">
            <a:extLst>
              <a:ext uri="{FF2B5EF4-FFF2-40B4-BE49-F238E27FC236}">
                <a16:creationId xmlns:a16="http://schemas.microsoft.com/office/drawing/2014/main" id="{681B9AAA-0DE2-7F40-9EAF-08B62AA78143}"/>
              </a:ext>
            </a:extLst>
          </p:cNvPr>
          <p:cNvSpPr/>
          <p:nvPr/>
        </p:nvSpPr>
        <p:spPr>
          <a:xfrm>
            <a:off x="8280400" y="2730500"/>
            <a:ext cx="3619500" cy="20955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3" name="AxBadge2">
            <a:extLst>
              <a:ext uri="{FF2B5EF4-FFF2-40B4-BE49-F238E27FC236}">
                <a16:creationId xmlns:a16="http://schemas.microsoft.com/office/drawing/2014/main" id="{7C1F4711-3BE6-0143-B46D-06AFB11A9E5F}"/>
              </a:ext>
            </a:extLst>
          </p:cNvPr>
          <p:cNvSpPr/>
          <p:nvPr/>
        </p:nvSpPr>
        <p:spPr>
          <a:xfrm>
            <a:off x="8280400" y="2730500"/>
            <a:ext cx="406400" cy="4064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4" name="AxN2">
            <a:extLst>
              <a:ext uri="{FF2B5EF4-FFF2-40B4-BE49-F238E27FC236}">
                <a16:creationId xmlns:a16="http://schemas.microsoft.com/office/drawing/2014/main" id="{D91240E5-22F7-4D49-911F-949005FF365F}"/>
              </a:ext>
            </a:extLst>
          </p:cNvPr>
          <p:cNvSpPr txBox="1"/>
          <p:nvPr/>
        </p:nvSpPr>
        <p:spPr>
          <a:xfrm>
            <a:off x="8280400" y="2755900"/>
            <a:ext cx="4064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54" name="AxT2">
            <a:extLst>
              <a:ext uri="{FF2B5EF4-FFF2-40B4-BE49-F238E27FC236}">
                <a16:creationId xmlns:a16="http://schemas.microsoft.com/office/drawing/2014/main" id="{EAC13E11-7BCE-D44B-82F1-F3764850D898}"/>
              </a:ext>
            </a:extLst>
          </p:cNvPr>
          <p:cNvSpPr txBox="1"/>
          <p:nvPr/>
        </p:nvSpPr>
        <p:spPr>
          <a:xfrm>
            <a:off x="8763000" y="2781300"/>
            <a:ext cx="30607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b="1">
                <a:solidFill>
                  <a:srgbClr val="D1578A"/>
                </a:solidFill>
              </a:rPr>
              <a:t>Triangle inequality</a:t>
            </a:r>
          </a:p>
        </p:txBody>
      </p:sp>
      <p:sp>
        <p:nvSpPr>
          <p:cNvPr id="55" name="AxFB2">
            <a:extLst>
              <a:ext uri="{FF2B5EF4-FFF2-40B4-BE49-F238E27FC236}">
                <a16:creationId xmlns:a16="http://schemas.microsoft.com/office/drawing/2014/main" id="{C3682E79-99BB-A940-845E-AC5C7207C22C}"/>
              </a:ext>
            </a:extLst>
          </p:cNvPr>
          <p:cNvSpPr/>
          <p:nvPr/>
        </p:nvSpPr>
        <p:spPr>
          <a:xfrm>
            <a:off x="8407400" y="3238500"/>
            <a:ext cx="3365500" cy="482600"/>
          </a:xfrm>
          <a:prstGeom prst="rect">
            <a:avLst/>
          </a:prstGeom>
          <a:solidFill>
            <a:srgbClr val="FAF6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6" name="AxF2">
            <a:extLst>
              <a:ext uri="{FF2B5EF4-FFF2-40B4-BE49-F238E27FC236}">
                <a16:creationId xmlns:a16="http://schemas.microsoft.com/office/drawing/2014/main" id="{D1844F04-1C87-1644-A885-9CF79F3BD105}"/>
              </a:ext>
            </a:extLst>
          </p:cNvPr>
          <p:cNvSpPr txBox="1"/>
          <p:nvPr/>
        </p:nvSpPr>
        <p:spPr>
          <a:xfrm>
            <a:off x="8407400" y="3263900"/>
            <a:ext cx="33655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‖u + v‖ ≤ ‖u‖ + ‖v‖</a:t>
            </a:r>
          </a:p>
        </p:txBody>
      </p:sp>
      <p:sp>
        <p:nvSpPr>
          <p:cNvPr id="57" name="AxI2">
            <a:extLst>
              <a:ext uri="{FF2B5EF4-FFF2-40B4-BE49-F238E27FC236}">
                <a16:creationId xmlns:a16="http://schemas.microsoft.com/office/drawing/2014/main" id="{1858AD6A-B33C-214D-A182-D0553229B46F}"/>
              </a:ext>
            </a:extLst>
          </p:cNvPr>
          <p:cNvSpPr txBox="1"/>
          <p:nvPr/>
        </p:nvSpPr>
        <p:spPr>
          <a:xfrm>
            <a:off x="8432800" y="3810000"/>
            <a:ext cx="3314700" cy="952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333333"/>
                </a:solidFill>
              </a:rPr>
              <a:t>The sum of two vectors is never longer than the sum of their lengths — straight line wins.</a:t>
            </a:r>
          </a:p>
        </p:txBody>
      </p:sp>
      <p:sp>
        <p:nvSpPr>
          <p:cNvPr id="58" name="NDCard">
            <a:extLst>
              <a:ext uri="{FF2B5EF4-FFF2-40B4-BE49-F238E27FC236}">
                <a16:creationId xmlns:a16="http://schemas.microsoft.com/office/drawing/2014/main" id="{27C8D6CC-C9AE-6246-8437-6FF3056E7DDB}"/>
              </a:ext>
            </a:extLst>
          </p:cNvPr>
          <p:cNvSpPr/>
          <p:nvPr/>
        </p:nvSpPr>
        <p:spPr>
          <a:xfrm>
            <a:off x="381000" y="5016500"/>
            <a:ext cx="11430000" cy="635000"/>
          </a:xfrm>
          <a:prstGeom prst="rect">
            <a:avLst/>
          </a:prstGeom>
          <a:solidFill>
            <a:srgbClr val="FAF6F0"/>
          </a:solidFill>
          <a:ln w="1905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9" name="NDH">
            <a:extLst>
              <a:ext uri="{FF2B5EF4-FFF2-40B4-BE49-F238E27FC236}">
                <a16:creationId xmlns:a16="http://schemas.microsoft.com/office/drawing/2014/main" id="{1DD4AB6A-6669-2844-984C-BE6DA3C2F448}"/>
              </a:ext>
            </a:extLst>
          </p:cNvPr>
          <p:cNvSpPr txBox="1"/>
          <p:nvPr/>
        </p:nvSpPr>
        <p:spPr>
          <a:xfrm>
            <a:off x="571500" y="5105400"/>
            <a:ext cx="20320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B7A57A"/>
                </a:solidFill>
              </a:rPr>
              <a:t>Norm → distance:</a:t>
            </a:r>
          </a:p>
        </p:txBody>
      </p:sp>
      <p:sp>
        <p:nvSpPr>
          <p:cNvPr id="60" name="NDB">
            <a:extLst>
              <a:ext uri="{FF2B5EF4-FFF2-40B4-BE49-F238E27FC236}">
                <a16:creationId xmlns:a16="http://schemas.microsoft.com/office/drawing/2014/main" id="{1FC9D65C-E9B1-BC46-9FE8-70A97DFCD013}"/>
              </a:ext>
            </a:extLst>
          </p:cNvPr>
          <p:cNvSpPr txBox="1"/>
          <p:nvPr/>
        </p:nvSpPr>
        <p:spPr>
          <a:xfrm>
            <a:off x="2730500" y="5105400"/>
            <a:ext cx="89535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</a:rPr>
              <a:t>Every norm induces a distance via  d(u, v) = ‖u − v‖.  All four metric properties (slide 20) follow automatically from the three norm axioms.</a:t>
            </a:r>
          </a:p>
        </p:txBody>
      </p:sp>
      <p:sp>
        <p:nvSpPr>
          <p:cNvPr id="61" name="TkBar">
            <a:extLst>
              <a:ext uri="{FF2B5EF4-FFF2-40B4-BE49-F238E27FC236}">
                <a16:creationId xmlns:a16="http://schemas.microsoft.com/office/drawing/2014/main" id="{349931AA-5072-2240-BAFE-52349A637B8A}"/>
              </a:ext>
            </a:extLst>
          </p:cNvPr>
          <p:cNvSpPr/>
          <p:nvPr/>
        </p:nvSpPr>
        <p:spPr>
          <a:xfrm>
            <a:off x="381000" y="5842000"/>
            <a:ext cx="11430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2" name="TkText">
            <a:extLst>
              <a:ext uri="{FF2B5EF4-FFF2-40B4-BE49-F238E27FC236}">
                <a16:creationId xmlns:a16="http://schemas.microsoft.com/office/drawing/2014/main" id="{0F21387A-CCB8-B340-8C2F-60DA5A55F57E}"/>
              </a:ext>
            </a:extLst>
          </p:cNvPr>
          <p:cNvSpPr txBox="1"/>
          <p:nvPr/>
        </p:nvSpPr>
        <p:spPr>
          <a:xfrm>
            <a:off x="635000" y="5969000"/>
            <a:ext cx="10922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500" b="1" i="1">
                <a:solidFill>
                  <a:srgbClr val="FFFFFF"/>
                </a:solidFill>
              </a:rPr>
              <a:t>A norm is a 'ruler' for vectors. Pick a ruler → you've picked a notion of distance.</a:t>
            </a:r>
          </a:p>
        </p:txBody>
      </p:sp>
    </p:spTree>
    <p:extLst>
      <p:ext uri="{BB962C8B-B14F-4D97-AF65-F5344CB8AC3E}">
        <p14:creationId xmlns:p14="http://schemas.microsoft.com/office/powerpoint/2010/main" val="223288913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5366166A-0D39-5B4D-B8AB-BA1281C6C446}"/>
              </a:ext>
            </a:extLst>
          </p:cNvPr>
          <p:cNvSpPr/>
          <p:nvPr/>
        </p:nvSpPr>
        <p:spPr>
          <a:xfrm>
            <a:off x="292100" y="304800"/>
            <a:ext cx="116078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BEB833D7-1583-3E43-B5A6-9659543D7B9A}"/>
              </a:ext>
            </a:extLst>
          </p:cNvPr>
          <p:cNvSpPr txBox="1"/>
          <p:nvPr/>
        </p:nvSpPr>
        <p:spPr>
          <a:xfrm>
            <a:off x="292100" y="304800"/>
            <a:ext cx="11607800" cy="482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</a:rPr>
              <a:t>Computing the Euclidean norm — three worked examples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88F3C332-944D-3B41-B637-8153F5BB1270}"/>
              </a:ext>
            </a:extLst>
          </p:cNvPr>
          <p:cNvSpPr txBox="1"/>
          <p:nvPr/>
        </p:nvSpPr>
        <p:spPr>
          <a:xfrm>
            <a:off x="292100" y="889000"/>
            <a:ext cx="116078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</a:rPr>
              <a:t>Try each one yourself, then check the dimmed solution below</a:t>
            </a:r>
          </a:p>
        </p:txBody>
      </p:sp>
      <p:sp>
        <p:nvSpPr>
          <p:cNvPr id="23" name="Card1">
            <a:extLst>
              <a:ext uri="{FF2B5EF4-FFF2-40B4-BE49-F238E27FC236}">
                <a16:creationId xmlns:a16="http://schemas.microsoft.com/office/drawing/2014/main" id="{994B362A-D52F-3B4D-BCD3-1CABABD814BA}"/>
              </a:ext>
            </a:extLst>
          </p:cNvPr>
          <p:cNvSpPr/>
          <p:nvPr/>
        </p:nvSpPr>
        <p:spPr>
          <a:xfrm>
            <a:off x="381000" y="1270000"/>
            <a:ext cx="3683000" cy="3683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CardHdr1">
            <a:extLst>
              <a:ext uri="{FF2B5EF4-FFF2-40B4-BE49-F238E27FC236}">
                <a16:creationId xmlns:a16="http://schemas.microsoft.com/office/drawing/2014/main" id="{D4A2E6BB-6CB3-6846-83A0-9AEDEE380ED0}"/>
              </a:ext>
            </a:extLst>
          </p:cNvPr>
          <p:cNvSpPr/>
          <p:nvPr/>
        </p:nvSpPr>
        <p:spPr>
          <a:xfrm>
            <a:off x="381000" y="1270000"/>
            <a:ext cx="3683000" cy="406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CardTitle1">
            <a:extLst>
              <a:ext uri="{FF2B5EF4-FFF2-40B4-BE49-F238E27FC236}">
                <a16:creationId xmlns:a16="http://schemas.microsoft.com/office/drawing/2014/main" id="{2594591D-5BB6-F448-A464-DC08E5210092}"/>
              </a:ext>
            </a:extLst>
          </p:cNvPr>
          <p:cNvSpPr txBox="1"/>
          <p:nvPr/>
        </p:nvSpPr>
        <p:spPr>
          <a:xfrm>
            <a:off x="381000" y="1270000"/>
            <a:ext cx="3683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Example 1</a:t>
            </a:r>
          </a:p>
        </p:txBody>
      </p:sp>
      <p:sp>
        <p:nvSpPr>
          <p:cNvPr id="26" name="Q1">
            <a:extLst>
              <a:ext uri="{FF2B5EF4-FFF2-40B4-BE49-F238E27FC236}">
                <a16:creationId xmlns:a16="http://schemas.microsoft.com/office/drawing/2014/main" id="{C63554E2-B87B-794D-A681-5494C47A711F}"/>
              </a:ext>
            </a:extLst>
          </p:cNvPr>
          <p:cNvSpPr txBox="1"/>
          <p:nvPr/>
        </p:nvSpPr>
        <p:spPr>
          <a:xfrm>
            <a:off x="558800" y="1803400"/>
            <a:ext cx="3327400" cy="1016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Compute the L² norm of
    v = [3, 4]</a:t>
            </a:r>
          </a:p>
        </p:txBody>
      </p:sp>
      <p:sp>
        <p:nvSpPr>
          <p:cNvPr id="27" name="Div1">
            <a:extLst>
              <a:ext uri="{FF2B5EF4-FFF2-40B4-BE49-F238E27FC236}">
                <a16:creationId xmlns:a16="http://schemas.microsoft.com/office/drawing/2014/main" id="{D88EE53D-16C1-4E4E-9478-CEA5D0DBB3EC}"/>
              </a:ext>
            </a:extLst>
          </p:cNvPr>
          <p:cNvSpPr/>
          <p:nvPr/>
        </p:nvSpPr>
        <p:spPr>
          <a:xfrm>
            <a:off x="558800" y="2921000"/>
            <a:ext cx="3327400" cy="12700"/>
          </a:xfrm>
          <a:prstGeom prst="rect">
            <a:avLst/>
          </a:prstGeom>
          <a:solidFill>
            <a:srgbClr val="E0E0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Sol1">
            <a:extLst>
              <a:ext uri="{FF2B5EF4-FFF2-40B4-BE49-F238E27FC236}">
                <a16:creationId xmlns:a16="http://schemas.microsoft.com/office/drawing/2014/main" id="{989DF336-7278-F047-82BF-AC6E9EF54B74}"/>
              </a:ext>
            </a:extLst>
          </p:cNvPr>
          <p:cNvSpPr txBox="1"/>
          <p:nvPr/>
        </p:nvSpPr>
        <p:spPr>
          <a:xfrm>
            <a:off x="558800" y="3022600"/>
            <a:ext cx="3327400" cy="177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C0C0C0"/>
                </a:solidFill>
                <a:latin typeface="Cambria Math"/>
                <a:ea typeface="Cambria Math"/>
              </a:rPr>
              <a:t>Solution:
‖v‖₂ = √(3² + 4²)
     = √(9 + 16)
     = √25
     = 5</a:t>
            </a:r>
          </a:p>
        </p:txBody>
      </p:sp>
      <p:sp>
        <p:nvSpPr>
          <p:cNvPr id="36" name="Card2">
            <a:extLst>
              <a:ext uri="{FF2B5EF4-FFF2-40B4-BE49-F238E27FC236}">
                <a16:creationId xmlns:a16="http://schemas.microsoft.com/office/drawing/2014/main" id="{7D2DBCFA-CFE5-7E48-929B-79FB1F711030}"/>
              </a:ext>
            </a:extLst>
          </p:cNvPr>
          <p:cNvSpPr/>
          <p:nvPr/>
        </p:nvSpPr>
        <p:spPr>
          <a:xfrm>
            <a:off x="4343400" y="1270000"/>
            <a:ext cx="3683000" cy="3683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7" name="CardHdr2">
            <a:extLst>
              <a:ext uri="{FF2B5EF4-FFF2-40B4-BE49-F238E27FC236}">
                <a16:creationId xmlns:a16="http://schemas.microsoft.com/office/drawing/2014/main" id="{3078C40D-6497-9242-AD28-A1F44BB97A2A}"/>
              </a:ext>
            </a:extLst>
          </p:cNvPr>
          <p:cNvSpPr/>
          <p:nvPr/>
        </p:nvSpPr>
        <p:spPr>
          <a:xfrm>
            <a:off x="4343400" y="1270000"/>
            <a:ext cx="3683000" cy="4064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8" name="CardTitle2">
            <a:extLst>
              <a:ext uri="{FF2B5EF4-FFF2-40B4-BE49-F238E27FC236}">
                <a16:creationId xmlns:a16="http://schemas.microsoft.com/office/drawing/2014/main" id="{FF4AB28E-2EE3-FD40-B60A-30B295339285}"/>
              </a:ext>
            </a:extLst>
          </p:cNvPr>
          <p:cNvSpPr txBox="1"/>
          <p:nvPr/>
        </p:nvSpPr>
        <p:spPr>
          <a:xfrm>
            <a:off x="4343400" y="1270000"/>
            <a:ext cx="3683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Example 2</a:t>
            </a:r>
          </a:p>
        </p:txBody>
      </p:sp>
      <p:sp>
        <p:nvSpPr>
          <p:cNvPr id="39" name="Q2">
            <a:extLst>
              <a:ext uri="{FF2B5EF4-FFF2-40B4-BE49-F238E27FC236}">
                <a16:creationId xmlns:a16="http://schemas.microsoft.com/office/drawing/2014/main" id="{B0D23746-B99D-284F-8B21-CE6EB147D901}"/>
              </a:ext>
            </a:extLst>
          </p:cNvPr>
          <p:cNvSpPr txBox="1"/>
          <p:nvPr/>
        </p:nvSpPr>
        <p:spPr>
          <a:xfrm>
            <a:off x="4521200" y="1803400"/>
            <a:ext cx="3327400" cy="1016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Compute the L² norm of
    v = [1, 2, 2]</a:t>
            </a:r>
          </a:p>
        </p:txBody>
      </p:sp>
      <p:sp>
        <p:nvSpPr>
          <p:cNvPr id="40" name="Div2">
            <a:extLst>
              <a:ext uri="{FF2B5EF4-FFF2-40B4-BE49-F238E27FC236}">
                <a16:creationId xmlns:a16="http://schemas.microsoft.com/office/drawing/2014/main" id="{A3B9E380-15F3-424D-A1AB-39D2EEAB7BD9}"/>
              </a:ext>
            </a:extLst>
          </p:cNvPr>
          <p:cNvSpPr/>
          <p:nvPr/>
        </p:nvSpPr>
        <p:spPr>
          <a:xfrm>
            <a:off x="4521200" y="2921000"/>
            <a:ext cx="3327400" cy="12700"/>
          </a:xfrm>
          <a:prstGeom prst="rect">
            <a:avLst/>
          </a:prstGeom>
          <a:solidFill>
            <a:srgbClr val="E0E0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1" name="Sol2">
            <a:extLst>
              <a:ext uri="{FF2B5EF4-FFF2-40B4-BE49-F238E27FC236}">
                <a16:creationId xmlns:a16="http://schemas.microsoft.com/office/drawing/2014/main" id="{E5485D1C-9E56-354D-AD53-D094193EEA34}"/>
              </a:ext>
            </a:extLst>
          </p:cNvPr>
          <p:cNvSpPr txBox="1"/>
          <p:nvPr/>
        </p:nvSpPr>
        <p:spPr>
          <a:xfrm>
            <a:off x="4521200" y="3022600"/>
            <a:ext cx="3327400" cy="177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C0C0C0"/>
                </a:solidFill>
                <a:latin typeface="Cambria Math"/>
                <a:ea typeface="Cambria Math"/>
              </a:rPr>
              <a:t>Solution:
‖v‖₂ = √(1² + 2² + 2²)
     = √(1 + 4 + 4)
     = √9
     = 3</a:t>
            </a:r>
          </a:p>
        </p:txBody>
      </p:sp>
      <p:sp>
        <p:nvSpPr>
          <p:cNvPr id="42" name="Card3">
            <a:extLst>
              <a:ext uri="{FF2B5EF4-FFF2-40B4-BE49-F238E27FC236}">
                <a16:creationId xmlns:a16="http://schemas.microsoft.com/office/drawing/2014/main" id="{78E4283B-01CF-7240-B571-A99A5037BB4C}"/>
              </a:ext>
            </a:extLst>
          </p:cNvPr>
          <p:cNvSpPr/>
          <p:nvPr/>
        </p:nvSpPr>
        <p:spPr>
          <a:xfrm>
            <a:off x="8305800" y="1270000"/>
            <a:ext cx="3683000" cy="36830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3" name="CardHdr3">
            <a:extLst>
              <a:ext uri="{FF2B5EF4-FFF2-40B4-BE49-F238E27FC236}">
                <a16:creationId xmlns:a16="http://schemas.microsoft.com/office/drawing/2014/main" id="{C48EDF60-8524-AC4F-BE42-21668B04A34D}"/>
              </a:ext>
            </a:extLst>
          </p:cNvPr>
          <p:cNvSpPr/>
          <p:nvPr/>
        </p:nvSpPr>
        <p:spPr>
          <a:xfrm>
            <a:off x="8305800" y="1270000"/>
            <a:ext cx="3683000" cy="4064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4" name="CardTitle3">
            <a:extLst>
              <a:ext uri="{FF2B5EF4-FFF2-40B4-BE49-F238E27FC236}">
                <a16:creationId xmlns:a16="http://schemas.microsoft.com/office/drawing/2014/main" id="{6C6A2BD4-5340-CA49-AE7B-BFDEFEFBDF87}"/>
              </a:ext>
            </a:extLst>
          </p:cNvPr>
          <p:cNvSpPr txBox="1"/>
          <p:nvPr/>
        </p:nvSpPr>
        <p:spPr>
          <a:xfrm>
            <a:off x="8305800" y="1270000"/>
            <a:ext cx="3683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Example 3</a:t>
            </a:r>
          </a:p>
        </p:txBody>
      </p:sp>
      <p:sp>
        <p:nvSpPr>
          <p:cNvPr id="45" name="Q3">
            <a:extLst>
              <a:ext uri="{FF2B5EF4-FFF2-40B4-BE49-F238E27FC236}">
                <a16:creationId xmlns:a16="http://schemas.microsoft.com/office/drawing/2014/main" id="{F5DF00D0-D435-B94A-A047-532D704D0F0B}"/>
              </a:ext>
            </a:extLst>
          </p:cNvPr>
          <p:cNvSpPr txBox="1"/>
          <p:nvPr/>
        </p:nvSpPr>
        <p:spPr>
          <a:xfrm>
            <a:off x="8483600" y="1803400"/>
            <a:ext cx="3327400" cy="1016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Compute the L² norm of
    v = [2, −1, 2, 4]</a:t>
            </a:r>
          </a:p>
        </p:txBody>
      </p:sp>
      <p:sp>
        <p:nvSpPr>
          <p:cNvPr id="46" name="Div3">
            <a:extLst>
              <a:ext uri="{FF2B5EF4-FFF2-40B4-BE49-F238E27FC236}">
                <a16:creationId xmlns:a16="http://schemas.microsoft.com/office/drawing/2014/main" id="{27A39DFE-19EB-4942-925F-4465EA664436}"/>
              </a:ext>
            </a:extLst>
          </p:cNvPr>
          <p:cNvSpPr/>
          <p:nvPr/>
        </p:nvSpPr>
        <p:spPr>
          <a:xfrm>
            <a:off x="8483600" y="2921000"/>
            <a:ext cx="3327400" cy="12700"/>
          </a:xfrm>
          <a:prstGeom prst="rect">
            <a:avLst/>
          </a:prstGeom>
          <a:solidFill>
            <a:srgbClr val="E0E0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7" name="Sol3">
            <a:extLst>
              <a:ext uri="{FF2B5EF4-FFF2-40B4-BE49-F238E27FC236}">
                <a16:creationId xmlns:a16="http://schemas.microsoft.com/office/drawing/2014/main" id="{AE34C18D-0932-EB4F-BB12-27185B7FA314}"/>
              </a:ext>
            </a:extLst>
          </p:cNvPr>
          <p:cNvSpPr txBox="1"/>
          <p:nvPr/>
        </p:nvSpPr>
        <p:spPr>
          <a:xfrm>
            <a:off x="8483600" y="3022600"/>
            <a:ext cx="3327400" cy="177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C0C0C0"/>
                </a:solidFill>
                <a:latin typeface="Cambria Math"/>
                <a:ea typeface="Cambria Math"/>
              </a:rPr>
              <a:t>Solution:
‖v‖₂ = √(2² + (−1)² + 2² + 4²)
     = √(4 + 1 + 4 + 16)
     = √25
     = 5</a:t>
            </a:r>
          </a:p>
        </p:txBody>
      </p:sp>
      <p:sp>
        <p:nvSpPr>
          <p:cNvPr id="48" name="HintBar">
            <a:extLst>
              <a:ext uri="{FF2B5EF4-FFF2-40B4-BE49-F238E27FC236}">
                <a16:creationId xmlns:a16="http://schemas.microsoft.com/office/drawing/2014/main" id="{EB7C38EB-04AA-D543-9A5F-C50CF0D9E97E}"/>
              </a:ext>
            </a:extLst>
          </p:cNvPr>
          <p:cNvSpPr/>
          <p:nvPr/>
        </p:nvSpPr>
        <p:spPr>
          <a:xfrm>
            <a:off x="381000" y="5143500"/>
            <a:ext cx="11430000" cy="571500"/>
          </a:xfrm>
          <a:prstGeom prst="rect">
            <a:avLst/>
          </a:prstGeom>
          <a:solidFill>
            <a:srgbClr val="F5F0EB"/>
          </a:solidFill>
          <a:ln w="1905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9" name="HintTxt">
            <a:extLst>
              <a:ext uri="{FF2B5EF4-FFF2-40B4-BE49-F238E27FC236}">
                <a16:creationId xmlns:a16="http://schemas.microsoft.com/office/drawing/2014/main" id="{C740973E-12DE-CE40-B781-7C1A3FBA83B6}"/>
              </a:ext>
            </a:extLst>
          </p:cNvPr>
          <p:cNvSpPr txBox="1"/>
          <p:nvPr/>
        </p:nvSpPr>
        <p:spPr>
          <a:xfrm>
            <a:off x="381000" y="5143500"/>
            <a:ext cx="11430000" cy="571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i="1">
                <a:solidFill>
                  <a:srgbClr val="333333"/>
                </a:solidFill>
                <a:latin typeface="Cambria Math"/>
                <a:ea typeface="Cambria Math"/>
              </a:rPr>
              <a:t>💡  General formula:  ‖v‖₂ = √(v₁² + v₂² + … + vₙ²)  — the length of the arrow from the origin to v in ℝⁿ</a:t>
            </a:r>
          </a:p>
        </p:txBody>
      </p:sp>
      <p:sp>
        <p:nvSpPr>
          <p:cNvPr id="50" name="TkBar">
            <a:extLst>
              <a:ext uri="{FF2B5EF4-FFF2-40B4-BE49-F238E27FC236}">
                <a16:creationId xmlns:a16="http://schemas.microsoft.com/office/drawing/2014/main" id="{4F92A4C2-3129-2546-AF2B-0605698BA7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1" name="TkText">
            <a:extLst>
              <a:ext uri="{FF2B5EF4-FFF2-40B4-BE49-F238E27FC236}">
                <a16:creationId xmlns:a16="http://schemas.microsoft.com/office/drawing/2014/main" id="{E5318FA8-4A30-0742-B6F8-38842AECE2D9}"/>
              </a:ext>
            </a:extLst>
          </p:cNvPr>
          <p:cNvSpPr txBox="1"/>
          <p:nvPr/>
        </p:nvSpPr>
        <p:spPr>
          <a:xfrm>
            <a:off x="381000" y="5842000"/>
            <a:ext cx="114300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The L² norm just generalizes Pythagoras to any number of dimensions</a:t>
            </a:r>
          </a:p>
        </p:txBody>
      </p:sp>
    </p:spTree>
    <p:extLst>
      <p:ext uri="{BB962C8B-B14F-4D97-AF65-F5344CB8AC3E}">
        <p14:creationId xmlns:p14="http://schemas.microsoft.com/office/powerpoint/2010/main" val="20051524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B0D79286-6EEB-1740-B1D4-F97F692C6491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87B9E8A5-4FA7-6B44-8893-822DF61617EE}"/>
              </a:ext>
            </a:extLst>
          </p:cNvPr>
          <p:cNvSpPr txBox="1"/>
          <p:nvPr/>
        </p:nvSpPr>
        <p:spPr>
          <a:xfrm>
            <a:off x="304800" y="330200"/>
            <a:ext cx="11684000" cy="431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Using the norm as a distance — three worked examples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6AAE1D03-3853-D84B-A574-A94C5B77B4AD}"/>
              </a:ext>
            </a:extLst>
          </p:cNvPr>
          <p:cNvSpPr txBox="1"/>
          <p:nvPr/>
        </p:nvSpPr>
        <p:spPr>
          <a:xfrm>
            <a:off x="304800" y="889000"/>
            <a:ext cx="11684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  <a:latin typeface="Arial"/>
                <a:cs typeface="Arial"/>
              </a:rPr>
              <a:t>d(u, v) = ‖u − v‖   —   try each, then check the dimmed solution</a:t>
            </a:r>
          </a:p>
        </p:txBody>
      </p:sp>
      <p:sp>
        <p:nvSpPr>
          <p:cNvPr id="5" name="Example 1Card">
            <a:extLst>
              <a:ext uri="{FF2B5EF4-FFF2-40B4-BE49-F238E27FC236}">
                <a16:creationId xmlns:a16="http://schemas.microsoft.com/office/drawing/2014/main" id="{FEA9FF12-20F9-E14C-BF08-85CCF0DEC93A}"/>
              </a:ext>
            </a:extLst>
          </p:cNvPr>
          <p:cNvSpPr/>
          <p:nvPr/>
        </p:nvSpPr>
        <p:spPr>
          <a:xfrm>
            <a:off x="381000" y="1270000"/>
            <a:ext cx="3683000" cy="3683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DDDD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Example 1Hdr">
            <a:extLst>
              <a:ext uri="{FF2B5EF4-FFF2-40B4-BE49-F238E27FC236}">
                <a16:creationId xmlns:a16="http://schemas.microsoft.com/office/drawing/2014/main" id="{6EF9E9B9-331E-2643-8579-D02C5CB276FA}"/>
              </a:ext>
            </a:extLst>
          </p:cNvPr>
          <p:cNvSpPr/>
          <p:nvPr/>
        </p:nvSpPr>
        <p:spPr>
          <a:xfrm>
            <a:off x="381000" y="1270000"/>
            <a:ext cx="3683000" cy="406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Example 1Lbl">
            <a:extLst>
              <a:ext uri="{FF2B5EF4-FFF2-40B4-BE49-F238E27FC236}">
                <a16:creationId xmlns:a16="http://schemas.microsoft.com/office/drawing/2014/main" id="{38173F58-112F-0B4F-8EA4-E9CFFCA90B1C}"/>
              </a:ext>
            </a:extLst>
          </p:cNvPr>
          <p:cNvSpPr txBox="1"/>
          <p:nvPr/>
        </p:nvSpPr>
        <p:spPr>
          <a:xfrm>
            <a:off x="533400" y="1333500"/>
            <a:ext cx="33782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Example 1</a:t>
            </a:r>
          </a:p>
        </p:txBody>
      </p:sp>
      <p:sp>
        <p:nvSpPr>
          <p:cNvPr id="8" name="Example 1Q">
            <a:extLst>
              <a:ext uri="{FF2B5EF4-FFF2-40B4-BE49-F238E27FC236}">
                <a16:creationId xmlns:a16="http://schemas.microsoft.com/office/drawing/2014/main" id="{5D169D1C-7349-194F-B8C0-09D88A50F6F4}"/>
              </a:ext>
            </a:extLst>
          </p:cNvPr>
          <p:cNvSpPr txBox="1"/>
          <p:nvPr/>
        </p:nvSpPr>
        <p:spPr>
          <a:xfrm>
            <a:off x="533400" y="1803400"/>
            <a:ext cx="3378200" cy="1016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Compute d(u, v) where
u = [1, 2], v = [4, 6]</a:t>
            </a:r>
          </a:p>
        </p:txBody>
      </p:sp>
      <p:sp>
        <p:nvSpPr>
          <p:cNvPr id="9" name="Example 1Div">
            <a:extLst>
              <a:ext uri="{FF2B5EF4-FFF2-40B4-BE49-F238E27FC236}">
                <a16:creationId xmlns:a16="http://schemas.microsoft.com/office/drawing/2014/main" id="{DB8DDCB1-0B35-E442-BF0E-DC5C1B740EAE}"/>
              </a:ext>
            </a:extLst>
          </p:cNvPr>
          <p:cNvSpPr/>
          <p:nvPr/>
        </p:nvSpPr>
        <p:spPr>
          <a:xfrm>
            <a:off x="584200" y="2921000"/>
            <a:ext cx="3276600" cy="12700"/>
          </a:xfrm>
          <a:prstGeom prst="rect">
            <a:avLst/>
          </a:prstGeom>
          <a:solidFill>
            <a:srgbClr val="DDDDD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Example 1S">
            <a:extLst>
              <a:ext uri="{FF2B5EF4-FFF2-40B4-BE49-F238E27FC236}">
                <a16:creationId xmlns:a16="http://schemas.microsoft.com/office/drawing/2014/main" id="{0D31438E-F811-F64E-83A5-332042A57298}"/>
              </a:ext>
            </a:extLst>
          </p:cNvPr>
          <p:cNvSpPr txBox="1"/>
          <p:nvPr/>
        </p:nvSpPr>
        <p:spPr>
          <a:xfrm>
            <a:off x="533400" y="3022600"/>
            <a:ext cx="3378200" cy="177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C0C0C0"/>
                </a:solidFill>
                <a:latin typeface="Cambria Math"/>
                <a:ea typeface="Cambria Math"/>
              </a:rPr>
              <a:t>Solution:
u − v = [−3, −4]
‖u − v‖₂ = √(9 + 16)
         = √25
         = 5</a:t>
            </a:r>
          </a:p>
        </p:txBody>
      </p:sp>
      <p:sp>
        <p:nvSpPr>
          <p:cNvPr id="11" name="Example 2Card">
            <a:extLst>
              <a:ext uri="{FF2B5EF4-FFF2-40B4-BE49-F238E27FC236}">
                <a16:creationId xmlns:a16="http://schemas.microsoft.com/office/drawing/2014/main" id="{E0DEB019-5EDF-2F40-8AFE-9EFC56507019}"/>
              </a:ext>
            </a:extLst>
          </p:cNvPr>
          <p:cNvSpPr/>
          <p:nvPr/>
        </p:nvSpPr>
        <p:spPr>
          <a:xfrm>
            <a:off x="4343400" y="1270000"/>
            <a:ext cx="3683000" cy="3683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DDDD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Example 2Hdr">
            <a:extLst>
              <a:ext uri="{FF2B5EF4-FFF2-40B4-BE49-F238E27FC236}">
                <a16:creationId xmlns:a16="http://schemas.microsoft.com/office/drawing/2014/main" id="{F1B2D059-C99F-E840-A4FE-E55E87633D5F}"/>
              </a:ext>
            </a:extLst>
          </p:cNvPr>
          <p:cNvSpPr/>
          <p:nvPr/>
        </p:nvSpPr>
        <p:spPr>
          <a:xfrm>
            <a:off x="4343400" y="1270000"/>
            <a:ext cx="3683000" cy="4064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Example 2Lbl">
            <a:extLst>
              <a:ext uri="{FF2B5EF4-FFF2-40B4-BE49-F238E27FC236}">
                <a16:creationId xmlns:a16="http://schemas.microsoft.com/office/drawing/2014/main" id="{6718CD6D-CD6A-4143-993E-CD66B528C0F6}"/>
              </a:ext>
            </a:extLst>
          </p:cNvPr>
          <p:cNvSpPr txBox="1"/>
          <p:nvPr/>
        </p:nvSpPr>
        <p:spPr>
          <a:xfrm>
            <a:off x="4495800" y="1333500"/>
            <a:ext cx="33782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Example 2</a:t>
            </a:r>
          </a:p>
        </p:txBody>
      </p:sp>
      <p:sp>
        <p:nvSpPr>
          <p:cNvPr id="14" name="Example 2Q">
            <a:extLst>
              <a:ext uri="{FF2B5EF4-FFF2-40B4-BE49-F238E27FC236}">
                <a16:creationId xmlns:a16="http://schemas.microsoft.com/office/drawing/2014/main" id="{B24C06E7-63A2-B04B-B4D0-B52DB6BCD781}"/>
              </a:ext>
            </a:extLst>
          </p:cNvPr>
          <p:cNvSpPr txBox="1"/>
          <p:nvPr/>
        </p:nvSpPr>
        <p:spPr>
          <a:xfrm>
            <a:off x="4495800" y="1803400"/>
            <a:ext cx="3378200" cy="1016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Compute d(u, v) where
u = [0, 0, 0], v = [1, 1, 1]</a:t>
            </a:r>
          </a:p>
        </p:txBody>
      </p:sp>
      <p:sp>
        <p:nvSpPr>
          <p:cNvPr id="15" name="Example 2Div">
            <a:extLst>
              <a:ext uri="{FF2B5EF4-FFF2-40B4-BE49-F238E27FC236}">
                <a16:creationId xmlns:a16="http://schemas.microsoft.com/office/drawing/2014/main" id="{918143C6-1129-B346-86A5-F12FF56D7A81}"/>
              </a:ext>
            </a:extLst>
          </p:cNvPr>
          <p:cNvSpPr/>
          <p:nvPr/>
        </p:nvSpPr>
        <p:spPr>
          <a:xfrm>
            <a:off x="4546600" y="2921000"/>
            <a:ext cx="3276600" cy="12700"/>
          </a:xfrm>
          <a:prstGeom prst="rect">
            <a:avLst/>
          </a:prstGeom>
          <a:solidFill>
            <a:srgbClr val="DDDDD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Example 2S">
            <a:extLst>
              <a:ext uri="{FF2B5EF4-FFF2-40B4-BE49-F238E27FC236}">
                <a16:creationId xmlns:a16="http://schemas.microsoft.com/office/drawing/2014/main" id="{AE690252-50FD-2E4F-8991-8078F8FC4365}"/>
              </a:ext>
            </a:extLst>
          </p:cNvPr>
          <p:cNvSpPr txBox="1"/>
          <p:nvPr/>
        </p:nvSpPr>
        <p:spPr>
          <a:xfrm>
            <a:off x="4495800" y="3022600"/>
            <a:ext cx="3378200" cy="177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C0C0C0"/>
                </a:solidFill>
                <a:latin typeface="Cambria Math"/>
                <a:ea typeface="Cambria Math"/>
              </a:rPr>
              <a:t>Solution:
u − v = [−1, −1, −1]
‖u − v‖₂ = √(1 + 1 + 1)
         = √3
         ≈ 1.73</a:t>
            </a:r>
          </a:p>
        </p:txBody>
      </p:sp>
      <p:sp>
        <p:nvSpPr>
          <p:cNvPr id="17" name="Example 3Card">
            <a:extLst>
              <a:ext uri="{FF2B5EF4-FFF2-40B4-BE49-F238E27FC236}">
                <a16:creationId xmlns:a16="http://schemas.microsoft.com/office/drawing/2014/main" id="{967F6B79-3840-D240-9D3F-DED619B6D702}"/>
              </a:ext>
            </a:extLst>
          </p:cNvPr>
          <p:cNvSpPr/>
          <p:nvPr/>
        </p:nvSpPr>
        <p:spPr>
          <a:xfrm>
            <a:off x="8305800" y="1270000"/>
            <a:ext cx="3683000" cy="3683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DDDD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Example 3Hdr">
            <a:extLst>
              <a:ext uri="{FF2B5EF4-FFF2-40B4-BE49-F238E27FC236}">
                <a16:creationId xmlns:a16="http://schemas.microsoft.com/office/drawing/2014/main" id="{58A4AFAF-6FCC-1D43-9942-F10C08F8A733}"/>
              </a:ext>
            </a:extLst>
          </p:cNvPr>
          <p:cNvSpPr/>
          <p:nvPr/>
        </p:nvSpPr>
        <p:spPr>
          <a:xfrm>
            <a:off x="8305800" y="1270000"/>
            <a:ext cx="3683000" cy="4064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Example 3Lbl">
            <a:extLst>
              <a:ext uri="{FF2B5EF4-FFF2-40B4-BE49-F238E27FC236}">
                <a16:creationId xmlns:a16="http://schemas.microsoft.com/office/drawing/2014/main" id="{BEB706C1-B87F-B944-A15F-D252B68E3F27}"/>
              </a:ext>
            </a:extLst>
          </p:cNvPr>
          <p:cNvSpPr txBox="1"/>
          <p:nvPr/>
        </p:nvSpPr>
        <p:spPr>
          <a:xfrm>
            <a:off x="8458200" y="1333500"/>
            <a:ext cx="33782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Example 3</a:t>
            </a:r>
          </a:p>
        </p:txBody>
      </p:sp>
      <p:sp>
        <p:nvSpPr>
          <p:cNvPr id="28" name="Example 3Q">
            <a:extLst>
              <a:ext uri="{FF2B5EF4-FFF2-40B4-BE49-F238E27FC236}">
                <a16:creationId xmlns:a16="http://schemas.microsoft.com/office/drawing/2014/main" id="{ECC37EB5-9F8E-6445-AC0B-0380BCD5C585}"/>
              </a:ext>
            </a:extLst>
          </p:cNvPr>
          <p:cNvSpPr txBox="1"/>
          <p:nvPr/>
        </p:nvSpPr>
        <p:spPr>
          <a:xfrm>
            <a:off x="8458200" y="1803400"/>
            <a:ext cx="3378200" cy="1016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Compute d(u, v) where
u = [2, 5, 1], v = [6, 1, 4]</a:t>
            </a:r>
          </a:p>
        </p:txBody>
      </p:sp>
      <p:sp>
        <p:nvSpPr>
          <p:cNvPr id="29" name="Example 3Div">
            <a:extLst>
              <a:ext uri="{FF2B5EF4-FFF2-40B4-BE49-F238E27FC236}">
                <a16:creationId xmlns:a16="http://schemas.microsoft.com/office/drawing/2014/main" id="{FFFA78A0-E024-7B46-B1FF-58A1D06BB912}"/>
              </a:ext>
            </a:extLst>
          </p:cNvPr>
          <p:cNvSpPr/>
          <p:nvPr/>
        </p:nvSpPr>
        <p:spPr>
          <a:xfrm>
            <a:off x="8509000" y="2921000"/>
            <a:ext cx="3276600" cy="12700"/>
          </a:xfrm>
          <a:prstGeom prst="rect">
            <a:avLst/>
          </a:prstGeom>
          <a:solidFill>
            <a:srgbClr val="DDDDD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0" name="Example 3S">
            <a:extLst>
              <a:ext uri="{FF2B5EF4-FFF2-40B4-BE49-F238E27FC236}">
                <a16:creationId xmlns:a16="http://schemas.microsoft.com/office/drawing/2014/main" id="{D151482D-860A-1443-B580-F0FBE3E1648F}"/>
              </a:ext>
            </a:extLst>
          </p:cNvPr>
          <p:cNvSpPr txBox="1"/>
          <p:nvPr/>
        </p:nvSpPr>
        <p:spPr>
          <a:xfrm>
            <a:off x="8458200" y="3022600"/>
            <a:ext cx="3378200" cy="177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C0C0C0"/>
                </a:solidFill>
                <a:latin typeface="Cambria Math"/>
                <a:ea typeface="Cambria Math"/>
              </a:rPr>
              <a:t>Solution:
u − v = [−4, 4, −3]
‖u − v‖₂ = √(16 + 16 + 9)
         = √41
         ≈ 6.40</a:t>
            </a:r>
          </a:p>
        </p:txBody>
      </p:sp>
      <p:sp>
        <p:nvSpPr>
          <p:cNvPr id="31" name="HintBar">
            <a:extLst>
              <a:ext uri="{FF2B5EF4-FFF2-40B4-BE49-F238E27FC236}">
                <a16:creationId xmlns:a16="http://schemas.microsoft.com/office/drawing/2014/main" id="{5DEFE4DC-A392-3543-BD79-D9A0EA301E57}"/>
              </a:ext>
            </a:extLst>
          </p:cNvPr>
          <p:cNvSpPr/>
          <p:nvPr/>
        </p:nvSpPr>
        <p:spPr>
          <a:xfrm>
            <a:off x="381000" y="5143500"/>
            <a:ext cx="11430000" cy="571500"/>
          </a:xfrm>
          <a:prstGeom prst="rect">
            <a:avLst/>
          </a:prstGeom>
          <a:solidFill>
            <a:srgbClr val="FAF5E8"/>
          </a:solidFill>
          <a:ln w="1270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HintIcon">
            <a:extLst>
              <a:ext uri="{FF2B5EF4-FFF2-40B4-BE49-F238E27FC236}">
                <a16:creationId xmlns:a16="http://schemas.microsoft.com/office/drawing/2014/main" id="{5B2C202E-1D0B-7F4E-BE9A-06697D5F1B48}"/>
              </a:ext>
            </a:extLst>
          </p:cNvPr>
          <p:cNvSpPr txBox="1"/>
          <p:nvPr/>
        </p:nvSpPr>
        <p:spPr>
          <a:xfrm>
            <a:off x="482600" y="5232400"/>
            <a:ext cx="3556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B7A57A"/>
                </a:solidFill>
                <a:latin typeface="Arial"/>
                <a:cs typeface="Arial"/>
              </a:rPr>
              <a:t>💡</a:t>
            </a:r>
          </a:p>
        </p:txBody>
      </p:sp>
      <p:sp>
        <p:nvSpPr>
          <p:cNvPr id="33" name="HintTxt">
            <a:extLst>
              <a:ext uri="{FF2B5EF4-FFF2-40B4-BE49-F238E27FC236}">
                <a16:creationId xmlns:a16="http://schemas.microsoft.com/office/drawing/2014/main" id="{63557287-C0AE-1F43-B5DD-1C51E369F17D}"/>
              </a:ext>
            </a:extLst>
          </p:cNvPr>
          <p:cNvSpPr txBox="1"/>
          <p:nvPr/>
        </p:nvSpPr>
        <p:spPr>
          <a:xfrm>
            <a:off x="889000" y="5270500"/>
            <a:ext cx="10795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i="1">
                <a:solidFill>
                  <a:srgbClr val="333333"/>
                </a:solidFill>
                <a:latin typeface="Arial"/>
                <a:cs typeface="Arial"/>
              </a:rPr>
              <a:t>Vectorized recipe:  subtract → square each component → sum → square root</a:t>
            </a:r>
          </a:p>
        </p:txBody>
      </p:sp>
      <p:sp>
        <p:nvSpPr>
          <p:cNvPr id="34" name="TkBar">
            <a:extLst>
              <a:ext uri="{FF2B5EF4-FFF2-40B4-BE49-F238E27FC236}">
                <a16:creationId xmlns:a16="http://schemas.microsoft.com/office/drawing/2014/main" id="{304A1333-9EDA-EA42-803E-B124D9D66FCA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2" name="TkText">
            <a:extLst>
              <a:ext uri="{FF2B5EF4-FFF2-40B4-BE49-F238E27FC236}">
                <a16:creationId xmlns:a16="http://schemas.microsoft.com/office/drawing/2014/main" id="{9B1952E7-C97D-0446-B783-DEF84CCB5A48}"/>
              </a:ext>
            </a:extLst>
          </p:cNvPr>
          <p:cNvSpPr txBox="1"/>
          <p:nvPr/>
        </p:nvSpPr>
        <p:spPr>
          <a:xfrm>
            <a:off x="381000" y="5880100"/>
            <a:ext cx="11430000" cy="558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A norm of the difference IS a distance — the foundation of KNN, clustering, regression error, and more</a:t>
            </a:r>
          </a:p>
        </p:txBody>
      </p:sp>
    </p:spTree>
    <p:extLst>
      <p:ext uri="{BB962C8B-B14F-4D97-AF65-F5344CB8AC3E}">
        <p14:creationId xmlns:p14="http://schemas.microsoft.com/office/powerpoint/2010/main" val="252317464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861F2505-8DDA-3E4F-AD0C-400279457E2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0FA82336-D836-C34E-82A1-7F40BFB37FF2}"/>
              </a:ext>
            </a:extLst>
          </p:cNvPr>
          <p:cNvSpPr txBox="1"/>
          <p:nvPr/>
        </p:nvSpPr>
        <p:spPr>
          <a:xfrm>
            <a:off x="304800" y="342900"/>
            <a:ext cx="115824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000" b="1">
                <a:solidFill>
                  <a:srgbClr val="FFFFFF"/>
                </a:solidFill>
              </a:rPr>
              <a:t>Different types of norms — the Lᵖ family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9BC578D5-621D-0243-B770-DC22B64F30B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777777"/>
                </a:solidFill>
              </a:rPr>
              <a:t>Each norm measures "size" differently — the choice shapes geometry, optimization, and ML behavior</a:t>
            </a:r>
          </a:p>
        </p:txBody>
      </p:sp>
      <p:sp>
        <p:nvSpPr>
          <p:cNvPr id="23" name="LpCard">
            <a:extLst>
              <a:ext uri="{FF2B5EF4-FFF2-40B4-BE49-F238E27FC236}">
                <a16:creationId xmlns:a16="http://schemas.microsoft.com/office/drawing/2014/main" id="{426822D9-ED5F-8247-A06E-BBDA76D772BB}"/>
              </a:ext>
            </a:extLst>
          </p:cNvPr>
          <p:cNvSpPr/>
          <p:nvPr/>
        </p:nvSpPr>
        <p:spPr>
          <a:xfrm>
            <a:off x="381000" y="1270000"/>
            <a:ext cx="11430000" cy="889000"/>
          </a:xfrm>
          <a:prstGeom prst="rect">
            <a:avLst/>
          </a:prstGeom>
          <a:solidFill>
            <a:srgbClr val="F5F0EB"/>
          </a:solidFill>
          <a:ln w="15875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LpLbl">
            <a:extLst>
              <a:ext uri="{FF2B5EF4-FFF2-40B4-BE49-F238E27FC236}">
                <a16:creationId xmlns:a16="http://schemas.microsoft.com/office/drawing/2014/main" id="{A3C51EFC-AB60-4F45-93AD-357DA6F47012}"/>
              </a:ext>
            </a:extLst>
          </p:cNvPr>
          <p:cNvSpPr txBox="1"/>
          <p:nvPr/>
        </p:nvSpPr>
        <p:spPr>
          <a:xfrm>
            <a:off x="558800" y="13716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b="1">
                <a:solidFill>
                  <a:srgbClr val="4B2E83"/>
                </a:solidFill>
              </a:rPr>
              <a:t>General Lᵖ norm</a:t>
            </a:r>
          </a:p>
        </p:txBody>
      </p:sp>
      <p:sp>
        <p:nvSpPr>
          <p:cNvPr id="25" name="LpFx">
            <a:extLst>
              <a:ext uri="{FF2B5EF4-FFF2-40B4-BE49-F238E27FC236}">
                <a16:creationId xmlns:a16="http://schemas.microsoft.com/office/drawing/2014/main" id="{50BB7989-773F-0048-BF16-8E78E5BA9CAA}"/>
              </a:ext>
            </a:extLst>
          </p:cNvPr>
          <p:cNvSpPr txBox="1"/>
          <p:nvPr/>
        </p:nvSpPr>
        <p:spPr>
          <a:xfrm>
            <a:off x="558800" y="1651000"/>
            <a:ext cx="9525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i="1">
                <a:solidFill>
                  <a:srgbClr val="333333"/>
                </a:solidFill>
                <a:latin typeface="Cambria Math"/>
                <a:ea typeface="Cambria Math"/>
              </a:rPr>
              <a:t>‖v‖ₚ = ( |v₁|ᵖ + |v₂|ᵖ + … + |vₙ|ᵖ )^(1/p)     for p ≥ 1</a:t>
            </a:r>
          </a:p>
        </p:txBody>
      </p:sp>
      <p:sp>
        <p:nvSpPr>
          <p:cNvPr id="26" name="LpNote">
            <a:extLst>
              <a:ext uri="{FF2B5EF4-FFF2-40B4-BE49-F238E27FC236}">
                <a16:creationId xmlns:a16="http://schemas.microsoft.com/office/drawing/2014/main" id="{5D64F5F6-599B-E847-BD57-9A573EFD3A1F}"/>
              </a:ext>
            </a:extLst>
          </p:cNvPr>
          <p:cNvSpPr txBox="1"/>
          <p:nvPr/>
        </p:nvSpPr>
        <p:spPr>
          <a:xfrm>
            <a:off x="7620000" y="1752600"/>
            <a:ext cx="3683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777777"/>
                </a:solidFill>
              </a:rPr>
              <a:t>Different values of p give different geometries</a:t>
            </a:r>
          </a:p>
        </p:txBody>
      </p:sp>
      <p:sp>
        <p:nvSpPr>
          <p:cNvPr id="27" name="Card_L¹">
            <a:extLst>
              <a:ext uri="{FF2B5EF4-FFF2-40B4-BE49-F238E27FC236}">
                <a16:creationId xmlns:a16="http://schemas.microsoft.com/office/drawing/2014/main" id="{4FC6B077-36B8-D64E-9899-38A3C1C5A8C8}"/>
              </a:ext>
            </a:extLst>
          </p:cNvPr>
          <p:cNvSpPr/>
          <p:nvPr/>
        </p:nvSpPr>
        <p:spPr>
          <a:xfrm>
            <a:off x="381000" y="2349500"/>
            <a:ext cx="2794000" cy="2730500"/>
          </a:xfrm>
          <a:prstGeom prst="rect">
            <a:avLst/>
          </a:prstGeom>
          <a:solidFill>
            <a:srgbClr val="FFFFFF"/>
          </a:solidFill>
          <a:ln w="15875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CardHdr_L¹">
            <a:extLst>
              <a:ext uri="{FF2B5EF4-FFF2-40B4-BE49-F238E27FC236}">
                <a16:creationId xmlns:a16="http://schemas.microsoft.com/office/drawing/2014/main" id="{D30443A0-DBFC-5647-B780-DFDEE26D4318}"/>
              </a:ext>
            </a:extLst>
          </p:cNvPr>
          <p:cNvSpPr/>
          <p:nvPr/>
        </p:nvSpPr>
        <p:spPr>
          <a:xfrm>
            <a:off x="381000" y="2349500"/>
            <a:ext cx="2794000" cy="406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6" name="CardName_L¹">
            <a:extLst>
              <a:ext uri="{FF2B5EF4-FFF2-40B4-BE49-F238E27FC236}">
                <a16:creationId xmlns:a16="http://schemas.microsoft.com/office/drawing/2014/main" id="{88D1071E-94CA-234E-86B2-85B01B23139B}"/>
              </a:ext>
            </a:extLst>
          </p:cNvPr>
          <p:cNvSpPr txBox="1"/>
          <p:nvPr/>
        </p:nvSpPr>
        <p:spPr>
          <a:xfrm>
            <a:off x="508000" y="2413000"/>
            <a:ext cx="254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L¹ norm</a:t>
            </a:r>
          </a:p>
        </p:txBody>
      </p:sp>
      <p:sp>
        <p:nvSpPr>
          <p:cNvPr id="37" name="CardP_L¹">
            <a:extLst>
              <a:ext uri="{FF2B5EF4-FFF2-40B4-BE49-F238E27FC236}">
                <a16:creationId xmlns:a16="http://schemas.microsoft.com/office/drawing/2014/main" id="{B1610619-CDA4-3E49-82F0-97D076B0F890}"/>
              </a:ext>
            </a:extLst>
          </p:cNvPr>
          <p:cNvSpPr txBox="1"/>
          <p:nvPr/>
        </p:nvSpPr>
        <p:spPr>
          <a:xfrm>
            <a:off x="508000" y="28575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777777"/>
                </a:solidFill>
              </a:rPr>
              <a:t>p = 1</a:t>
            </a:r>
          </a:p>
        </p:txBody>
      </p:sp>
      <p:sp>
        <p:nvSpPr>
          <p:cNvPr id="38" name="CardFx_L¹">
            <a:extLst>
              <a:ext uri="{FF2B5EF4-FFF2-40B4-BE49-F238E27FC236}">
                <a16:creationId xmlns:a16="http://schemas.microsoft.com/office/drawing/2014/main" id="{7D268EE7-03C3-BA4C-9D0D-4B6F4425651B}"/>
              </a:ext>
            </a:extLst>
          </p:cNvPr>
          <p:cNvSpPr txBox="1"/>
          <p:nvPr/>
        </p:nvSpPr>
        <p:spPr>
          <a:xfrm>
            <a:off x="508000" y="31369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333333"/>
                </a:solidFill>
                <a:latin typeface="Cambria Math"/>
                <a:ea typeface="Cambria Math"/>
              </a:rPr>
              <a:t>‖v‖₁ = </a:t>
            </a:r>
            <a:r>
              <a:rPr lang="el-GR" sz="1300">
                <a:solidFill>
                  <a:srgbClr val="333333"/>
                </a:solidFill>
                <a:latin typeface="Cambria Math"/>
                <a:ea typeface="Cambria Math"/>
              </a:rPr>
              <a:t>Σ|</a:t>
            </a:r>
            <a:r>
              <a:rPr lang="en-US" sz="1300">
                <a:solidFill>
                  <a:srgbClr val="333333"/>
                </a:solidFill>
                <a:latin typeface="Cambria Math"/>
                <a:ea typeface="Cambria Math"/>
              </a:rPr>
              <a:t>vᵢ|</a:t>
            </a:r>
          </a:p>
        </p:txBody>
      </p:sp>
      <p:sp>
        <p:nvSpPr>
          <p:cNvPr id="39" name="CardShape_L¹">
            <a:extLst>
              <a:ext uri="{FF2B5EF4-FFF2-40B4-BE49-F238E27FC236}">
                <a16:creationId xmlns:a16="http://schemas.microsoft.com/office/drawing/2014/main" id="{3B772D35-78F7-4C46-AFE3-A5837BA01261}"/>
              </a:ext>
            </a:extLst>
          </p:cNvPr>
          <p:cNvSpPr txBox="1"/>
          <p:nvPr/>
        </p:nvSpPr>
        <p:spPr>
          <a:xfrm>
            <a:off x="508000" y="35560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b="1">
                <a:solidFill>
                  <a:srgbClr val="4B2E83"/>
                </a:solidFill>
              </a:rPr>
              <a:t>Unit ball: Diamond</a:t>
            </a:r>
          </a:p>
        </p:txBody>
      </p:sp>
      <p:sp>
        <p:nvSpPr>
          <p:cNvPr id="40" name="CardDesc_L¹">
            <a:extLst>
              <a:ext uri="{FF2B5EF4-FFF2-40B4-BE49-F238E27FC236}">
                <a16:creationId xmlns:a16="http://schemas.microsoft.com/office/drawing/2014/main" id="{82A2B8B6-F7F4-034E-A53B-AD2AB53C7B33}"/>
              </a:ext>
            </a:extLst>
          </p:cNvPr>
          <p:cNvSpPr txBox="1"/>
          <p:nvPr/>
        </p:nvSpPr>
        <p:spPr>
          <a:xfrm>
            <a:off x="508000" y="3848100"/>
            <a:ext cx="2540000" cy="1079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>
                <a:solidFill>
                  <a:srgbClr val="333333"/>
                </a:solidFill>
              </a:rPr>
              <a:t>Sum of absolute values — Manhattan / taxicab distance. Robust to outliers, induces sparsity.</a:t>
            </a:r>
          </a:p>
        </p:txBody>
      </p:sp>
      <p:sp>
        <p:nvSpPr>
          <p:cNvPr id="41" name="Card_L²">
            <a:extLst>
              <a:ext uri="{FF2B5EF4-FFF2-40B4-BE49-F238E27FC236}">
                <a16:creationId xmlns:a16="http://schemas.microsoft.com/office/drawing/2014/main" id="{DCFC24DE-542F-064F-BB1C-0079F7C57AAE}"/>
              </a:ext>
            </a:extLst>
          </p:cNvPr>
          <p:cNvSpPr/>
          <p:nvPr/>
        </p:nvSpPr>
        <p:spPr>
          <a:xfrm>
            <a:off x="3302000" y="2349500"/>
            <a:ext cx="2794000" cy="2730500"/>
          </a:xfrm>
          <a:prstGeom prst="rect">
            <a:avLst/>
          </a:prstGeom>
          <a:solidFill>
            <a:srgbClr val="FFFFFF"/>
          </a:solidFill>
          <a:ln w="15875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2" name="CardHdr_L²">
            <a:extLst>
              <a:ext uri="{FF2B5EF4-FFF2-40B4-BE49-F238E27FC236}">
                <a16:creationId xmlns:a16="http://schemas.microsoft.com/office/drawing/2014/main" id="{8A387416-8222-6946-AC9D-98F341B0545B}"/>
              </a:ext>
            </a:extLst>
          </p:cNvPr>
          <p:cNvSpPr/>
          <p:nvPr/>
        </p:nvSpPr>
        <p:spPr>
          <a:xfrm>
            <a:off x="3302000" y="2349500"/>
            <a:ext cx="2794000" cy="4064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3" name="CardName_L²">
            <a:extLst>
              <a:ext uri="{FF2B5EF4-FFF2-40B4-BE49-F238E27FC236}">
                <a16:creationId xmlns:a16="http://schemas.microsoft.com/office/drawing/2014/main" id="{E9057E51-1306-B347-9308-FDFA85279DE4}"/>
              </a:ext>
            </a:extLst>
          </p:cNvPr>
          <p:cNvSpPr txBox="1"/>
          <p:nvPr/>
        </p:nvSpPr>
        <p:spPr>
          <a:xfrm>
            <a:off x="3429000" y="2413000"/>
            <a:ext cx="254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L² norm</a:t>
            </a:r>
          </a:p>
        </p:txBody>
      </p:sp>
      <p:sp>
        <p:nvSpPr>
          <p:cNvPr id="44" name="CardP_L²">
            <a:extLst>
              <a:ext uri="{FF2B5EF4-FFF2-40B4-BE49-F238E27FC236}">
                <a16:creationId xmlns:a16="http://schemas.microsoft.com/office/drawing/2014/main" id="{70522559-3C7A-0440-8ECC-DFEF88E7F1CC}"/>
              </a:ext>
            </a:extLst>
          </p:cNvPr>
          <p:cNvSpPr txBox="1"/>
          <p:nvPr/>
        </p:nvSpPr>
        <p:spPr>
          <a:xfrm>
            <a:off x="3429000" y="28575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777777"/>
                </a:solidFill>
              </a:rPr>
              <a:t>p = 2</a:t>
            </a:r>
          </a:p>
        </p:txBody>
      </p:sp>
      <p:sp>
        <p:nvSpPr>
          <p:cNvPr id="45" name="CardFx_L²">
            <a:extLst>
              <a:ext uri="{FF2B5EF4-FFF2-40B4-BE49-F238E27FC236}">
                <a16:creationId xmlns:a16="http://schemas.microsoft.com/office/drawing/2014/main" id="{1C41B71F-2E93-E544-87BF-EE2331ECE23F}"/>
              </a:ext>
            </a:extLst>
          </p:cNvPr>
          <p:cNvSpPr txBox="1"/>
          <p:nvPr/>
        </p:nvSpPr>
        <p:spPr>
          <a:xfrm>
            <a:off x="3429000" y="31369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333333"/>
                </a:solidFill>
                <a:latin typeface="Cambria Math"/>
                <a:ea typeface="Cambria Math"/>
              </a:rPr>
              <a:t>‖v‖₂ = √(</a:t>
            </a:r>
            <a:r>
              <a:rPr lang="el-GR" sz="1300">
                <a:solidFill>
                  <a:srgbClr val="333333"/>
                </a:solidFill>
                <a:latin typeface="Cambria Math"/>
                <a:ea typeface="Cambria Math"/>
              </a:rPr>
              <a:t>Σ</a:t>
            </a:r>
            <a:r>
              <a:rPr lang="en-US" sz="1300">
                <a:solidFill>
                  <a:srgbClr val="333333"/>
                </a:solidFill>
                <a:latin typeface="Cambria Math"/>
                <a:ea typeface="Cambria Math"/>
              </a:rPr>
              <a:t>vᵢ²)</a:t>
            </a:r>
          </a:p>
        </p:txBody>
      </p:sp>
      <p:sp>
        <p:nvSpPr>
          <p:cNvPr id="46" name="CardShape_L²">
            <a:extLst>
              <a:ext uri="{FF2B5EF4-FFF2-40B4-BE49-F238E27FC236}">
                <a16:creationId xmlns:a16="http://schemas.microsoft.com/office/drawing/2014/main" id="{63CAB3B4-E4F4-6A47-B13E-FE2AB60D93EA}"/>
              </a:ext>
            </a:extLst>
          </p:cNvPr>
          <p:cNvSpPr txBox="1"/>
          <p:nvPr/>
        </p:nvSpPr>
        <p:spPr>
          <a:xfrm>
            <a:off x="3429000" y="35560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b="1">
                <a:solidFill>
                  <a:srgbClr val="00A7B5"/>
                </a:solidFill>
              </a:rPr>
              <a:t>Unit ball: Circle</a:t>
            </a:r>
          </a:p>
        </p:txBody>
      </p:sp>
      <p:sp>
        <p:nvSpPr>
          <p:cNvPr id="47" name="CardDesc_L²">
            <a:extLst>
              <a:ext uri="{FF2B5EF4-FFF2-40B4-BE49-F238E27FC236}">
                <a16:creationId xmlns:a16="http://schemas.microsoft.com/office/drawing/2014/main" id="{8988EAA3-7EB5-D847-90DF-4F9D2B48120D}"/>
              </a:ext>
            </a:extLst>
          </p:cNvPr>
          <p:cNvSpPr txBox="1"/>
          <p:nvPr/>
        </p:nvSpPr>
        <p:spPr>
          <a:xfrm>
            <a:off x="3429000" y="3848100"/>
            <a:ext cx="2540000" cy="1079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>
                <a:solidFill>
                  <a:srgbClr val="333333"/>
                </a:solidFill>
              </a:rPr>
              <a:t>Euclidean length — straight-line distance. Smooth gradients, the default in geometry.</a:t>
            </a:r>
          </a:p>
        </p:txBody>
      </p:sp>
      <p:sp>
        <p:nvSpPr>
          <p:cNvPr id="48" name="Card_L∞">
            <a:extLst>
              <a:ext uri="{FF2B5EF4-FFF2-40B4-BE49-F238E27FC236}">
                <a16:creationId xmlns:a16="http://schemas.microsoft.com/office/drawing/2014/main" id="{37AFB4A7-9542-114F-9722-B8A4B54EB128}"/>
              </a:ext>
            </a:extLst>
          </p:cNvPr>
          <p:cNvSpPr/>
          <p:nvPr/>
        </p:nvSpPr>
        <p:spPr>
          <a:xfrm>
            <a:off x="6223000" y="2349500"/>
            <a:ext cx="2794000" cy="2730500"/>
          </a:xfrm>
          <a:prstGeom prst="rect">
            <a:avLst/>
          </a:prstGeom>
          <a:solidFill>
            <a:srgbClr val="FFFFFF"/>
          </a:solidFill>
          <a:ln w="15875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9" name="CardHdr_L∞">
            <a:extLst>
              <a:ext uri="{FF2B5EF4-FFF2-40B4-BE49-F238E27FC236}">
                <a16:creationId xmlns:a16="http://schemas.microsoft.com/office/drawing/2014/main" id="{88464FA3-979F-2A44-8243-8D4FAC8ABEF2}"/>
              </a:ext>
            </a:extLst>
          </p:cNvPr>
          <p:cNvSpPr/>
          <p:nvPr/>
        </p:nvSpPr>
        <p:spPr>
          <a:xfrm>
            <a:off x="6223000" y="2349500"/>
            <a:ext cx="2794000" cy="4064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0" name="CardName_L∞">
            <a:extLst>
              <a:ext uri="{FF2B5EF4-FFF2-40B4-BE49-F238E27FC236}">
                <a16:creationId xmlns:a16="http://schemas.microsoft.com/office/drawing/2014/main" id="{74E8B496-326E-9E4B-9561-C5C74C1093B7}"/>
              </a:ext>
            </a:extLst>
          </p:cNvPr>
          <p:cNvSpPr txBox="1"/>
          <p:nvPr/>
        </p:nvSpPr>
        <p:spPr>
          <a:xfrm>
            <a:off x="6350000" y="2413000"/>
            <a:ext cx="254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L∞ norm</a:t>
            </a:r>
          </a:p>
        </p:txBody>
      </p:sp>
      <p:sp>
        <p:nvSpPr>
          <p:cNvPr id="51" name="CardP_L∞">
            <a:extLst>
              <a:ext uri="{FF2B5EF4-FFF2-40B4-BE49-F238E27FC236}">
                <a16:creationId xmlns:a16="http://schemas.microsoft.com/office/drawing/2014/main" id="{AE7959E7-F12A-F246-9F42-CB2AE1142B63}"/>
              </a:ext>
            </a:extLst>
          </p:cNvPr>
          <p:cNvSpPr txBox="1"/>
          <p:nvPr/>
        </p:nvSpPr>
        <p:spPr>
          <a:xfrm>
            <a:off x="6350000" y="28575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777777"/>
                </a:solidFill>
              </a:rPr>
              <a:t>p → ∞</a:t>
            </a:r>
          </a:p>
        </p:txBody>
      </p:sp>
      <p:sp>
        <p:nvSpPr>
          <p:cNvPr id="53" name="CardFx_L∞">
            <a:extLst>
              <a:ext uri="{FF2B5EF4-FFF2-40B4-BE49-F238E27FC236}">
                <a16:creationId xmlns:a16="http://schemas.microsoft.com/office/drawing/2014/main" id="{E0760948-E3E9-A745-9710-565A98C8A0C0}"/>
              </a:ext>
            </a:extLst>
          </p:cNvPr>
          <p:cNvSpPr txBox="1"/>
          <p:nvPr/>
        </p:nvSpPr>
        <p:spPr>
          <a:xfrm>
            <a:off x="6350000" y="31369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333333"/>
                </a:solidFill>
                <a:latin typeface="Cambria Math"/>
                <a:ea typeface="Cambria Math"/>
              </a:rPr>
              <a:t>‖v‖∞ = max|vᵢ|</a:t>
            </a:r>
          </a:p>
        </p:txBody>
      </p:sp>
      <p:sp>
        <p:nvSpPr>
          <p:cNvPr id="54" name="CardShape_L∞">
            <a:extLst>
              <a:ext uri="{FF2B5EF4-FFF2-40B4-BE49-F238E27FC236}">
                <a16:creationId xmlns:a16="http://schemas.microsoft.com/office/drawing/2014/main" id="{F49BEF31-C07D-2F47-AA72-6497E2E46168}"/>
              </a:ext>
            </a:extLst>
          </p:cNvPr>
          <p:cNvSpPr txBox="1"/>
          <p:nvPr/>
        </p:nvSpPr>
        <p:spPr>
          <a:xfrm>
            <a:off x="6350000" y="35560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b="1">
                <a:solidFill>
                  <a:srgbClr val="D1578A"/>
                </a:solidFill>
              </a:rPr>
              <a:t>Unit ball: Square</a:t>
            </a:r>
          </a:p>
        </p:txBody>
      </p:sp>
      <p:sp>
        <p:nvSpPr>
          <p:cNvPr id="55" name="CardDesc_L∞">
            <a:extLst>
              <a:ext uri="{FF2B5EF4-FFF2-40B4-BE49-F238E27FC236}">
                <a16:creationId xmlns:a16="http://schemas.microsoft.com/office/drawing/2014/main" id="{BE6C4036-330D-E849-8477-F8DE500DEDA5}"/>
              </a:ext>
            </a:extLst>
          </p:cNvPr>
          <p:cNvSpPr txBox="1"/>
          <p:nvPr/>
        </p:nvSpPr>
        <p:spPr>
          <a:xfrm>
            <a:off x="6350000" y="3848100"/>
            <a:ext cx="2540000" cy="1079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>
                <a:solidFill>
                  <a:srgbClr val="333333"/>
                </a:solidFill>
              </a:rPr>
              <a:t>Max coordinate — Chebyshev / supremum. Worst-case error, king-move distance.</a:t>
            </a:r>
          </a:p>
        </p:txBody>
      </p:sp>
      <p:sp>
        <p:nvSpPr>
          <p:cNvPr id="56" name="Card_Lᵖ">
            <a:extLst>
              <a:ext uri="{FF2B5EF4-FFF2-40B4-BE49-F238E27FC236}">
                <a16:creationId xmlns:a16="http://schemas.microsoft.com/office/drawing/2014/main" id="{754AFC2C-B70E-2F45-9321-AFC449AB503F}"/>
              </a:ext>
            </a:extLst>
          </p:cNvPr>
          <p:cNvSpPr/>
          <p:nvPr/>
        </p:nvSpPr>
        <p:spPr>
          <a:xfrm>
            <a:off x="9144000" y="2349500"/>
            <a:ext cx="2794000" cy="2730500"/>
          </a:xfrm>
          <a:prstGeom prst="rect">
            <a:avLst/>
          </a:prstGeom>
          <a:solidFill>
            <a:srgbClr val="FFFFFF"/>
          </a:solidFill>
          <a:ln w="15875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7" name="CardHdr_Lᵖ">
            <a:extLst>
              <a:ext uri="{FF2B5EF4-FFF2-40B4-BE49-F238E27FC236}">
                <a16:creationId xmlns:a16="http://schemas.microsoft.com/office/drawing/2014/main" id="{9AF93762-598A-6640-863E-FC7C7E61DD55}"/>
              </a:ext>
            </a:extLst>
          </p:cNvPr>
          <p:cNvSpPr/>
          <p:nvPr/>
        </p:nvSpPr>
        <p:spPr>
          <a:xfrm>
            <a:off x="9144000" y="2349500"/>
            <a:ext cx="2794000" cy="4064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8" name="CardName_Lᵖ">
            <a:extLst>
              <a:ext uri="{FF2B5EF4-FFF2-40B4-BE49-F238E27FC236}">
                <a16:creationId xmlns:a16="http://schemas.microsoft.com/office/drawing/2014/main" id="{F77E046D-DA19-9A4B-B3FE-AF16A5DC7DF2}"/>
              </a:ext>
            </a:extLst>
          </p:cNvPr>
          <p:cNvSpPr txBox="1"/>
          <p:nvPr/>
        </p:nvSpPr>
        <p:spPr>
          <a:xfrm>
            <a:off x="9271000" y="2413000"/>
            <a:ext cx="254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Lᵖ norm</a:t>
            </a:r>
          </a:p>
        </p:txBody>
      </p:sp>
      <p:sp>
        <p:nvSpPr>
          <p:cNvPr id="59" name="CardP_Lᵖ">
            <a:extLst>
              <a:ext uri="{FF2B5EF4-FFF2-40B4-BE49-F238E27FC236}">
                <a16:creationId xmlns:a16="http://schemas.microsoft.com/office/drawing/2014/main" id="{9A410A93-2788-1446-AE4F-62740B5F5030}"/>
              </a:ext>
            </a:extLst>
          </p:cNvPr>
          <p:cNvSpPr txBox="1"/>
          <p:nvPr/>
        </p:nvSpPr>
        <p:spPr>
          <a:xfrm>
            <a:off x="9271000" y="28575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777777"/>
                </a:solidFill>
              </a:rPr>
              <a:t>any p</a:t>
            </a:r>
          </a:p>
        </p:txBody>
      </p:sp>
      <p:sp>
        <p:nvSpPr>
          <p:cNvPr id="60" name="CardFx_Lᵖ">
            <a:extLst>
              <a:ext uri="{FF2B5EF4-FFF2-40B4-BE49-F238E27FC236}">
                <a16:creationId xmlns:a16="http://schemas.microsoft.com/office/drawing/2014/main" id="{2CBF1005-0D3B-C64A-A973-F62CA79EAB14}"/>
              </a:ext>
            </a:extLst>
          </p:cNvPr>
          <p:cNvSpPr txBox="1"/>
          <p:nvPr/>
        </p:nvSpPr>
        <p:spPr>
          <a:xfrm>
            <a:off x="9271000" y="31369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333333"/>
                </a:solidFill>
                <a:latin typeface="Cambria Math"/>
                <a:ea typeface="Cambria Math"/>
              </a:rPr>
              <a:t>‖v‖ₚ = (</a:t>
            </a:r>
            <a:r>
              <a:rPr lang="el-GR" sz="1300">
                <a:solidFill>
                  <a:srgbClr val="333333"/>
                </a:solidFill>
                <a:latin typeface="Cambria Math"/>
                <a:ea typeface="Cambria Math"/>
              </a:rPr>
              <a:t>Σ|</a:t>
            </a:r>
            <a:r>
              <a:rPr lang="en-US" sz="1300">
                <a:solidFill>
                  <a:srgbClr val="333333"/>
                </a:solidFill>
                <a:latin typeface="Cambria Math"/>
                <a:ea typeface="Cambria Math"/>
              </a:rPr>
              <a:t>vᵢ|ᵖ)^(1/p)</a:t>
            </a:r>
          </a:p>
        </p:txBody>
      </p:sp>
      <p:sp>
        <p:nvSpPr>
          <p:cNvPr id="61" name="CardShape_Lᵖ">
            <a:extLst>
              <a:ext uri="{FF2B5EF4-FFF2-40B4-BE49-F238E27FC236}">
                <a16:creationId xmlns:a16="http://schemas.microsoft.com/office/drawing/2014/main" id="{2B2B501C-6268-7942-A73D-E30E2535B70C}"/>
              </a:ext>
            </a:extLst>
          </p:cNvPr>
          <p:cNvSpPr txBox="1"/>
          <p:nvPr/>
        </p:nvSpPr>
        <p:spPr>
          <a:xfrm>
            <a:off x="9271000" y="35560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b="1">
                <a:solidFill>
                  <a:srgbClr val="B7A57A"/>
                </a:solidFill>
              </a:rPr>
              <a:t>Unit ball: Superellipse</a:t>
            </a:r>
          </a:p>
        </p:txBody>
      </p:sp>
      <p:sp>
        <p:nvSpPr>
          <p:cNvPr id="62" name="CardDesc_Lᵖ">
            <a:extLst>
              <a:ext uri="{FF2B5EF4-FFF2-40B4-BE49-F238E27FC236}">
                <a16:creationId xmlns:a16="http://schemas.microsoft.com/office/drawing/2014/main" id="{B6511B5F-1F9B-E34F-98EE-155CBAE5953D}"/>
              </a:ext>
            </a:extLst>
          </p:cNvPr>
          <p:cNvSpPr txBox="1"/>
          <p:nvPr/>
        </p:nvSpPr>
        <p:spPr>
          <a:xfrm>
            <a:off x="9271000" y="3848100"/>
            <a:ext cx="2540000" cy="1079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>
                <a:solidFill>
                  <a:srgbClr val="333333"/>
                </a:solidFill>
              </a:rPr>
              <a:t>Interpolates between L¹ and L∞ as p varies; p=2 is Euclidean.</a:t>
            </a:r>
          </a:p>
        </p:txBody>
      </p:sp>
      <p:sp>
        <p:nvSpPr>
          <p:cNvPr id="63" name="TkBar">
            <a:extLst>
              <a:ext uri="{FF2B5EF4-FFF2-40B4-BE49-F238E27FC236}">
                <a16:creationId xmlns:a16="http://schemas.microsoft.com/office/drawing/2014/main" id="{E1948B5F-8FF2-2449-AB37-769423126E08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4" name="TkText">
            <a:extLst>
              <a:ext uri="{FF2B5EF4-FFF2-40B4-BE49-F238E27FC236}">
                <a16:creationId xmlns:a16="http://schemas.microsoft.com/office/drawing/2014/main" id="{729E3719-C5CA-954D-9CC0-4F085A94F2BD}"/>
              </a:ext>
            </a:extLst>
          </p:cNvPr>
          <p:cNvSpPr txBox="1"/>
          <p:nvPr/>
        </p:nvSpPr>
        <p:spPr>
          <a:xfrm>
            <a:off x="381000" y="5994400"/>
            <a:ext cx="11430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</a:rPr>
              <a:t>The norm you choose IS your geometry — and your geometry shapes what "close" means</a:t>
            </a:r>
          </a:p>
        </p:txBody>
      </p:sp>
    </p:spTree>
    <p:extLst>
      <p:ext uri="{BB962C8B-B14F-4D97-AF65-F5344CB8AC3E}">
        <p14:creationId xmlns:p14="http://schemas.microsoft.com/office/powerpoint/2010/main" val="377304700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A93AC22E-5EAF-D74A-A50A-156D0C902393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CCEEA53E-655B-1D46-8795-7857C45B511B}"/>
              </a:ext>
            </a:extLst>
          </p:cNvPr>
          <p:cNvSpPr txBox="1"/>
          <p:nvPr/>
        </p:nvSpPr>
        <p:spPr>
          <a:xfrm>
            <a:off x="304800" y="355600"/>
            <a:ext cx="115824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Calibri"/>
                <a:cs typeface="Calibri"/>
              </a:rPr>
              <a:t>One vector, four norms — same input, four answers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D72A4B44-0B09-FE4A-82C7-843049BD0EFE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777777"/>
                </a:solidFill>
                <a:latin typeface="Calibri"/>
                <a:cs typeface="Calibri"/>
              </a:rPr>
              <a:t>Let v = (3, −4). Compute its L¹, L², L∞ and L⁴ norms. Cover the gray solutions and try first.</a:t>
            </a:r>
          </a:p>
        </p:txBody>
      </p:sp>
      <p:sp>
        <p:nvSpPr>
          <p:cNvPr id="5" name="VCard">
            <a:extLst>
              <a:ext uri="{FF2B5EF4-FFF2-40B4-BE49-F238E27FC236}">
                <a16:creationId xmlns:a16="http://schemas.microsoft.com/office/drawing/2014/main" id="{92A63C7D-7A4F-4946-A64A-ED9E4642ADF2}"/>
              </a:ext>
            </a:extLst>
          </p:cNvPr>
          <p:cNvSpPr/>
          <p:nvPr/>
        </p:nvSpPr>
        <p:spPr>
          <a:xfrm>
            <a:off x="381000" y="1219200"/>
            <a:ext cx="11430000" cy="635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VTxt">
            <a:extLst>
              <a:ext uri="{FF2B5EF4-FFF2-40B4-BE49-F238E27FC236}">
                <a16:creationId xmlns:a16="http://schemas.microsoft.com/office/drawing/2014/main" id="{FE7A0CA1-F7AB-B748-9181-D6BDDDE1870F}"/>
              </a:ext>
            </a:extLst>
          </p:cNvPr>
          <p:cNvSpPr txBox="1"/>
          <p:nvPr/>
        </p:nvSpPr>
        <p:spPr>
          <a:xfrm>
            <a:off x="584200" y="1320800"/>
            <a:ext cx="11049000" cy="431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>
                <a:solidFill>
                  <a:srgbClr val="4B2E83"/>
                </a:solidFill>
                <a:latin typeface="Cambria Math"/>
                <a:ea typeface="Cambria Math"/>
              </a:rPr>
              <a:t>Input vector:    v = (3, −4)        — two components, one negative</a:t>
            </a:r>
          </a:p>
        </p:txBody>
      </p:sp>
      <p:sp>
        <p:nvSpPr>
          <p:cNvPr id="7" name="Card0">
            <a:extLst>
              <a:ext uri="{FF2B5EF4-FFF2-40B4-BE49-F238E27FC236}">
                <a16:creationId xmlns:a16="http://schemas.microsoft.com/office/drawing/2014/main" id="{8220B371-4393-CA41-9736-734A6415BC35}"/>
              </a:ext>
            </a:extLst>
          </p:cNvPr>
          <p:cNvSpPr/>
          <p:nvPr/>
        </p:nvSpPr>
        <p:spPr>
          <a:xfrm>
            <a:off x="381000" y="2006600"/>
            <a:ext cx="2794000" cy="304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CardHdr0">
            <a:extLst>
              <a:ext uri="{FF2B5EF4-FFF2-40B4-BE49-F238E27FC236}">
                <a16:creationId xmlns:a16="http://schemas.microsoft.com/office/drawing/2014/main" id="{A899F8B6-1210-6345-AD83-414FD6600A77}"/>
              </a:ext>
            </a:extLst>
          </p:cNvPr>
          <p:cNvSpPr/>
          <p:nvPr/>
        </p:nvSpPr>
        <p:spPr>
          <a:xfrm>
            <a:off x="381000" y="2006600"/>
            <a:ext cx="2794000" cy="4064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CardTitle0">
            <a:extLst>
              <a:ext uri="{FF2B5EF4-FFF2-40B4-BE49-F238E27FC236}">
                <a16:creationId xmlns:a16="http://schemas.microsoft.com/office/drawing/2014/main" id="{17D97670-7293-DB43-847D-826606CCE387}"/>
              </a:ext>
            </a:extLst>
          </p:cNvPr>
          <p:cNvSpPr txBox="1"/>
          <p:nvPr/>
        </p:nvSpPr>
        <p:spPr>
          <a:xfrm>
            <a:off x="508000" y="205740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Calibri"/>
                <a:cs typeface="Calibri"/>
              </a:rPr>
              <a:t>L¹  (Manhattan)</a:t>
            </a:r>
          </a:p>
        </p:txBody>
      </p:sp>
      <p:sp>
        <p:nvSpPr>
          <p:cNvPr id="10" name="CardF0">
            <a:extLst>
              <a:ext uri="{FF2B5EF4-FFF2-40B4-BE49-F238E27FC236}">
                <a16:creationId xmlns:a16="http://schemas.microsoft.com/office/drawing/2014/main" id="{6CD74E73-20C7-C740-B5D5-37312C804CF9}"/>
              </a:ext>
            </a:extLst>
          </p:cNvPr>
          <p:cNvSpPr txBox="1"/>
          <p:nvPr/>
        </p:nvSpPr>
        <p:spPr>
          <a:xfrm>
            <a:off x="508000" y="251460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333333"/>
                </a:solidFill>
                <a:latin typeface="Cambria Math"/>
                <a:ea typeface="Cambria Math"/>
              </a:rPr>
              <a:t>‖v‖₁ = |v₁| + |v₂|</a:t>
            </a:r>
          </a:p>
        </p:txBody>
      </p:sp>
      <p:sp>
        <p:nvSpPr>
          <p:cNvPr id="11" name="Div0">
            <a:extLst>
              <a:ext uri="{FF2B5EF4-FFF2-40B4-BE49-F238E27FC236}">
                <a16:creationId xmlns:a16="http://schemas.microsoft.com/office/drawing/2014/main" id="{32FFFC50-9A3C-1747-AAFA-B23A48C9C607}"/>
              </a:ext>
            </a:extLst>
          </p:cNvPr>
          <p:cNvSpPr/>
          <p:nvPr/>
        </p:nvSpPr>
        <p:spPr>
          <a:xfrm>
            <a:off x="533400" y="2997200"/>
            <a:ext cx="2489200" cy="12700"/>
          </a:xfrm>
          <a:prstGeom prst="rect">
            <a:avLst/>
          </a:prstGeom>
          <a:solidFill>
            <a:srgbClr val="DDDDD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Sol0_0">
            <a:extLst>
              <a:ext uri="{FF2B5EF4-FFF2-40B4-BE49-F238E27FC236}">
                <a16:creationId xmlns:a16="http://schemas.microsoft.com/office/drawing/2014/main" id="{6C76AC67-41F6-8D43-BBFF-9BF3E8ECD8A8}"/>
              </a:ext>
            </a:extLst>
          </p:cNvPr>
          <p:cNvSpPr txBox="1"/>
          <p:nvPr/>
        </p:nvSpPr>
        <p:spPr>
          <a:xfrm>
            <a:off x="533400" y="3149600"/>
            <a:ext cx="24892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C0C0C0"/>
                </a:solidFill>
                <a:latin typeface="Cambria Math"/>
                <a:ea typeface="Cambria Math"/>
              </a:rPr>
              <a:t>Solution:</a:t>
            </a:r>
          </a:p>
        </p:txBody>
      </p:sp>
      <p:sp>
        <p:nvSpPr>
          <p:cNvPr id="13" name="Sol0_1">
            <a:extLst>
              <a:ext uri="{FF2B5EF4-FFF2-40B4-BE49-F238E27FC236}">
                <a16:creationId xmlns:a16="http://schemas.microsoft.com/office/drawing/2014/main" id="{34FDF43C-F56E-5044-95EF-1CBFB493E836}"/>
              </a:ext>
            </a:extLst>
          </p:cNvPr>
          <p:cNvSpPr txBox="1"/>
          <p:nvPr/>
        </p:nvSpPr>
        <p:spPr>
          <a:xfrm>
            <a:off x="533400" y="3505200"/>
            <a:ext cx="24892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C0C0C0"/>
                </a:solidFill>
                <a:latin typeface="Cambria Math"/>
                <a:ea typeface="Cambria Math"/>
              </a:rPr>
              <a:t>‖v‖₁ = |3| + |−4|</a:t>
            </a:r>
          </a:p>
        </p:txBody>
      </p:sp>
      <p:sp>
        <p:nvSpPr>
          <p:cNvPr id="14" name="Sol0_2">
            <a:extLst>
              <a:ext uri="{FF2B5EF4-FFF2-40B4-BE49-F238E27FC236}">
                <a16:creationId xmlns:a16="http://schemas.microsoft.com/office/drawing/2014/main" id="{9B105256-DB78-3749-A383-597A6511D2E4}"/>
              </a:ext>
            </a:extLst>
          </p:cNvPr>
          <p:cNvSpPr txBox="1"/>
          <p:nvPr/>
        </p:nvSpPr>
        <p:spPr>
          <a:xfrm>
            <a:off x="533400" y="3860800"/>
            <a:ext cx="24892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C0C0C0"/>
                </a:solidFill>
                <a:latin typeface="Cambria Math"/>
                <a:ea typeface="Cambria Math"/>
              </a:rPr>
              <a:t> = 3 + 4</a:t>
            </a:r>
          </a:p>
        </p:txBody>
      </p:sp>
      <p:sp>
        <p:nvSpPr>
          <p:cNvPr id="15" name="Sol0_3">
            <a:extLst>
              <a:ext uri="{FF2B5EF4-FFF2-40B4-BE49-F238E27FC236}">
                <a16:creationId xmlns:a16="http://schemas.microsoft.com/office/drawing/2014/main" id="{96750170-9C21-444B-82A3-1E7B7488E783}"/>
              </a:ext>
            </a:extLst>
          </p:cNvPr>
          <p:cNvSpPr txBox="1"/>
          <p:nvPr/>
        </p:nvSpPr>
        <p:spPr>
          <a:xfrm>
            <a:off x="533400" y="4216400"/>
            <a:ext cx="24892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C0C0C0"/>
                </a:solidFill>
                <a:latin typeface="Cambria Math"/>
                <a:ea typeface="Cambria Math"/>
              </a:rPr>
              <a:t> = 7</a:t>
            </a:r>
          </a:p>
        </p:txBody>
      </p:sp>
      <p:sp>
        <p:nvSpPr>
          <p:cNvPr id="16" name="Ans0">
            <a:extLst>
              <a:ext uri="{FF2B5EF4-FFF2-40B4-BE49-F238E27FC236}">
                <a16:creationId xmlns:a16="http://schemas.microsoft.com/office/drawing/2014/main" id="{C511EC0B-A1E6-9E4B-9D7C-B001F0E88B54}"/>
              </a:ext>
            </a:extLst>
          </p:cNvPr>
          <p:cNvSpPr/>
          <p:nvPr/>
        </p:nvSpPr>
        <p:spPr>
          <a:xfrm>
            <a:off x="533400" y="4597400"/>
            <a:ext cx="2489200" cy="355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AnsTxt0">
            <a:extLst>
              <a:ext uri="{FF2B5EF4-FFF2-40B4-BE49-F238E27FC236}">
                <a16:creationId xmlns:a16="http://schemas.microsoft.com/office/drawing/2014/main" id="{7F489774-C776-D740-ADE3-15BF0037D1E6}"/>
              </a:ext>
            </a:extLst>
          </p:cNvPr>
          <p:cNvSpPr txBox="1"/>
          <p:nvPr/>
        </p:nvSpPr>
        <p:spPr>
          <a:xfrm>
            <a:off x="533400" y="4597400"/>
            <a:ext cx="24892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Calibri"/>
                <a:cs typeface="Calibri"/>
              </a:rPr>
              <a:t>Answer:  = 7</a:t>
            </a:r>
          </a:p>
        </p:txBody>
      </p:sp>
      <p:sp>
        <p:nvSpPr>
          <p:cNvPr id="18" name="Card1">
            <a:extLst>
              <a:ext uri="{FF2B5EF4-FFF2-40B4-BE49-F238E27FC236}">
                <a16:creationId xmlns:a16="http://schemas.microsoft.com/office/drawing/2014/main" id="{BB2C5485-02D8-BE4E-AD22-A3258E16C560}"/>
              </a:ext>
            </a:extLst>
          </p:cNvPr>
          <p:cNvSpPr/>
          <p:nvPr/>
        </p:nvSpPr>
        <p:spPr>
          <a:xfrm>
            <a:off x="3302000" y="2006600"/>
            <a:ext cx="2794000" cy="304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CardHdr1">
            <a:extLst>
              <a:ext uri="{FF2B5EF4-FFF2-40B4-BE49-F238E27FC236}">
                <a16:creationId xmlns:a16="http://schemas.microsoft.com/office/drawing/2014/main" id="{3C4D400F-D712-FE43-85AE-F0DA0F57497A}"/>
              </a:ext>
            </a:extLst>
          </p:cNvPr>
          <p:cNvSpPr/>
          <p:nvPr/>
        </p:nvSpPr>
        <p:spPr>
          <a:xfrm>
            <a:off x="3302000" y="2006600"/>
            <a:ext cx="2794000" cy="4064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CardTitle1">
            <a:extLst>
              <a:ext uri="{FF2B5EF4-FFF2-40B4-BE49-F238E27FC236}">
                <a16:creationId xmlns:a16="http://schemas.microsoft.com/office/drawing/2014/main" id="{5D70886E-7DD1-5D4D-B373-0CB9E236520B}"/>
              </a:ext>
            </a:extLst>
          </p:cNvPr>
          <p:cNvSpPr txBox="1"/>
          <p:nvPr/>
        </p:nvSpPr>
        <p:spPr>
          <a:xfrm>
            <a:off x="3429000" y="205740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Calibri"/>
                <a:cs typeface="Calibri"/>
              </a:rPr>
              <a:t>L²  (Euclidean)</a:t>
            </a:r>
          </a:p>
        </p:txBody>
      </p:sp>
      <p:sp>
        <p:nvSpPr>
          <p:cNvPr id="29" name="CardF1">
            <a:extLst>
              <a:ext uri="{FF2B5EF4-FFF2-40B4-BE49-F238E27FC236}">
                <a16:creationId xmlns:a16="http://schemas.microsoft.com/office/drawing/2014/main" id="{69C6B770-28C9-574A-8B4F-214DFDE9CEFF}"/>
              </a:ext>
            </a:extLst>
          </p:cNvPr>
          <p:cNvSpPr txBox="1"/>
          <p:nvPr/>
        </p:nvSpPr>
        <p:spPr>
          <a:xfrm>
            <a:off x="3429000" y="251460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333333"/>
                </a:solidFill>
                <a:latin typeface="Cambria Math"/>
                <a:ea typeface="Cambria Math"/>
              </a:rPr>
              <a:t>‖v‖₂ = √(v₁² + v₂²)</a:t>
            </a:r>
          </a:p>
        </p:txBody>
      </p:sp>
      <p:sp>
        <p:nvSpPr>
          <p:cNvPr id="30" name="Div1">
            <a:extLst>
              <a:ext uri="{FF2B5EF4-FFF2-40B4-BE49-F238E27FC236}">
                <a16:creationId xmlns:a16="http://schemas.microsoft.com/office/drawing/2014/main" id="{453BE359-D170-294F-9AFA-42ABCBB85E47}"/>
              </a:ext>
            </a:extLst>
          </p:cNvPr>
          <p:cNvSpPr/>
          <p:nvPr/>
        </p:nvSpPr>
        <p:spPr>
          <a:xfrm>
            <a:off x="3454400" y="2997200"/>
            <a:ext cx="2489200" cy="12700"/>
          </a:xfrm>
          <a:prstGeom prst="rect">
            <a:avLst/>
          </a:prstGeom>
          <a:solidFill>
            <a:srgbClr val="DDDDD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Sol1_0">
            <a:extLst>
              <a:ext uri="{FF2B5EF4-FFF2-40B4-BE49-F238E27FC236}">
                <a16:creationId xmlns:a16="http://schemas.microsoft.com/office/drawing/2014/main" id="{09B45212-C520-CF42-A741-682A7B4B6166}"/>
              </a:ext>
            </a:extLst>
          </p:cNvPr>
          <p:cNvSpPr txBox="1"/>
          <p:nvPr/>
        </p:nvSpPr>
        <p:spPr>
          <a:xfrm>
            <a:off x="3454400" y="3149600"/>
            <a:ext cx="24892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C0C0C0"/>
                </a:solidFill>
                <a:latin typeface="Cambria Math"/>
                <a:ea typeface="Cambria Math"/>
              </a:rPr>
              <a:t>Solution:</a:t>
            </a:r>
          </a:p>
        </p:txBody>
      </p:sp>
      <p:sp>
        <p:nvSpPr>
          <p:cNvPr id="32" name="Sol1_1">
            <a:extLst>
              <a:ext uri="{FF2B5EF4-FFF2-40B4-BE49-F238E27FC236}">
                <a16:creationId xmlns:a16="http://schemas.microsoft.com/office/drawing/2014/main" id="{E0242A06-3371-5E4F-8CDF-D5163DE32824}"/>
              </a:ext>
            </a:extLst>
          </p:cNvPr>
          <p:cNvSpPr txBox="1"/>
          <p:nvPr/>
        </p:nvSpPr>
        <p:spPr>
          <a:xfrm>
            <a:off x="3454400" y="3505200"/>
            <a:ext cx="24892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C0C0C0"/>
                </a:solidFill>
                <a:latin typeface="Cambria Math"/>
                <a:ea typeface="Cambria Math"/>
              </a:rPr>
              <a:t>‖v‖₂ = √(3² + (−4)²)</a:t>
            </a:r>
          </a:p>
        </p:txBody>
      </p:sp>
      <p:sp>
        <p:nvSpPr>
          <p:cNvPr id="33" name="Sol1_2">
            <a:extLst>
              <a:ext uri="{FF2B5EF4-FFF2-40B4-BE49-F238E27FC236}">
                <a16:creationId xmlns:a16="http://schemas.microsoft.com/office/drawing/2014/main" id="{9DDC9D04-768D-2F48-8272-DE38240DCCA3}"/>
              </a:ext>
            </a:extLst>
          </p:cNvPr>
          <p:cNvSpPr txBox="1"/>
          <p:nvPr/>
        </p:nvSpPr>
        <p:spPr>
          <a:xfrm>
            <a:off x="3454400" y="3860800"/>
            <a:ext cx="24892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C0C0C0"/>
                </a:solidFill>
                <a:latin typeface="Cambria Math"/>
                <a:ea typeface="Cambria Math"/>
              </a:rPr>
              <a:t> = √(9 + 16)</a:t>
            </a:r>
          </a:p>
        </p:txBody>
      </p:sp>
      <p:sp>
        <p:nvSpPr>
          <p:cNvPr id="34" name="Sol1_3">
            <a:extLst>
              <a:ext uri="{FF2B5EF4-FFF2-40B4-BE49-F238E27FC236}">
                <a16:creationId xmlns:a16="http://schemas.microsoft.com/office/drawing/2014/main" id="{D76C6625-DE05-DE40-B1FE-98CBBD7B3C49}"/>
              </a:ext>
            </a:extLst>
          </p:cNvPr>
          <p:cNvSpPr txBox="1"/>
          <p:nvPr/>
        </p:nvSpPr>
        <p:spPr>
          <a:xfrm>
            <a:off x="3454400" y="4216400"/>
            <a:ext cx="24892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C0C0C0"/>
                </a:solidFill>
                <a:latin typeface="Cambria Math"/>
                <a:ea typeface="Cambria Math"/>
              </a:rPr>
              <a:t> = √25 = 5</a:t>
            </a:r>
          </a:p>
        </p:txBody>
      </p:sp>
      <p:sp>
        <p:nvSpPr>
          <p:cNvPr id="52" name="Ans1">
            <a:extLst>
              <a:ext uri="{FF2B5EF4-FFF2-40B4-BE49-F238E27FC236}">
                <a16:creationId xmlns:a16="http://schemas.microsoft.com/office/drawing/2014/main" id="{9E5B5257-16DB-AE41-8940-7D0935D818AF}"/>
              </a:ext>
            </a:extLst>
          </p:cNvPr>
          <p:cNvSpPr/>
          <p:nvPr/>
        </p:nvSpPr>
        <p:spPr>
          <a:xfrm>
            <a:off x="3454400" y="4597400"/>
            <a:ext cx="2489200" cy="3556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5" name="AnsTxt1">
            <a:extLst>
              <a:ext uri="{FF2B5EF4-FFF2-40B4-BE49-F238E27FC236}">
                <a16:creationId xmlns:a16="http://schemas.microsoft.com/office/drawing/2014/main" id="{CFF950E3-1806-434C-B992-88A06D5061C1}"/>
              </a:ext>
            </a:extLst>
          </p:cNvPr>
          <p:cNvSpPr txBox="1"/>
          <p:nvPr/>
        </p:nvSpPr>
        <p:spPr>
          <a:xfrm>
            <a:off x="3454400" y="4597400"/>
            <a:ext cx="24892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Calibri"/>
                <a:cs typeface="Calibri"/>
              </a:rPr>
              <a:t>Answer:  = 5</a:t>
            </a:r>
          </a:p>
        </p:txBody>
      </p:sp>
      <p:sp>
        <p:nvSpPr>
          <p:cNvPr id="66" name="Card2">
            <a:extLst>
              <a:ext uri="{FF2B5EF4-FFF2-40B4-BE49-F238E27FC236}">
                <a16:creationId xmlns:a16="http://schemas.microsoft.com/office/drawing/2014/main" id="{9524AB44-C3B9-AB4C-A0F4-DA7A8F64F35D}"/>
              </a:ext>
            </a:extLst>
          </p:cNvPr>
          <p:cNvSpPr/>
          <p:nvPr/>
        </p:nvSpPr>
        <p:spPr>
          <a:xfrm>
            <a:off x="6223000" y="2006600"/>
            <a:ext cx="2794000" cy="304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7" name="CardHdr2">
            <a:extLst>
              <a:ext uri="{FF2B5EF4-FFF2-40B4-BE49-F238E27FC236}">
                <a16:creationId xmlns:a16="http://schemas.microsoft.com/office/drawing/2014/main" id="{3F708EEB-EF7C-1F44-B447-8C59EAC5AB2B}"/>
              </a:ext>
            </a:extLst>
          </p:cNvPr>
          <p:cNvSpPr/>
          <p:nvPr/>
        </p:nvSpPr>
        <p:spPr>
          <a:xfrm>
            <a:off x="6223000" y="2006600"/>
            <a:ext cx="2794000" cy="4064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8" name="CardTitle2">
            <a:extLst>
              <a:ext uri="{FF2B5EF4-FFF2-40B4-BE49-F238E27FC236}">
                <a16:creationId xmlns:a16="http://schemas.microsoft.com/office/drawing/2014/main" id="{88EBF8DA-7D39-5443-884A-B3A34B5EFFB5}"/>
              </a:ext>
            </a:extLst>
          </p:cNvPr>
          <p:cNvSpPr txBox="1"/>
          <p:nvPr/>
        </p:nvSpPr>
        <p:spPr>
          <a:xfrm>
            <a:off x="6350000" y="205740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Calibri"/>
                <a:cs typeface="Calibri"/>
              </a:rPr>
              <a:t>L∞  (Chebyshev)</a:t>
            </a:r>
          </a:p>
        </p:txBody>
      </p:sp>
      <p:sp>
        <p:nvSpPr>
          <p:cNvPr id="69" name="CardF2">
            <a:extLst>
              <a:ext uri="{FF2B5EF4-FFF2-40B4-BE49-F238E27FC236}">
                <a16:creationId xmlns:a16="http://schemas.microsoft.com/office/drawing/2014/main" id="{7EA03C91-EE53-0844-B5ED-87D61BD39EE1}"/>
              </a:ext>
            </a:extLst>
          </p:cNvPr>
          <p:cNvSpPr txBox="1"/>
          <p:nvPr/>
        </p:nvSpPr>
        <p:spPr>
          <a:xfrm>
            <a:off x="6350000" y="251460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333333"/>
                </a:solidFill>
                <a:latin typeface="Cambria Math"/>
                <a:ea typeface="Cambria Math"/>
              </a:rPr>
              <a:t>‖v‖∞ = max(|v₁|, |v₂|)</a:t>
            </a:r>
          </a:p>
        </p:txBody>
      </p:sp>
      <p:sp>
        <p:nvSpPr>
          <p:cNvPr id="70" name="Div2">
            <a:extLst>
              <a:ext uri="{FF2B5EF4-FFF2-40B4-BE49-F238E27FC236}">
                <a16:creationId xmlns:a16="http://schemas.microsoft.com/office/drawing/2014/main" id="{A2AA6AF0-C36F-824D-9958-3428BCBE14F2}"/>
              </a:ext>
            </a:extLst>
          </p:cNvPr>
          <p:cNvSpPr/>
          <p:nvPr/>
        </p:nvSpPr>
        <p:spPr>
          <a:xfrm>
            <a:off x="6375400" y="2997200"/>
            <a:ext cx="2489200" cy="12700"/>
          </a:xfrm>
          <a:prstGeom prst="rect">
            <a:avLst/>
          </a:prstGeom>
          <a:solidFill>
            <a:srgbClr val="DDDDD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1" name="Sol2_0">
            <a:extLst>
              <a:ext uri="{FF2B5EF4-FFF2-40B4-BE49-F238E27FC236}">
                <a16:creationId xmlns:a16="http://schemas.microsoft.com/office/drawing/2014/main" id="{6E385DAF-CEA6-C949-AF20-920A51EA1B45}"/>
              </a:ext>
            </a:extLst>
          </p:cNvPr>
          <p:cNvSpPr txBox="1"/>
          <p:nvPr/>
        </p:nvSpPr>
        <p:spPr>
          <a:xfrm>
            <a:off x="6375400" y="3149600"/>
            <a:ext cx="24892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C0C0C0"/>
                </a:solidFill>
                <a:latin typeface="Cambria Math"/>
                <a:ea typeface="Cambria Math"/>
              </a:rPr>
              <a:t>Solution:</a:t>
            </a:r>
          </a:p>
        </p:txBody>
      </p:sp>
      <p:sp>
        <p:nvSpPr>
          <p:cNvPr id="72" name="Sol2_1">
            <a:extLst>
              <a:ext uri="{FF2B5EF4-FFF2-40B4-BE49-F238E27FC236}">
                <a16:creationId xmlns:a16="http://schemas.microsoft.com/office/drawing/2014/main" id="{E2C8213E-C228-9244-BB28-BCD64C46585A}"/>
              </a:ext>
            </a:extLst>
          </p:cNvPr>
          <p:cNvSpPr txBox="1"/>
          <p:nvPr/>
        </p:nvSpPr>
        <p:spPr>
          <a:xfrm>
            <a:off x="6375400" y="3505200"/>
            <a:ext cx="24892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C0C0C0"/>
                </a:solidFill>
                <a:latin typeface="Cambria Math"/>
                <a:ea typeface="Cambria Math"/>
              </a:rPr>
              <a:t>‖v‖∞ = max(|3|, |−4|)</a:t>
            </a:r>
          </a:p>
        </p:txBody>
      </p:sp>
      <p:sp>
        <p:nvSpPr>
          <p:cNvPr id="73" name="Sol2_2">
            <a:extLst>
              <a:ext uri="{FF2B5EF4-FFF2-40B4-BE49-F238E27FC236}">
                <a16:creationId xmlns:a16="http://schemas.microsoft.com/office/drawing/2014/main" id="{64855651-1401-9D46-A8BD-AA6FF99E48EE}"/>
              </a:ext>
            </a:extLst>
          </p:cNvPr>
          <p:cNvSpPr txBox="1"/>
          <p:nvPr/>
        </p:nvSpPr>
        <p:spPr>
          <a:xfrm>
            <a:off x="6375400" y="3860800"/>
            <a:ext cx="24892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C0C0C0"/>
                </a:solidFill>
                <a:latin typeface="Cambria Math"/>
                <a:ea typeface="Cambria Math"/>
              </a:rPr>
              <a:t> = max(3, 4)</a:t>
            </a:r>
          </a:p>
        </p:txBody>
      </p:sp>
      <p:sp>
        <p:nvSpPr>
          <p:cNvPr id="74" name="Sol2_3">
            <a:extLst>
              <a:ext uri="{FF2B5EF4-FFF2-40B4-BE49-F238E27FC236}">
                <a16:creationId xmlns:a16="http://schemas.microsoft.com/office/drawing/2014/main" id="{4F4DACEC-DEFB-A648-B955-9035259CB1F1}"/>
              </a:ext>
            </a:extLst>
          </p:cNvPr>
          <p:cNvSpPr txBox="1"/>
          <p:nvPr/>
        </p:nvSpPr>
        <p:spPr>
          <a:xfrm>
            <a:off x="6375400" y="4216400"/>
            <a:ext cx="24892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C0C0C0"/>
                </a:solidFill>
                <a:latin typeface="Cambria Math"/>
                <a:ea typeface="Cambria Math"/>
              </a:rPr>
              <a:t> = 4</a:t>
            </a:r>
          </a:p>
        </p:txBody>
      </p:sp>
      <p:sp>
        <p:nvSpPr>
          <p:cNvPr id="75" name="Ans2">
            <a:extLst>
              <a:ext uri="{FF2B5EF4-FFF2-40B4-BE49-F238E27FC236}">
                <a16:creationId xmlns:a16="http://schemas.microsoft.com/office/drawing/2014/main" id="{5D8D9CAB-090A-CE44-B170-25495FC3318E}"/>
              </a:ext>
            </a:extLst>
          </p:cNvPr>
          <p:cNvSpPr/>
          <p:nvPr/>
        </p:nvSpPr>
        <p:spPr>
          <a:xfrm>
            <a:off x="6375400" y="4597400"/>
            <a:ext cx="2489200" cy="3556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6" name="AnsTxt2">
            <a:extLst>
              <a:ext uri="{FF2B5EF4-FFF2-40B4-BE49-F238E27FC236}">
                <a16:creationId xmlns:a16="http://schemas.microsoft.com/office/drawing/2014/main" id="{811A15F9-0370-754A-BC0D-9FEB5FA83DDF}"/>
              </a:ext>
            </a:extLst>
          </p:cNvPr>
          <p:cNvSpPr txBox="1"/>
          <p:nvPr/>
        </p:nvSpPr>
        <p:spPr>
          <a:xfrm>
            <a:off x="6375400" y="4597400"/>
            <a:ext cx="24892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Calibri"/>
                <a:cs typeface="Calibri"/>
              </a:rPr>
              <a:t>Answer:  = 4</a:t>
            </a:r>
          </a:p>
        </p:txBody>
      </p:sp>
      <p:sp>
        <p:nvSpPr>
          <p:cNvPr id="77" name="Card3">
            <a:extLst>
              <a:ext uri="{FF2B5EF4-FFF2-40B4-BE49-F238E27FC236}">
                <a16:creationId xmlns:a16="http://schemas.microsoft.com/office/drawing/2014/main" id="{9A17AB1C-97C2-9940-A20C-F25400299CA4}"/>
              </a:ext>
            </a:extLst>
          </p:cNvPr>
          <p:cNvSpPr/>
          <p:nvPr/>
        </p:nvSpPr>
        <p:spPr>
          <a:xfrm>
            <a:off x="9144000" y="2006600"/>
            <a:ext cx="2794000" cy="304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8" name="CardHdr3">
            <a:extLst>
              <a:ext uri="{FF2B5EF4-FFF2-40B4-BE49-F238E27FC236}">
                <a16:creationId xmlns:a16="http://schemas.microsoft.com/office/drawing/2014/main" id="{E99D82E1-24E2-494C-BF59-C8CF5D63F7E2}"/>
              </a:ext>
            </a:extLst>
          </p:cNvPr>
          <p:cNvSpPr/>
          <p:nvPr/>
        </p:nvSpPr>
        <p:spPr>
          <a:xfrm>
            <a:off x="9144000" y="2006600"/>
            <a:ext cx="2794000" cy="4064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9" name="CardTitle3">
            <a:extLst>
              <a:ext uri="{FF2B5EF4-FFF2-40B4-BE49-F238E27FC236}">
                <a16:creationId xmlns:a16="http://schemas.microsoft.com/office/drawing/2014/main" id="{E36AE509-97F5-4942-865C-FE993346914F}"/>
              </a:ext>
            </a:extLst>
          </p:cNvPr>
          <p:cNvSpPr txBox="1"/>
          <p:nvPr/>
        </p:nvSpPr>
        <p:spPr>
          <a:xfrm>
            <a:off x="9271000" y="205740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Calibri"/>
                <a:cs typeface="Calibri"/>
              </a:rPr>
              <a:t>L⁴  (intermediate)</a:t>
            </a:r>
          </a:p>
        </p:txBody>
      </p:sp>
      <p:sp>
        <p:nvSpPr>
          <p:cNvPr id="80" name="CardF3">
            <a:extLst>
              <a:ext uri="{FF2B5EF4-FFF2-40B4-BE49-F238E27FC236}">
                <a16:creationId xmlns:a16="http://schemas.microsoft.com/office/drawing/2014/main" id="{408989D8-6139-3B44-97C8-7E56FB7C5E02}"/>
              </a:ext>
            </a:extLst>
          </p:cNvPr>
          <p:cNvSpPr txBox="1"/>
          <p:nvPr/>
        </p:nvSpPr>
        <p:spPr>
          <a:xfrm>
            <a:off x="9271000" y="251460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333333"/>
                </a:solidFill>
                <a:latin typeface="Cambria Math"/>
                <a:ea typeface="Cambria Math"/>
              </a:rPr>
              <a:t>‖v‖₄ = (v₁⁴ + v₂⁴)^(1/4)</a:t>
            </a:r>
          </a:p>
        </p:txBody>
      </p:sp>
      <p:sp>
        <p:nvSpPr>
          <p:cNvPr id="81" name="Div3">
            <a:extLst>
              <a:ext uri="{FF2B5EF4-FFF2-40B4-BE49-F238E27FC236}">
                <a16:creationId xmlns:a16="http://schemas.microsoft.com/office/drawing/2014/main" id="{A6ED4415-34E8-F349-A797-A8928A1CC6D6}"/>
              </a:ext>
            </a:extLst>
          </p:cNvPr>
          <p:cNvSpPr/>
          <p:nvPr/>
        </p:nvSpPr>
        <p:spPr>
          <a:xfrm>
            <a:off x="9296400" y="2997200"/>
            <a:ext cx="2489200" cy="12700"/>
          </a:xfrm>
          <a:prstGeom prst="rect">
            <a:avLst/>
          </a:prstGeom>
          <a:solidFill>
            <a:srgbClr val="DDDDD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2" name="Sol3_0">
            <a:extLst>
              <a:ext uri="{FF2B5EF4-FFF2-40B4-BE49-F238E27FC236}">
                <a16:creationId xmlns:a16="http://schemas.microsoft.com/office/drawing/2014/main" id="{3379E2DE-4EDE-AF4F-881E-727616BAE9FC}"/>
              </a:ext>
            </a:extLst>
          </p:cNvPr>
          <p:cNvSpPr txBox="1"/>
          <p:nvPr/>
        </p:nvSpPr>
        <p:spPr>
          <a:xfrm>
            <a:off x="9296400" y="3149600"/>
            <a:ext cx="24892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C0C0C0"/>
                </a:solidFill>
                <a:latin typeface="Cambria Math"/>
                <a:ea typeface="Cambria Math"/>
              </a:rPr>
              <a:t>Solution:</a:t>
            </a:r>
          </a:p>
        </p:txBody>
      </p:sp>
      <p:sp>
        <p:nvSpPr>
          <p:cNvPr id="83" name="Sol3_1">
            <a:extLst>
              <a:ext uri="{FF2B5EF4-FFF2-40B4-BE49-F238E27FC236}">
                <a16:creationId xmlns:a16="http://schemas.microsoft.com/office/drawing/2014/main" id="{5B55E9AF-D841-AF42-9C76-0EA42A51EA61}"/>
              </a:ext>
            </a:extLst>
          </p:cNvPr>
          <p:cNvSpPr txBox="1"/>
          <p:nvPr/>
        </p:nvSpPr>
        <p:spPr>
          <a:xfrm>
            <a:off x="9296400" y="3505200"/>
            <a:ext cx="24892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C0C0C0"/>
                </a:solidFill>
                <a:latin typeface="Cambria Math"/>
                <a:ea typeface="Cambria Math"/>
              </a:rPr>
              <a:t>‖v‖₄ = (3⁴ + (−4)⁴)^¼</a:t>
            </a:r>
          </a:p>
        </p:txBody>
      </p:sp>
      <p:sp>
        <p:nvSpPr>
          <p:cNvPr id="84" name="Sol3_2">
            <a:extLst>
              <a:ext uri="{FF2B5EF4-FFF2-40B4-BE49-F238E27FC236}">
                <a16:creationId xmlns:a16="http://schemas.microsoft.com/office/drawing/2014/main" id="{FA6D8DEB-BE37-9E4D-9DFC-40F4B577186F}"/>
              </a:ext>
            </a:extLst>
          </p:cNvPr>
          <p:cNvSpPr txBox="1"/>
          <p:nvPr/>
        </p:nvSpPr>
        <p:spPr>
          <a:xfrm>
            <a:off x="9296400" y="3860800"/>
            <a:ext cx="24892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C0C0C0"/>
                </a:solidFill>
                <a:latin typeface="Cambria Math"/>
                <a:ea typeface="Cambria Math"/>
              </a:rPr>
              <a:t> = (81 + 256)^¼</a:t>
            </a:r>
          </a:p>
        </p:txBody>
      </p:sp>
      <p:sp>
        <p:nvSpPr>
          <p:cNvPr id="85" name="Sol3_3">
            <a:extLst>
              <a:ext uri="{FF2B5EF4-FFF2-40B4-BE49-F238E27FC236}">
                <a16:creationId xmlns:a16="http://schemas.microsoft.com/office/drawing/2014/main" id="{3E58E6A3-CBEB-3443-8002-F24560371A82}"/>
              </a:ext>
            </a:extLst>
          </p:cNvPr>
          <p:cNvSpPr txBox="1"/>
          <p:nvPr/>
        </p:nvSpPr>
        <p:spPr>
          <a:xfrm>
            <a:off x="9296400" y="4216400"/>
            <a:ext cx="24892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C0C0C0"/>
                </a:solidFill>
                <a:latin typeface="Cambria Math"/>
                <a:ea typeface="Cambria Math"/>
              </a:rPr>
              <a:t> = 337^¼ ≈ 4.286</a:t>
            </a:r>
          </a:p>
        </p:txBody>
      </p:sp>
      <p:sp>
        <p:nvSpPr>
          <p:cNvPr id="86" name="Ans3">
            <a:extLst>
              <a:ext uri="{FF2B5EF4-FFF2-40B4-BE49-F238E27FC236}">
                <a16:creationId xmlns:a16="http://schemas.microsoft.com/office/drawing/2014/main" id="{1FCCED89-142A-3441-A439-534188DD2418}"/>
              </a:ext>
            </a:extLst>
          </p:cNvPr>
          <p:cNvSpPr/>
          <p:nvPr/>
        </p:nvSpPr>
        <p:spPr>
          <a:xfrm>
            <a:off x="9296400" y="4597400"/>
            <a:ext cx="2489200" cy="3556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7" name="AnsTxt3">
            <a:extLst>
              <a:ext uri="{FF2B5EF4-FFF2-40B4-BE49-F238E27FC236}">
                <a16:creationId xmlns:a16="http://schemas.microsoft.com/office/drawing/2014/main" id="{EFCAEB75-2880-F24E-821B-EF5EB0634E19}"/>
              </a:ext>
            </a:extLst>
          </p:cNvPr>
          <p:cNvSpPr txBox="1"/>
          <p:nvPr/>
        </p:nvSpPr>
        <p:spPr>
          <a:xfrm>
            <a:off x="9296400" y="4597400"/>
            <a:ext cx="24892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Calibri"/>
                <a:cs typeface="Calibri"/>
              </a:rPr>
              <a:t>Answer:  ≈ 4.286</a:t>
            </a:r>
          </a:p>
        </p:txBody>
      </p:sp>
      <p:sp>
        <p:nvSpPr>
          <p:cNvPr id="88" name="TkBar">
            <a:extLst>
              <a:ext uri="{FF2B5EF4-FFF2-40B4-BE49-F238E27FC236}">
                <a16:creationId xmlns:a16="http://schemas.microsoft.com/office/drawing/2014/main" id="{2F6C3E55-EE44-474A-9790-4DDDD9690E3B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9" name="TkTxt">
            <a:extLst>
              <a:ext uri="{FF2B5EF4-FFF2-40B4-BE49-F238E27FC236}">
                <a16:creationId xmlns:a16="http://schemas.microsoft.com/office/drawing/2014/main" id="{8BD1375C-612F-AD41-AAA0-3FEDA2AB3883}"/>
              </a:ext>
            </a:extLst>
          </p:cNvPr>
          <p:cNvSpPr txBox="1"/>
          <p:nvPr/>
        </p:nvSpPr>
        <p:spPr>
          <a:xfrm>
            <a:off x="381000" y="5842000"/>
            <a:ext cx="114300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Calibri"/>
                <a:cs typeface="Calibri"/>
              </a:rPr>
              <a:t>Different norms give very different 'lengths' for the same vector — the norm choice IS a modeling choice</a:t>
            </a:r>
          </a:p>
        </p:txBody>
      </p:sp>
    </p:spTree>
    <p:extLst>
      <p:ext uri="{BB962C8B-B14F-4D97-AF65-F5344CB8AC3E}">
        <p14:creationId xmlns:p14="http://schemas.microsoft.com/office/powerpoint/2010/main" val="118892427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BA848BF6-8C21-884D-AEAD-CAB1FF47B91C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69FEB7A1-DD8B-C04D-B99A-65F89636FF6C}"/>
              </a:ext>
            </a:extLst>
          </p:cNvPr>
          <p:cNvSpPr txBox="1"/>
          <p:nvPr/>
        </p:nvSpPr>
        <p:spPr>
          <a:xfrm>
            <a:off x="304800" y="330200"/>
            <a:ext cx="116840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000" b="1">
                <a:solidFill>
                  <a:srgbClr val="FFFFFF"/>
                </a:solidFill>
              </a:rPr>
              <a:t>L¹ norm (Manhattan) — visual in 2D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567A5368-24A0-2044-AC60-3BFDFD38DB9B}"/>
              </a:ext>
            </a:extLst>
          </p:cNvPr>
          <p:cNvSpPr txBox="1"/>
          <p:nvPr/>
        </p:nvSpPr>
        <p:spPr>
          <a:xfrm>
            <a:off x="381000" y="889000"/>
            <a:ext cx="11430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777777"/>
                </a:solidFill>
              </a:rPr>
              <a:t>Unit ball: a diamond rotated 45°. All points (x,y) with |x| + |y| = 1.</a:t>
            </a:r>
          </a:p>
        </p:txBody>
      </p:sp>
      <p:sp>
        <p:nvSpPr>
          <p:cNvPr id="23" name="PlotBg">
            <a:extLst>
              <a:ext uri="{FF2B5EF4-FFF2-40B4-BE49-F238E27FC236}">
                <a16:creationId xmlns:a16="http://schemas.microsoft.com/office/drawing/2014/main" id="{7EE209DB-32F2-6D4A-9A61-18A9452A7F99}"/>
              </a:ext>
            </a:extLst>
          </p:cNvPr>
          <p:cNvSpPr/>
          <p:nvPr/>
        </p:nvSpPr>
        <p:spPr>
          <a:xfrm>
            <a:off x="762000" y="1333500"/>
            <a:ext cx="4826000" cy="4064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77777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AxisX">
            <a:extLst>
              <a:ext uri="{FF2B5EF4-FFF2-40B4-BE49-F238E27FC236}">
                <a16:creationId xmlns:a16="http://schemas.microsoft.com/office/drawing/2014/main" id="{A63BF5C1-373F-7349-9C40-B436BB36DBB5}"/>
              </a:ext>
            </a:extLst>
          </p:cNvPr>
          <p:cNvSpPr/>
          <p:nvPr/>
        </p:nvSpPr>
        <p:spPr>
          <a:xfrm>
            <a:off x="825500" y="3365500"/>
            <a:ext cx="4699000" cy="127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AxisY">
            <a:extLst>
              <a:ext uri="{FF2B5EF4-FFF2-40B4-BE49-F238E27FC236}">
                <a16:creationId xmlns:a16="http://schemas.microsoft.com/office/drawing/2014/main" id="{1DDC435F-8412-0343-9DA3-36B3BB8D2C4E}"/>
              </a:ext>
            </a:extLst>
          </p:cNvPr>
          <p:cNvSpPr/>
          <p:nvPr/>
        </p:nvSpPr>
        <p:spPr>
          <a:xfrm>
            <a:off x="3175000" y="1397000"/>
            <a:ext cx="12700" cy="39370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XLbl">
            <a:extLst>
              <a:ext uri="{FF2B5EF4-FFF2-40B4-BE49-F238E27FC236}">
                <a16:creationId xmlns:a16="http://schemas.microsoft.com/office/drawing/2014/main" id="{D992DE7D-72E6-E543-8C34-C1034CBC695F}"/>
              </a:ext>
            </a:extLst>
          </p:cNvPr>
          <p:cNvSpPr txBox="1"/>
          <p:nvPr/>
        </p:nvSpPr>
        <p:spPr>
          <a:xfrm>
            <a:off x="5410200" y="3416300"/>
            <a:ext cx="1524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000" i="1">
                <a:solidFill>
                  <a:srgbClr val="777777"/>
                </a:solidFill>
              </a:rPr>
              <a:t>x</a:t>
            </a:r>
          </a:p>
        </p:txBody>
      </p:sp>
      <p:sp>
        <p:nvSpPr>
          <p:cNvPr id="27" name="YLbl">
            <a:extLst>
              <a:ext uri="{FF2B5EF4-FFF2-40B4-BE49-F238E27FC236}">
                <a16:creationId xmlns:a16="http://schemas.microsoft.com/office/drawing/2014/main" id="{A9D324DB-71C5-9F44-AD25-09DC20F30434}"/>
              </a:ext>
            </a:extLst>
          </p:cNvPr>
          <p:cNvSpPr txBox="1"/>
          <p:nvPr/>
        </p:nvSpPr>
        <p:spPr>
          <a:xfrm>
            <a:off x="3251200" y="1358900"/>
            <a:ext cx="1524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000" i="1">
                <a:solidFill>
                  <a:srgbClr val="777777"/>
                </a:solidFill>
              </a:rPr>
              <a:t>y</a:t>
            </a:r>
          </a:p>
        </p:txBody>
      </p:sp>
      <p:sp>
        <p:nvSpPr>
          <p:cNvPr id="35" name="Tick">
            <a:extLst>
              <a:ext uri="{FF2B5EF4-FFF2-40B4-BE49-F238E27FC236}">
                <a16:creationId xmlns:a16="http://schemas.microsoft.com/office/drawing/2014/main" id="{8F0876F9-C04D-5F4A-B26A-94843783444F}"/>
              </a:ext>
            </a:extLst>
          </p:cNvPr>
          <p:cNvSpPr/>
          <p:nvPr/>
        </p:nvSpPr>
        <p:spPr>
          <a:xfrm>
            <a:off x="1778000" y="3314700"/>
            <a:ext cx="12700" cy="101600"/>
          </a:xfrm>
          <a:prstGeom prst="rect">
            <a:avLst/>
          </a:prstGeom>
          <a:solidFill>
            <a:srgbClr val="33333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6" name="Tick">
            <a:extLst>
              <a:ext uri="{FF2B5EF4-FFF2-40B4-BE49-F238E27FC236}">
                <a16:creationId xmlns:a16="http://schemas.microsoft.com/office/drawing/2014/main" id="{05E3B1E5-823D-A64B-B20A-D64C55C84575}"/>
              </a:ext>
            </a:extLst>
          </p:cNvPr>
          <p:cNvSpPr/>
          <p:nvPr/>
        </p:nvSpPr>
        <p:spPr>
          <a:xfrm>
            <a:off x="3124200" y="1968500"/>
            <a:ext cx="101600" cy="12700"/>
          </a:xfrm>
          <a:prstGeom prst="rect">
            <a:avLst/>
          </a:prstGeom>
          <a:solidFill>
            <a:srgbClr val="33333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7" name="Tick">
            <a:extLst>
              <a:ext uri="{FF2B5EF4-FFF2-40B4-BE49-F238E27FC236}">
                <a16:creationId xmlns:a16="http://schemas.microsoft.com/office/drawing/2014/main" id="{19F534DA-B254-DF42-A85F-AC851AF4939D}"/>
              </a:ext>
            </a:extLst>
          </p:cNvPr>
          <p:cNvSpPr/>
          <p:nvPr/>
        </p:nvSpPr>
        <p:spPr>
          <a:xfrm>
            <a:off x="4572000" y="3314700"/>
            <a:ext cx="12700" cy="101600"/>
          </a:xfrm>
          <a:prstGeom prst="rect">
            <a:avLst/>
          </a:prstGeom>
          <a:solidFill>
            <a:srgbClr val="33333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8" name="Tick">
            <a:extLst>
              <a:ext uri="{FF2B5EF4-FFF2-40B4-BE49-F238E27FC236}">
                <a16:creationId xmlns:a16="http://schemas.microsoft.com/office/drawing/2014/main" id="{A301C23E-28EB-AA4B-A2FD-5C8BE7A804F0}"/>
              </a:ext>
            </a:extLst>
          </p:cNvPr>
          <p:cNvSpPr/>
          <p:nvPr/>
        </p:nvSpPr>
        <p:spPr>
          <a:xfrm>
            <a:off x="3124200" y="4762500"/>
            <a:ext cx="101600" cy="12700"/>
          </a:xfrm>
          <a:prstGeom prst="rect">
            <a:avLst/>
          </a:prstGeom>
          <a:solidFill>
            <a:srgbClr val="33333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9" name="TX1">
            <a:extLst>
              <a:ext uri="{FF2B5EF4-FFF2-40B4-BE49-F238E27FC236}">
                <a16:creationId xmlns:a16="http://schemas.microsoft.com/office/drawing/2014/main" id="{BA63382C-B254-5A4D-B675-41C5C28F33FF}"/>
              </a:ext>
            </a:extLst>
          </p:cNvPr>
          <p:cNvSpPr txBox="1"/>
          <p:nvPr/>
        </p:nvSpPr>
        <p:spPr>
          <a:xfrm>
            <a:off x="4508500" y="3441700"/>
            <a:ext cx="1778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900">
                <a:solidFill>
                  <a:srgbClr val="333333"/>
                </a:solidFill>
              </a:rPr>
              <a:t>1</a:t>
            </a:r>
          </a:p>
        </p:txBody>
      </p:sp>
      <p:sp>
        <p:nvSpPr>
          <p:cNvPr id="40" name="TXm1">
            <a:extLst>
              <a:ext uri="{FF2B5EF4-FFF2-40B4-BE49-F238E27FC236}">
                <a16:creationId xmlns:a16="http://schemas.microsoft.com/office/drawing/2014/main" id="{408B5677-1335-4E40-A0B3-D9D40160FA5C}"/>
              </a:ext>
            </a:extLst>
          </p:cNvPr>
          <p:cNvSpPr txBox="1"/>
          <p:nvPr/>
        </p:nvSpPr>
        <p:spPr>
          <a:xfrm>
            <a:off x="1663700" y="3441700"/>
            <a:ext cx="2286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900">
                <a:solidFill>
                  <a:srgbClr val="333333"/>
                </a:solidFill>
              </a:rPr>
              <a:t>−1</a:t>
            </a:r>
          </a:p>
        </p:txBody>
      </p:sp>
      <p:sp>
        <p:nvSpPr>
          <p:cNvPr id="41" name="TY1">
            <a:extLst>
              <a:ext uri="{FF2B5EF4-FFF2-40B4-BE49-F238E27FC236}">
                <a16:creationId xmlns:a16="http://schemas.microsoft.com/office/drawing/2014/main" id="{360DBC97-4B28-BD4F-8A6A-EA1B16F7911F}"/>
              </a:ext>
            </a:extLst>
          </p:cNvPr>
          <p:cNvSpPr txBox="1"/>
          <p:nvPr/>
        </p:nvSpPr>
        <p:spPr>
          <a:xfrm>
            <a:off x="3251200" y="1892300"/>
            <a:ext cx="1778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900">
                <a:solidFill>
                  <a:srgbClr val="333333"/>
                </a:solidFill>
              </a:rPr>
              <a:t>1</a:t>
            </a:r>
          </a:p>
        </p:txBody>
      </p:sp>
      <p:sp>
        <p:nvSpPr>
          <p:cNvPr id="43" name="UnitBall">
            <a:extLst>
              <a:ext uri="{FF2B5EF4-FFF2-40B4-BE49-F238E27FC236}">
                <a16:creationId xmlns:a16="http://schemas.microsoft.com/office/drawing/2014/main" id="{DF5DCBB5-A98D-054E-9979-D7D04DC20C95}"/>
              </a:ext>
            </a:extLst>
          </p:cNvPr>
          <p:cNvSpPr/>
          <p:nvPr/>
        </p:nvSpPr>
        <p:spPr>
          <a:xfrm>
            <a:off x="1778000" y="1968500"/>
            <a:ext cx="2794000" cy="2794000"/>
          </a:xfrm>
          <a:prstGeom prst="diamond">
            <a:avLst/>
          </a:prstGeom>
          <a:solidFill>
            <a:srgbClr val="E8E0F0"/>
          </a:solidFill>
          <a:ln w="381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2" name="TYm1">
            <a:extLst>
              <a:ext uri="{FF2B5EF4-FFF2-40B4-BE49-F238E27FC236}">
                <a16:creationId xmlns:a16="http://schemas.microsoft.com/office/drawing/2014/main" id="{3CA5B77D-C5B6-5F47-9967-9923EA8B0A8A}"/>
              </a:ext>
            </a:extLst>
          </p:cNvPr>
          <p:cNvSpPr txBox="1"/>
          <p:nvPr/>
        </p:nvSpPr>
        <p:spPr>
          <a:xfrm>
            <a:off x="3251200" y="4686300"/>
            <a:ext cx="2286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900">
                <a:solidFill>
                  <a:srgbClr val="333333"/>
                </a:solidFill>
              </a:rPr>
              <a:t>−1</a:t>
            </a:r>
          </a:p>
        </p:txBody>
      </p:sp>
      <p:sp>
        <p:nvSpPr>
          <p:cNvPr id="44" name="Origin">
            <a:extLst>
              <a:ext uri="{FF2B5EF4-FFF2-40B4-BE49-F238E27FC236}">
                <a16:creationId xmlns:a16="http://schemas.microsoft.com/office/drawing/2014/main" id="{B9249DE4-7E7A-EE45-AE20-1ACC7EF17711}"/>
              </a:ext>
            </a:extLst>
          </p:cNvPr>
          <p:cNvSpPr/>
          <p:nvPr/>
        </p:nvSpPr>
        <p:spPr>
          <a:xfrm>
            <a:off x="3136900" y="3327400"/>
            <a:ext cx="76200" cy="76200"/>
          </a:xfrm>
          <a:prstGeom prst="ellipse">
            <a:avLst/>
          </a:prstGeom>
          <a:solidFill>
            <a:srgbClr val="33333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5" name="OLbl">
            <a:extLst>
              <a:ext uri="{FF2B5EF4-FFF2-40B4-BE49-F238E27FC236}">
                <a16:creationId xmlns:a16="http://schemas.microsoft.com/office/drawing/2014/main" id="{938CFE1E-998D-164B-ACA3-0EDD64B1489C}"/>
              </a:ext>
            </a:extLst>
          </p:cNvPr>
          <p:cNvSpPr txBox="1"/>
          <p:nvPr/>
        </p:nvSpPr>
        <p:spPr>
          <a:xfrm>
            <a:off x="3225800" y="3416300"/>
            <a:ext cx="1778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900">
                <a:solidFill>
                  <a:srgbClr val="333333"/>
                </a:solidFill>
              </a:rPr>
              <a:t>0</a:t>
            </a:r>
          </a:p>
        </p:txBody>
      </p:sp>
      <p:sp>
        <p:nvSpPr>
          <p:cNvPr id="46" name="ExDot">
            <a:extLst>
              <a:ext uri="{FF2B5EF4-FFF2-40B4-BE49-F238E27FC236}">
                <a16:creationId xmlns:a16="http://schemas.microsoft.com/office/drawing/2014/main" id="{8F6C6C17-522B-6F4D-84DF-B8907385FC06}"/>
              </a:ext>
            </a:extLst>
          </p:cNvPr>
          <p:cNvSpPr/>
          <p:nvPr/>
        </p:nvSpPr>
        <p:spPr>
          <a:xfrm>
            <a:off x="3937000" y="2730500"/>
            <a:ext cx="152400" cy="152400"/>
          </a:xfrm>
          <a:prstGeom prst="ellipse">
            <a:avLst/>
          </a:prstGeom>
          <a:solidFill>
            <a:srgbClr val="4B2E83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7" name="ExLbl">
            <a:extLst>
              <a:ext uri="{FF2B5EF4-FFF2-40B4-BE49-F238E27FC236}">
                <a16:creationId xmlns:a16="http://schemas.microsoft.com/office/drawing/2014/main" id="{5459F83B-6932-DB4B-BEEE-447109FD0069}"/>
              </a:ext>
            </a:extLst>
          </p:cNvPr>
          <p:cNvSpPr txBox="1"/>
          <p:nvPr/>
        </p:nvSpPr>
        <p:spPr>
          <a:xfrm>
            <a:off x="4114800" y="25781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000" b="1">
                <a:solidFill>
                  <a:srgbClr val="4B2E83"/>
                </a:solidFill>
              </a:rPr>
              <a:t>(0.6, 0.4)</a:t>
            </a:r>
          </a:p>
        </p:txBody>
      </p:sp>
      <p:sp>
        <p:nvSpPr>
          <p:cNvPr id="48" name="PathH">
            <a:extLst>
              <a:ext uri="{FF2B5EF4-FFF2-40B4-BE49-F238E27FC236}">
                <a16:creationId xmlns:a16="http://schemas.microsoft.com/office/drawing/2014/main" id="{16A89307-041C-1248-9132-D123161A5098}"/>
              </a:ext>
            </a:extLst>
          </p:cNvPr>
          <p:cNvSpPr/>
          <p:nvPr/>
        </p:nvSpPr>
        <p:spPr>
          <a:xfrm>
            <a:off x="3175000" y="3365500"/>
            <a:ext cx="838200" cy="254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9" name="PathHLbl">
            <a:extLst>
              <a:ext uri="{FF2B5EF4-FFF2-40B4-BE49-F238E27FC236}">
                <a16:creationId xmlns:a16="http://schemas.microsoft.com/office/drawing/2014/main" id="{7F2C4F6C-695D-5648-9C2C-70C988087886}"/>
              </a:ext>
            </a:extLst>
          </p:cNvPr>
          <p:cNvSpPr txBox="1"/>
          <p:nvPr/>
        </p:nvSpPr>
        <p:spPr>
          <a:xfrm>
            <a:off x="3403600" y="341630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000" b="1">
                <a:solidFill>
                  <a:srgbClr val="D1578A"/>
                </a:solidFill>
              </a:rPr>
              <a:t>|x| = 0.6</a:t>
            </a:r>
          </a:p>
        </p:txBody>
      </p:sp>
      <p:sp>
        <p:nvSpPr>
          <p:cNvPr id="50" name="PathV">
            <a:extLst>
              <a:ext uri="{FF2B5EF4-FFF2-40B4-BE49-F238E27FC236}">
                <a16:creationId xmlns:a16="http://schemas.microsoft.com/office/drawing/2014/main" id="{5C597ECE-118E-7F4E-AC9D-041A9D624D86}"/>
              </a:ext>
            </a:extLst>
          </p:cNvPr>
          <p:cNvSpPr/>
          <p:nvPr/>
        </p:nvSpPr>
        <p:spPr>
          <a:xfrm>
            <a:off x="4013200" y="2806700"/>
            <a:ext cx="25400" cy="5588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1" name="PathVLbl">
            <a:extLst>
              <a:ext uri="{FF2B5EF4-FFF2-40B4-BE49-F238E27FC236}">
                <a16:creationId xmlns:a16="http://schemas.microsoft.com/office/drawing/2014/main" id="{1A816917-067C-964F-84C3-8142E6855F53}"/>
              </a:ext>
            </a:extLst>
          </p:cNvPr>
          <p:cNvSpPr txBox="1"/>
          <p:nvPr/>
        </p:nvSpPr>
        <p:spPr>
          <a:xfrm>
            <a:off x="4089400" y="300990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000" b="1">
                <a:solidFill>
                  <a:srgbClr val="D1578A"/>
                </a:solidFill>
              </a:rPr>
              <a:t>|y| = 0.4</a:t>
            </a:r>
          </a:p>
        </p:txBody>
      </p:sp>
      <p:sp>
        <p:nvSpPr>
          <p:cNvPr id="53" name="DefBox">
            <a:extLst>
              <a:ext uri="{FF2B5EF4-FFF2-40B4-BE49-F238E27FC236}">
                <a16:creationId xmlns:a16="http://schemas.microsoft.com/office/drawing/2014/main" id="{0147AF09-FEC7-1B42-A91E-5DE1AE6D3C7B}"/>
              </a:ext>
            </a:extLst>
          </p:cNvPr>
          <p:cNvSpPr/>
          <p:nvPr/>
        </p:nvSpPr>
        <p:spPr>
          <a:xfrm>
            <a:off x="6159500" y="1333500"/>
            <a:ext cx="5651500" cy="9906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4" name="DefH">
            <a:extLst>
              <a:ext uri="{FF2B5EF4-FFF2-40B4-BE49-F238E27FC236}">
                <a16:creationId xmlns:a16="http://schemas.microsoft.com/office/drawing/2014/main" id="{02883B36-0098-C840-AAC1-D97F555CD56F}"/>
              </a:ext>
            </a:extLst>
          </p:cNvPr>
          <p:cNvSpPr txBox="1"/>
          <p:nvPr/>
        </p:nvSpPr>
        <p:spPr>
          <a:xfrm>
            <a:off x="6311900" y="1397000"/>
            <a:ext cx="53467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b="1">
                <a:solidFill>
                  <a:srgbClr val="4B2E83"/>
                </a:solidFill>
              </a:rPr>
              <a:t>Definition</a:t>
            </a:r>
          </a:p>
        </p:txBody>
      </p:sp>
      <p:sp>
        <p:nvSpPr>
          <p:cNvPr id="55" name="DefF">
            <a:extLst>
              <a:ext uri="{FF2B5EF4-FFF2-40B4-BE49-F238E27FC236}">
                <a16:creationId xmlns:a16="http://schemas.microsoft.com/office/drawing/2014/main" id="{D36CCEA0-363B-0341-AB9A-611C8A25FE8D}"/>
              </a:ext>
            </a:extLst>
          </p:cNvPr>
          <p:cNvSpPr txBox="1"/>
          <p:nvPr/>
        </p:nvSpPr>
        <p:spPr>
          <a:xfrm>
            <a:off x="6311900" y="1651000"/>
            <a:ext cx="53467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 b="1">
                <a:solidFill>
                  <a:srgbClr val="333333"/>
                </a:solidFill>
                <a:latin typeface="Cambria Math"/>
                <a:ea typeface="Cambria Math"/>
              </a:rPr>
              <a:t>‖v‖₁ = |v₁| + |v₂| + ... + |vₙ|</a:t>
            </a:r>
          </a:p>
        </p:txBody>
      </p:sp>
      <p:sp>
        <p:nvSpPr>
          <p:cNvPr id="56" name="DefN">
            <a:extLst>
              <a:ext uri="{FF2B5EF4-FFF2-40B4-BE49-F238E27FC236}">
                <a16:creationId xmlns:a16="http://schemas.microsoft.com/office/drawing/2014/main" id="{ED6A966E-E35D-6443-ABEA-6BF679C55EC4}"/>
              </a:ext>
            </a:extLst>
          </p:cNvPr>
          <p:cNvSpPr txBox="1"/>
          <p:nvPr/>
        </p:nvSpPr>
        <p:spPr>
          <a:xfrm>
            <a:off x="6311900" y="2006600"/>
            <a:ext cx="53467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777777"/>
                </a:solidFill>
              </a:rPr>
              <a:t>Sum of absolute values of components.</a:t>
            </a:r>
          </a:p>
        </p:txBody>
      </p:sp>
      <p:sp>
        <p:nvSpPr>
          <p:cNvPr id="57" name="WhyBox">
            <a:extLst>
              <a:ext uri="{FF2B5EF4-FFF2-40B4-BE49-F238E27FC236}">
                <a16:creationId xmlns:a16="http://schemas.microsoft.com/office/drawing/2014/main" id="{B0D4DF57-77E5-4640-87AC-03581A1BEBAF}"/>
              </a:ext>
            </a:extLst>
          </p:cNvPr>
          <p:cNvSpPr/>
          <p:nvPr/>
        </p:nvSpPr>
        <p:spPr>
          <a:xfrm>
            <a:off x="6159500" y="2476500"/>
            <a:ext cx="5651500" cy="11684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8" name="WhyH">
            <a:extLst>
              <a:ext uri="{FF2B5EF4-FFF2-40B4-BE49-F238E27FC236}">
                <a16:creationId xmlns:a16="http://schemas.microsoft.com/office/drawing/2014/main" id="{703D882F-0CBE-E840-937D-0073148E9F17}"/>
              </a:ext>
            </a:extLst>
          </p:cNvPr>
          <p:cNvSpPr txBox="1"/>
          <p:nvPr/>
        </p:nvSpPr>
        <p:spPr>
          <a:xfrm>
            <a:off x="6311900" y="2540000"/>
            <a:ext cx="53467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b="1">
                <a:solidFill>
                  <a:srgbClr val="4B2E83"/>
                </a:solidFill>
              </a:rPr>
              <a:t>Why a diamond?</a:t>
            </a:r>
          </a:p>
        </p:txBody>
      </p:sp>
      <p:sp>
        <p:nvSpPr>
          <p:cNvPr id="59" name="WhyT">
            <a:extLst>
              <a:ext uri="{FF2B5EF4-FFF2-40B4-BE49-F238E27FC236}">
                <a16:creationId xmlns:a16="http://schemas.microsoft.com/office/drawing/2014/main" id="{A1DF413E-9006-C44F-80D8-082FD2222269}"/>
              </a:ext>
            </a:extLst>
          </p:cNvPr>
          <p:cNvSpPr txBox="1"/>
          <p:nvPr/>
        </p:nvSpPr>
        <p:spPr>
          <a:xfrm>
            <a:off x="6311900" y="2794000"/>
            <a:ext cx="5346700" cy="787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>
                <a:solidFill>
                  <a:srgbClr val="333333"/>
                </a:solidFill>
              </a:rPr>
              <a:t>‖(x,y)‖₁ = 1  ⟺  |x| + |y| = 1
This is 4 line segments: x+y=1, x−y=1, −x+y=1, −x−y=1
Together they form a diamond (square rotated 45°).</a:t>
            </a:r>
          </a:p>
        </p:txBody>
      </p:sp>
      <p:sp>
        <p:nvSpPr>
          <p:cNvPr id="60" name="IntBox">
            <a:extLst>
              <a:ext uri="{FF2B5EF4-FFF2-40B4-BE49-F238E27FC236}">
                <a16:creationId xmlns:a16="http://schemas.microsoft.com/office/drawing/2014/main" id="{C92A7F9B-3921-3F48-949B-D24D14ED54A1}"/>
              </a:ext>
            </a:extLst>
          </p:cNvPr>
          <p:cNvSpPr/>
          <p:nvPr/>
        </p:nvSpPr>
        <p:spPr>
          <a:xfrm>
            <a:off x="6159500" y="3797300"/>
            <a:ext cx="5651500" cy="1270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1" name="IntH">
            <a:extLst>
              <a:ext uri="{FF2B5EF4-FFF2-40B4-BE49-F238E27FC236}">
                <a16:creationId xmlns:a16="http://schemas.microsoft.com/office/drawing/2014/main" id="{C8AFE8F9-5644-4C40-A188-453C43A65CA5}"/>
              </a:ext>
            </a:extLst>
          </p:cNvPr>
          <p:cNvSpPr txBox="1"/>
          <p:nvPr/>
        </p:nvSpPr>
        <p:spPr>
          <a:xfrm>
            <a:off x="6311900" y="3860800"/>
            <a:ext cx="53467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b="1">
                <a:solidFill>
                  <a:srgbClr val="00A7B5"/>
                </a:solidFill>
              </a:rPr>
              <a:t>Interpretation — taxicab distance</a:t>
            </a:r>
          </a:p>
        </p:txBody>
      </p:sp>
      <p:sp>
        <p:nvSpPr>
          <p:cNvPr id="62" name="IntT">
            <a:extLst>
              <a:ext uri="{FF2B5EF4-FFF2-40B4-BE49-F238E27FC236}">
                <a16:creationId xmlns:a16="http://schemas.microsoft.com/office/drawing/2014/main" id="{7B249F9D-0EA0-CE4A-9B36-D429A1CBB837}"/>
              </a:ext>
            </a:extLst>
          </p:cNvPr>
          <p:cNvSpPr txBox="1"/>
          <p:nvPr/>
        </p:nvSpPr>
        <p:spPr>
          <a:xfrm>
            <a:off x="6311900" y="4114800"/>
            <a:ext cx="5346700" cy="914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>
                <a:solidFill>
                  <a:srgbClr val="333333"/>
                </a:solidFill>
              </a:rPr>
              <a:t>To reach (0.6, 0.4) from origin you cannot cut diagonally —
you walk 0.6 east, then 0.4 north (or any axis-aligned path).
Total walked = 0.6 + 0.4 = 1.0 city blocks.</a:t>
            </a:r>
          </a:p>
        </p:txBody>
      </p:sp>
      <p:sp>
        <p:nvSpPr>
          <p:cNvPr id="63" name="UseBox">
            <a:extLst>
              <a:ext uri="{FF2B5EF4-FFF2-40B4-BE49-F238E27FC236}">
                <a16:creationId xmlns:a16="http://schemas.microsoft.com/office/drawing/2014/main" id="{F2735E54-4B39-3643-917B-59B988553415}"/>
              </a:ext>
            </a:extLst>
          </p:cNvPr>
          <p:cNvSpPr/>
          <p:nvPr/>
        </p:nvSpPr>
        <p:spPr>
          <a:xfrm>
            <a:off x="6159500" y="5219700"/>
            <a:ext cx="5651500" cy="4826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4" name="UseH">
            <a:extLst>
              <a:ext uri="{FF2B5EF4-FFF2-40B4-BE49-F238E27FC236}">
                <a16:creationId xmlns:a16="http://schemas.microsoft.com/office/drawing/2014/main" id="{F4CC25DD-6C67-7F4D-B1C1-0D621E9E60CA}"/>
              </a:ext>
            </a:extLst>
          </p:cNvPr>
          <p:cNvSpPr txBox="1"/>
          <p:nvPr/>
        </p:nvSpPr>
        <p:spPr>
          <a:xfrm>
            <a:off x="6311900" y="5257800"/>
            <a:ext cx="1016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100" b="1">
                <a:solidFill>
                  <a:srgbClr val="D1578A"/>
                </a:solidFill>
              </a:rPr>
              <a:t>When to use:</a:t>
            </a:r>
          </a:p>
        </p:txBody>
      </p:sp>
      <p:sp>
        <p:nvSpPr>
          <p:cNvPr id="90" name="UseT">
            <a:extLst>
              <a:ext uri="{FF2B5EF4-FFF2-40B4-BE49-F238E27FC236}">
                <a16:creationId xmlns:a16="http://schemas.microsoft.com/office/drawing/2014/main" id="{1BA581E0-18FF-CF49-8B34-E6ABF9B9136A}"/>
              </a:ext>
            </a:extLst>
          </p:cNvPr>
          <p:cNvSpPr txBox="1"/>
          <p:nvPr/>
        </p:nvSpPr>
        <p:spPr>
          <a:xfrm>
            <a:off x="7327900" y="5257800"/>
            <a:ext cx="43815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100">
                <a:solidFill>
                  <a:srgbClr val="333333"/>
                </a:solidFill>
              </a:rPr>
              <a:t>sparse models (Lasso), L1 regularization, robust to outliers</a:t>
            </a:r>
          </a:p>
        </p:txBody>
      </p:sp>
      <p:sp>
        <p:nvSpPr>
          <p:cNvPr id="91" name="TkBar">
            <a:extLst>
              <a:ext uri="{FF2B5EF4-FFF2-40B4-BE49-F238E27FC236}">
                <a16:creationId xmlns:a16="http://schemas.microsoft.com/office/drawing/2014/main" id="{0B1D974B-D436-BD41-895B-3ADDFCFFE884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2" name="TkText">
            <a:extLst>
              <a:ext uri="{FF2B5EF4-FFF2-40B4-BE49-F238E27FC236}">
                <a16:creationId xmlns:a16="http://schemas.microsoft.com/office/drawing/2014/main" id="{5A48BD9D-334A-4949-B1E5-EC1A0CBD512F}"/>
              </a:ext>
            </a:extLst>
          </p:cNvPr>
          <p:cNvSpPr txBox="1"/>
          <p:nvPr/>
        </p:nvSpPr>
        <p:spPr>
          <a:xfrm>
            <a:off x="381000" y="5842000"/>
            <a:ext cx="114300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The L¹ unit ball is a diamond — distance is measured along axes, not diagonally</a:t>
            </a:r>
          </a:p>
        </p:txBody>
      </p:sp>
    </p:spTree>
    <p:extLst>
      <p:ext uri="{BB962C8B-B14F-4D97-AF65-F5344CB8AC3E}">
        <p14:creationId xmlns:p14="http://schemas.microsoft.com/office/powerpoint/2010/main" val="352280327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leBar">
            <a:extLst>
              <a:ext uri="{FF2B5EF4-FFF2-40B4-BE49-F238E27FC236}">
                <a16:creationId xmlns:a16="http://schemas.microsoft.com/office/drawing/2014/main" id="{C7274F34-0EA5-7643-BA44-8B9EED9F7C7F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4" name="Title">
            <a:extLst>
              <a:ext uri="{FF2B5EF4-FFF2-40B4-BE49-F238E27FC236}">
                <a16:creationId xmlns:a16="http://schemas.microsoft.com/office/drawing/2014/main" id="{57DA8FD2-A4D5-8F47-88DF-D97EB8AD49D9}"/>
              </a:ext>
            </a:extLst>
          </p:cNvPr>
          <p:cNvSpPr txBox="1"/>
          <p:nvPr/>
        </p:nvSpPr>
        <p:spPr>
          <a:xfrm>
            <a:off x="381000" y="342900"/>
            <a:ext cx="1143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</a:rPr>
              <a:t>L² norm — the Euclidean unit ball is a circle</a:t>
            </a:r>
          </a:p>
        </p:txBody>
      </p:sp>
      <p:sp>
        <p:nvSpPr>
          <p:cNvPr id="85" name="Sub">
            <a:extLst>
              <a:ext uri="{FF2B5EF4-FFF2-40B4-BE49-F238E27FC236}">
                <a16:creationId xmlns:a16="http://schemas.microsoft.com/office/drawing/2014/main" id="{859AABEA-BAF0-A047-A05F-02B1B36B6140}"/>
              </a:ext>
            </a:extLst>
          </p:cNvPr>
          <p:cNvSpPr txBox="1"/>
          <p:nvPr/>
        </p:nvSpPr>
        <p:spPr>
          <a:xfrm>
            <a:off x="381000" y="889000"/>
            <a:ext cx="11430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</a:rPr>
              <a:t>Straight-line distance — what most people mean by 'distance'</a:t>
            </a:r>
          </a:p>
        </p:txBody>
      </p:sp>
      <p:sp>
        <p:nvSpPr>
          <p:cNvPr id="86" name="PlotBg">
            <a:extLst>
              <a:ext uri="{FF2B5EF4-FFF2-40B4-BE49-F238E27FC236}">
                <a16:creationId xmlns:a16="http://schemas.microsoft.com/office/drawing/2014/main" id="{C2ED6599-6AC8-AF41-8BDB-F59874076DD7}"/>
              </a:ext>
            </a:extLst>
          </p:cNvPr>
          <p:cNvSpPr/>
          <p:nvPr/>
        </p:nvSpPr>
        <p:spPr>
          <a:xfrm>
            <a:off x="762000" y="1333500"/>
            <a:ext cx="4826000" cy="4064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DDDD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7" name="GV">
            <a:extLst>
              <a:ext uri="{FF2B5EF4-FFF2-40B4-BE49-F238E27FC236}">
                <a16:creationId xmlns:a16="http://schemas.microsoft.com/office/drawing/2014/main" id="{16D1C265-38F4-7949-B7C6-14B9CF9C5CBC}"/>
              </a:ext>
            </a:extLst>
          </p:cNvPr>
          <p:cNvSpPr/>
          <p:nvPr/>
        </p:nvSpPr>
        <p:spPr>
          <a:xfrm>
            <a:off x="1778000" y="1460500"/>
            <a:ext cx="6350" cy="3810000"/>
          </a:xfrm>
          <a:prstGeom prst="rect">
            <a:avLst/>
          </a:prstGeom>
          <a:solidFill>
            <a:srgbClr val="EEEEE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8" name="GH">
            <a:extLst>
              <a:ext uri="{FF2B5EF4-FFF2-40B4-BE49-F238E27FC236}">
                <a16:creationId xmlns:a16="http://schemas.microsoft.com/office/drawing/2014/main" id="{30A35177-D40A-5E4D-8979-F7E784DB8454}"/>
              </a:ext>
            </a:extLst>
          </p:cNvPr>
          <p:cNvSpPr/>
          <p:nvPr/>
        </p:nvSpPr>
        <p:spPr>
          <a:xfrm>
            <a:off x="889000" y="1968500"/>
            <a:ext cx="4572000" cy="6350"/>
          </a:xfrm>
          <a:prstGeom prst="rect">
            <a:avLst/>
          </a:prstGeom>
          <a:solidFill>
            <a:srgbClr val="EEEEE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9" name="GV">
            <a:extLst>
              <a:ext uri="{FF2B5EF4-FFF2-40B4-BE49-F238E27FC236}">
                <a16:creationId xmlns:a16="http://schemas.microsoft.com/office/drawing/2014/main" id="{E9273D36-EA82-A84B-8B35-B93FD415CF41}"/>
              </a:ext>
            </a:extLst>
          </p:cNvPr>
          <p:cNvSpPr/>
          <p:nvPr/>
        </p:nvSpPr>
        <p:spPr>
          <a:xfrm>
            <a:off x="4572000" y="1460500"/>
            <a:ext cx="6350" cy="3810000"/>
          </a:xfrm>
          <a:prstGeom prst="rect">
            <a:avLst/>
          </a:prstGeom>
          <a:solidFill>
            <a:srgbClr val="EEEEE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3" name="GH">
            <a:extLst>
              <a:ext uri="{FF2B5EF4-FFF2-40B4-BE49-F238E27FC236}">
                <a16:creationId xmlns:a16="http://schemas.microsoft.com/office/drawing/2014/main" id="{A97845C2-00F2-5043-BA9D-A15C4DCD9D95}"/>
              </a:ext>
            </a:extLst>
          </p:cNvPr>
          <p:cNvSpPr/>
          <p:nvPr/>
        </p:nvSpPr>
        <p:spPr>
          <a:xfrm>
            <a:off x="889000" y="4762500"/>
            <a:ext cx="4572000" cy="6350"/>
          </a:xfrm>
          <a:prstGeom prst="rect">
            <a:avLst/>
          </a:prstGeom>
          <a:solidFill>
            <a:srgbClr val="EEEEE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4" name="UnitBall">
            <a:extLst>
              <a:ext uri="{FF2B5EF4-FFF2-40B4-BE49-F238E27FC236}">
                <a16:creationId xmlns:a16="http://schemas.microsoft.com/office/drawing/2014/main" id="{955DB811-9836-7142-95CA-D621B0652874}"/>
              </a:ext>
            </a:extLst>
          </p:cNvPr>
          <p:cNvSpPr/>
          <p:nvPr/>
        </p:nvSpPr>
        <p:spPr>
          <a:xfrm>
            <a:off x="1778000" y="1968500"/>
            <a:ext cx="2794000" cy="2794000"/>
          </a:xfrm>
          <a:prstGeom prst="ellipse">
            <a:avLst/>
          </a:prstGeom>
          <a:solidFill>
            <a:srgbClr val="D8EEF1"/>
          </a:solidFill>
          <a:ln w="3810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5" name="AxX">
            <a:extLst>
              <a:ext uri="{FF2B5EF4-FFF2-40B4-BE49-F238E27FC236}">
                <a16:creationId xmlns:a16="http://schemas.microsoft.com/office/drawing/2014/main" id="{E5C7DA60-69DA-D040-96BA-182F16601C9F}"/>
              </a:ext>
            </a:extLst>
          </p:cNvPr>
          <p:cNvSpPr/>
          <p:nvPr/>
        </p:nvSpPr>
        <p:spPr>
          <a:xfrm>
            <a:off x="1016000" y="3365500"/>
            <a:ext cx="4318000" cy="12700"/>
          </a:xfrm>
          <a:prstGeom prst="rect">
            <a:avLst/>
          </a:prstGeom>
          <a:solidFill>
            <a:srgbClr val="33333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6" name="AxY">
            <a:extLst>
              <a:ext uri="{FF2B5EF4-FFF2-40B4-BE49-F238E27FC236}">
                <a16:creationId xmlns:a16="http://schemas.microsoft.com/office/drawing/2014/main" id="{19E42A18-5C02-384A-9F8F-17F208E50F79}"/>
              </a:ext>
            </a:extLst>
          </p:cNvPr>
          <p:cNvSpPr/>
          <p:nvPr/>
        </p:nvSpPr>
        <p:spPr>
          <a:xfrm>
            <a:off x="3175000" y="1524000"/>
            <a:ext cx="12700" cy="3683000"/>
          </a:xfrm>
          <a:prstGeom prst="rect">
            <a:avLst/>
          </a:prstGeom>
          <a:solidFill>
            <a:srgbClr val="33333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7" name="LblX">
            <a:extLst>
              <a:ext uri="{FF2B5EF4-FFF2-40B4-BE49-F238E27FC236}">
                <a16:creationId xmlns:a16="http://schemas.microsoft.com/office/drawing/2014/main" id="{46FB10D5-A2F8-874C-801F-017026FD6484}"/>
              </a:ext>
            </a:extLst>
          </p:cNvPr>
          <p:cNvSpPr txBox="1"/>
          <p:nvPr/>
        </p:nvSpPr>
        <p:spPr>
          <a:xfrm>
            <a:off x="5359400" y="3416300"/>
            <a:ext cx="1778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333333"/>
                </a:solidFill>
              </a:rPr>
              <a:t>x</a:t>
            </a:r>
          </a:p>
        </p:txBody>
      </p:sp>
      <p:sp>
        <p:nvSpPr>
          <p:cNvPr id="98" name="LblY">
            <a:extLst>
              <a:ext uri="{FF2B5EF4-FFF2-40B4-BE49-F238E27FC236}">
                <a16:creationId xmlns:a16="http://schemas.microsoft.com/office/drawing/2014/main" id="{67042857-D156-E348-A671-5896C175B53A}"/>
              </a:ext>
            </a:extLst>
          </p:cNvPr>
          <p:cNvSpPr txBox="1"/>
          <p:nvPr/>
        </p:nvSpPr>
        <p:spPr>
          <a:xfrm>
            <a:off x="3225800" y="1435100"/>
            <a:ext cx="1778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333333"/>
                </a:solidFill>
              </a:rPr>
              <a:t>y</a:t>
            </a:r>
          </a:p>
        </p:txBody>
      </p:sp>
      <p:sp>
        <p:nvSpPr>
          <p:cNvPr id="99" name="Lbl0">
            <a:extLst>
              <a:ext uri="{FF2B5EF4-FFF2-40B4-BE49-F238E27FC236}">
                <a16:creationId xmlns:a16="http://schemas.microsoft.com/office/drawing/2014/main" id="{0F51F021-C0DE-0B48-94C2-5ED4692C193E}"/>
              </a:ext>
            </a:extLst>
          </p:cNvPr>
          <p:cNvSpPr txBox="1"/>
          <p:nvPr/>
        </p:nvSpPr>
        <p:spPr>
          <a:xfrm>
            <a:off x="3022600" y="3416300"/>
            <a:ext cx="1524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000">
                <a:solidFill>
                  <a:srgbClr val="777777"/>
                </a:solidFill>
              </a:rPr>
              <a:t>0</a:t>
            </a:r>
          </a:p>
        </p:txBody>
      </p:sp>
      <p:sp>
        <p:nvSpPr>
          <p:cNvPr id="100" name="Lbl1x">
            <a:extLst>
              <a:ext uri="{FF2B5EF4-FFF2-40B4-BE49-F238E27FC236}">
                <a16:creationId xmlns:a16="http://schemas.microsoft.com/office/drawing/2014/main" id="{BA4C70C1-539A-EF4F-B49B-5126C3EA6FAE}"/>
              </a:ext>
            </a:extLst>
          </p:cNvPr>
          <p:cNvSpPr txBox="1"/>
          <p:nvPr/>
        </p:nvSpPr>
        <p:spPr>
          <a:xfrm>
            <a:off x="4521200" y="3416300"/>
            <a:ext cx="1778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000">
                <a:solidFill>
                  <a:srgbClr val="777777"/>
                </a:solidFill>
              </a:rPr>
              <a:t>1</a:t>
            </a:r>
          </a:p>
        </p:txBody>
      </p:sp>
      <p:sp>
        <p:nvSpPr>
          <p:cNvPr id="101" name="LblN1x">
            <a:extLst>
              <a:ext uri="{FF2B5EF4-FFF2-40B4-BE49-F238E27FC236}">
                <a16:creationId xmlns:a16="http://schemas.microsoft.com/office/drawing/2014/main" id="{16F5A01C-A413-1E43-8877-D6482B55B66D}"/>
              </a:ext>
            </a:extLst>
          </p:cNvPr>
          <p:cNvSpPr txBox="1"/>
          <p:nvPr/>
        </p:nvSpPr>
        <p:spPr>
          <a:xfrm>
            <a:off x="1651000" y="3416300"/>
            <a:ext cx="2286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000">
                <a:solidFill>
                  <a:srgbClr val="777777"/>
                </a:solidFill>
              </a:rPr>
              <a:t>−1</a:t>
            </a:r>
          </a:p>
        </p:txBody>
      </p:sp>
      <p:sp>
        <p:nvSpPr>
          <p:cNvPr id="102" name="Lbl1y">
            <a:extLst>
              <a:ext uri="{FF2B5EF4-FFF2-40B4-BE49-F238E27FC236}">
                <a16:creationId xmlns:a16="http://schemas.microsoft.com/office/drawing/2014/main" id="{19099949-13C2-5C48-B6FD-2D2ED59943DE}"/>
              </a:ext>
            </a:extLst>
          </p:cNvPr>
          <p:cNvSpPr txBox="1"/>
          <p:nvPr/>
        </p:nvSpPr>
        <p:spPr>
          <a:xfrm>
            <a:off x="3225800" y="1917700"/>
            <a:ext cx="1524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000">
                <a:solidFill>
                  <a:srgbClr val="777777"/>
                </a:solidFill>
              </a:rPr>
              <a:t>1</a:t>
            </a:r>
          </a:p>
        </p:txBody>
      </p:sp>
      <p:sp>
        <p:nvSpPr>
          <p:cNvPr id="103" name="LblN1y">
            <a:extLst>
              <a:ext uri="{FF2B5EF4-FFF2-40B4-BE49-F238E27FC236}">
                <a16:creationId xmlns:a16="http://schemas.microsoft.com/office/drawing/2014/main" id="{868D0830-3B02-624D-8D1F-8F0E170806F4}"/>
              </a:ext>
            </a:extLst>
          </p:cNvPr>
          <p:cNvSpPr txBox="1"/>
          <p:nvPr/>
        </p:nvSpPr>
        <p:spPr>
          <a:xfrm>
            <a:off x="3225800" y="4686300"/>
            <a:ext cx="2286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000">
                <a:solidFill>
                  <a:srgbClr val="777777"/>
                </a:solidFill>
              </a:rPr>
              <a:t>−1</a:t>
            </a:r>
          </a:p>
        </p:txBody>
      </p:sp>
      <p:sp>
        <p:nvSpPr>
          <p:cNvPr id="104" name="TX1">
            <a:extLst>
              <a:ext uri="{FF2B5EF4-FFF2-40B4-BE49-F238E27FC236}">
                <a16:creationId xmlns:a16="http://schemas.microsoft.com/office/drawing/2014/main" id="{960B2A2E-A410-EF48-A78F-97C85A9D6699}"/>
              </a:ext>
            </a:extLst>
          </p:cNvPr>
          <p:cNvSpPr/>
          <p:nvPr/>
        </p:nvSpPr>
        <p:spPr>
          <a:xfrm>
            <a:off x="4572000" y="3327400"/>
            <a:ext cx="12700" cy="76200"/>
          </a:xfrm>
          <a:prstGeom prst="rect">
            <a:avLst/>
          </a:prstGeom>
          <a:solidFill>
            <a:srgbClr val="33333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5" name="TX2">
            <a:extLst>
              <a:ext uri="{FF2B5EF4-FFF2-40B4-BE49-F238E27FC236}">
                <a16:creationId xmlns:a16="http://schemas.microsoft.com/office/drawing/2014/main" id="{422EC483-88E3-C341-9FAA-9CF3B279A1EC}"/>
              </a:ext>
            </a:extLst>
          </p:cNvPr>
          <p:cNvSpPr/>
          <p:nvPr/>
        </p:nvSpPr>
        <p:spPr>
          <a:xfrm>
            <a:off x="1778000" y="3327400"/>
            <a:ext cx="12700" cy="76200"/>
          </a:xfrm>
          <a:prstGeom prst="rect">
            <a:avLst/>
          </a:prstGeom>
          <a:solidFill>
            <a:srgbClr val="33333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6" name="TY1">
            <a:extLst>
              <a:ext uri="{FF2B5EF4-FFF2-40B4-BE49-F238E27FC236}">
                <a16:creationId xmlns:a16="http://schemas.microsoft.com/office/drawing/2014/main" id="{4E252ED0-1BE5-AA4B-AB9A-8B6BCD060676}"/>
              </a:ext>
            </a:extLst>
          </p:cNvPr>
          <p:cNvSpPr/>
          <p:nvPr/>
        </p:nvSpPr>
        <p:spPr>
          <a:xfrm>
            <a:off x="3136900" y="1968500"/>
            <a:ext cx="76200" cy="12700"/>
          </a:xfrm>
          <a:prstGeom prst="rect">
            <a:avLst/>
          </a:prstGeom>
          <a:solidFill>
            <a:srgbClr val="33333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7" name="TY2">
            <a:extLst>
              <a:ext uri="{FF2B5EF4-FFF2-40B4-BE49-F238E27FC236}">
                <a16:creationId xmlns:a16="http://schemas.microsoft.com/office/drawing/2014/main" id="{B6160C8A-CA75-CD44-9123-4F9D72CE531E}"/>
              </a:ext>
            </a:extLst>
          </p:cNvPr>
          <p:cNvSpPr/>
          <p:nvPr/>
        </p:nvSpPr>
        <p:spPr>
          <a:xfrm>
            <a:off x="3136900" y="4762500"/>
            <a:ext cx="76200" cy="12700"/>
          </a:xfrm>
          <a:prstGeom prst="rect">
            <a:avLst/>
          </a:prstGeom>
          <a:solidFill>
            <a:srgbClr val="33333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8" name="Hyp">
            <a:extLst>
              <a:ext uri="{FF2B5EF4-FFF2-40B4-BE49-F238E27FC236}">
                <a16:creationId xmlns:a16="http://schemas.microsoft.com/office/drawing/2014/main" id="{E0BFF4A3-0C4E-6E44-AB83-3897A5A9E76F}"/>
              </a:ext>
            </a:extLst>
          </p:cNvPr>
          <p:cNvSpPr/>
          <p:nvPr/>
        </p:nvSpPr>
        <p:spPr>
          <a:xfrm rot="-3187806">
            <a:off x="2895600" y="2787650"/>
            <a:ext cx="1397000" cy="381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9" name="LegX">
            <a:extLst>
              <a:ext uri="{FF2B5EF4-FFF2-40B4-BE49-F238E27FC236}">
                <a16:creationId xmlns:a16="http://schemas.microsoft.com/office/drawing/2014/main" id="{5924A689-9986-0648-870E-C93574C61F95}"/>
              </a:ext>
            </a:extLst>
          </p:cNvPr>
          <p:cNvSpPr/>
          <p:nvPr/>
        </p:nvSpPr>
        <p:spPr>
          <a:xfrm>
            <a:off x="3175000" y="3359150"/>
            <a:ext cx="838200" cy="127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0" name="LegY">
            <a:extLst>
              <a:ext uri="{FF2B5EF4-FFF2-40B4-BE49-F238E27FC236}">
                <a16:creationId xmlns:a16="http://schemas.microsoft.com/office/drawing/2014/main" id="{EEA3F8DB-A821-7441-A984-F517FE453ECD}"/>
              </a:ext>
            </a:extLst>
          </p:cNvPr>
          <p:cNvSpPr/>
          <p:nvPr/>
        </p:nvSpPr>
        <p:spPr>
          <a:xfrm>
            <a:off x="4006850" y="2247900"/>
            <a:ext cx="12700" cy="11176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1" name="Dot">
            <a:extLst>
              <a:ext uri="{FF2B5EF4-FFF2-40B4-BE49-F238E27FC236}">
                <a16:creationId xmlns:a16="http://schemas.microsoft.com/office/drawing/2014/main" id="{090091ED-D54D-7C4D-8A0D-4551991ACF63}"/>
              </a:ext>
            </a:extLst>
          </p:cNvPr>
          <p:cNvSpPr/>
          <p:nvPr/>
        </p:nvSpPr>
        <p:spPr>
          <a:xfrm>
            <a:off x="3924300" y="2159000"/>
            <a:ext cx="177800" cy="177800"/>
          </a:xfrm>
          <a:prstGeom prst="ellipse">
            <a:avLst/>
          </a:prstGeom>
          <a:solidFill>
            <a:srgbClr val="D1578A"/>
          </a:solidFill>
          <a:ln w="254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2" name="DotLbl">
            <a:extLst>
              <a:ext uri="{FF2B5EF4-FFF2-40B4-BE49-F238E27FC236}">
                <a16:creationId xmlns:a16="http://schemas.microsoft.com/office/drawing/2014/main" id="{68DF0293-7E87-EC4C-8B49-DB147DD181DF}"/>
              </a:ext>
            </a:extLst>
          </p:cNvPr>
          <p:cNvSpPr txBox="1"/>
          <p:nvPr/>
        </p:nvSpPr>
        <p:spPr>
          <a:xfrm>
            <a:off x="4140200" y="20193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b="1">
                <a:solidFill>
                  <a:srgbClr val="D1578A"/>
                </a:solidFill>
              </a:rPr>
              <a:t>(0.6, 0.8)</a:t>
            </a:r>
          </a:p>
        </p:txBody>
      </p:sp>
      <p:sp>
        <p:nvSpPr>
          <p:cNvPr id="113" name="DistLbl">
            <a:extLst>
              <a:ext uri="{FF2B5EF4-FFF2-40B4-BE49-F238E27FC236}">
                <a16:creationId xmlns:a16="http://schemas.microsoft.com/office/drawing/2014/main" id="{C3057254-32AB-4344-8418-F5B90BD3923B}"/>
              </a:ext>
            </a:extLst>
          </p:cNvPr>
          <p:cNvSpPr txBox="1"/>
          <p:nvPr/>
        </p:nvSpPr>
        <p:spPr>
          <a:xfrm>
            <a:off x="2705100" y="2476500"/>
            <a:ext cx="88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D1578A"/>
                </a:solidFill>
                <a:latin typeface="Cambria Math"/>
                <a:ea typeface="Cambria Math"/>
              </a:rPr>
              <a:t>‖v‖₂ = 1</a:t>
            </a:r>
          </a:p>
        </p:txBody>
      </p:sp>
      <p:sp>
        <p:nvSpPr>
          <p:cNvPr id="114" name="PlotTitle">
            <a:extLst>
              <a:ext uri="{FF2B5EF4-FFF2-40B4-BE49-F238E27FC236}">
                <a16:creationId xmlns:a16="http://schemas.microsoft.com/office/drawing/2014/main" id="{80253AB8-FBE5-8C4B-A7C6-9F0CD6FD1DF4}"/>
              </a:ext>
            </a:extLst>
          </p:cNvPr>
          <p:cNvSpPr txBox="1"/>
          <p:nvPr/>
        </p:nvSpPr>
        <p:spPr>
          <a:xfrm>
            <a:off x="762000" y="1104900"/>
            <a:ext cx="4826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 i="1">
                <a:solidFill>
                  <a:srgbClr val="00A7B5"/>
                </a:solidFill>
                <a:latin typeface="Cambria Math"/>
                <a:ea typeface="Cambria Math"/>
              </a:rPr>
              <a:t>Unit ball: { v : ‖v‖₂ ≤ 1 }</a:t>
            </a:r>
          </a:p>
        </p:txBody>
      </p:sp>
      <p:sp>
        <p:nvSpPr>
          <p:cNvPr id="115" name="DefBox">
            <a:extLst>
              <a:ext uri="{FF2B5EF4-FFF2-40B4-BE49-F238E27FC236}">
                <a16:creationId xmlns:a16="http://schemas.microsoft.com/office/drawing/2014/main" id="{F86004BD-4545-3D42-B35F-C39AA1EEEA0F}"/>
              </a:ext>
            </a:extLst>
          </p:cNvPr>
          <p:cNvSpPr/>
          <p:nvPr/>
        </p:nvSpPr>
        <p:spPr>
          <a:xfrm>
            <a:off x="6159500" y="1333500"/>
            <a:ext cx="5651500" cy="990600"/>
          </a:xfrm>
          <a:prstGeom prst="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6" name="DefHdr">
            <a:extLst>
              <a:ext uri="{FF2B5EF4-FFF2-40B4-BE49-F238E27FC236}">
                <a16:creationId xmlns:a16="http://schemas.microsoft.com/office/drawing/2014/main" id="{D9DC2938-0EB9-994F-93B2-4598AA6F1409}"/>
              </a:ext>
            </a:extLst>
          </p:cNvPr>
          <p:cNvSpPr txBox="1"/>
          <p:nvPr/>
        </p:nvSpPr>
        <p:spPr>
          <a:xfrm>
            <a:off x="6311900" y="13970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4B2E83"/>
                </a:solidFill>
              </a:rPr>
              <a:t>Definition</a:t>
            </a:r>
          </a:p>
        </p:txBody>
      </p:sp>
      <p:sp>
        <p:nvSpPr>
          <p:cNvPr id="117" name="DefF">
            <a:extLst>
              <a:ext uri="{FF2B5EF4-FFF2-40B4-BE49-F238E27FC236}">
                <a16:creationId xmlns:a16="http://schemas.microsoft.com/office/drawing/2014/main" id="{5B9FC37D-9284-304A-BB34-CF5DB77DAD5E}"/>
              </a:ext>
            </a:extLst>
          </p:cNvPr>
          <p:cNvSpPr txBox="1"/>
          <p:nvPr/>
        </p:nvSpPr>
        <p:spPr>
          <a:xfrm>
            <a:off x="6311900" y="1651000"/>
            <a:ext cx="53975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>
                <a:solidFill>
                  <a:srgbClr val="333333"/>
                </a:solidFill>
                <a:latin typeface="Cambria Math"/>
                <a:ea typeface="Cambria Math"/>
              </a:rPr>
              <a:t>‖v‖₂ = √(v₁² + v₂² + ⋯ + vₙ²)</a:t>
            </a:r>
          </a:p>
        </p:txBody>
      </p:sp>
      <p:sp>
        <p:nvSpPr>
          <p:cNvPr id="118" name="DefDist">
            <a:extLst>
              <a:ext uri="{FF2B5EF4-FFF2-40B4-BE49-F238E27FC236}">
                <a16:creationId xmlns:a16="http://schemas.microsoft.com/office/drawing/2014/main" id="{E1A5A918-895F-6F45-A5A6-3442CBB35A4C}"/>
              </a:ext>
            </a:extLst>
          </p:cNvPr>
          <p:cNvSpPr txBox="1"/>
          <p:nvPr/>
        </p:nvSpPr>
        <p:spPr>
          <a:xfrm>
            <a:off x="6311900" y="2006600"/>
            <a:ext cx="53975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 i="1">
                <a:solidFill>
                  <a:srgbClr val="777777"/>
                </a:solidFill>
                <a:latin typeface="Cambria Math"/>
                <a:ea typeface="Cambria Math"/>
              </a:rPr>
              <a:t>d(u, v) = ‖u − v‖₂  =  √</a:t>
            </a:r>
            <a:r>
              <a:rPr lang="el-GR" sz="1400" i="1">
                <a:solidFill>
                  <a:srgbClr val="777777"/>
                </a:solidFill>
                <a:latin typeface="Cambria Math"/>
                <a:ea typeface="Cambria Math"/>
              </a:rPr>
              <a:t>Σ(</a:t>
            </a:r>
            <a:r>
              <a:rPr lang="en-US" sz="1400" i="1">
                <a:solidFill>
                  <a:srgbClr val="777777"/>
                </a:solidFill>
                <a:latin typeface="Cambria Math"/>
                <a:ea typeface="Cambria Math"/>
              </a:rPr>
              <a:t>uᵢ − vᵢ)²</a:t>
            </a:r>
          </a:p>
        </p:txBody>
      </p:sp>
      <p:sp>
        <p:nvSpPr>
          <p:cNvPr id="119" name="WhyBox">
            <a:extLst>
              <a:ext uri="{FF2B5EF4-FFF2-40B4-BE49-F238E27FC236}">
                <a16:creationId xmlns:a16="http://schemas.microsoft.com/office/drawing/2014/main" id="{855E430F-6558-384C-BD7C-31C9E83A7EDC}"/>
              </a:ext>
            </a:extLst>
          </p:cNvPr>
          <p:cNvSpPr/>
          <p:nvPr/>
        </p:nvSpPr>
        <p:spPr>
          <a:xfrm>
            <a:off x="6159500" y="2476500"/>
            <a:ext cx="5651500" cy="11684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0" name="WhyHdr">
            <a:extLst>
              <a:ext uri="{FF2B5EF4-FFF2-40B4-BE49-F238E27FC236}">
                <a16:creationId xmlns:a16="http://schemas.microsoft.com/office/drawing/2014/main" id="{D3E25C5E-5C04-484F-8C3C-6EA3D674BE0B}"/>
              </a:ext>
            </a:extLst>
          </p:cNvPr>
          <p:cNvSpPr txBox="1"/>
          <p:nvPr/>
        </p:nvSpPr>
        <p:spPr>
          <a:xfrm>
            <a:off x="6311900" y="2527300"/>
            <a:ext cx="2794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4B2E83"/>
                </a:solidFill>
              </a:rPr>
              <a:t>Geometric meaning</a:t>
            </a:r>
          </a:p>
        </p:txBody>
      </p:sp>
      <p:sp>
        <p:nvSpPr>
          <p:cNvPr id="121" name="WhyBody">
            <a:extLst>
              <a:ext uri="{FF2B5EF4-FFF2-40B4-BE49-F238E27FC236}">
                <a16:creationId xmlns:a16="http://schemas.microsoft.com/office/drawing/2014/main" id="{D3E03A5E-9B51-A948-AF3B-1BB2E7EFC524}"/>
              </a:ext>
            </a:extLst>
          </p:cNvPr>
          <p:cNvSpPr txBox="1"/>
          <p:nvPr/>
        </p:nvSpPr>
        <p:spPr>
          <a:xfrm>
            <a:off x="6311900" y="2781300"/>
            <a:ext cx="5397500" cy="812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333333"/>
                </a:solidFill>
              </a:rPr>
              <a:t>The square root of the sum of squared differences — the
straight-line ("as the crow flies") distance between two
points. Pythagoras' theorem generalized to ℝⁿ.</a:t>
            </a:r>
          </a:p>
        </p:txBody>
      </p:sp>
      <p:sp>
        <p:nvSpPr>
          <p:cNvPr id="122" name="IntBox">
            <a:extLst>
              <a:ext uri="{FF2B5EF4-FFF2-40B4-BE49-F238E27FC236}">
                <a16:creationId xmlns:a16="http://schemas.microsoft.com/office/drawing/2014/main" id="{5E466B73-C2BD-BF43-AD18-2CE817BFB865}"/>
              </a:ext>
            </a:extLst>
          </p:cNvPr>
          <p:cNvSpPr/>
          <p:nvPr/>
        </p:nvSpPr>
        <p:spPr>
          <a:xfrm>
            <a:off x="6159500" y="3797300"/>
            <a:ext cx="5651500" cy="1270000"/>
          </a:xfrm>
          <a:prstGeom prst="rect">
            <a:avLst/>
          </a:prstGeom>
          <a:solidFill>
            <a:srgbClr val="F5F0EB"/>
          </a:solidFill>
          <a:ln w="1905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3" name="IntHdr">
            <a:extLst>
              <a:ext uri="{FF2B5EF4-FFF2-40B4-BE49-F238E27FC236}">
                <a16:creationId xmlns:a16="http://schemas.microsoft.com/office/drawing/2014/main" id="{828CC322-33B4-9A41-A2F9-FDE7A2329344}"/>
              </a:ext>
            </a:extLst>
          </p:cNvPr>
          <p:cNvSpPr txBox="1"/>
          <p:nvPr/>
        </p:nvSpPr>
        <p:spPr>
          <a:xfrm>
            <a:off x="6311900" y="3848100"/>
            <a:ext cx="3175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00A7B5"/>
                </a:solidFill>
              </a:rPr>
              <a:t>What the unit ball tells you</a:t>
            </a:r>
          </a:p>
        </p:txBody>
      </p:sp>
      <p:sp>
        <p:nvSpPr>
          <p:cNvPr id="124" name="IntBody">
            <a:extLst>
              <a:ext uri="{FF2B5EF4-FFF2-40B4-BE49-F238E27FC236}">
                <a16:creationId xmlns:a16="http://schemas.microsoft.com/office/drawing/2014/main" id="{DD395355-57F1-8541-99B6-9CE28EC7D9E3}"/>
              </a:ext>
            </a:extLst>
          </p:cNvPr>
          <p:cNvSpPr txBox="1"/>
          <p:nvPr/>
        </p:nvSpPr>
        <p:spPr>
          <a:xfrm>
            <a:off x="6311900" y="4102100"/>
            <a:ext cx="5397500" cy="889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>
                <a:solidFill>
                  <a:srgbClr val="333333"/>
                </a:solidFill>
              </a:rPr>
              <a:t>A circle. The L² norm treats every direction the same —
rotating the coordinate system doesn't change distances.
This isotropy is why it appears throughout physics and ML.</a:t>
            </a:r>
          </a:p>
        </p:txBody>
      </p:sp>
      <p:sp>
        <p:nvSpPr>
          <p:cNvPr id="125" name="UseBox">
            <a:extLst>
              <a:ext uri="{FF2B5EF4-FFF2-40B4-BE49-F238E27FC236}">
                <a16:creationId xmlns:a16="http://schemas.microsoft.com/office/drawing/2014/main" id="{A3C0BB5E-8A51-4949-BAAA-72674210A2B4}"/>
              </a:ext>
            </a:extLst>
          </p:cNvPr>
          <p:cNvSpPr/>
          <p:nvPr/>
        </p:nvSpPr>
        <p:spPr>
          <a:xfrm>
            <a:off x="6159500" y="5219700"/>
            <a:ext cx="5651500" cy="4826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6" name="UseHdr">
            <a:extLst>
              <a:ext uri="{FF2B5EF4-FFF2-40B4-BE49-F238E27FC236}">
                <a16:creationId xmlns:a16="http://schemas.microsoft.com/office/drawing/2014/main" id="{BFC5AEC7-6103-4C4B-8152-A465FB62B044}"/>
              </a:ext>
            </a:extLst>
          </p:cNvPr>
          <p:cNvSpPr txBox="1"/>
          <p:nvPr/>
        </p:nvSpPr>
        <p:spPr>
          <a:xfrm>
            <a:off x="6311900" y="5283200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D1578A"/>
                </a:solidFill>
              </a:rPr>
              <a:t>When to use:</a:t>
            </a:r>
          </a:p>
        </p:txBody>
      </p:sp>
      <p:sp>
        <p:nvSpPr>
          <p:cNvPr id="127" name="UseBody">
            <a:extLst>
              <a:ext uri="{FF2B5EF4-FFF2-40B4-BE49-F238E27FC236}">
                <a16:creationId xmlns:a16="http://schemas.microsoft.com/office/drawing/2014/main" id="{4B398BB6-6E7D-7740-8FF3-031EE39C0E5A}"/>
              </a:ext>
            </a:extLst>
          </p:cNvPr>
          <p:cNvSpPr txBox="1"/>
          <p:nvPr/>
        </p:nvSpPr>
        <p:spPr>
          <a:xfrm>
            <a:off x="7429500" y="5283200"/>
            <a:ext cx="42545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>
                <a:solidFill>
                  <a:srgbClr val="333333"/>
                </a:solidFill>
              </a:rPr>
              <a:t>default geometric distance • regression (least squares) • k-NN • PCA • spherical clustering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2C8CEC4-964F-7C46-BABB-603DC44FC621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81095039-E4FA-F84B-BEA2-E445A53B79ED}"/>
              </a:ext>
            </a:extLst>
          </p:cNvPr>
          <p:cNvSpPr txBox="1"/>
          <p:nvPr/>
        </p:nvSpPr>
        <p:spPr>
          <a:xfrm>
            <a:off x="381000" y="5842000"/>
            <a:ext cx="114300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</a:rPr>
              <a:t>The L² norm is the geometry of straight lines, circles, and rotations — the default unless you have a reason otherwise</a:t>
            </a:r>
          </a:p>
        </p:txBody>
      </p:sp>
    </p:spTree>
    <p:extLst>
      <p:ext uri="{BB962C8B-B14F-4D97-AF65-F5344CB8AC3E}">
        <p14:creationId xmlns:p14="http://schemas.microsoft.com/office/powerpoint/2010/main" val="248033768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UnitBall">
            <a:extLst>
              <a:ext uri="{FF2B5EF4-FFF2-40B4-BE49-F238E27FC236}">
                <a16:creationId xmlns:a16="http://schemas.microsoft.com/office/drawing/2014/main" id="{2F52A354-8272-564F-87E8-8D28E5C5E69B}"/>
              </a:ext>
            </a:extLst>
          </p:cNvPr>
          <p:cNvSpPr/>
          <p:nvPr/>
        </p:nvSpPr>
        <p:spPr>
          <a:xfrm>
            <a:off x="1778000" y="1968500"/>
            <a:ext cx="2794000" cy="2794000"/>
          </a:xfrm>
          <a:prstGeom prst="rect">
            <a:avLst/>
          </a:prstGeom>
          <a:solidFill>
            <a:srgbClr val="F6DDE6"/>
          </a:solidFill>
          <a:ln w="3810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" name="TitleBar">
            <a:extLst>
              <a:ext uri="{FF2B5EF4-FFF2-40B4-BE49-F238E27FC236}">
                <a16:creationId xmlns:a16="http://schemas.microsoft.com/office/drawing/2014/main" id="{183FF9D5-C8BA-124C-BBAE-032CA65507FD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23F8D127-FAB6-4044-A286-111A455362D8}"/>
              </a:ext>
            </a:extLst>
          </p:cNvPr>
          <p:cNvSpPr txBox="1"/>
          <p:nvPr/>
        </p:nvSpPr>
        <p:spPr>
          <a:xfrm>
            <a:off x="228600" y="330200"/>
            <a:ext cx="11734800" cy="431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</a:rPr>
              <a:t>L∞ — Chebyshev (the king-move metric)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7A07B200-94F3-A046-B0BC-D174E5DB9BF5}"/>
              </a:ext>
            </a:extLst>
          </p:cNvPr>
          <p:cNvSpPr txBox="1"/>
          <p:nvPr/>
        </p:nvSpPr>
        <p:spPr>
          <a:xfrm>
            <a:off x="381000" y="8890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 i="1">
                <a:solidFill>
                  <a:srgbClr val="777777"/>
                </a:solidFill>
              </a:rPr>
              <a:t>‖v‖∞ = max(|v₁|, |v₂|, …, |vₙ|) — only the largest coordinate matters</a:t>
            </a:r>
          </a:p>
        </p:txBody>
      </p:sp>
      <p:sp>
        <p:nvSpPr>
          <p:cNvPr id="5" name="PlotBg">
            <a:extLst>
              <a:ext uri="{FF2B5EF4-FFF2-40B4-BE49-F238E27FC236}">
                <a16:creationId xmlns:a16="http://schemas.microsoft.com/office/drawing/2014/main" id="{667A30E9-B189-BC4D-832F-21B0C5D5D2EA}"/>
              </a:ext>
            </a:extLst>
          </p:cNvPr>
          <p:cNvSpPr/>
          <p:nvPr/>
        </p:nvSpPr>
        <p:spPr>
          <a:xfrm>
            <a:off x="762000" y="1333500"/>
            <a:ext cx="4826000" cy="4064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77777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AxX">
            <a:extLst>
              <a:ext uri="{FF2B5EF4-FFF2-40B4-BE49-F238E27FC236}">
                <a16:creationId xmlns:a16="http://schemas.microsoft.com/office/drawing/2014/main" id="{0A705520-79EF-6849-B3F9-FCFA6F6A2949}"/>
              </a:ext>
            </a:extLst>
          </p:cNvPr>
          <p:cNvSpPr/>
          <p:nvPr/>
        </p:nvSpPr>
        <p:spPr>
          <a:xfrm>
            <a:off x="952500" y="3365500"/>
            <a:ext cx="4445000" cy="127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AxY">
            <a:extLst>
              <a:ext uri="{FF2B5EF4-FFF2-40B4-BE49-F238E27FC236}">
                <a16:creationId xmlns:a16="http://schemas.microsoft.com/office/drawing/2014/main" id="{D78D79EC-1B75-BB4B-AA64-5656F2837659}"/>
              </a:ext>
            </a:extLst>
          </p:cNvPr>
          <p:cNvSpPr/>
          <p:nvPr/>
        </p:nvSpPr>
        <p:spPr>
          <a:xfrm>
            <a:off x="3175000" y="1524000"/>
            <a:ext cx="12700" cy="36830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x">
            <a:extLst>
              <a:ext uri="{FF2B5EF4-FFF2-40B4-BE49-F238E27FC236}">
                <a16:creationId xmlns:a16="http://schemas.microsoft.com/office/drawing/2014/main" id="{24115073-C3F6-C543-934A-FAB4C5C19158}"/>
              </a:ext>
            </a:extLst>
          </p:cNvPr>
          <p:cNvSpPr txBox="1"/>
          <p:nvPr/>
        </p:nvSpPr>
        <p:spPr>
          <a:xfrm>
            <a:off x="1651000" y="3416300"/>
            <a:ext cx="2540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000">
                <a:solidFill>
                  <a:srgbClr val="777777"/>
                </a:solidFill>
              </a:rPr>
              <a:t>-1</a:t>
            </a:r>
          </a:p>
        </p:txBody>
      </p:sp>
      <p:sp>
        <p:nvSpPr>
          <p:cNvPr id="10" name="Ty">
            <a:extLst>
              <a:ext uri="{FF2B5EF4-FFF2-40B4-BE49-F238E27FC236}">
                <a16:creationId xmlns:a16="http://schemas.microsoft.com/office/drawing/2014/main" id="{8480AEC3-B768-B447-A186-790DFDFB0C5D}"/>
              </a:ext>
            </a:extLst>
          </p:cNvPr>
          <p:cNvSpPr txBox="1"/>
          <p:nvPr/>
        </p:nvSpPr>
        <p:spPr>
          <a:xfrm>
            <a:off x="3225800" y="4686300"/>
            <a:ext cx="1778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000">
                <a:solidFill>
                  <a:srgbClr val="777777"/>
                </a:solidFill>
              </a:rPr>
              <a:t>-1</a:t>
            </a:r>
          </a:p>
        </p:txBody>
      </p:sp>
      <p:sp>
        <p:nvSpPr>
          <p:cNvPr id="11" name="Tx">
            <a:extLst>
              <a:ext uri="{FF2B5EF4-FFF2-40B4-BE49-F238E27FC236}">
                <a16:creationId xmlns:a16="http://schemas.microsoft.com/office/drawing/2014/main" id="{E601F4C4-75E8-6244-91A6-E687FDEB199C}"/>
              </a:ext>
            </a:extLst>
          </p:cNvPr>
          <p:cNvSpPr txBox="1"/>
          <p:nvPr/>
        </p:nvSpPr>
        <p:spPr>
          <a:xfrm>
            <a:off x="4445000" y="3416300"/>
            <a:ext cx="2540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000">
                <a:solidFill>
                  <a:srgbClr val="777777"/>
                </a:solidFill>
              </a:rPr>
              <a:t>1</a:t>
            </a:r>
          </a:p>
        </p:txBody>
      </p:sp>
      <p:sp>
        <p:nvSpPr>
          <p:cNvPr id="12" name="Ty">
            <a:extLst>
              <a:ext uri="{FF2B5EF4-FFF2-40B4-BE49-F238E27FC236}">
                <a16:creationId xmlns:a16="http://schemas.microsoft.com/office/drawing/2014/main" id="{86113CD2-0A86-7949-97D1-6DAD2EBFD8AD}"/>
              </a:ext>
            </a:extLst>
          </p:cNvPr>
          <p:cNvSpPr txBox="1"/>
          <p:nvPr/>
        </p:nvSpPr>
        <p:spPr>
          <a:xfrm>
            <a:off x="3225800" y="1892300"/>
            <a:ext cx="1778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000">
                <a:solidFill>
                  <a:srgbClr val="777777"/>
                </a:solidFill>
              </a:rPr>
              <a:t>1</a:t>
            </a:r>
          </a:p>
        </p:txBody>
      </p:sp>
      <p:sp>
        <p:nvSpPr>
          <p:cNvPr id="13" name="AxL">
            <a:extLst>
              <a:ext uri="{FF2B5EF4-FFF2-40B4-BE49-F238E27FC236}">
                <a16:creationId xmlns:a16="http://schemas.microsoft.com/office/drawing/2014/main" id="{A6596E04-5879-7949-B900-7225F1B468E6}"/>
              </a:ext>
            </a:extLst>
          </p:cNvPr>
          <p:cNvSpPr txBox="1"/>
          <p:nvPr/>
        </p:nvSpPr>
        <p:spPr>
          <a:xfrm>
            <a:off x="5410200" y="3416300"/>
            <a:ext cx="1524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777777"/>
                </a:solidFill>
              </a:rPr>
              <a:t>x</a:t>
            </a:r>
          </a:p>
        </p:txBody>
      </p:sp>
      <p:sp>
        <p:nvSpPr>
          <p:cNvPr id="14" name="AxL2">
            <a:extLst>
              <a:ext uri="{FF2B5EF4-FFF2-40B4-BE49-F238E27FC236}">
                <a16:creationId xmlns:a16="http://schemas.microsoft.com/office/drawing/2014/main" id="{C4E5B1F8-3B2C-124F-BE5D-605F2156977D}"/>
              </a:ext>
            </a:extLst>
          </p:cNvPr>
          <p:cNvSpPr txBox="1"/>
          <p:nvPr/>
        </p:nvSpPr>
        <p:spPr>
          <a:xfrm>
            <a:off x="3225800" y="1384300"/>
            <a:ext cx="152400" cy="152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777777"/>
                </a:solidFill>
              </a:rPr>
              <a:t>y</a:t>
            </a:r>
          </a:p>
        </p:txBody>
      </p:sp>
      <p:sp>
        <p:nvSpPr>
          <p:cNvPr id="15" name="MaxLine">
            <a:extLst>
              <a:ext uri="{FF2B5EF4-FFF2-40B4-BE49-F238E27FC236}">
                <a16:creationId xmlns:a16="http://schemas.microsoft.com/office/drawing/2014/main" id="{9C4A0A6C-D03E-7D45-BBC9-69C87A5F820C}"/>
              </a:ext>
            </a:extLst>
          </p:cNvPr>
          <p:cNvSpPr/>
          <p:nvPr/>
        </p:nvSpPr>
        <p:spPr>
          <a:xfrm>
            <a:off x="3175000" y="3340100"/>
            <a:ext cx="1397000" cy="508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VertLine">
            <a:extLst>
              <a:ext uri="{FF2B5EF4-FFF2-40B4-BE49-F238E27FC236}">
                <a16:creationId xmlns:a16="http://schemas.microsoft.com/office/drawing/2014/main" id="{0FADBFC9-5BDE-244C-9C65-F0059F9ED2F8}"/>
              </a:ext>
            </a:extLst>
          </p:cNvPr>
          <p:cNvSpPr/>
          <p:nvPr/>
        </p:nvSpPr>
        <p:spPr>
          <a:xfrm rot="-5400000">
            <a:off x="4222750" y="3003550"/>
            <a:ext cx="698500" cy="254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Pt">
            <a:extLst>
              <a:ext uri="{FF2B5EF4-FFF2-40B4-BE49-F238E27FC236}">
                <a16:creationId xmlns:a16="http://schemas.microsoft.com/office/drawing/2014/main" id="{A6756B1C-1375-C445-8561-3B84F70AD1CE}"/>
              </a:ext>
            </a:extLst>
          </p:cNvPr>
          <p:cNvSpPr/>
          <p:nvPr/>
        </p:nvSpPr>
        <p:spPr>
          <a:xfrm>
            <a:off x="4483100" y="2578100"/>
            <a:ext cx="177800" cy="177800"/>
          </a:xfrm>
          <a:prstGeom prst="ellipse">
            <a:avLst/>
          </a:prstGeom>
          <a:solidFill>
            <a:srgbClr val="4B2E83"/>
          </a:solidFill>
          <a:ln w="254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PtLbl">
            <a:extLst>
              <a:ext uri="{FF2B5EF4-FFF2-40B4-BE49-F238E27FC236}">
                <a16:creationId xmlns:a16="http://schemas.microsoft.com/office/drawing/2014/main" id="{AB8E8FCF-D27F-0546-A9C0-1AC2B5DE9C1B}"/>
              </a:ext>
            </a:extLst>
          </p:cNvPr>
          <p:cNvSpPr txBox="1"/>
          <p:nvPr/>
        </p:nvSpPr>
        <p:spPr>
          <a:xfrm>
            <a:off x="4724400" y="2387600"/>
            <a:ext cx="889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b="1">
                <a:solidFill>
                  <a:srgbClr val="4B2E83"/>
                </a:solidFill>
              </a:rPr>
              <a:t>(1, 0.5)</a:t>
            </a:r>
          </a:p>
        </p:txBody>
      </p:sp>
      <p:sp>
        <p:nvSpPr>
          <p:cNvPr id="19" name="MaxLbl">
            <a:extLst>
              <a:ext uri="{FF2B5EF4-FFF2-40B4-BE49-F238E27FC236}">
                <a16:creationId xmlns:a16="http://schemas.microsoft.com/office/drawing/2014/main" id="{F9B3C91E-C560-D342-890B-50A34ACBE256}"/>
              </a:ext>
            </a:extLst>
          </p:cNvPr>
          <p:cNvSpPr txBox="1"/>
          <p:nvPr/>
        </p:nvSpPr>
        <p:spPr>
          <a:xfrm>
            <a:off x="3429000" y="3467100"/>
            <a:ext cx="1143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b="1">
                <a:solidFill>
                  <a:srgbClr val="D1578A"/>
                </a:solidFill>
              </a:rPr>
              <a:t>|x| = 1 ← max</a:t>
            </a:r>
          </a:p>
        </p:txBody>
      </p:sp>
      <p:sp>
        <p:nvSpPr>
          <p:cNvPr id="20" name="Smaller">
            <a:extLst>
              <a:ext uri="{FF2B5EF4-FFF2-40B4-BE49-F238E27FC236}">
                <a16:creationId xmlns:a16="http://schemas.microsoft.com/office/drawing/2014/main" id="{20CD27AB-1EC8-F948-B9A8-B5812B87493D}"/>
              </a:ext>
            </a:extLst>
          </p:cNvPr>
          <p:cNvSpPr txBox="1"/>
          <p:nvPr/>
        </p:nvSpPr>
        <p:spPr>
          <a:xfrm>
            <a:off x="4673600" y="2914650"/>
            <a:ext cx="12065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000" i="1">
                <a:solidFill>
                  <a:srgbClr val="777777"/>
                </a:solidFill>
              </a:rPr>
              <a:t>|y| = 0.5  (ignored)</a:t>
            </a:r>
          </a:p>
        </p:txBody>
      </p:sp>
      <p:sp>
        <p:nvSpPr>
          <p:cNvPr id="21" name="NormLbl">
            <a:extLst>
              <a:ext uri="{FF2B5EF4-FFF2-40B4-BE49-F238E27FC236}">
                <a16:creationId xmlns:a16="http://schemas.microsoft.com/office/drawing/2014/main" id="{162A66A2-DD63-FC40-A96D-29CAE9E17F27}"/>
              </a:ext>
            </a:extLst>
          </p:cNvPr>
          <p:cNvSpPr txBox="1"/>
          <p:nvPr/>
        </p:nvSpPr>
        <p:spPr>
          <a:xfrm>
            <a:off x="2032000" y="15621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b="1" i="1">
                <a:solidFill>
                  <a:srgbClr val="D1578A"/>
                </a:solidFill>
              </a:rPr>
              <a:t>‖v‖∞ = 1</a:t>
            </a:r>
          </a:p>
        </p:txBody>
      </p:sp>
      <p:sp>
        <p:nvSpPr>
          <p:cNvPr id="22" name="BallLbl">
            <a:extLst>
              <a:ext uri="{FF2B5EF4-FFF2-40B4-BE49-F238E27FC236}">
                <a16:creationId xmlns:a16="http://schemas.microsoft.com/office/drawing/2014/main" id="{A4D8D7A8-C663-C346-9B8E-A4942A2FF448}"/>
              </a:ext>
            </a:extLst>
          </p:cNvPr>
          <p:cNvSpPr txBox="1"/>
          <p:nvPr/>
        </p:nvSpPr>
        <p:spPr>
          <a:xfrm>
            <a:off x="863600" y="5118100"/>
            <a:ext cx="2032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b="1" i="1">
                <a:solidFill>
                  <a:srgbClr val="D1578A"/>
                </a:solidFill>
              </a:rPr>
              <a:t>Unit ball: square</a:t>
            </a:r>
          </a:p>
        </p:txBody>
      </p:sp>
      <p:sp>
        <p:nvSpPr>
          <p:cNvPr id="23" name="DefBox">
            <a:extLst>
              <a:ext uri="{FF2B5EF4-FFF2-40B4-BE49-F238E27FC236}">
                <a16:creationId xmlns:a16="http://schemas.microsoft.com/office/drawing/2014/main" id="{1D3D471E-8097-5C40-A120-9F34C6A6BD11}"/>
              </a:ext>
            </a:extLst>
          </p:cNvPr>
          <p:cNvSpPr/>
          <p:nvPr/>
        </p:nvSpPr>
        <p:spPr>
          <a:xfrm>
            <a:off x="6159500" y="1333500"/>
            <a:ext cx="5651500" cy="990600"/>
          </a:xfrm>
          <a:prstGeom prst="rect">
            <a:avLst/>
          </a:prstGeom>
          <a:solidFill>
            <a:srgbClr val="F5F0EB"/>
          </a:solidFill>
          <a:ln w="1905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DefHdr">
            <a:extLst>
              <a:ext uri="{FF2B5EF4-FFF2-40B4-BE49-F238E27FC236}">
                <a16:creationId xmlns:a16="http://schemas.microsoft.com/office/drawing/2014/main" id="{7B2D89D0-C4CA-3D44-89BB-08C09052F985}"/>
              </a:ext>
            </a:extLst>
          </p:cNvPr>
          <p:cNvSpPr txBox="1"/>
          <p:nvPr/>
        </p:nvSpPr>
        <p:spPr>
          <a:xfrm>
            <a:off x="6311900" y="13843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D1578A"/>
                </a:solidFill>
              </a:rPr>
              <a:t>Definition</a:t>
            </a:r>
          </a:p>
        </p:txBody>
      </p:sp>
      <p:sp>
        <p:nvSpPr>
          <p:cNvPr id="25" name="DefFormula">
            <a:extLst>
              <a:ext uri="{FF2B5EF4-FFF2-40B4-BE49-F238E27FC236}">
                <a16:creationId xmlns:a16="http://schemas.microsoft.com/office/drawing/2014/main" id="{C841645C-0E3F-474F-90A9-D32D225F71BF}"/>
              </a:ext>
            </a:extLst>
          </p:cNvPr>
          <p:cNvSpPr txBox="1"/>
          <p:nvPr/>
        </p:nvSpPr>
        <p:spPr>
          <a:xfrm>
            <a:off x="6362700" y="1651000"/>
            <a:ext cx="52705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700">
                <a:solidFill>
                  <a:srgbClr val="333333"/>
                </a:solidFill>
                <a:latin typeface="Cambria Math"/>
                <a:ea typeface="Cambria Math"/>
              </a:rPr>
              <a:t>‖v‖∞ = maxᵢ |vᵢ|</a:t>
            </a:r>
          </a:p>
        </p:txBody>
      </p:sp>
      <p:sp>
        <p:nvSpPr>
          <p:cNvPr id="26" name="DefSub">
            <a:extLst>
              <a:ext uri="{FF2B5EF4-FFF2-40B4-BE49-F238E27FC236}">
                <a16:creationId xmlns:a16="http://schemas.microsoft.com/office/drawing/2014/main" id="{98BB1D90-330D-1944-8999-86E68774B1E5}"/>
              </a:ext>
            </a:extLst>
          </p:cNvPr>
          <p:cNvSpPr txBox="1"/>
          <p:nvPr/>
        </p:nvSpPr>
        <p:spPr>
          <a:xfrm>
            <a:off x="6362700" y="2006600"/>
            <a:ext cx="52705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777777"/>
                </a:solidFill>
              </a:rPr>
              <a:t>The single coordinate with largest absolute value</a:t>
            </a:r>
          </a:p>
        </p:txBody>
      </p:sp>
      <p:sp>
        <p:nvSpPr>
          <p:cNvPr id="27" name="WhyBox">
            <a:extLst>
              <a:ext uri="{FF2B5EF4-FFF2-40B4-BE49-F238E27FC236}">
                <a16:creationId xmlns:a16="http://schemas.microsoft.com/office/drawing/2014/main" id="{5F573FC4-3A55-CE43-AC9A-9E8E107C7F15}"/>
              </a:ext>
            </a:extLst>
          </p:cNvPr>
          <p:cNvSpPr/>
          <p:nvPr/>
        </p:nvSpPr>
        <p:spPr>
          <a:xfrm>
            <a:off x="6159500" y="2476500"/>
            <a:ext cx="5651500" cy="11684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WhyHdr">
            <a:extLst>
              <a:ext uri="{FF2B5EF4-FFF2-40B4-BE49-F238E27FC236}">
                <a16:creationId xmlns:a16="http://schemas.microsoft.com/office/drawing/2014/main" id="{60B9F994-402E-824D-AA45-CEBC3E4691E7}"/>
              </a:ext>
            </a:extLst>
          </p:cNvPr>
          <p:cNvSpPr txBox="1"/>
          <p:nvPr/>
        </p:nvSpPr>
        <p:spPr>
          <a:xfrm>
            <a:off x="6311900" y="25273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4B2E83"/>
                </a:solidFill>
              </a:rPr>
              <a:t>Why a square?</a:t>
            </a:r>
          </a:p>
        </p:txBody>
      </p:sp>
      <p:sp>
        <p:nvSpPr>
          <p:cNvPr id="29" name="WhyBody">
            <a:extLst>
              <a:ext uri="{FF2B5EF4-FFF2-40B4-BE49-F238E27FC236}">
                <a16:creationId xmlns:a16="http://schemas.microsoft.com/office/drawing/2014/main" id="{767E4B6D-58BF-0641-B7E3-E24EAB66AB07}"/>
              </a:ext>
            </a:extLst>
          </p:cNvPr>
          <p:cNvSpPr txBox="1"/>
          <p:nvPr/>
        </p:nvSpPr>
        <p:spPr>
          <a:xfrm>
            <a:off x="6311900" y="2768600"/>
            <a:ext cx="5346700" cy="825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50">
                <a:solidFill>
                  <a:srgbClr val="333333"/>
                </a:solidFill>
              </a:rPr>
              <a:t>‖v‖∞ ≤ 1 means every coordinate is within ±1. That's a box. The boundary is the square with corners at (±1, ±1) — the largest possible Lᵖ unit ball.</a:t>
            </a:r>
          </a:p>
        </p:txBody>
      </p:sp>
      <p:sp>
        <p:nvSpPr>
          <p:cNvPr id="30" name="IntBox">
            <a:extLst>
              <a:ext uri="{FF2B5EF4-FFF2-40B4-BE49-F238E27FC236}">
                <a16:creationId xmlns:a16="http://schemas.microsoft.com/office/drawing/2014/main" id="{1B22A93C-F166-F048-AFBD-F529E1AF5B82}"/>
              </a:ext>
            </a:extLst>
          </p:cNvPr>
          <p:cNvSpPr/>
          <p:nvPr/>
        </p:nvSpPr>
        <p:spPr>
          <a:xfrm>
            <a:off x="6159500" y="3797300"/>
            <a:ext cx="5651500" cy="1270000"/>
          </a:xfrm>
          <a:prstGeom prst="rect">
            <a:avLst/>
          </a:prstGeom>
          <a:solidFill>
            <a:srgbClr val="F5F0EB"/>
          </a:solidFill>
          <a:ln w="1905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IntHdr">
            <a:extLst>
              <a:ext uri="{FF2B5EF4-FFF2-40B4-BE49-F238E27FC236}">
                <a16:creationId xmlns:a16="http://schemas.microsoft.com/office/drawing/2014/main" id="{023D401C-1BE5-B944-A3E4-25453DACE6BA}"/>
              </a:ext>
            </a:extLst>
          </p:cNvPr>
          <p:cNvSpPr txBox="1"/>
          <p:nvPr/>
        </p:nvSpPr>
        <p:spPr>
          <a:xfrm>
            <a:off x="6311900" y="38481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b="1">
                <a:solidFill>
                  <a:srgbClr val="00A7B5"/>
                </a:solidFill>
              </a:rPr>
              <a:t>Interpretation</a:t>
            </a:r>
          </a:p>
        </p:txBody>
      </p:sp>
      <p:sp>
        <p:nvSpPr>
          <p:cNvPr id="32" name="IntBody">
            <a:extLst>
              <a:ext uri="{FF2B5EF4-FFF2-40B4-BE49-F238E27FC236}">
                <a16:creationId xmlns:a16="http://schemas.microsoft.com/office/drawing/2014/main" id="{7D1561C2-BA8C-DC4D-BAF6-5319EC4E5F07}"/>
              </a:ext>
            </a:extLst>
          </p:cNvPr>
          <p:cNvSpPr txBox="1"/>
          <p:nvPr/>
        </p:nvSpPr>
        <p:spPr>
          <a:xfrm>
            <a:off x="6311900" y="4089400"/>
            <a:ext cx="5346700" cy="9271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50">
                <a:solidFill>
                  <a:srgbClr val="333333"/>
                </a:solidFill>
              </a:rPr>
              <a:t>L∞ is the worst-case dimension. It measures the largest deviation, not the total — useful when any one component going out of bounds is catastrophic.
In chess, the king's distance between two squares.</a:t>
            </a:r>
          </a:p>
        </p:txBody>
      </p:sp>
      <p:sp>
        <p:nvSpPr>
          <p:cNvPr id="33" name="UseBox">
            <a:extLst>
              <a:ext uri="{FF2B5EF4-FFF2-40B4-BE49-F238E27FC236}">
                <a16:creationId xmlns:a16="http://schemas.microsoft.com/office/drawing/2014/main" id="{A2480FC8-0263-574A-9220-7B3B7F81368E}"/>
              </a:ext>
            </a:extLst>
          </p:cNvPr>
          <p:cNvSpPr/>
          <p:nvPr/>
        </p:nvSpPr>
        <p:spPr>
          <a:xfrm>
            <a:off x="6159500" y="5219700"/>
            <a:ext cx="5651500" cy="4826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4" name="UseHdr">
            <a:extLst>
              <a:ext uri="{FF2B5EF4-FFF2-40B4-BE49-F238E27FC236}">
                <a16:creationId xmlns:a16="http://schemas.microsoft.com/office/drawing/2014/main" id="{EAFE6776-F361-8640-B93F-B017AB6D9972}"/>
              </a:ext>
            </a:extLst>
          </p:cNvPr>
          <p:cNvSpPr txBox="1"/>
          <p:nvPr/>
        </p:nvSpPr>
        <p:spPr>
          <a:xfrm>
            <a:off x="6311900" y="5270500"/>
            <a:ext cx="1143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50" b="1">
                <a:solidFill>
                  <a:srgbClr val="D1578A"/>
                </a:solidFill>
              </a:rPr>
              <a:t>When to use:</a:t>
            </a:r>
          </a:p>
        </p:txBody>
      </p:sp>
      <p:sp>
        <p:nvSpPr>
          <p:cNvPr id="35" name="UseBody">
            <a:extLst>
              <a:ext uri="{FF2B5EF4-FFF2-40B4-BE49-F238E27FC236}">
                <a16:creationId xmlns:a16="http://schemas.microsoft.com/office/drawing/2014/main" id="{E4E44FBA-296C-554E-B613-4B8DBA18D01F}"/>
              </a:ext>
            </a:extLst>
          </p:cNvPr>
          <p:cNvSpPr txBox="1"/>
          <p:nvPr/>
        </p:nvSpPr>
        <p:spPr>
          <a:xfrm>
            <a:off x="7429500" y="5270500"/>
            <a:ext cx="42545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>
                <a:solidFill>
                  <a:srgbClr val="333333"/>
                </a:solidFill>
              </a:rPr>
              <a:t>tolerances · quality control · max-error bounds · uniform convergence</a:t>
            </a:r>
          </a:p>
        </p:txBody>
      </p:sp>
      <p:sp>
        <p:nvSpPr>
          <p:cNvPr id="36" name="TkBar">
            <a:extLst>
              <a:ext uri="{FF2B5EF4-FFF2-40B4-BE49-F238E27FC236}">
                <a16:creationId xmlns:a16="http://schemas.microsoft.com/office/drawing/2014/main" id="{15DB8FEE-CCAC-BF40-87AD-11B38F5C94F7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7" name="TkText">
            <a:extLst>
              <a:ext uri="{FF2B5EF4-FFF2-40B4-BE49-F238E27FC236}">
                <a16:creationId xmlns:a16="http://schemas.microsoft.com/office/drawing/2014/main" id="{CDDE1F50-DEDA-4E40-BF22-28AF57DC9CE5}"/>
              </a:ext>
            </a:extLst>
          </p:cNvPr>
          <p:cNvSpPr txBox="1"/>
          <p:nvPr/>
        </p:nvSpPr>
        <p:spPr>
          <a:xfrm>
            <a:off x="381000" y="5867400"/>
            <a:ext cx="11430000" cy="584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L∞ is the worst-case metric — distance is set by the single most extreme coordinate</a:t>
            </a:r>
          </a:p>
        </p:txBody>
      </p:sp>
    </p:spTree>
    <p:extLst>
      <p:ext uri="{BB962C8B-B14F-4D97-AF65-F5344CB8AC3E}">
        <p14:creationId xmlns:p14="http://schemas.microsoft.com/office/powerpoint/2010/main" val="149554123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Bar">
            <a:extLst>
              <a:ext uri="{FF2B5EF4-FFF2-40B4-BE49-F238E27FC236}">
                <a16:creationId xmlns:a16="http://schemas.microsoft.com/office/drawing/2014/main" id="{929CFB9B-E25D-3947-9403-E7E0A05CCE10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9" name="TitleTxt">
            <a:extLst>
              <a:ext uri="{FF2B5EF4-FFF2-40B4-BE49-F238E27FC236}">
                <a16:creationId xmlns:a16="http://schemas.microsoft.com/office/drawing/2014/main" id="{2FA4F522-003C-2A43-801E-50A8BDFDA0C7}"/>
              </a:ext>
            </a:extLst>
          </p:cNvPr>
          <p:cNvSpPr txBox="1"/>
          <p:nvPr/>
        </p:nvSpPr>
        <p:spPr>
          <a:xfrm>
            <a:off x="304800" y="304800"/>
            <a:ext cx="11887200" cy="482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</a:rPr>
              <a:t>Lᵖ norm (general)  —  the family unit balls</a:t>
            </a:r>
          </a:p>
        </p:txBody>
      </p:sp>
      <p:sp>
        <p:nvSpPr>
          <p:cNvPr id="40" name="Sub">
            <a:extLst>
              <a:ext uri="{FF2B5EF4-FFF2-40B4-BE49-F238E27FC236}">
                <a16:creationId xmlns:a16="http://schemas.microsoft.com/office/drawing/2014/main" id="{80951CC8-850E-894B-BE1A-1923437315B1}"/>
              </a:ext>
            </a:extLst>
          </p:cNvPr>
          <p:cNvSpPr txBox="1"/>
          <p:nvPr/>
        </p:nvSpPr>
        <p:spPr>
          <a:xfrm>
            <a:off x="381000" y="889000"/>
            <a:ext cx="11430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777777"/>
                </a:solidFill>
              </a:rPr>
              <a:t>Vary p and the unit ball morphs: diamond (p=1) → circle (p=2) → square (p=∞)</a:t>
            </a:r>
          </a:p>
        </p:txBody>
      </p:sp>
      <p:sp>
        <p:nvSpPr>
          <p:cNvPr id="41" name="PlotBg">
            <a:extLst>
              <a:ext uri="{FF2B5EF4-FFF2-40B4-BE49-F238E27FC236}">
                <a16:creationId xmlns:a16="http://schemas.microsoft.com/office/drawing/2014/main" id="{0FD613E1-B748-A044-A87D-A15F8FE2A92B}"/>
              </a:ext>
            </a:extLst>
          </p:cNvPr>
          <p:cNvSpPr/>
          <p:nvPr/>
        </p:nvSpPr>
        <p:spPr>
          <a:xfrm>
            <a:off x="762000" y="1333500"/>
            <a:ext cx="4826000" cy="4064000"/>
          </a:xfrm>
          <a:prstGeom prst="rect">
            <a:avLst/>
          </a:prstGeom>
          <a:solidFill>
            <a:srgbClr val="F5F0EB"/>
          </a:solidFill>
          <a:ln w="1270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2" name="AxisX">
            <a:extLst>
              <a:ext uri="{FF2B5EF4-FFF2-40B4-BE49-F238E27FC236}">
                <a16:creationId xmlns:a16="http://schemas.microsoft.com/office/drawing/2014/main" id="{ADBDB76D-366B-A647-82B9-3E398D317483}"/>
              </a:ext>
            </a:extLst>
          </p:cNvPr>
          <p:cNvSpPr/>
          <p:nvPr/>
        </p:nvSpPr>
        <p:spPr>
          <a:xfrm>
            <a:off x="889000" y="3365500"/>
            <a:ext cx="4572000" cy="127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3" name="AxisY">
            <a:extLst>
              <a:ext uri="{FF2B5EF4-FFF2-40B4-BE49-F238E27FC236}">
                <a16:creationId xmlns:a16="http://schemas.microsoft.com/office/drawing/2014/main" id="{4F0C3245-D9FA-2644-A436-976B12869906}"/>
              </a:ext>
            </a:extLst>
          </p:cNvPr>
          <p:cNvSpPr/>
          <p:nvPr/>
        </p:nvSpPr>
        <p:spPr>
          <a:xfrm>
            <a:off x="3175000" y="1460500"/>
            <a:ext cx="12700" cy="3810000"/>
          </a:xfrm>
          <a:prstGeom prst="rect">
            <a:avLst/>
          </a:prstGeom>
          <a:solidFill>
            <a:srgbClr val="77777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4" name="AxXLbl">
            <a:extLst>
              <a:ext uri="{FF2B5EF4-FFF2-40B4-BE49-F238E27FC236}">
                <a16:creationId xmlns:a16="http://schemas.microsoft.com/office/drawing/2014/main" id="{D2A2A4FB-2A8C-A44F-893E-89749D7F46CD}"/>
              </a:ext>
            </a:extLst>
          </p:cNvPr>
          <p:cNvSpPr txBox="1"/>
          <p:nvPr/>
        </p:nvSpPr>
        <p:spPr>
          <a:xfrm>
            <a:off x="5359400" y="3416300"/>
            <a:ext cx="1778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100" i="1">
                <a:solidFill>
                  <a:srgbClr val="777777"/>
                </a:solidFill>
              </a:rPr>
              <a:t>x</a:t>
            </a:r>
          </a:p>
        </p:txBody>
      </p:sp>
      <p:sp>
        <p:nvSpPr>
          <p:cNvPr id="45" name="AxYLbl">
            <a:extLst>
              <a:ext uri="{FF2B5EF4-FFF2-40B4-BE49-F238E27FC236}">
                <a16:creationId xmlns:a16="http://schemas.microsoft.com/office/drawing/2014/main" id="{EB7A4228-C1F8-D549-9208-364391343F0A}"/>
              </a:ext>
            </a:extLst>
          </p:cNvPr>
          <p:cNvSpPr txBox="1"/>
          <p:nvPr/>
        </p:nvSpPr>
        <p:spPr>
          <a:xfrm>
            <a:off x="3225800" y="1435100"/>
            <a:ext cx="1778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100" i="1">
                <a:solidFill>
                  <a:srgbClr val="777777"/>
                </a:solidFill>
              </a:rPr>
              <a:t>y</a:t>
            </a:r>
          </a:p>
        </p:txBody>
      </p:sp>
      <p:sp>
        <p:nvSpPr>
          <p:cNvPr id="46" name="BallInf">
            <a:extLst>
              <a:ext uri="{FF2B5EF4-FFF2-40B4-BE49-F238E27FC236}">
                <a16:creationId xmlns:a16="http://schemas.microsoft.com/office/drawing/2014/main" id="{93BF0D3B-B364-AB43-9D94-2641211AC130}"/>
              </a:ext>
            </a:extLst>
          </p:cNvPr>
          <p:cNvSpPr/>
          <p:nvPr/>
        </p:nvSpPr>
        <p:spPr>
          <a:xfrm>
            <a:off x="1778000" y="1968500"/>
            <a:ext cx="2794000" cy="2794000"/>
          </a:xfrm>
          <a:prstGeom prst="rect">
            <a:avLst/>
          </a:prstGeom>
          <a:noFill/>
          <a:ln w="3175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7" name="Ballp4">
            <a:extLst>
              <a:ext uri="{FF2B5EF4-FFF2-40B4-BE49-F238E27FC236}">
                <a16:creationId xmlns:a16="http://schemas.microsoft.com/office/drawing/2014/main" id="{35E96635-737D-B145-8938-7ADEBCDBA1F9}"/>
              </a:ext>
            </a:extLst>
          </p:cNvPr>
          <p:cNvSpPr/>
          <p:nvPr/>
        </p:nvSpPr>
        <p:spPr>
          <a:xfrm>
            <a:off x="1778000" y="1968500"/>
            <a:ext cx="2794000" cy="2794000"/>
          </a:xfrm>
          <a:prstGeom prst="roundRect">
            <a:avLst/>
          </a:prstGeom>
          <a:noFill/>
          <a:ln w="3175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8" name="BallL2">
            <a:extLst>
              <a:ext uri="{FF2B5EF4-FFF2-40B4-BE49-F238E27FC236}">
                <a16:creationId xmlns:a16="http://schemas.microsoft.com/office/drawing/2014/main" id="{D0F8B6F4-F241-A847-8160-738AC4917224}"/>
              </a:ext>
            </a:extLst>
          </p:cNvPr>
          <p:cNvSpPr/>
          <p:nvPr/>
        </p:nvSpPr>
        <p:spPr>
          <a:xfrm>
            <a:off x="1778000" y="1968500"/>
            <a:ext cx="2794000" cy="2794000"/>
          </a:xfrm>
          <a:prstGeom prst="ellipse">
            <a:avLst/>
          </a:prstGeom>
          <a:noFill/>
          <a:ln w="3175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9" name="BallL1">
            <a:extLst>
              <a:ext uri="{FF2B5EF4-FFF2-40B4-BE49-F238E27FC236}">
                <a16:creationId xmlns:a16="http://schemas.microsoft.com/office/drawing/2014/main" id="{CFB832E6-D17C-574A-8D55-6D1C8798E1F3}"/>
              </a:ext>
            </a:extLst>
          </p:cNvPr>
          <p:cNvSpPr/>
          <p:nvPr/>
        </p:nvSpPr>
        <p:spPr>
          <a:xfrm>
            <a:off x="1778000" y="1968500"/>
            <a:ext cx="2794000" cy="2794000"/>
          </a:xfrm>
          <a:prstGeom prst="diamond">
            <a:avLst/>
          </a:prstGeom>
          <a:noFill/>
          <a:ln w="317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0" name="AxPt">
            <a:extLst>
              <a:ext uri="{FF2B5EF4-FFF2-40B4-BE49-F238E27FC236}">
                <a16:creationId xmlns:a16="http://schemas.microsoft.com/office/drawing/2014/main" id="{F0E898A0-F890-A245-BD5C-35AE976D6A40}"/>
              </a:ext>
            </a:extLst>
          </p:cNvPr>
          <p:cNvSpPr/>
          <p:nvPr/>
        </p:nvSpPr>
        <p:spPr>
          <a:xfrm>
            <a:off x="4508500" y="3302000"/>
            <a:ext cx="127000" cy="127000"/>
          </a:xfrm>
          <a:prstGeom prst="ellipse">
            <a:avLst/>
          </a:prstGeom>
          <a:solidFill>
            <a:srgbClr val="333333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1" name="AxPt">
            <a:extLst>
              <a:ext uri="{FF2B5EF4-FFF2-40B4-BE49-F238E27FC236}">
                <a16:creationId xmlns:a16="http://schemas.microsoft.com/office/drawing/2014/main" id="{64A08B0A-3386-C344-8F67-632B18715818}"/>
              </a:ext>
            </a:extLst>
          </p:cNvPr>
          <p:cNvSpPr/>
          <p:nvPr/>
        </p:nvSpPr>
        <p:spPr>
          <a:xfrm>
            <a:off x="3111500" y="1905000"/>
            <a:ext cx="127000" cy="127000"/>
          </a:xfrm>
          <a:prstGeom prst="ellipse">
            <a:avLst/>
          </a:prstGeom>
          <a:solidFill>
            <a:srgbClr val="333333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2" name="AxPt">
            <a:extLst>
              <a:ext uri="{FF2B5EF4-FFF2-40B4-BE49-F238E27FC236}">
                <a16:creationId xmlns:a16="http://schemas.microsoft.com/office/drawing/2014/main" id="{3F2E9F2E-11C1-5F47-9FD0-9437A5018207}"/>
              </a:ext>
            </a:extLst>
          </p:cNvPr>
          <p:cNvSpPr/>
          <p:nvPr/>
        </p:nvSpPr>
        <p:spPr>
          <a:xfrm>
            <a:off x="1714500" y="3302000"/>
            <a:ext cx="127000" cy="127000"/>
          </a:xfrm>
          <a:prstGeom prst="ellipse">
            <a:avLst/>
          </a:prstGeom>
          <a:solidFill>
            <a:srgbClr val="333333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3" name="AxPt">
            <a:extLst>
              <a:ext uri="{FF2B5EF4-FFF2-40B4-BE49-F238E27FC236}">
                <a16:creationId xmlns:a16="http://schemas.microsoft.com/office/drawing/2014/main" id="{7BAA675D-7970-174F-9469-3AE9DB428D20}"/>
              </a:ext>
            </a:extLst>
          </p:cNvPr>
          <p:cNvSpPr/>
          <p:nvPr/>
        </p:nvSpPr>
        <p:spPr>
          <a:xfrm>
            <a:off x="3111500" y="4699000"/>
            <a:ext cx="127000" cy="127000"/>
          </a:xfrm>
          <a:prstGeom prst="ellipse">
            <a:avLst/>
          </a:prstGeom>
          <a:solidFill>
            <a:srgbClr val="333333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4" name="LblL1">
            <a:extLst>
              <a:ext uri="{FF2B5EF4-FFF2-40B4-BE49-F238E27FC236}">
                <a16:creationId xmlns:a16="http://schemas.microsoft.com/office/drawing/2014/main" id="{D010AB70-449B-7544-A1DC-D8F1AF82809B}"/>
              </a:ext>
            </a:extLst>
          </p:cNvPr>
          <p:cNvSpPr txBox="1"/>
          <p:nvPr/>
        </p:nvSpPr>
        <p:spPr>
          <a:xfrm>
            <a:off x="2895600" y="2768600"/>
            <a:ext cx="4572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000" b="1">
                <a:solidFill>
                  <a:srgbClr val="4B2E83"/>
                </a:solidFill>
              </a:rPr>
              <a:t>p=1</a:t>
            </a:r>
          </a:p>
        </p:txBody>
      </p:sp>
      <p:sp>
        <p:nvSpPr>
          <p:cNvPr id="55" name="LblL2">
            <a:extLst>
              <a:ext uri="{FF2B5EF4-FFF2-40B4-BE49-F238E27FC236}">
                <a16:creationId xmlns:a16="http://schemas.microsoft.com/office/drawing/2014/main" id="{5E11D2C4-EE71-624A-9FC9-4FE805C4954E}"/>
              </a:ext>
            </a:extLst>
          </p:cNvPr>
          <p:cNvSpPr txBox="1"/>
          <p:nvPr/>
        </p:nvSpPr>
        <p:spPr>
          <a:xfrm>
            <a:off x="4013200" y="2527300"/>
            <a:ext cx="4572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000" b="1">
                <a:solidFill>
                  <a:srgbClr val="00A7B5"/>
                </a:solidFill>
              </a:rPr>
              <a:t>p=2</a:t>
            </a:r>
          </a:p>
        </p:txBody>
      </p:sp>
      <p:sp>
        <p:nvSpPr>
          <p:cNvPr id="56" name="LblP4">
            <a:extLst>
              <a:ext uri="{FF2B5EF4-FFF2-40B4-BE49-F238E27FC236}">
                <a16:creationId xmlns:a16="http://schemas.microsoft.com/office/drawing/2014/main" id="{4E9D55DA-4BC4-F543-A271-0102DB7AA898}"/>
              </a:ext>
            </a:extLst>
          </p:cNvPr>
          <p:cNvSpPr txBox="1"/>
          <p:nvPr/>
        </p:nvSpPr>
        <p:spPr>
          <a:xfrm>
            <a:off x="4222750" y="2275840"/>
            <a:ext cx="4572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000" b="1">
                <a:solidFill>
                  <a:srgbClr val="B7A57A"/>
                </a:solidFill>
              </a:rPr>
              <a:t>p=4</a:t>
            </a:r>
          </a:p>
        </p:txBody>
      </p:sp>
      <p:sp>
        <p:nvSpPr>
          <p:cNvPr id="57" name="LblInf">
            <a:extLst>
              <a:ext uri="{FF2B5EF4-FFF2-40B4-BE49-F238E27FC236}">
                <a16:creationId xmlns:a16="http://schemas.microsoft.com/office/drawing/2014/main" id="{D262023C-71B9-984A-A3D1-B621DD620101}"/>
              </a:ext>
            </a:extLst>
          </p:cNvPr>
          <p:cNvSpPr txBox="1"/>
          <p:nvPr/>
        </p:nvSpPr>
        <p:spPr>
          <a:xfrm>
            <a:off x="4876800" y="5118100"/>
            <a:ext cx="635000" cy="17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000" b="1">
                <a:solidFill>
                  <a:srgbClr val="D1578A"/>
                </a:solidFill>
              </a:rPr>
              <a:t>p=∞</a:t>
            </a:r>
          </a:p>
        </p:txBody>
      </p:sp>
      <p:sp>
        <p:nvSpPr>
          <p:cNvPr id="58" name="PlotTitle">
            <a:extLst>
              <a:ext uri="{FF2B5EF4-FFF2-40B4-BE49-F238E27FC236}">
                <a16:creationId xmlns:a16="http://schemas.microsoft.com/office/drawing/2014/main" id="{71089D11-4E63-9443-B627-246EF48FCC12}"/>
              </a:ext>
            </a:extLst>
          </p:cNvPr>
          <p:cNvSpPr txBox="1"/>
          <p:nvPr/>
        </p:nvSpPr>
        <p:spPr>
          <a:xfrm>
            <a:off x="762000" y="1054100"/>
            <a:ext cx="4826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i="1">
                <a:solidFill>
                  <a:srgbClr val="4B2E83"/>
                </a:solidFill>
                <a:latin typeface="Cambria Math"/>
                <a:ea typeface="Cambria Math"/>
              </a:rPr>
              <a:t>Unit balls  { v : ‖v‖ₚ = 1 }</a:t>
            </a:r>
          </a:p>
        </p:txBody>
      </p:sp>
      <p:sp>
        <p:nvSpPr>
          <p:cNvPr id="59" name="DefBox">
            <a:extLst>
              <a:ext uri="{FF2B5EF4-FFF2-40B4-BE49-F238E27FC236}">
                <a16:creationId xmlns:a16="http://schemas.microsoft.com/office/drawing/2014/main" id="{CCCC6DCA-9BE3-C541-BD2E-30599237FA5F}"/>
              </a:ext>
            </a:extLst>
          </p:cNvPr>
          <p:cNvSpPr/>
          <p:nvPr/>
        </p:nvSpPr>
        <p:spPr>
          <a:xfrm>
            <a:off x="6159500" y="1333500"/>
            <a:ext cx="5651500" cy="990600"/>
          </a:xfrm>
          <a:prstGeom prst="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0" name="DefHdr">
            <a:extLst>
              <a:ext uri="{FF2B5EF4-FFF2-40B4-BE49-F238E27FC236}">
                <a16:creationId xmlns:a16="http://schemas.microsoft.com/office/drawing/2014/main" id="{6CEBAE56-5565-E846-9EBD-BDCCFE49A9AC}"/>
              </a:ext>
            </a:extLst>
          </p:cNvPr>
          <p:cNvSpPr txBox="1"/>
          <p:nvPr/>
        </p:nvSpPr>
        <p:spPr>
          <a:xfrm>
            <a:off x="6311900" y="1397000"/>
            <a:ext cx="53467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4B2E83"/>
                </a:solidFill>
              </a:rPr>
              <a:t>Definition</a:t>
            </a:r>
          </a:p>
        </p:txBody>
      </p:sp>
      <p:sp>
        <p:nvSpPr>
          <p:cNvPr id="61" name="DefFor">
            <a:extLst>
              <a:ext uri="{FF2B5EF4-FFF2-40B4-BE49-F238E27FC236}">
                <a16:creationId xmlns:a16="http://schemas.microsoft.com/office/drawing/2014/main" id="{E5D66FA4-18C2-174E-B3C3-8D2F580750AD}"/>
              </a:ext>
            </a:extLst>
          </p:cNvPr>
          <p:cNvSpPr txBox="1"/>
          <p:nvPr/>
        </p:nvSpPr>
        <p:spPr>
          <a:xfrm>
            <a:off x="6311900" y="1676400"/>
            <a:ext cx="53467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  <a:latin typeface="Cambria Math"/>
                <a:ea typeface="Cambria Math"/>
              </a:rPr>
              <a:t>‖v‖ₚ = ( |v₁|ᵖ + |v₂|ᵖ + … + |vₙ|ᵖ )^(1/p) ,  p ≥ 1</a:t>
            </a:r>
          </a:p>
        </p:txBody>
      </p:sp>
      <p:sp>
        <p:nvSpPr>
          <p:cNvPr id="62" name="DefNote">
            <a:extLst>
              <a:ext uri="{FF2B5EF4-FFF2-40B4-BE49-F238E27FC236}">
                <a16:creationId xmlns:a16="http://schemas.microsoft.com/office/drawing/2014/main" id="{803EB78D-C7B5-E645-B1D0-5B52A7192EEE}"/>
              </a:ext>
            </a:extLst>
          </p:cNvPr>
          <p:cNvSpPr txBox="1"/>
          <p:nvPr/>
        </p:nvSpPr>
        <p:spPr>
          <a:xfrm>
            <a:off x="6311900" y="2032000"/>
            <a:ext cx="53467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100" i="1">
                <a:solidFill>
                  <a:srgbClr val="777777"/>
                </a:solidFill>
              </a:rPr>
              <a:t>A single formula that contains every norm we just saw</a:t>
            </a:r>
          </a:p>
        </p:txBody>
      </p:sp>
      <p:sp>
        <p:nvSpPr>
          <p:cNvPr id="63" name="WhyBox">
            <a:extLst>
              <a:ext uri="{FF2B5EF4-FFF2-40B4-BE49-F238E27FC236}">
                <a16:creationId xmlns:a16="http://schemas.microsoft.com/office/drawing/2014/main" id="{D8452B42-C9B0-E344-B1C0-17C5FE6C3F62}"/>
              </a:ext>
            </a:extLst>
          </p:cNvPr>
          <p:cNvSpPr/>
          <p:nvPr/>
        </p:nvSpPr>
        <p:spPr>
          <a:xfrm>
            <a:off x="6159500" y="2476500"/>
            <a:ext cx="5651500" cy="11684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4" name="WhyHdr">
            <a:extLst>
              <a:ext uri="{FF2B5EF4-FFF2-40B4-BE49-F238E27FC236}">
                <a16:creationId xmlns:a16="http://schemas.microsoft.com/office/drawing/2014/main" id="{DF71AECD-BD2A-DE44-BDA6-AF805E4A8049}"/>
              </a:ext>
            </a:extLst>
          </p:cNvPr>
          <p:cNvSpPr txBox="1"/>
          <p:nvPr/>
        </p:nvSpPr>
        <p:spPr>
          <a:xfrm>
            <a:off x="6311900" y="2540000"/>
            <a:ext cx="53467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4B2E83"/>
                </a:solidFill>
              </a:rPr>
              <a:t>How p shapes the ball</a:t>
            </a:r>
          </a:p>
        </p:txBody>
      </p:sp>
      <p:sp>
        <p:nvSpPr>
          <p:cNvPr id="65" name="WhyTxt">
            <a:extLst>
              <a:ext uri="{FF2B5EF4-FFF2-40B4-BE49-F238E27FC236}">
                <a16:creationId xmlns:a16="http://schemas.microsoft.com/office/drawing/2014/main" id="{08A91BC2-F434-0A4A-8DC8-C98DCF51C7DD}"/>
              </a:ext>
            </a:extLst>
          </p:cNvPr>
          <p:cNvSpPr txBox="1"/>
          <p:nvPr/>
        </p:nvSpPr>
        <p:spPr>
          <a:xfrm>
            <a:off x="6311900" y="2819400"/>
            <a:ext cx="5346700" cy="762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</a:rPr>
              <a:t>• Small p ( p → 1 ): ball pulls inward along the axes — diamond.
• p = 2: perfectly round.
• Large p ( p → ∞ ): ball pushes outward to a square.</a:t>
            </a:r>
          </a:p>
        </p:txBody>
      </p:sp>
      <p:sp>
        <p:nvSpPr>
          <p:cNvPr id="66" name="IntBox">
            <a:extLst>
              <a:ext uri="{FF2B5EF4-FFF2-40B4-BE49-F238E27FC236}">
                <a16:creationId xmlns:a16="http://schemas.microsoft.com/office/drawing/2014/main" id="{1D922F46-05CC-5D4F-B360-4325C7867E3A}"/>
              </a:ext>
            </a:extLst>
          </p:cNvPr>
          <p:cNvSpPr/>
          <p:nvPr/>
        </p:nvSpPr>
        <p:spPr>
          <a:xfrm>
            <a:off x="6159500" y="3797300"/>
            <a:ext cx="5651500" cy="1270000"/>
          </a:xfrm>
          <a:prstGeom prst="rect">
            <a:avLst/>
          </a:prstGeom>
          <a:solidFill>
            <a:srgbClr val="F5F0EB"/>
          </a:solidFill>
          <a:ln w="1905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7" name="IntHdr">
            <a:extLst>
              <a:ext uri="{FF2B5EF4-FFF2-40B4-BE49-F238E27FC236}">
                <a16:creationId xmlns:a16="http://schemas.microsoft.com/office/drawing/2014/main" id="{C781ADA9-30DB-3E43-982E-81FE0231DD59}"/>
              </a:ext>
            </a:extLst>
          </p:cNvPr>
          <p:cNvSpPr txBox="1"/>
          <p:nvPr/>
        </p:nvSpPr>
        <p:spPr>
          <a:xfrm>
            <a:off x="6311900" y="3860800"/>
            <a:ext cx="53467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00A7B5"/>
                </a:solidFill>
              </a:rPr>
              <a:t>Interpretation</a:t>
            </a:r>
          </a:p>
        </p:txBody>
      </p:sp>
      <p:sp>
        <p:nvSpPr>
          <p:cNvPr id="68" name="IntTxt">
            <a:extLst>
              <a:ext uri="{FF2B5EF4-FFF2-40B4-BE49-F238E27FC236}">
                <a16:creationId xmlns:a16="http://schemas.microsoft.com/office/drawing/2014/main" id="{2DCC049D-1064-3048-B361-FDAE0BE8C432}"/>
              </a:ext>
            </a:extLst>
          </p:cNvPr>
          <p:cNvSpPr txBox="1"/>
          <p:nvPr/>
        </p:nvSpPr>
        <p:spPr>
          <a:xfrm>
            <a:off x="6311900" y="4140200"/>
            <a:ext cx="5346700" cy="889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</a:rPr>
              <a:t>p controls how much you penalize the LARGEST coordinate vs. the others. Small p averages contributions evenly; large p lets the biggest coordinate dominate. Choosing p is choosing your geometry of "closeness".</a:t>
            </a:r>
          </a:p>
        </p:txBody>
      </p:sp>
      <p:sp>
        <p:nvSpPr>
          <p:cNvPr id="69" name="UseBox">
            <a:extLst>
              <a:ext uri="{FF2B5EF4-FFF2-40B4-BE49-F238E27FC236}">
                <a16:creationId xmlns:a16="http://schemas.microsoft.com/office/drawing/2014/main" id="{4A3AFEFB-797A-A14F-9C25-8E381B3CE935}"/>
              </a:ext>
            </a:extLst>
          </p:cNvPr>
          <p:cNvSpPr/>
          <p:nvPr/>
        </p:nvSpPr>
        <p:spPr>
          <a:xfrm>
            <a:off x="6159500" y="5219700"/>
            <a:ext cx="5651500" cy="4826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0" name="UseTxt">
            <a:extLst>
              <a:ext uri="{FF2B5EF4-FFF2-40B4-BE49-F238E27FC236}">
                <a16:creationId xmlns:a16="http://schemas.microsoft.com/office/drawing/2014/main" id="{F8C73671-2F21-2D47-AD83-4B3310FBB863}"/>
              </a:ext>
            </a:extLst>
          </p:cNvPr>
          <p:cNvSpPr txBox="1"/>
          <p:nvPr/>
        </p:nvSpPr>
        <p:spPr>
          <a:xfrm>
            <a:off x="6311900" y="5283200"/>
            <a:ext cx="53467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100" i="1">
                <a:solidFill>
                  <a:srgbClr val="333333"/>
                </a:solidFill>
              </a:rPr>
              <a:t>When to use:  rare in practice — but the Lᵖ family is the bridge that connects all the others</a:t>
            </a:r>
          </a:p>
        </p:txBody>
      </p:sp>
      <p:sp>
        <p:nvSpPr>
          <p:cNvPr id="71" name="TkBar">
            <a:extLst>
              <a:ext uri="{FF2B5EF4-FFF2-40B4-BE49-F238E27FC236}">
                <a16:creationId xmlns:a16="http://schemas.microsoft.com/office/drawing/2014/main" id="{D48C20B1-42E2-FA46-ACF7-72DE70D7F513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2" name="TkTxt">
            <a:extLst>
              <a:ext uri="{FF2B5EF4-FFF2-40B4-BE49-F238E27FC236}">
                <a16:creationId xmlns:a16="http://schemas.microsoft.com/office/drawing/2014/main" id="{7F2883BE-1A8A-B24C-A725-E730DCAB68CC}"/>
              </a:ext>
            </a:extLst>
          </p:cNvPr>
          <p:cNvSpPr txBox="1"/>
          <p:nvPr/>
        </p:nvSpPr>
        <p:spPr>
          <a:xfrm>
            <a:off x="381000" y="5842000"/>
            <a:ext cx="114300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One formula, one parameter, infinite norms — picking p is picking the shape of distance itself</a:t>
            </a:r>
          </a:p>
        </p:txBody>
      </p:sp>
    </p:spTree>
    <p:extLst>
      <p:ext uri="{BB962C8B-B14F-4D97-AF65-F5344CB8AC3E}">
        <p14:creationId xmlns:p14="http://schemas.microsoft.com/office/powerpoint/2010/main" val="196744655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>
            <a:extLst>
              <a:ext uri="{FF2B5EF4-FFF2-40B4-BE49-F238E27FC236}">
                <a16:creationId xmlns:a16="http://schemas.microsoft.com/office/drawing/2014/main" id="{21990415-A985-144C-A974-6C3C68CEA0F5}"/>
              </a:ext>
            </a:extLst>
          </p:cNvPr>
          <p:cNvSpPr/>
          <p:nvPr/>
        </p:nvSpPr>
        <p:spPr>
          <a:xfrm>
            <a:off x="292100" y="304800"/>
            <a:ext cx="116078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C08AEAD7-ADCA-724A-B3B1-9B8797820943}"/>
              </a:ext>
            </a:extLst>
          </p:cNvPr>
          <p:cNvSpPr txBox="1"/>
          <p:nvPr/>
        </p:nvSpPr>
        <p:spPr>
          <a:xfrm>
            <a:off x="444500" y="355600"/>
            <a:ext cx="11303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Calibri"/>
                <a:cs typeface="Calibri"/>
              </a:rPr>
              <a:t>Norm cheat-sheet — which one when?</a:t>
            </a:r>
          </a:p>
        </p:txBody>
      </p:sp>
      <p:sp>
        <p:nvSpPr>
          <p:cNvPr id="4" name="Sub">
            <a:extLst>
              <a:ext uri="{FF2B5EF4-FFF2-40B4-BE49-F238E27FC236}">
                <a16:creationId xmlns:a16="http://schemas.microsoft.com/office/drawing/2014/main" id="{8261151F-2E16-9548-A19A-5D7F601E093B}"/>
              </a:ext>
            </a:extLst>
          </p:cNvPr>
          <p:cNvSpPr txBox="1"/>
          <p:nvPr/>
        </p:nvSpPr>
        <p:spPr>
          <a:xfrm>
            <a:off x="381000" y="889000"/>
            <a:ext cx="11430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00" i="1">
                <a:solidFill>
                  <a:srgbClr val="888888"/>
                </a:solidFill>
                <a:latin typeface="Calibri"/>
                <a:cs typeface="Calibri"/>
              </a:rPr>
              <a:t>Quick reference for choosing among L¹, L², L∞ and Lᵖ</a:t>
            </a:r>
          </a:p>
        </p:txBody>
      </p:sp>
      <p:sp>
        <p:nvSpPr>
          <p:cNvPr id="5" name="ColHdr_0">
            <a:extLst>
              <a:ext uri="{FF2B5EF4-FFF2-40B4-BE49-F238E27FC236}">
                <a16:creationId xmlns:a16="http://schemas.microsoft.com/office/drawing/2014/main" id="{0EFFA472-8249-9D41-941E-86834C94657A}"/>
              </a:ext>
            </a:extLst>
          </p:cNvPr>
          <p:cNvSpPr/>
          <p:nvPr/>
        </p:nvSpPr>
        <p:spPr>
          <a:xfrm>
            <a:off x="381000" y="1270000"/>
            <a:ext cx="13335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ColHdrTxt_0">
            <a:extLst>
              <a:ext uri="{FF2B5EF4-FFF2-40B4-BE49-F238E27FC236}">
                <a16:creationId xmlns:a16="http://schemas.microsoft.com/office/drawing/2014/main" id="{89E142CE-B3EF-4944-A872-6768217F5E0F}"/>
              </a:ext>
            </a:extLst>
          </p:cNvPr>
          <p:cNvSpPr txBox="1"/>
          <p:nvPr/>
        </p:nvSpPr>
        <p:spPr>
          <a:xfrm>
            <a:off x="381000" y="1270000"/>
            <a:ext cx="1333500" cy="482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Calibri"/>
                <a:cs typeface="Calibri"/>
              </a:rPr>
              <a:t>Norm</a:t>
            </a:r>
          </a:p>
        </p:txBody>
      </p:sp>
      <p:sp>
        <p:nvSpPr>
          <p:cNvPr id="7" name="ColHdr_1">
            <a:extLst>
              <a:ext uri="{FF2B5EF4-FFF2-40B4-BE49-F238E27FC236}">
                <a16:creationId xmlns:a16="http://schemas.microsoft.com/office/drawing/2014/main" id="{3E01B682-A29C-E049-91D9-D02520D4BACD}"/>
              </a:ext>
            </a:extLst>
          </p:cNvPr>
          <p:cNvSpPr/>
          <p:nvPr/>
        </p:nvSpPr>
        <p:spPr>
          <a:xfrm>
            <a:off x="1714500" y="1270000"/>
            <a:ext cx="27305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ColHdrTxt_1">
            <a:extLst>
              <a:ext uri="{FF2B5EF4-FFF2-40B4-BE49-F238E27FC236}">
                <a16:creationId xmlns:a16="http://schemas.microsoft.com/office/drawing/2014/main" id="{A2ABAAE7-29CD-5045-9743-4440B2022DE9}"/>
              </a:ext>
            </a:extLst>
          </p:cNvPr>
          <p:cNvSpPr txBox="1"/>
          <p:nvPr/>
        </p:nvSpPr>
        <p:spPr>
          <a:xfrm>
            <a:off x="1714500" y="1270000"/>
            <a:ext cx="2730500" cy="482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Calibri"/>
                <a:cs typeface="Calibri"/>
              </a:rPr>
              <a:t>Formula</a:t>
            </a:r>
          </a:p>
        </p:txBody>
      </p:sp>
      <p:sp>
        <p:nvSpPr>
          <p:cNvPr id="9" name="ColHdr_2">
            <a:extLst>
              <a:ext uri="{FF2B5EF4-FFF2-40B4-BE49-F238E27FC236}">
                <a16:creationId xmlns:a16="http://schemas.microsoft.com/office/drawing/2014/main" id="{7404F3C0-8926-594E-A345-5051DD7604E3}"/>
              </a:ext>
            </a:extLst>
          </p:cNvPr>
          <p:cNvSpPr/>
          <p:nvPr/>
        </p:nvSpPr>
        <p:spPr>
          <a:xfrm>
            <a:off x="4445000" y="1270000"/>
            <a:ext cx="37465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ColHdrTxt_2">
            <a:extLst>
              <a:ext uri="{FF2B5EF4-FFF2-40B4-BE49-F238E27FC236}">
                <a16:creationId xmlns:a16="http://schemas.microsoft.com/office/drawing/2014/main" id="{349015D9-CF06-1F41-BC24-5FE2927D1FEC}"/>
              </a:ext>
            </a:extLst>
          </p:cNvPr>
          <p:cNvSpPr txBox="1"/>
          <p:nvPr/>
        </p:nvSpPr>
        <p:spPr>
          <a:xfrm>
            <a:off x="4445000" y="1270000"/>
            <a:ext cx="3746500" cy="482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Calibri"/>
                <a:cs typeface="Calibri"/>
              </a:rPr>
              <a:t>What it represents</a:t>
            </a:r>
          </a:p>
        </p:txBody>
      </p:sp>
      <p:sp>
        <p:nvSpPr>
          <p:cNvPr id="11" name="ColHdr_3">
            <a:extLst>
              <a:ext uri="{FF2B5EF4-FFF2-40B4-BE49-F238E27FC236}">
                <a16:creationId xmlns:a16="http://schemas.microsoft.com/office/drawing/2014/main" id="{CE962120-1893-7A49-B0E8-DACE0EDD01E4}"/>
              </a:ext>
            </a:extLst>
          </p:cNvPr>
          <p:cNvSpPr/>
          <p:nvPr/>
        </p:nvSpPr>
        <p:spPr>
          <a:xfrm>
            <a:off x="8191500" y="1270000"/>
            <a:ext cx="36195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ColHdrTxt_3">
            <a:extLst>
              <a:ext uri="{FF2B5EF4-FFF2-40B4-BE49-F238E27FC236}">
                <a16:creationId xmlns:a16="http://schemas.microsoft.com/office/drawing/2014/main" id="{B713F757-DC67-EF4E-BE15-57A20A42A538}"/>
              </a:ext>
            </a:extLst>
          </p:cNvPr>
          <p:cNvSpPr txBox="1"/>
          <p:nvPr/>
        </p:nvSpPr>
        <p:spPr>
          <a:xfrm>
            <a:off x="8191500" y="1270000"/>
            <a:ext cx="3619500" cy="482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Calibri"/>
                <a:cs typeface="Calibri"/>
              </a:rPr>
              <a:t>When to use</a:t>
            </a:r>
          </a:p>
        </p:txBody>
      </p:sp>
      <p:sp>
        <p:nvSpPr>
          <p:cNvPr id="13" name="Row_0">
            <a:extLst>
              <a:ext uri="{FF2B5EF4-FFF2-40B4-BE49-F238E27FC236}">
                <a16:creationId xmlns:a16="http://schemas.microsoft.com/office/drawing/2014/main" id="{D5625AD1-8515-CB48-BB57-1FB798DC0E39}"/>
              </a:ext>
            </a:extLst>
          </p:cNvPr>
          <p:cNvSpPr/>
          <p:nvPr/>
        </p:nvSpPr>
        <p:spPr>
          <a:xfrm>
            <a:off x="381000" y="1752600"/>
            <a:ext cx="11430000" cy="1016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RowAccent_0">
            <a:extLst>
              <a:ext uri="{FF2B5EF4-FFF2-40B4-BE49-F238E27FC236}">
                <a16:creationId xmlns:a16="http://schemas.microsoft.com/office/drawing/2014/main" id="{BB6B44DE-98AF-0D4D-B591-470772FC4C0D}"/>
              </a:ext>
            </a:extLst>
          </p:cNvPr>
          <p:cNvSpPr/>
          <p:nvPr/>
        </p:nvSpPr>
        <p:spPr>
          <a:xfrm>
            <a:off x="381000" y="1752600"/>
            <a:ext cx="63500" cy="1016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RowName_0">
            <a:extLst>
              <a:ext uri="{FF2B5EF4-FFF2-40B4-BE49-F238E27FC236}">
                <a16:creationId xmlns:a16="http://schemas.microsoft.com/office/drawing/2014/main" id="{BD3568A9-D6F5-E748-A01D-773CA3242208}"/>
              </a:ext>
            </a:extLst>
          </p:cNvPr>
          <p:cNvSpPr txBox="1"/>
          <p:nvPr/>
        </p:nvSpPr>
        <p:spPr>
          <a:xfrm>
            <a:off x="381000" y="1752600"/>
            <a:ext cx="1333500" cy="1016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  <a:latin typeface="Cambria Math"/>
                <a:ea typeface="Cambria Math"/>
              </a:rPr>
              <a:t>L¹</a:t>
            </a:r>
          </a:p>
        </p:txBody>
      </p:sp>
      <p:sp>
        <p:nvSpPr>
          <p:cNvPr id="16" name="RowFmt_0">
            <a:extLst>
              <a:ext uri="{FF2B5EF4-FFF2-40B4-BE49-F238E27FC236}">
                <a16:creationId xmlns:a16="http://schemas.microsoft.com/office/drawing/2014/main" id="{CD38F1C4-95F5-ED48-8EFB-A9A35454E773}"/>
              </a:ext>
            </a:extLst>
          </p:cNvPr>
          <p:cNvSpPr txBox="1"/>
          <p:nvPr/>
        </p:nvSpPr>
        <p:spPr>
          <a:xfrm>
            <a:off x="1714500" y="1879600"/>
            <a:ext cx="27305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‖v‖₁ = 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Σ|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vᵢ|</a:t>
            </a:r>
          </a:p>
        </p:txBody>
      </p:sp>
      <p:sp>
        <p:nvSpPr>
          <p:cNvPr id="17" name="RowBall_0">
            <a:extLst>
              <a:ext uri="{FF2B5EF4-FFF2-40B4-BE49-F238E27FC236}">
                <a16:creationId xmlns:a16="http://schemas.microsoft.com/office/drawing/2014/main" id="{D3C77C30-BB1D-314F-9B52-7814E9DA54B0}"/>
              </a:ext>
            </a:extLst>
          </p:cNvPr>
          <p:cNvSpPr txBox="1"/>
          <p:nvPr/>
        </p:nvSpPr>
        <p:spPr>
          <a:xfrm>
            <a:off x="1714500" y="2311400"/>
            <a:ext cx="27305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888888"/>
                </a:solidFill>
                <a:latin typeface="Calibri"/>
                <a:cs typeface="Calibri"/>
              </a:rPr>
              <a:t>Unit ball: Diamond</a:t>
            </a:r>
          </a:p>
        </p:txBody>
      </p:sp>
      <p:sp>
        <p:nvSpPr>
          <p:cNvPr id="18" name="RowRep_0">
            <a:extLst>
              <a:ext uri="{FF2B5EF4-FFF2-40B4-BE49-F238E27FC236}">
                <a16:creationId xmlns:a16="http://schemas.microsoft.com/office/drawing/2014/main" id="{02DD4502-AA16-284D-84A3-AF587454C537}"/>
              </a:ext>
            </a:extLst>
          </p:cNvPr>
          <p:cNvSpPr txBox="1"/>
          <p:nvPr/>
        </p:nvSpPr>
        <p:spPr>
          <a:xfrm>
            <a:off x="4546600" y="1854200"/>
            <a:ext cx="3543300" cy="812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Calibri"/>
                <a:cs typeface="Calibri"/>
              </a:rPr>
              <a:t>Total of absolute coordinates. Distance you walk on a grid with no diagonals.</a:t>
            </a:r>
          </a:p>
        </p:txBody>
      </p:sp>
      <p:sp>
        <p:nvSpPr>
          <p:cNvPr id="19" name="RowUse_0">
            <a:extLst>
              <a:ext uri="{FF2B5EF4-FFF2-40B4-BE49-F238E27FC236}">
                <a16:creationId xmlns:a16="http://schemas.microsoft.com/office/drawing/2014/main" id="{9CC2A115-51AB-164A-8020-6C7C63DC956E}"/>
              </a:ext>
            </a:extLst>
          </p:cNvPr>
          <p:cNvSpPr txBox="1"/>
          <p:nvPr/>
        </p:nvSpPr>
        <p:spPr>
          <a:xfrm>
            <a:off x="8293100" y="1854200"/>
            <a:ext cx="3416300" cy="812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Calibri"/>
                <a:cs typeface="Calibri"/>
              </a:rPr>
              <a:t>Robust regression (LAD), Lasso regularization (sparsity), sparse recovery, taxicab navigation, count-based metrics</a:t>
            </a:r>
          </a:p>
        </p:txBody>
      </p:sp>
      <p:sp>
        <p:nvSpPr>
          <p:cNvPr id="20" name="RowDiv_0">
            <a:extLst>
              <a:ext uri="{FF2B5EF4-FFF2-40B4-BE49-F238E27FC236}">
                <a16:creationId xmlns:a16="http://schemas.microsoft.com/office/drawing/2014/main" id="{9E973A5F-0791-614B-A2FD-B895017F63CF}"/>
              </a:ext>
            </a:extLst>
          </p:cNvPr>
          <p:cNvSpPr/>
          <p:nvPr/>
        </p:nvSpPr>
        <p:spPr>
          <a:xfrm>
            <a:off x="381000" y="2755900"/>
            <a:ext cx="11430000" cy="12700"/>
          </a:xfrm>
          <a:prstGeom prst="rect">
            <a:avLst/>
          </a:prstGeom>
          <a:solidFill>
            <a:srgbClr val="DDDDD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Row_1">
            <a:extLst>
              <a:ext uri="{FF2B5EF4-FFF2-40B4-BE49-F238E27FC236}">
                <a16:creationId xmlns:a16="http://schemas.microsoft.com/office/drawing/2014/main" id="{6D5CA66C-FC48-3B40-BD0F-928244820E9B}"/>
              </a:ext>
            </a:extLst>
          </p:cNvPr>
          <p:cNvSpPr/>
          <p:nvPr/>
        </p:nvSpPr>
        <p:spPr>
          <a:xfrm>
            <a:off x="381000" y="2768600"/>
            <a:ext cx="11430000" cy="1016000"/>
          </a:xfrm>
          <a:prstGeom prst="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RowAccent_1">
            <a:extLst>
              <a:ext uri="{FF2B5EF4-FFF2-40B4-BE49-F238E27FC236}">
                <a16:creationId xmlns:a16="http://schemas.microsoft.com/office/drawing/2014/main" id="{C9DA90D9-7AB7-0A4B-8AE4-6C18C923CCF4}"/>
              </a:ext>
            </a:extLst>
          </p:cNvPr>
          <p:cNvSpPr/>
          <p:nvPr/>
        </p:nvSpPr>
        <p:spPr>
          <a:xfrm>
            <a:off x="381000" y="2768600"/>
            <a:ext cx="63500" cy="10160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RowName_1">
            <a:extLst>
              <a:ext uri="{FF2B5EF4-FFF2-40B4-BE49-F238E27FC236}">
                <a16:creationId xmlns:a16="http://schemas.microsoft.com/office/drawing/2014/main" id="{DF117DA5-6A5A-8D48-8D5A-5F89BEF4FA8B}"/>
              </a:ext>
            </a:extLst>
          </p:cNvPr>
          <p:cNvSpPr txBox="1"/>
          <p:nvPr/>
        </p:nvSpPr>
        <p:spPr>
          <a:xfrm>
            <a:off x="381000" y="2768600"/>
            <a:ext cx="1333500" cy="1016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800" b="1">
                <a:solidFill>
                  <a:srgbClr val="00A7B5"/>
                </a:solidFill>
                <a:latin typeface="Cambria Math"/>
                <a:ea typeface="Cambria Math"/>
              </a:rPr>
              <a:t>L²</a:t>
            </a:r>
          </a:p>
        </p:txBody>
      </p:sp>
      <p:sp>
        <p:nvSpPr>
          <p:cNvPr id="24" name="RowFmt_1">
            <a:extLst>
              <a:ext uri="{FF2B5EF4-FFF2-40B4-BE49-F238E27FC236}">
                <a16:creationId xmlns:a16="http://schemas.microsoft.com/office/drawing/2014/main" id="{B61BF6C4-5E9D-F547-9FB9-EAE0362DC637}"/>
              </a:ext>
            </a:extLst>
          </p:cNvPr>
          <p:cNvSpPr txBox="1"/>
          <p:nvPr/>
        </p:nvSpPr>
        <p:spPr>
          <a:xfrm>
            <a:off x="1714500" y="2895600"/>
            <a:ext cx="27305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‖v‖₂ = √(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Σ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vᵢ²)</a:t>
            </a:r>
          </a:p>
        </p:txBody>
      </p:sp>
      <p:sp>
        <p:nvSpPr>
          <p:cNvPr id="25" name="RowBall_1">
            <a:extLst>
              <a:ext uri="{FF2B5EF4-FFF2-40B4-BE49-F238E27FC236}">
                <a16:creationId xmlns:a16="http://schemas.microsoft.com/office/drawing/2014/main" id="{82B63889-16A3-BB4A-AA88-6D6D6BA81F63}"/>
              </a:ext>
            </a:extLst>
          </p:cNvPr>
          <p:cNvSpPr txBox="1"/>
          <p:nvPr/>
        </p:nvSpPr>
        <p:spPr>
          <a:xfrm>
            <a:off x="1714500" y="3327400"/>
            <a:ext cx="27305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888888"/>
                </a:solidFill>
                <a:latin typeface="Calibri"/>
                <a:cs typeface="Calibri"/>
              </a:rPr>
              <a:t>Unit ball: Circle</a:t>
            </a:r>
          </a:p>
        </p:txBody>
      </p:sp>
      <p:sp>
        <p:nvSpPr>
          <p:cNvPr id="26" name="RowRep_1">
            <a:extLst>
              <a:ext uri="{FF2B5EF4-FFF2-40B4-BE49-F238E27FC236}">
                <a16:creationId xmlns:a16="http://schemas.microsoft.com/office/drawing/2014/main" id="{B1A2CCD0-4721-3C45-8EF6-95E38E0840D2}"/>
              </a:ext>
            </a:extLst>
          </p:cNvPr>
          <p:cNvSpPr txBox="1"/>
          <p:nvPr/>
        </p:nvSpPr>
        <p:spPr>
          <a:xfrm>
            <a:off x="4546600" y="2870200"/>
            <a:ext cx="3543300" cy="812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Calibri"/>
                <a:cs typeface="Calibri"/>
              </a:rPr>
              <a:t>Straight-line length of the arrow. Pythagoras in n dimensions. Treats all directions equally.</a:t>
            </a:r>
          </a:p>
        </p:txBody>
      </p:sp>
      <p:sp>
        <p:nvSpPr>
          <p:cNvPr id="27" name="RowUse_1">
            <a:extLst>
              <a:ext uri="{FF2B5EF4-FFF2-40B4-BE49-F238E27FC236}">
                <a16:creationId xmlns:a16="http://schemas.microsoft.com/office/drawing/2014/main" id="{18C1FD7A-9E00-0845-B87C-0FE0DCCF400B}"/>
              </a:ext>
            </a:extLst>
          </p:cNvPr>
          <p:cNvSpPr txBox="1"/>
          <p:nvPr/>
        </p:nvSpPr>
        <p:spPr>
          <a:xfrm>
            <a:off x="8293100" y="2870200"/>
            <a:ext cx="3416300" cy="812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Calibri"/>
                <a:cs typeface="Calibri"/>
              </a:rPr>
              <a:t>Ordinary least squares, Ridge regularization, k-means, PCA, physics, any time geometry should be isotropic</a:t>
            </a:r>
          </a:p>
        </p:txBody>
      </p:sp>
      <p:sp>
        <p:nvSpPr>
          <p:cNvPr id="28" name="RowDiv_1">
            <a:extLst>
              <a:ext uri="{FF2B5EF4-FFF2-40B4-BE49-F238E27FC236}">
                <a16:creationId xmlns:a16="http://schemas.microsoft.com/office/drawing/2014/main" id="{73A0E76A-2586-7B46-B4E0-87C8DCE78255}"/>
              </a:ext>
            </a:extLst>
          </p:cNvPr>
          <p:cNvSpPr/>
          <p:nvPr/>
        </p:nvSpPr>
        <p:spPr>
          <a:xfrm>
            <a:off x="381000" y="3771900"/>
            <a:ext cx="11430000" cy="12700"/>
          </a:xfrm>
          <a:prstGeom prst="rect">
            <a:avLst/>
          </a:prstGeom>
          <a:solidFill>
            <a:srgbClr val="DDDDD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Row_2">
            <a:extLst>
              <a:ext uri="{FF2B5EF4-FFF2-40B4-BE49-F238E27FC236}">
                <a16:creationId xmlns:a16="http://schemas.microsoft.com/office/drawing/2014/main" id="{28147378-F1B7-F94C-83DB-1EAC5A22EFEC}"/>
              </a:ext>
            </a:extLst>
          </p:cNvPr>
          <p:cNvSpPr/>
          <p:nvPr/>
        </p:nvSpPr>
        <p:spPr>
          <a:xfrm>
            <a:off x="381000" y="3784600"/>
            <a:ext cx="11430000" cy="1016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0" name="RowAccent_2">
            <a:extLst>
              <a:ext uri="{FF2B5EF4-FFF2-40B4-BE49-F238E27FC236}">
                <a16:creationId xmlns:a16="http://schemas.microsoft.com/office/drawing/2014/main" id="{05F77E92-E7AE-2E49-95FD-9EC028B851B4}"/>
              </a:ext>
            </a:extLst>
          </p:cNvPr>
          <p:cNvSpPr/>
          <p:nvPr/>
        </p:nvSpPr>
        <p:spPr>
          <a:xfrm>
            <a:off x="381000" y="3784600"/>
            <a:ext cx="63500" cy="10160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RowName_2">
            <a:extLst>
              <a:ext uri="{FF2B5EF4-FFF2-40B4-BE49-F238E27FC236}">
                <a16:creationId xmlns:a16="http://schemas.microsoft.com/office/drawing/2014/main" id="{461742FB-AA95-FC47-B6D3-4B775FC48A22}"/>
              </a:ext>
            </a:extLst>
          </p:cNvPr>
          <p:cNvSpPr txBox="1"/>
          <p:nvPr/>
        </p:nvSpPr>
        <p:spPr>
          <a:xfrm>
            <a:off x="381000" y="3784600"/>
            <a:ext cx="1333500" cy="1016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800" b="1">
                <a:solidFill>
                  <a:srgbClr val="D1578A"/>
                </a:solidFill>
                <a:latin typeface="Cambria Math"/>
                <a:ea typeface="Cambria Math"/>
              </a:rPr>
              <a:t>L∞</a:t>
            </a:r>
          </a:p>
        </p:txBody>
      </p:sp>
      <p:sp>
        <p:nvSpPr>
          <p:cNvPr id="32" name="RowFmt_2">
            <a:extLst>
              <a:ext uri="{FF2B5EF4-FFF2-40B4-BE49-F238E27FC236}">
                <a16:creationId xmlns:a16="http://schemas.microsoft.com/office/drawing/2014/main" id="{E91670F7-F5E9-6D48-AC97-483DF5ADEE0B}"/>
              </a:ext>
            </a:extLst>
          </p:cNvPr>
          <p:cNvSpPr txBox="1"/>
          <p:nvPr/>
        </p:nvSpPr>
        <p:spPr>
          <a:xfrm>
            <a:off x="1714500" y="3911600"/>
            <a:ext cx="27305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‖v‖∞ = max|vᵢ|</a:t>
            </a:r>
          </a:p>
        </p:txBody>
      </p:sp>
      <p:sp>
        <p:nvSpPr>
          <p:cNvPr id="33" name="RowBall_2">
            <a:extLst>
              <a:ext uri="{FF2B5EF4-FFF2-40B4-BE49-F238E27FC236}">
                <a16:creationId xmlns:a16="http://schemas.microsoft.com/office/drawing/2014/main" id="{6CEB055B-992B-3E49-B0D9-1B8FFB020160}"/>
              </a:ext>
            </a:extLst>
          </p:cNvPr>
          <p:cNvSpPr txBox="1"/>
          <p:nvPr/>
        </p:nvSpPr>
        <p:spPr>
          <a:xfrm>
            <a:off x="1714500" y="4343400"/>
            <a:ext cx="27305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888888"/>
                </a:solidFill>
                <a:latin typeface="Calibri"/>
                <a:cs typeface="Calibri"/>
              </a:rPr>
              <a:t>Unit ball: Square</a:t>
            </a:r>
          </a:p>
        </p:txBody>
      </p:sp>
      <p:sp>
        <p:nvSpPr>
          <p:cNvPr id="34" name="RowRep_2">
            <a:extLst>
              <a:ext uri="{FF2B5EF4-FFF2-40B4-BE49-F238E27FC236}">
                <a16:creationId xmlns:a16="http://schemas.microsoft.com/office/drawing/2014/main" id="{3312637F-90AF-6748-91D4-A5F760EA12DA}"/>
              </a:ext>
            </a:extLst>
          </p:cNvPr>
          <p:cNvSpPr txBox="1"/>
          <p:nvPr/>
        </p:nvSpPr>
        <p:spPr>
          <a:xfrm>
            <a:off x="4546600" y="3886200"/>
            <a:ext cx="3543300" cy="812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Calibri"/>
                <a:cs typeface="Calibri"/>
              </a:rPr>
              <a:t>The single largest coordinate. Worst-case deviation in any one dimension.</a:t>
            </a:r>
          </a:p>
        </p:txBody>
      </p:sp>
      <p:sp>
        <p:nvSpPr>
          <p:cNvPr id="35" name="RowUse_2">
            <a:extLst>
              <a:ext uri="{FF2B5EF4-FFF2-40B4-BE49-F238E27FC236}">
                <a16:creationId xmlns:a16="http://schemas.microsoft.com/office/drawing/2014/main" id="{3A1953BE-830D-8447-B210-6069C2FA2C73}"/>
              </a:ext>
            </a:extLst>
          </p:cNvPr>
          <p:cNvSpPr txBox="1"/>
          <p:nvPr/>
        </p:nvSpPr>
        <p:spPr>
          <a:xfrm>
            <a:off x="8293100" y="3886200"/>
            <a:ext cx="3416300" cy="812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Calibri"/>
                <a:cs typeface="Calibri"/>
              </a:rPr>
              <a:t>Uniform error bounds, robustness/adversarial radii, Chebyshev approximation, tolerance specs, max-error optimization</a:t>
            </a:r>
          </a:p>
        </p:txBody>
      </p:sp>
      <p:sp>
        <p:nvSpPr>
          <p:cNvPr id="36" name="RowDiv_2">
            <a:extLst>
              <a:ext uri="{FF2B5EF4-FFF2-40B4-BE49-F238E27FC236}">
                <a16:creationId xmlns:a16="http://schemas.microsoft.com/office/drawing/2014/main" id="{F3E20D87-B416-E649-9DE0-06129A2FB1BA}"/>
              </a:ext>
            </a:extLst>
          </p:cNvPr>
          <p:cNvSpPr/>
          <p:nvPr/>
        </p:nvSpPr>
        <p:spPr>
          <a:xfrm>
            <a:off x="381000" y="4787900"/>
            <a:ext cx="11430000" cy="12700"/>
          </a:xfrm>
          <a:prstGeom prst="rect">
            <a:avLst/>
          </a:prstGeom>
          <a:solidFill>
            <a:srgbClr val="DDDDD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7" name="Row_3">
            <a:extLst>
              <a:ext uri="{FF2B5EF4-FFF2-40B4-BE49-F238E27FC236}">
                <a16:creationId xmlns:a16="http://schemas.microsoft.com/office/drawing/2014/main" id="{FF3BEE32-C90A-3642-87CF-B1216C5E35BB}"/>
              </a:ext>
            </a:extLst>
          </p:cNvPr>
          <p:cNvSpPr/>
          <p:nvPr/>
        </p:nvSpPr>
        <p:spPr>
          <a:xfrm>
            <a:off x="381000" y="4800600"/>
            <a:ext cx="11430000" cy="1016000"/>
          </a:xfrm>
          <a:prstGeom prst="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3" name="RowAccent_3">
            <a:extLst>
              <a:ext uri="{FF2B5EF4-FFF2-40B4-BE49-F238E27FC236}">
                <a16:creationId xmlns:a16="http://schemas.microsoft.com/office/drawing/2014/main" id="{715363C6-DCBD-E444-8918-8D2FBED56990}"/>
              </a:ext>
            </a:extLst>
          </p:cNvPr>
          <p:cNvSpPr/>
          <p:nvPr/>
        </p:nvSpPr>
        <p:spPr>
          <a:xfrm>
            <a:off x="381000" y="4800600"/>
            <a:ext cx="63500" cy="10160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4" name="RowName_3">
            <a:extLst>
              <a:ext uri="{FF2B5EF4-FFF2-40B4-BE49-F238E27FC236}">
                <a16:creationId xmlns:a16="http://schemas.microsoft.com/office/drawing/2014/main" id="{C6990178-EF16-F847-91F8-FECD0EB8A16E}"/>
              </a:ext>
            </a:extLst>
          </p:cNvPr>
          <p:cNvSpPr txBox="1"/>
          <p:nvPr/>
        </p:nvSpPr>
        <p:spPr>
          <a:xfrm>
            <a:off x="381000" y="4800600"/>
            <a:ext cx="1333500" cy="1016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800" b="1">
                <a:solidFill>
                  <a:srgbClr val="B7A57A"/>
                </a:solidFill>
                <a:latin typeface="Cambria Math"/>
                <a:ea typeface="Cambria Math"/>
              </a:rPr>
              <a:t>Lᵖ</a:t>
            </a:r>
          </a:p>
        </p:txBody>
      </p:sp>
      <p:sp>
        <p:nvSpPr>
          <p:cNvPr id="75" name="RowFmt_3">
            <a:extLst>
              <a:ext uri="{FF2B5EF4-FFF2-40B4-BE49-F238E27FC236}">
                <a16:creationId xmlns:a16="http://schemas.microsoft.com/office/drawing/2014/main" id="{612D4733-28D7-8547-A931-DC4B6970AA4B}"/>
              </a:ext>
            </a:extLst>
          </p:cNvPr>
          <p:cNvSpPr txBox="1"/>
          <p:nvPr/>
        </p:nvSpPr>
        <p:spPr>
          <a:xfrm>
            <a:off x="1714500" y="4927600"/>
            <a:ext cx="27305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‖v‖ₚ = (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Σ|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vᵢ|ᵖ)^(1/p)</a:t>
            </a:r>
          </a:p>
        </p:txBody>
      </p:sp>
      <p:sp>
        <p:nvSpPr>
          <p:cNvPr id="76" name="RowBall_3">
            <a:extLst>
              <a:ext uri="{FF2B5EF4-FFF2-40B4-BE49-F238E27FC236}">
                <a16:creationId xmlns:a16="http://schemas.microsoft.com/office/drawing/2014/main" id="{4F5DDDA5-1593-F441-88B4-E12E6670AF83}"/>
              </a:ext>
            </a:extLst>
          </p:cNvPr>
          <p:cNvSpPr txBox="1"/>
          <p:nvPr/>
        </p:nvSpPr>
        <p:spPr>
          <a:xfrm>
            <a:off x="1714500" y="5359400"/>
            <a:ext cx="27305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100" i="1">
                <a:solidFill>
                  <a:srgbClr val="888888"/>
                </a:solidFill>
                <a:latin typeface="Calibri"/>
                <a:cs typeface="Calibri"/>
              </a:rPr>
              <a:t>Unit ball: Superellipse</a:t>
            </a:r>
          </a:p>
        </p:txBody>
      </p:sp>
      <p:sp>
        <p:nvSpPr>
          <p:cNvPr id="77" name="RowRep_3">
            <a:extLst>
              <a:ext uri="{FF2B5EF4-FFF2-40B4-BE49-F238E27FC236}">
                <a16:creationId xmlns:a16="http://schemas.microsoft.com/office/drawing/2014/main" id="{932F6E75-7F2B-6848-8F50-830E3E87D74E}"/>
              </a:ext>
            </a:extLst>
          </p:cNvPr>
          <p:cNvSpPr txBox="1"/>
          <p:nvPr/>
        </p:nvSpPr>
        <p:spPr>
          <a:xfrm>
            <a:off x="4546600" y="4902200"/>
            <a:ext cx="3543300" cy="812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Calibri"/>
                <a:cs typeface="Calibri"/>
              </a:rPr>
              <a:t>General family. p tunes between summing (p=1) and taking the max (p=∞), with circle at p=2.</a:t>
            </a:r>
          </a:p>
        </p:txBody>
      </p:sp>
      <p:sp>
        <p:nvSpPr>
          <p:cNvPr id="78" name="RowUse_3">
            <a:extLst>
              <a:ext uri="{FF2B5EF4-FFF2-40B4-BE49-F238E27FC236}">
                <a16:creationId xmlns:a16="http://schemas.microsoft.com/office/drawing/2014/main" id="{66BA1F22-5F76-5B44-B47B-CA59323B0E36}"/>
              </a:ext>
            </a:extLst>
          </p:cNvPr>
          <p:cNvSpPr txBox="1"/>
          <p:nvPr/>
        </p:nvSpPr>
        <p:spPr>
          <a:xfrm>
            <a:off x="8293100" y="4902200"/>
            <a:ext cx="3416300" cy="812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>
                <a:solidFill>
                  <a:srgbClr val="333333"/>
                </a:solidFill>
                <a:latin typeface="Calibri"/>
                <a:cs typeface="Calibri"/>
              </a:rPr>
              <a:t>When you need to interpolate between norms — robust Lᵖ regression, signal denoising, control design with custom error weighting</a:t>
            </a:r>
          </a:p>
        </p:txBody>
      </p:sp>
      <p:sp>
        <p:nvSpPr>
          <p:cNvPr id="79" name="TableBorder">
            <a:extLst>
              <a:ext uri="{FF2B5EF4-FFF2-40B4-BE49-F238E27FC236}">
                <a16:creationId xmlns:a16="http://schemas.microsoft.com/office/drawing/2014/main" id="{053E9DA0-6D4A-EF41-AA0D-76293D0C056C}"/>
              </a:ext>
            </a:extLst>
          </p:cNvPr>
          <p:cNvSpPr/>
          <p:nvPr/>
        </p:nvSpPr>
        <p:spPr>
          <a:xfrm>
            <a:off x="381000" y="1270000"/>
            <a:ext cx="11430000" cy="4546600"/>
          </a:xfrm>
          <a:prstGeom prst="rect">
            <a:avLst/>
          </a:prstGeom>
          <a:noFill/>
          <a:ln w="9525" cap="flat" cmpd="sng" algn="ctr">
            <a:solidFill>
              <a:srgbClr val="88888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0" name="TkBar">
            <a:extLst>
              <a:ext uri="{FF2B5EF4-FFF2-40B4-BE49-F238E27FC236}">
                <a16:creationId xmlns:a16="http://schemas.microsoft.com/office/drawing/2014/main" id="{0C544490-2CD9-3D40-8311-20C76238D45F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1" name="TkText">
            <a:extLst>
              <a:ext uri="{FF2B5EF4-FFF2-40B4-BE49-F238E27FC236}">
                <a16:creationId xmlns:a16="http://schemas.microsoft.com/office/drawing/2014/main" id="{633C476F-7723-DD4F-8E49-C2BF5F47E543}"/>
              </a:ext>
            </a:extLst>
          </p:cNvPr>
          <p:cNvSpPr txBox="1"/>
          <p:nvPr/>
        </p:nvSpPr>
        <p:spPr>
          <a:xfrm>
            <a:off x="254000" y="5842000"/>
            <a:ext cx="116840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  <a:latin typeface="Calibri"/>
                <a:cs typeface="Calibri"/>
              </a:rPr>
              <a:t>Same vector, different geometry — pick the norm that matches how your problem measures "closeness"</a:t>
            </a:r>
          </a:p>
        </p:txBody>
      </p:sp>
    </p:spTree>
    <p:extLst>
      <p:ext uri="{BB962C8B-B14F-4D97-AF65-F5344CB8AC3E}">
        <p14:creationId xmlns:p14="http://schemas.microsoft.com/office/powerpoint/2010/main" val="348567464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A543E-FDDC-C6AC-48D6-5FB6693FB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FE4E0D-A3C4-2AB2-DF55-F0DB799B9D26}"/>
              </a:ext>
            </a:extLst>
          </p:cNvPr>
          <p:cNvSpPr txBox="1"/>
          <p:nvPr/>
        </p:nvSpPr>
        <p:spPr>
          <a:xfrm>
            <a:off x="0" y="2870200"/>
            <a:ext cx="12192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1600" b="1" dirty="0">
                <a:solidFill>
                  <a:srgbClr val="B7A57A"/>
                </a:solidFill>
              </a:rPr>
              <a:t>FROM DATA TO STRUCTURE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5228A0-2670-5154-FB62-E64F61EBB13B}"/>
              </a:ext>
            </a:extLst>
          </p:cNvPr>
          <p:cNvSpPr txBox="1"/>
          <p:nvPr/>
        </p:nvSpPr>
        <p:spPr>
          <a:xfrm>
            <a:off x="0" y="3175000"/>
            <a:ext cx="12192000" cy="939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3800" b="1" dirty="0">
                <a:solidFill>
                  <a:srgbClr val="FFFFFF"/>
                </a:solidFill>
              </a:rPr>
              <a:t>Covariance &amp; Correlation Matrices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5C77DD-864C-7E53-0A5D-3B73118B7D25}"/>
              </a:ext>
            </a:extLst>
          </p:cNvPr>
          <p:cNvSpPr txBox="1"/>
          <p:nvPr/>
        </p:nvSpPr>
        <p:spPr>
          <a:xfrm>
            <a:off x="0" y="4241800"/>
            <a:ext cx="121920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2100" dirty="0">
                <a:solidFill>
                  <a:srgbClr val="EDE7F5"/>
                </a:solidFill>
              </a:rPr>
              <a:t>Build S and R from a data matrix using centering, standardization, and matrix products.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201648F-ED75-A8D0-EB98-23662FA60CBF}"/>
              </a:ext>
            </a:extLst>
          </p:cNvPr>
          <p:cNvSpPr/>
          <p:nvPr/>
        </p:nvSpPr>
        <p:spPr>
          <a:xfrm>
            <a:off x="5461000" y="4089400"/>
            <a:ext cx="1270000" cy="381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00" name="hm"/>
          <p:cNvSpPr/>
          <p:nvPr/>
        </p:nvSpPr>
        <p:spPr>
          <a:xfrm>
            <a:off x="5562600" y="1625600"/>
            <a:ext cx="330200" cy="33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1" name="hm"/>
          <p:cNvSpPr/>
          <p:nvPr/>
        </p:nvSpPr>
        <p:spPr>
          <a:xfrm>
            <a:off x="5930900" y="1625600"/>
            <a:ext cx="330200" cy="330200"/>
          </a:xfrm>
          <a:prstGeom prst="roundRect">
            <a:avLst>
              <a:gd name="adj" fmla="val 12000"/>
            </a:avLst>
          </a:prstGeom>
          <a:solidFill>
            <a:srgbClr val="00A7B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2" name="hm"/>
          <p:cNvSpPr/>
          <p:nvPr/>
        </p:nvSpPr>
        <p:spPr>
          <a:xfrm>
            <a:off x="6299200" y="1625600"/>
            <a:ext cx="330200" cy="330200"/>
          </a:xfrm>
          <a:prstGeom prst="roundRect">
            <a:avLst>
              <a:gd name="adj" fmla="val 12000"/>
            </a:avLst>
          </a:prstGeom>
          <a:solidFill>
            <a:srgbClr val="B7A57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3" name="hm"/>
          <p:cNvSpPr/>
          <p:nvPr/>
        </p:nvSpPr>
        <p:spPr>
          <a:xfrm>
            <a:off x="5562600" y="1993900"/>
            <a:ext cx="330200" cy="330200"/>
          </a:xfrm>
          <a:prstGeom prst="roundRect">
            <a:avLst>
              <a:gd name="adj" fmla="val 12000"/>
            </a:avLst>
          </a:prstGeom>
          <a:solidFill>
            <a:srgbClr val="00A7B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4" name="hm"/>
          <p:cNvSpPr/>
          <p:nvPr/>
        </p:nvSpPr>
        <p:spPr>
          <a:xfrm>
            <a:off x="5930900" y="1993900"/>
            <a:ext cx="330200" cy="33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5" name="hm"/>
          <p:cNvSpPr/>
          <p:nvPr/>
        </p:nvSpPr>
        <p:spPr>
          <a:xfrm>
            <a:off x="6299200" y="1993900"/>
            <a:ext cx="330200" cy="330200"/>
          </a:xfrm>
          <a:prstGeom prst="roundRect">
            <a:avLst>
              <a:gd name="adj" fmla="val 12000"/>
            </a:avLst>
          </a:prstGeom>
          <a:solidFill>
            <a:srgbClr val="D1578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6" name="hm"/>
          <p:cNvSpPr/>
          <p:nvPr/>
        </p:nvSpPr>
        <p:spPr>
          <a:xfrm>
            <a:off x="5562600" y="2362200"/>
            <a:ext cx="330200" cy="330200"/>
          </a:xfrm>
          <a:prstGeom prst="roundRect">
            <a:avLst>
              <a:gd name="adj" fmla="val 12000"/>
            </a:avLst>
          </a:prstGeom>
          <a:solidFill>
            <a:srgbClr val="B7A57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7" name="hm"/>
          <p:cNvSpPr/>
          <p:nvPr/>
        </p:nvSpPr>
        <p:spPr>
          <a:xfrm>
            <a:off x="5930900" y="2362200"/>
            <a:ext cx="330200" cy="330200"/>
          </a:xfrm>
          <a:prstGeom prst="roundRect">
            <a:avLst>
              <a:gd name="adj" fmla="val 12000"/>
            </a:avLst>
          </a:prstGeom>
          <a:solidFill>
            <a:srgbClr val="D1578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8" name="hm"/>
          <p:cNvSpPr/>
          <p:nvPr/>
        </p:nvSpPr>
        <p:spPr>
          <a:xfrm>
            <a:off x="6299200" y="2362200"/>
            <a:ext cx="330200" cy="33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46897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Computing S and R with Matrix Operations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Start from a data matrix X: n observations (rows) × p features (columns).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Center the data, take XcᵀXc / (n−1) for covariance, then rescale by the std-devs to get correlation.</a:t>
            </a:r>
          </a:p>
        </p:txBody>
      </p:sp>
      <p:sp>
        <p:nvSpPr>
          <p:cNvPr id="6000" name="pn"/>
          <p:cNvSpPr/>
          <p:nvPr/>
        </p:nvSpPr>
        <p:spPr>
          <a:xfrm>
            <a:off x="304800" y="1219200"/>
            <a:ext cx="71120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bdg"/>
          <p:cNvSpPr/>
          <p:nvPr/>
        </p:nvSpPr>
        <p:spPr>
          <a:xfrm>
            <a:off x="546100" y="1536700"/>
            <a:ext cx="381000" cy="38100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002" name="eq"/>
              <p:cNvSpPr txBox="1"/>
              <p:nvPr/>
            </p:nvSpPr>
            <p:spPr>
              <a:xfrm>
                <a:off x="1092200" y="1524000"/>
                <a:ext cx="6172200" cy="3810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75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75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𝜇</m:t>
                          </m:r>
                        </m:e>
                        <m:sup>
                          <m:r>
                            <a:rPr lang="en-US" sz="175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𝑇</m:t>
                          </m:r>
                        </m:sup>
                      </m:sSup>
                      <m:r>
                        <a:rPr lang="en-US" sz="1750">
                          <a:solidFill>
                            <a:srgbClr val="333333"/>
                          </a:solidFill>
                          <a:latin typeface="Cambria Math"/>
                        </a:rPr>
                        <m:t> = </m:t>
                      </m:r>
                      <m:f>
                        <m:fPr>
                          <m:ctrlPr>
                            <a:rPr lang="en-US" sz="175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75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175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𝑛</m:t>
                          </m:r>
                        </m:den>
                      </m:f>
                      <m:sSup>
                        <m:sSupPr>
                          <m:ctrlPr>
                            <a:rPr lang="en-US" sz="175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75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1</m:t>
                          </m:r>
                        </m:e>
                        <m:sup>
                          <m:r>
                            <a:rPr lang="en-US" sz="175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𝑇</m:t>
                          </m:r>
                        </m:sup>
                      </m:sSup>
                      <m:r>
                        <a:rPr lang="en-US" sz="1750">
                          <a:solidFill>
                            <a:srgbClr val="333333"/>
                          </a:solidFill>
                          <a:latin typeface="Cambria Math"/>
                        </a:rPr>
                        <m:t>𝑋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6002" name="eq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2200" y="1524000"/>
                <a:ext cx="6172200" cy="381000"/>
              </a:xfrm>
              <a:prstGeom prst="rect">
                <a:avLst/>
              </a:prstGeom>
              <a:blipFill>
                <a:blip r:embed="rId2"/>
                <a:stretch>
                  <a:fillRect t="-19355" b="-290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03" name="tb"/>
          <p:cNvSpPr txBox="1"/>
          <p:nvPr/>
        </p:nvSpPr>
        <p:spPr>
          <a:xfrm>
            <a:off x="1092200" y="1930400"/>
            <a:ext cx="61722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00" i="1" dirty="0">
                <a:solidFill>
                  <a:srgbClr val="6E6E6E"/>
                </a:solidFill>
              </a:rPr>
              <a:t>mean of each column (1 is an n×1 vector of ones)</a:t>
            </a:r>
          </a:p>
        </p:txBody>
      </p:sp>
      <p:sp>
        <p:nvSpPr>
          <p:cNvPr id="6004" name="bdg"/>
          <p:cNvSpPr/>
          <p:nvPr/>
        </p:nvSpPr>
        <p:spPr>
          <a:xfrm>
            <a:off x="546100" y="2374900"/>
            <a:ext cx="381000" cy="381000"/>
          </a:xfrm>
          <a:prstGeom prst="ellipse">
            <a:avLst/>
          </a:prstGeom>
          <a:solidFill>
            <a:srgbClr val="00A7B5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005" name="eq"/>
              <p:cNvSpPr txBox="1"/>
              <p:nvPr/>
            </p:nvSpPr>
            <p:spPr>
              <a:xfrm>
                <a:off x="1092200" y="2362200"/>
                <a:ext cx="6172200" cy="3810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75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5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lang="en-US" sz="175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𝑐</m:t>
                          </m:r>
                        </m:sub>
                      </m:sSub>
                      <m:r>
                        <a:rPr lang="en-US" sz="1750">
                          <a:solidFill>
                            <a:srgbClr val="333333"/>
                          </a:solidFill>
                          <a:latin typeface="Cambria Math"/>
                        </a:rPr>
                        <m:t> = </m:t>
                      </m:r>
                      <m:r>
                        <a:rPr lang="en-US" sz="1750">
                          <a:solidFill>
                            <a:srgbClr val="333333"/>
                          </a:solidFill>
                          <a:latin typeface="Cambria Math"/>
                        </a:rPr>
                        <m:t>𝑋</m:t>
                      </m:r>
                      <m:r>
                        <a:rPr lang="en-US" sz="1750">
                          <a:solidFill>
                            <a:srgbClr val="333333"/>
                          </a:solidFill>
                          <a:latin typeface="Cambria Math"/>
                        </a:rPr>
                        <m:t> − 1</m:t>
                      </m:r>
                      <m:sSup>
                        <m:sSupPr>
                          <m:ctrlPr>
                            <a:rPr lang="en-US" sz="175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75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𝜇</m:t>
                          </m:r>
                        </m:e>
                        <m:sup>
                          <m:r>
                            <a:rPr lang="en-US" sz="175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6005" name="eq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2200" y="2362200"/>
                <a:ext cx="6172200" cy="381000"/>
              </a:xfrm>
              <a:prstGeom prst="rect">
                <a:avLst/>
              </a:prstGeom>
              <a:blipFill>
                <a:blip r:embed="rId3"/>
                <a:stretch>
                  <a:fillRect b="-12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06" name="tb"/>
          <p:cNvSpPr txBox="1"/>
          <p:nvPr/>
        </p:nvSpPr>
        <p:spPr>
          <a:xfrm>
            <a:off x="1092200" y="2768600"/>
            <a:ext cx="61722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00" i="1" dirty="0">
                <a:solidFill>
                  <a:srgbClr val="6E6E6E"/>
                </a:solidFill>
              </a:rPr>
              <a:t>subtract the column means — the centered data</a:t>
            </a:r>
          </a:p>
        </p:txBody>
      </p:sp>
      <p:sp>
        <p:nvSpPr>
          <p:cNvPr id="6007" name="bdg"/>
          <p:cNvSpPr/>
          <p:nvPr/>
        </p:nvSpPr>
        <p:spPr>
          <a:xfrm>
            <a:off x="546100" y="3213100"/>
            <a:ext cx="381000" cy="381000"/>
          </a:xfrm>
          <a:prstGeom prst="ellipse">
            <a:avLst/>
          </a:prstGeom>
          <a:solidFill>
            <a:srgbClr val="7AB648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008" name="eq"/>
              <p:cNvSpPr txBox="1"/>
              <p:nvPr/>
            </p:nvSpPr>
            <p:spPr>
              <a:xfrm>
                <a:off x="1092200" y="3200400"/>
                <a:ext cx="6172200" cy="3810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50">
                          <a:solidFill>
                            <a:srgbClr val="333333"/>
                          </a:solidFill>
                          <a:latin typeface="Cambria Math"/>
                        </a:rPr>
                        <m:t>𝑆</m:t>
                      </m:r>
                      <m:r>
                        <a:rPr lang="en-US" sz="1750">
                          <a:solidFill>
                            <a:srgbClr val="333333"/>
                          </a:solidFill>
                          <a:latin typeface="Cambria Math"/>
                        </a:rPr>
                        <m:t> = </m:t>
                      </m:r>
                      <m:f>
                        <m:fPr>
                          <m:ctrlPr>
                            <a:rPr lang="en-US" sz="175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75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175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𝑛</m:t>
                          </m:r>
                          <m:r>
                            <a:rPr lang="en-US" sz="175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− 1</m:t>
                          </m:r>
                        </m:den>
                      </m:f>
                      <m:sSup>
                        <m:sSupPr>
                          <m:ctrlPr>
                            <a:rPr lang="en-US" sz="175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175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75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175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𝑐</m:t>
                              </m:r>
                            </m:sub>
                          </m:sSub>
                        </m:e>
                        <m:sup>
                          <m:r>
                            <a:rPr lang="en-US" sz="175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𝑇</m:t>
                          </m:r>
                        </m:sup>
                      </m:sSup>
                      <m:sSub>
                        <m:sSubPr>
                          <m:ctrlPr>
                            <a:rPr lang="en-US" sz="175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5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lang="en-US" sz="175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6008" name="eq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2200" y="3200400"/>
                <a:ext cx="6172200" cy="381000"/>
              </a:xfrm>
              <a:prstGeom prst="rect">
                <a:avLst/>
              </a:prstGeom>
              <a:blipFill>
                <a:blip r:embed="rId4"/>
                <a:stretch>
                  <a:fillRect t="-19355" b="-548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09" name="tb"/>
          <p:cNvSpPr txBox="1"/>
          <p:nvPr/>
        </p:nvSpPr>
        <p:spPr>
          <a:xfrm>
            <a:off x="1092200" y="3606800"/>
            <a:ext cx="61722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00" i="1" dirty="0">
                <a:solidFill>
                  <a:srgbClr val="6E6E6E"/>
                </a:solidFill>
              </a:rPr>
              <a:t>covariance matrix (p×p, symmetric)</a:t>
            </a:r>
          </a:p>
        </p:txBody>
      </p:sp>
      <p:sp>
        <p:nvSpPr>
          <p:cNvPr id="6010" name="bdg"/>
          <p:cNvSpPr/>
          <p:nvPr/>
        </p:nvSpPr>
        <p:spPr>
          <a:xfrm>
            <a:off x="546100" y="4051300"/>
            <a:ext cx="381000" cy="381000"/>
          </a:xfrm>
          <a:prstGeom prst="ellipse">
            <a:avLst/>
          </a:prstGeom>
          <a:solidFill>
            <a:srgbClr val="B7A57A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011" name="eq"/>
              <p:cNvSpPr txBox="1"/>
              <p:nvPr/>
            </p:nvSpPr>
            <p:spPr>
              <a:xfrm>
                <a:off x="1092200" y="4038600"/>
                <a:ext cx="6172200" cy="3810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50">
                          <a:solidFill>
                            <a:srgbClr val="333333"/>
                          </a:solidFill>
                          <a:latin typeface="Cambria Math"/>
                        </a:rPr>
                        <m:t>𝐷</m:t>
                      </m:r>
                      <m:r>
                        <a:rPr lang="en-US" sz="1750">
                          <a:solidFill>
                            <a:srgbClr val="333333"/>
                          </a:solidFill>
                          <a:latin typeface="Cambria Math"/>
                        </a:rPr>
                        <m:t> = </m:t>
                      </m:r>
                      <m:r>
                        <m:rPr>
                          <m:nor/>
                        </m:rPr>
                        <a:rPr lang="en-US" sz="1750">
                          <a:solidFill>
                            <a:srgbClr val="333333"/>
                          </a:solidFill>
                          <a:latin typeface="Cambria Math"/>
                        </a:rPr>
                        <m:t>diag</m:t>
                      </m:r>
                      <m:r>
                        <a:rPr lang="en-US" sz="1750">
                          <a:solidFill>
                            <a:srgbClr val="333333"/>
                          </a:solidFill>
                          <a:latin typeface="Cambria Math"/>
                        </a:rPr>
                        <m:t>(</m:t>
                      </m:r>
                      <m:rad>
                        <m:radPr>
                          <m:degHide m:val="on"/>
                          <m:ctrlPr>
                            <a:rPr lang="en-US" sz="175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n-US" sz="175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75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75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11</m:t>
                              </m:r>
                            </m:sub>
                          </m:sSub>
                        </m:e>
                      </m:rad>
                      <m:r>
                        <a:rPr lang="en-US" sz="1750">
                          <a:solidFill>
                            <a:srgbClr val="333333"/>
                          </a:solidFill>
                          <a:latin typeface="Cambria Math"/>
                        </a:rPr>
                        <m:t>, …, </m:t>
                      </m:r>
                      <m:rad>
                        <m:radPr>
                          <m:degHide m:val="on"/>
                          <m:ctrlPr>
                            <a:rPr lang="en-US" sz="175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n-US" sz="175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75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75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𝑝𝑝</m:t>
                              </m:r>
                            </m:sub>
                          </m:sSub>
                        </m:e>
                      </m:rad>
                      <m:r>
                        <a:rPr lang="en-US" sz="1750">
                          <a:solidFill>
                            <a:srgbClr val="333333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6011" name="eq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2200" y="4038600"/>
                <a:ext cx="6172200" cy="381000"/>
              </a:xfrm>
              <a:prstGeom prst="rect">
                <a:avLst/>
              </a:prstGeom>
              <a:blipFill>
                <a:blip r:embed="rId5"/>
                <a:stretch>
                  <a:fillRect t="-16667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12" name="tb"/>
          <p:cNvSpPr txBox="1"/>
          <p:nvPr/>
        </p:nvSpPr>
        <p:spPr>
          <a:xfrm>
            <a:off x="1092200" y="4445000"/>
            <a:ext cx="61722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00" i="1" dirty="0">
                <a:solidFill>
                  <a:srgbClr val="6E6E6E"/>
                </a:solidFill>
              </a:rPr>
              <a:t>standard deviations on the diagonal</a:t>
            </a:r>
          </a:p>
        </p:txBody>
      </p:sp>
      <p:sp>
        <p:nvSpPr>
          <p:cNvPr id="6013" name="bdg"/>
          <p:cNvSpPr/>
          <p:nvPr/>
        </p:nvSpPr>
        <p:spPr>
          <a:xfrm>
            <a:off x="546100" y="4889500"/>
            <a:ext cx="381000" cy="381000"/>
          </a:xfrm>
          <a:prstGeom prst="ellipse">
            <a:avLst/>
          </a:prstGeom>
          <a:solidFill>
            <a:srgbClr val="D1578A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014" name="eq"/>
              <p:cNvSpPr txBox="1"/>
              <p:nvPr/>
            </p:nvSpPr>
            <p:spPr>
              <a:xfrm>
                <a:off x="1092200" y="4876800"/>
                <a:ext cx="6172200" cy="3810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50">
                          <a:solidFill>
                            <a:srgbClr val="333333"/>
                          </a:solidFill>
                          <a:latin typeface="Cambria Math"/>
                        </a:rPr>
                        <m:t>𝑅</m:t>
                      </m:r>
                      <m:r>
                        <a:rPr lang="en-US" sz="1750">
                          <a:solidFill>
                            <a:srgbClr val="333333"/>
                          </a:solidFill>
                          <a:latin typeface="Cambria Math"/>
                        </a:rPr>
                        <m:t> = </m:t>
                      </m:r>
                      <m:sSup>
                        <m:sSupPr>
                          <m:ctrlPr>
                            <a:rPr lang="en-US" sz="175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75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𝐷</m:t>
                          </m:r>
                        </m:e>
                        <m:sup>
                          <m:r>
                            <a:rPr lang="en-US" sz="175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−1</m:t>
                          </m:r>
                        </m:sup>
                      </m:sSup>
                      <m:r>
                        <a:rPr lang="en-US" sz="1750">
                          <a:solidFill>
                            <a:srgbClr val="333333"/>
                          </a:solidFill>
                          <a:latin typeface="Cambria Math"/>
                        </a:rPr>
                        <m:t>𝑆</m:t>
                      </m:r>
                      <m:sSup>
                        <m:sSupPr>
                          <m:ctrlPr>
                            <a:rPr lang="en-US" sz="175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75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𝐷</m:t>
                          </m:r>
                        </m:e>
                        <m:sup>
                          <m:r>
                            <a:rPr lang="en-US" sz="175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6014" name="eq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2200" y="4876800"/>
                <a:ext cx="6172200" cy="381000"/>
              </a:xfrm>
              <a:prstGeom prst="rect">
                <a:avLst/>
              </a:prstGeom>
              <a:blipFill>
                <a:blip r:embed="rId6"/>
                <a:stretch>
                  <a:fillRect b="-12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15" name="tb"/>
          <p:cNvSpPr txBox="1"/>
          <p:nvPr/>
        </p:nvSpPr>
        <p:spPr>
          <a:xfrm>
            <a:off x="1092200" y="5283200"/>
            <a:ext cx="61722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00" i="1" dirty="0">
                <a:solidFill>
                  <a:srgbClr val="6E6E6E"/>
                </a:solidFill>
              </a:rPr>
              <a:t>correlation matrix (rescaled covariance)</a:t>
            </a:r>
          </a:p>
        </p:txBody>
      </p:sp>
      <p:sp>
        <p:nvSpPr>
          <p:cNvPr id="6016" name="pn"/>
          <p:cNvSpPr/>
          <p:nvPr/>
        </p:nvSpPr>
        <p:spPr>
          <a:xfrm>
            <a:off x="7569200" y="1219200"/>
            <a:ext cx="43180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17" name="tb"/>
          <p:cNvSpPr txBox="1"/>
          <p:nvPr/>
        </p:nvSpPr>
        <p:spPr>
          <a:xfrm>
            <a:off x="7823200" y="1447800"/>
            <a:ext cx="38100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Shapes &amp; facts</a:t>
            </a:r>
          </a:p>
        </p:txBody>
      </p:sp>
      <p:sp>
        <p:nvSpPr>
          <p:cNvPr id="6018" name="tb"/>
          <p:cNvSpPr txBox="1"/>
          <p:nvPr/>
        </p:nvSpPr>
        <p:spPr>
          <a:xfrm>
            <a:off x="7823200" y="1905000"/>
            <a:ext cx="3860800" cy="3683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en-US" sz="1350" dirty="0">
                <a:solidFill>
                  <a:srgbClr val="333333"/>
                </a:solidFill>
              </a:rPr>
              <a:t>X : n×p  (observations × features)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en-US" sz="1350" dirty="0">
                <a:solidFill>
                  <a:srgbClr val="333333"/>
                </a:solidFill>
              </a:rPr>
              <a:t>Xc : n×p, every column sums to 0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en-US" sz="1350" dirty="0">
                <a:solidFill>
                  <a:srgbClr val="333333"/>
                </a:solidFill>
              </a:rPr>
              <a:t>S : p×p, symmetric; diagonal = variances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en-US" sz="1350" dirty="0">
                <a:solidFill>
                  <a:srgbClr val="333333"/>
                </a:solidFill>
              </a:rPr>
              <a:t>R : p×p, diagonal = 1; off-diag in [−1, 1]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en-US" sz="1350" dirty="0">
                <a:solidFill>
                  <a:srgbClr val="333333"/>
                </a:solidFill>
              </a:rPr>
              <a:t>R = 1/(n−1) · Zᵀ Z  (Z standardized)</a:t>
            </a:r>
          </a:p>
        </p:txBody>
      </p:sp>
    </p:spTree>
    <p:extLst>
      <p:ext uri="{BB962C8B-B14F-4D97-AF65-F5344CB8AC3E}">
        <p14:creationId xmlns:p14="http://schemas.microsoft.com/office/powerpoint/2010/main" val="385658998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Why Standardize? Units Distort Distance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When features use different units, the largest-magnitude one dominates the distance.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Without scaling, the biggest-magnitude feature wins; standardizing lets every feature contribute.</a:t>
            </a:r>
          </a:p>
        </p:txBody>
      </p:sp>
      <p:sp>
        <p:nvSpPr>
          <p:cNvPr id="6000" name="pn"/>
          <p:cNvSpPr/>
          <p:nvPr/>
        </p:nvSpPr>
        <p:spPr>
          <a:xfrm>
            <a:off x="304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22400"/>
            <a:ext cx="5207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Raw data — mixed units</a:t>
            </a:r>
          </a:p>
        </p:txBody>
      </p:sp>
      <p:sp>
        <p:nvSpPr>
          <p:cNvPr id="6002" name="tb"/>
          <p:cNvSpPr txBox="1"/>
          <p:nvPr/>
        </p:nvSpPr>
        <p:spPr>
          <a:xfrm>
            <a:off x="558800" y="1854200"/>
            <a:ext cx="5207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00A7B5"/>
                </a:solidFill>
              </a:rPr>
              <a:t>Ann</a:t>
            </a:r>
            <a:r>
              <a:rPr lang="en-US" sz="1400" dirty="0">
                <a:solidFill>
                  <a:srgbClr val="333333"/>
                </a:solidFill>
              </a:rPr>
              <a:t>  —  age 25 yr,  income $40,000</a:t>
            </a:r>
          </a:p>
        </p:txBody>
      </p:sp>
      <p:sp>
        <p:nvSpPr>
          <p:cNvPr id="6003" name="tb"/>
          <p:cNvSpPr txBox="1"/>
          <p:nvPr/>
        </p:nvSpPr>
        <p:spPr>
          <a:xfrm>
            <a:off x="558800" y="2159000"/>
            <a:ext cx="5207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D1578A"/>
                </a:solidFill>
              </a:rPr>
              <a:t>Bob</a:t>
            </a:r>
            <a:r>
              <a:rPr lang="en-US" sz="1400" dirty="0">
                <a:solidFill>
                  <a:srgbClr val="333333"/>
                </a:solidFill>
              </a:rPr>
              <a:t>  —  age 45 yr,  income $42,000</a:t>
            </a:r>
          </a:p>
        </p:txBody>
      </p:sp>
      <p:sp>
        <p:nvSpPr>
          <p:cNvPr id="6004" name="tb"/>
          <p:cNvSpPr txBox="1"/>
          <p:nvPr/>
        </p:nvSpPr>
        <p:spPr>
          <a:xfrm>
            <a:off x="558800" y="2565400"/>
            <a:ext cx="5207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333333"/>
                </a:solidFill>
              </a:rPr>
              <a:t>Δage = 20 yr        Δincome = $2,000</a:t>
            </a:r>
          </a:p>
        </p:txBody>
      </p:sp>
      <p:sp>
        <p:nvSpPr>
          <p:cNvPr id="6005" name="tb"/>
          <p:cNvSpPr txBox="1"/>
          <p:nvPr/>
        </p:nvSpPr>
        <p:spPr>
          <a:xfrm>
            <a:off x="558800" y="2946400"/>
            <a:ext cx="5207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d = √(20² + 2000²) = √4,000,400 ≈ 2000</a:t>
            </a:r>
          </a:p>
        </p:txBody>
      </p:sp>
      <p:sp>
        <p:nvSpPr>
          <p:cNvPr id="6006" name="tb"/>
          <p:cNvSpPr txBox="1"/>
          <p:nvPr/>
        </p:nvSpPr>
        <p:spPr>
          <a:xfrm>
            <a:off x="558800" y="3454400"/>
            <a:ext cx="5207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00" b="1" dirty="0">
                <a:solidFill>
                  <a:srgbClr val="6E6E6E"/>
                </a:solidFill>
              </a:rPr>
              <a:t>Share of  d² :</a:t>
            </a:r>
          </a:p>
        </p:txBody>
      </p:sp>
      <p:sp>
        <p:nvSpPr>
          <p:cNvPr id="6007" name="seg"/>
          <p:cNvSpPr/>
          <p:nvPr/>
        </p:nvSpPr>
        <p:spPr>
          <a:xfrm>
            <a:off x="558800" y="3733800"/>
            <a:ext cx="50800" cy="330200"/>
          </a:xfrm>
          <a:prstGeom prst="rect">
            <a:avLst/>
          </a:prstGeom>
          <a:solidFill>
            <a:srgbClr val="7AB648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8" name="seg"/>
          <p:cNvSpPr/>
          <p:nvPr/>
        </p:nvSpPr>
        <p:spPr>
          <a:xfrm>
            <a:off x="609600" y="3733800"/>
            <a:ext cx="4876800" cy="330200"/>
          </a:xfrm>
          <a:prstGeom prst="rect">
            <a:avLst/>
          </a:prstGeom>
          <a:solidFill>
            <a:srgbClr val="D1578A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9" name="tb"/>
          <p:cNvSpPr txBox="1"/>
          <p:nvPr/>
        </p:nvSpPr>
        <p:spPr>
          <a:xfrm>
            <a:off x="558800" y="4114800"/>
            <a:ext cx="2540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50" b="1" dirty="0">
                <a:solidFill>
                  <a:srgbClr val="7AB648"/>
                </a:solidFill>
              </a:rPr>
              <a:t>■ age 0.01%</a:t>
            </a:r>
          </a:p>
        </p:txBody>
      </p:sp>
      <p:sp>
        <p:nvSpPr>
          <p:cNvPr id="6010" name="tb"/>
          <p:cNvSpPr txBox="1"/>
          <p:nvPr/>
        </p:nvSpPr>
        <p:spPr>
          <a:xfrm>
            <a:off x="3175000" y="4114800"/>
            <a:ext cx="2540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/>
            <a:r>
              <a:rPr lang="en-US" sz="1250" b="1" dirty="0">
                <a:solidFill>
                  <a:srgbClr val="D1578A"/>
                </a:solidFill>
              </a:rPr>
              <a:t>■ income 99.99%</a:t>
            </a:r>
          </a:p>
        </p:txBody>
      </p:sp>
      <p:sp>
        <p:nvSpPr>
          <p:cNvPr id="6011" name="tb"/>
          <p:cNvSpPr txBox="1"/>
          <p:nvPr/>
        </p:nvSpPr>
        <p:spPr>
          <a:xfrm>
            <a:off x="558800" y="4470400"/>
            <a:ext cx="5207000" cy="50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00" i="1" dirty="0">
                <a:solidFill>
                  <a:srgbClr val="6E6E6E"/>
                </a:solidFill>
              </a:rPr>
              <a:t>The $2,000 income gap (just 5%) completely buries the 20-year age gap.</a:t>
            </a:r>
          </a:p>
        </p:txBody>
      </p:sp>
      <p:sp>
        <p:nvSpPr>
          <p:cNvPr id="6012" name="pn"/>
          <p:cNvSpPr/>
          <p:nvPr/>
        </p:nvSpPr>
        <p:spPr>
          <a:xfrm>
            <a:off x="6146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13" name="tb"/>
          <p:cNvSpPr txBox="1"/>
          <p:nvPr/>
        </p:nvSpPr>
        <p:spPr>
          <a:xfrm>
            <a:off x="6400800" y="1422400"/>
            <a:ext cx="5207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After standardizing (z-scores)</a:t>
            </a:r>
          </a:p>
        </p:txBody>
      </p:sp>
      <p:sp>
        <p:nvSpPr>
          <p:cNvPr id="6014" name="tb"/>
          <p:cNvSpPr txBox="1"/>
          <p:nvPr/>
        </p:nvSpPr>
        <p:spPr>
          <a:xfrm>
            <a:off x="6400800" y="1854200"/>
            <a:ext cx="5207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dirty="0">
                <a:solidFill>
                  <a:srgbClr val="333333"/>
                </a:solidFill>
              </a:rPr>
              <a:t>typical std:  age ≈ 10 yr,  income ≈ $15,000</a:t>
            </a:r>
          </a:p>
        </p:txBody>
      </p:sp>
      <p:sp>
        <p:nvSpPr>
          <p:cNvPr id="6015" name="tb"/>
          <p:cNvSpPr txBox="1"/>
          <p:nvPr/>
        </p:nvSpPr>
        <p:spPr>
          <a:xfrm>
            <a:off x="6400800" y="2260600"/>
            <a:ext cx="5207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dirty="0">
                <a:solidFill>
                  <a:srgbClr val="333333"/>
                </a:solidFill>
              </a:rPr>
              <a:t>Δz = Δ / σ :   </a:t>
            </a:r>
            <a:r>
              <a:rPr lang="en-US" sz="1400" b="1" dirty="0">
                <a:solidFill>
                  <a:srgbClr val="333333"/>
                </a:solidFill>
              </a:rPr>
              <a:t>age 20/10 = 2.0,   income 2000/15000 ≈ 0.13</a:t>
            </a:r>
          </a:p>
        </p:txBody>
      </p:sp>
      <p:sp>
        <p:nvSpPr>
          <p:cNvPr id="6016" name="tb"/>
          <p:cNvSpPr txBox="1"/>
          <p:nvPr/>
        </p:nvSpPr>
        <p:spPr>
          <a:xfrm>
            <a:off x="6400800" y="2946400"/>
            <a:ext cx="5207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d = √(2.0² + 0.13²) ≈ 2.0</a:t>
            </a:r>
          </a:p>
        </p:txBody>
      </p:sp>
      <p:sp>
        <p:nvSpPr>
          <p:cNvPr id="6017" name="tb"/>
          <p:cNvSpPr txBox="1"/>
          <p:nvPr/>
        </p:nvSpPr>
        <p:spPr>
          <a:xfrm>
            <a:off x="6400800" y="3454400"/>
            <a:ext cx="5207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00" b="1" dirty="0">
                <a:solidFill>
                  <a:srgbClr val="6E6E6E"/>
                </a:solidFill>
              </a:rPr>
              <a:t>Share of  d² :</a:t>
            </a:r>
          </a:p>
        </p:txBody>
      </p:sp>
      <p:sp>
        <p:nvSpPr>
          <p:cNvPr id="6018" name="seg"/>
          <p:cNvSpPr/>
          <p:nvPr/>
        </p:nvSpPr>
        <p:spPr>
          <a:xfrm>
            <a:off x="6400800" y="3733800"/>
            <a:ext cx="4902200" cy="330200"/>
          </a:xfrm>
          <a:prstGeom prst="rect">
            <a:avLst/>
          </a:prstGeom>
          <a:solidFill>
            <a:srgbClr val="7AB648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19" name="seg"/>
          <p:cNvSpPr/>
          <p:nvPr/>
        </p:nvSpPr>
        <p:spPr>
          <a:xfrm>
            <a:off x="11303000" y="3733800"/>
            <a:ext cx="25400" cy="330200"/>
          </a:xfrm>
          <a:prstGeom prst="rect">
            <a:avLst/>
          </a:prstGeom>
          <a:solidFill>
            <a:srgbClr val="D1578A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0" name="tb"/>
          <p:cNvSpPr txBox="1"/>
          <p:nvPr/>
        </p:nvSpPr>
        <p:spPr>
          <a:xfrm>
            <a:off x="6400800" y="4114800"/>
            <a:ext cx="2540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50" b="1" dirty="0">
                <a:solidFill>
                  <a:srgbClr val="7AB648"/>
                </a:solidFill>
              </a:rPr>
              <a:t>■ age 99.6%</a:t>
            </a:r>
          </a:p>
        </p:txBody>
      </p:sp>
      <p:sp>
        <p:nvSpPr>
          <p:cNvPr id="6021" name="tb"/>
          <p:cNvSpPr txBox="1"/>
          <p:nvPr/>
        </p:nvSpPr>
        <p:spPr>
          <a:xfrm>
            <a:off x="9017000" y="4114800"/>
            <a:ext cx="2540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/>
            <a:r>
              <a:rPr lang="en-US" sz="1250" b="1" dirty="0">
                <a:solidFill>
                  <a:srgbClr val="D1578A"/>
                </a:solidFill>
              </a:rPr>
              <a:t>■ income 0.4%</a:t>
            </a:r>
          </a:p>
        </p:txBody>
      </p:sp>
      <p:sp>
        <p:nvSpPr>
          <p:cNvPr id="6022" name="tb"/>
          <p:cNvSpPr txBox="1"/>
          <p:nvPr/>
        </p:nvSpPr>
        <p:spPr>
          <a:xfrm>
            <a:off x="6400800" y="4470400"/>
            <a:ext cx="5207000" cy="50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00" i="1" dirty="0">
                <a:solidFill>
                  <a:srgbClr val="6E6E6E"/>
                </a:solidFill>
              </a:rPr>
              <a:t>Now the real difference — 20 years of age — drives the distance.</a:t>
            </a:r>
          </a:p>
        </p:txBody>
      </p:sp>
    </p:spTree>
    <p:extLst>
      <p:ext uri="{BB962C8B-B14F-4D97-AF65-F5344CB8AC3E}">
        <p14:creationId xmlns:p14="http://schemas.microsoft.com/office/powerpoint/2010/main" val="280668598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Real Features Live on Different Scales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Raw features span many orders of magnitude — and different units entirely.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Mixing raw units lets dollars outvote years; standardize so every feature contributes on equal terms.</a:t>
            </a:r>
          </a:p>
        </p:txBody>
      </p:sp>
      <p:sp>
        <p:nvSpPr>
          <p:cNvPr id="6000" name="cl"/>
          <p:cNvSpPr/>
          <p:nvPr/>
        </p:nvSpPr>
        <p:spPr>
          <a:xfrm>
            <a:off x="355600" y="1625600"/>
            <a:ext cx="2997200" cy="381000"/>
          </a:xfrm>
          <a:prstGeom prst="rect">
            <a:avLst/>
          </a:prstGeom>
          <a:solidFill>
            <a:srgbClr val="4B2E83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cl"/>
          <p:cNvSpPr/>
          <p:nvPr/>
        </p:nvSpPr>
        <p:spPr>
          <a:xfrm>
            <a:off x="3352800" y="1625600"/>
            <a:ext cx="2489200" cy="381000"/>
          </a:xfrm>
          <a:prstGeom prst="rect">
            <a:avLst/>
          </a:prstGeom>
          <a:solidFill>
            <a:srgbClr val="4B2E83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2" name="cl"/>
          <p:cNvSpPr/>
          <p:nvPr/>
        </p:nvSpPr>
        <p:spPr>
          <a:xfrm>
            <a:off x="5842000" y="1625600"/>
            <a:ext cx="1320800" cy="381000"/>
          </a:xfrm>
          <a:prstGeom prst="rect">
            <a:avLst/>
          </a:prstGeom>
          <a:solidFill>
            <a:srgbClr val="4B2E83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3" name="tb"/>
          <p:cNvSpPr txBox="1"/>
          <p:nvPr/>
        </p:nvSpPr>
        <p:spPr>
          <a:xfrm>
            <a:off x="355600" y="1625600"/>
            <a:ext cx="2997200" cy="381000"/>
          </a:xfrm>
          <a:prstGeom prst="rect">
            <a:avLst/>
          </a:prstGeom>
          <a:noFill/>
        </p:spPr>
        <p:txBody>
          <a:bodyPr wrap="square" lIns="76200" tIns="0" rIns="76200" bIns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6004" name="tb"/>
          <p:cNvSpPr txBox="1"/>
          <p:nvPr/>
        </p:nvSpPr>
        <p:spPr>
          <a:xfrm>
            <a:off x="3352800" y="1625600"/>
            <a:ext cx="2489200" cy="381000"/>
          </a:xfrm>
          <a:prstGeom prst="rect">
            <a:avLst/>
          </a:prstGeom>
          <a:noFill/>
        </p:spPr>
        <p:txBody>
          <a:bodyPr wrap="square" lIns="76200" tIns="0" rIns="76200" bIns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FFFFFF"/>
                </a:solidFill>
              </a:rPr>
              <a:t>Typical range</a:t>
            </a:r>
          </a:p>
        </p:txBody>
      </p:sp>
      <p:sp>
        <p:nvSpPr>
          <p:cNvPr id="6005" name="tb"/>
          <p:cNvSpPr txBox="1"/>
          <p:nvPr/>
        </p:nvSpPr>
        <p:spPr>
          <a:xfrm>
            <a:off x="5842000" y="1625600"/>
            <a:ext cx="1320800" cy="381000"/>
          </a:xfrm>
          <a:prstGeom prst="rect">
            <a:avLst/>
          </a:prstGeom>
          <a:noFill/>
        </p:spPr>
        <p:txBody>
          <a:bodyPr wrap="square" lIns="76200" tIns="0" rIns="76200" bIns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FFFFFF"/>
                </a:solidFill>
              </a:rPr>
              <a:t>Unit</a:t>
            </a:r>
          </a:p>
        </p:txBody>
      </p:sp>
      <p:sp>
        <p:nvSpPr>
          <p:cNvPr id="6006" name="cl"/>
          <p:cNvSpPr/>
          <p:nvPr/>
        </p:nvSpPr>
        <p:spPr>
          <a:xfrm>
            <a:off x="355600" y="2006600"/>
            <a:ext cx="2997200" cy="381000"/>
          </a:xfrm>
          <a:prstGeom prst="rect">
            <a:avLst/>
          </a:prstGeom>
          <a:solidFill>
            <a:srgbClr val="F3EFF8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7" name="cl"/>
          <p:cNvSpPr/>
          <p:nvPr/>
        </p:nvSpPr>
        <p:spPr>
          <a:xfrm>
            <a:off x="3352800" y="2006600"/>
            <a:ext cx="2489200" cy="381000"/>
          </a:xfrm>
          <a:prstGeom prst="rect">
            <a:avLst/>
          </a:prstGeom>
          <a:solidFill>
            <a:srgbClr val="F3EFF8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8" name="cl"/>
          <p:cNvSpPr/>
          <p:nvPr/>
        </p:nvSpPr>
        <p:spPr>
          <a:xfrm>
            <a:off x="5842000" y="2006600"/>
            <a:ext cx="1320800" cy="381000"/>
          </a:xfrm>
          <a:prstGeom prst="rect">
            <a:avLst/>
          </a:prstGeom>
          <a:solidFill>
            <a:srgbClr val="F3EFF8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9" name="tb"/>
          <p:cNvSpPr txBox="1"/>
          <p:nvPr/>
        </p:nvSpPr>
        <p:spPr>
          <a:xfrm>
            <a:off x="355600" y="2006600"/>
            <a:ext cx="2997200" cy="381000"/>
          </a:xfrm>
          <a:prstGeom prst="rect">
            <a:avLst/>
          </a:prstGeom>
          <a:noFill/>
        </p:spPr>
        <p:txBody>
          <a:bodyPr wrap="square" lIns="76200" tIns="0" rIns="76200" bIns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333333"/>
                </a:solidFill>
              </a:rPr>
              <a:t>Age</a:t>
            </a:r>
          </a:p>
        </p:txBody>
      </p:sp>
      <p:sp>
        <p:nvSpPr>
          <p:cNvPr id="6010" name="tb"/>
          <p:cNvSpPr txBox="1"/>
          <p:nvPr/>
        </p:nvSpPr>
        <p:spPr>
          <a:xfrm>
            <a:off x="3352800" y="2006600"/>
            <a:ext cx="2489200" cy="381000"/>
          </a:xfrm>
          <a:prstGeom prst="rect">
            <a:avLst/>
          </a:prstGeom>
          <a:noFill/>
        </p:spPr>
        <p:txBody>
          <a:bodyPr wrap="square" lIns="76200" tIns="0" rIns="76200" bIns="0" anchor="ctr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0 – 100</a:t>
            </a:r>
          </a:p>
        </p:txBody>
      </p:sp>
      <p:sp>
        <p:nvSpPr>
          <p:cNvPr id="6011" name="tb"/>
          <p:cNvSpPr txBox="1"/>
          <p:nvPr/>
        </p:nvSpPr>
        <p:spPr>
          <a:xfrm>
            <a:off x="5842000" y="2006600"/>
            <a:ext cx="1320800" cy="381000"/>
          </a:xfrm>
          <a:prstGeom prst="rect">
            <a:avLst/>
          </a:prstGeom>
          <a:noFill/>
        </p:spPr>
        <p:txBody>
          <a:bodyPr wrap="square" lIns="76200" tIns="0" rIns="76200" bIns="0" anchor="ctr">
            <a:normAutofit/>
          </a:bodyPr>
          <a:lstStyle/>
          <a:p>
            <a:pPr algn="l"/>
            <a:r>
              <a:rPr lang="en-US" sz="1300" i="1" dirty="0">
                <a:solidFill>
                  <a:srgbClr val="333333"/>
                </a:solidFill>
              </a:rPr>
              <a:t>years</a:t>
            </a:r>
          </a:p>
        </p:txBody>
      </p:sp>
      <p:sp>
        <p:nvSpPr>
          <p:cNvPr id="6012" name="cl"/>
          <p:cNvSpPr/>
          <p:nvPr/>
        </p:nvSpPr>
        <p:spPr>
          <a:xfrm>
            <a:off x="355600" y="2387600"/>
            <a:ext cx="2997200" cy="38100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13" name="cl"/>
          <p:cNvSpPr/>
          <p:nvPr/>
        </p:nvSpPr>
        <p:spPr>
          <a:xfrm>
            <a:off x="3352800" y="2387600"/>
            <a:ext cx="2489200" cy="38100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14" name="cl"/>
          <p:cNvSpPr/>
          <p:nvPr/>
        </p:nvSpPr>
        <p:spPr>
          <a:xfrm>
            <a:off x="5842000" y="2387600"/>
            <a:ext cx="1320800" cy="38100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15" name="tb"/>
          <p:cNvSpPr txBox="1"/>
          <p:nvPr/>
        </p:nvSpPr>
        <p:spPr>
          <a:xfrm>
            <a:off x="355600" y="2387600"/>
            <a:ext cx="2997200" cy="381000"/>
          </a:xfrm>
          <a:prstGeom prst="rect">
            <a:avLst/>
          </a:prstGeom>
          <a:noFill/>
        </p:spPr>
        <p:txBody>
          <a:bodyPr wrap="square" lIns="76200" tIns="0" rIns="76200" bIns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333333"/>
                </a:solidFill>
              </a:rPr>
              <a:t>Annual income</a:t>
            </a:r>
          </a:p>
        </p:txBody>
      </p:sp>
      <p:sp>
        <p:nvSpPr>
          <p:cNvPr id="6016" name="tb"/>
          <p:cNvSpPr txBox="1"/>
          <p:nvPr/>
        </p:nvSpPr>
        <p:spPr>
          <a:xfrm>
            <a:off x="3352800" y="2387600"/>
            <a:ext cx="2489200" cy="381000"/>
          </a:xfrm>
          <a:prstGeom prst="rect">
            <a:avLst/>
          </a:prstGeom>
          <a:noFill/>
        </p:spPr>
        <p:txBody>
          <a:bodyPr wrap="square" lIns="76200" tIns="0" rIns="76200" bIns="0" anchor="ctr">
            <a:normAutofit/>
          </a:bodyPr>
          <a:lstStyle/>
          <a:p>
            <a:pPr algn="l"/>
            <a:r>
              <a:rPr lang="en-US" sz="1300" dirty="0">
                <a:solidFill>
                  <a:srgbClr val="D1578A"/>
                </a:solidFill>
              </a:rPr>
              <a:t>10,000 – 500,000</a:t>
            </a:r>
          </a:p>
        </p:txBody>
      </p:sp>
      <p:sp>
        <p:nvSpPr>
          <p:cNvPr id="6017" name="tb"/>
          <p:cNvSpPr txBox="1"/>
          <p:nvPr/>
        </p:nvSpPr>
        <p:spPr>
          <a:xfrm>
            <a:off x="5842000" y="2387600"/>
            <a:ext cx="1320800" cy="381000"/>
          </a:xfrm>
          <a:prstGeom prst="rect">
            <a:avLst/>
          </a:prstGeom>
          <a:noFill/>
        </p:spPr>
        <p:txBody>
          <a:bodyPr wrap="square" lIns="76200" tIns="0" rIns="76200" bIns="0" anchor="ctr">
            <a:normAutofit/>
          </a:bodyPr>
          <a:lstStyle/>
          <a:p>
            <a:pPr algn="l"/>
            <a:r>
              <a:rPr lang="en-US" sz="1300" i="1" dirty="0">
                <a:solidFill>
                  <a:srgbClr val="333333"/>
                </a:solidFill>
              </a:rPr>
              <a:t>dollars</a:t>
            </a:r>
          </a:p>
        </p:txBody>
      </p:sp>
      <p:sp>
        <p:nvSpPr>
          <p:cNvPr id="6018" name="cl"/>
          <p:cNvSpPr/>
          <p:nvPr/>
        </p:nvSpPr>
        <p:spPr>
          <a:xfrm>
            <a:off x="355600" y="2768600"/>
            <a:ext cx="2997200" cy="381000"/>
          </a:xfrm>
          <a:prstGeom prst="rect">
            <a:avLst/>
          </a:prstGeom>
          <a:solidFill>
            <a:srgbClr val="F3EFF8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19" name="cl"/>
          <p:cNvSpPr/>
          <p:nvPr/>
        </p:nvSpPr>
        <p:spPr>
          <a:xfrm>
            <a:off x="3352800" y="2768600"/>
            <a:ext cx="2489200" cy="381000"/>
          </a:xfrm>
          <a:prstGeom prst="rect">
            <a:avLst/>
          </a:prstGeom>
          <a:solidFill>
            <a:srgbClr val="F3EFF8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0" name="cl"/>
          <p:cNvSpPr/>
          <p:nvPr/>
        </p:nvSpPr>
        <p:spPr>
          <a:xfrm>
            <a:off x="5842000" y="2768600"/>
            <a:ext cx="1320800" cy="381000"/>
          </a:xfrm>
          <a:prstGeom prst="rect">
            <a:avLst/>
          </a:prstGeom>
          <a:solidFill>
            <a:srgbClr val="F3EFF8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1" name="tb"/>
          <p:cNvSpPr txBox="1"/>
          <p:nvPr/>
        </p:nvSpPr>
        <p:spPr>
          <a:xfrm>
            <a:off x="355600" y="2768600"/>
            <a:ext cx="2997200" cy="381000"/>
          </a:xfrm>
          <a:prstGeom prst="rect">
            <a:avLst/>
          </a:prstGeom>
          <a:noFill/>
        </p:spPr>
        <p:txBody>
          <a:bodyPr wrap="square" lIns="76200" tIns="0" rIns="76200" bIns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333333"/>
                </a:solidFill>
              </a:rPr>
              <a:t>Height</a:t>
            </a:r>
          </a:p>
        </p:txBody>
      </p:sp>
      <p:sp>
        <p:nvSpPr>
          <p:cNvPr id="6022" name="tb"/>
          <p:cNvSpPr txBox="1"/>
          <p:nvPr/>
        </p:nvSpPr>
        <p:spPr>
          <a:xfrm>
            <a:off x="3352800" y="2768600"/>
            <a:ext cx="2489200" cy="381000"/>
          </a:xfrm>
          <a:prstGeom prst="rect">
            <a:avLst/>
          </a:prstGeom>
          <a:noFill/>
        </p:spPr>
        <p:txBody>
          <a:bodyPr wrap="square" lIns="76200" tIns="0" rIns="76200" bIns="0" anchor="ctr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1.5 – 2.0</a:t>
            </a:r>
          </a:p>
        </p:txBody>
      </p:sp>
      <p:sp>
        <p:nvSpPr>
          <p:cNvPr id="6023" name="tb"/>
          <p:cNvSpPr txBox="1"/>
          <p:nvPr/>
        </p:nvSpPr>
        <p:spPr>
          <a:xfrm>
            <a:off x="5842000" y="2768600"/>
            <a:ext cx="1320800" cy="381000"/>
          </a:xfrm>
          <a:prstGeom prst="rect">
            <a:avLst/>
          </a:prstGeom>
          <a:noFill/>
        </p:spPr>
        <p:txBody>
          <a:bodyPr wrap="square" lIns="76200" tIns="0" rIns="76200" bIns="0" anchor="ctr">
            <a:normAutofit/>
          </a:bodyPr>
          <a:lstStyle/>
          <a:p>
            <a:pPr algn="l"/>
            <a:r>
              <a:rPr lang="en-US" sz="1300" i="1" dirty="0">
                <a:solidFill>
                  <a:srgbClr val="333333"/>
                </a:solidFill>
              </a:rPr>
              <a:t>meters</a:t>
            </a:r>
          </a:p>
        </p:txBody>
      </p:sp>
      <p:sp>
        <p:nvSpPr>
          <p:cNvPr id="6024" name="cl"/>
          <p:cNvSpPr/>
          <p:nvPr/>
        </p:nvSpPr>
        <p:spPr>
          <a:xfrm>
            <a:off x="355600" y="3149600"/>
            <a:ext cx="2997200" cy="38100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5" name="cl"/>
          <p:cNvSpPr/>
          <p:nvPr/>
        </p:nvSpPr>
        <p:spPr>
          <a:xfrm>
            <a:off x="3352800" y="3149600"/>
            <a:ext cx="2489200" cy="38100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6" name="cl"/>
          <p:cNvSpPr/>
          <p:nvPr/>
        </p:nvSpPr>
        <p:spPr>
          <a:xfrm>
            <a:off x="5842000" y="3149600"/>
            <a:ext cx="1320800" cy="38100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7" name="tb"/>
          <p:cNvSpPr txBox="1"/>
          <p:nvPr/>
        </p:nvSpPr>
        <p:spPr>
          <a:xfrm>
            <a:off x="355600" y="3149600"/>
            <a:ext cx="2997200" cy="381000"/>
          </a:xfrm>
          <a:prstGeom prst="rect">
            <a:avLst/>
          </a:prstGeom>
          <a:noFill/>
        </p:spPr>
        <p:txBody>
          <a:bodyPr wrap="square" lIns="76200" tIns="0" rIns="76200" bIns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333333"/>
                </a:solidFill>
              </a:rPr>
              <a:t>Weight</a:t>
            </a:r>
          </a:p>
        </p:txBody>
      </p:sp>
      <p:sp>
        <p:nvSpPr>
          <p:cNvPr id="6028" name="tb"/>
          <p:cNvSpPr txBox="1"/>
          <p:nvPr/>
        </p:nvSpPr>
        <p:spPr>
          <a:xfrm>
            <a:off x="3352800" y="3149600"/>
            <a:ext cx="2489200" cy="381000"/>
          </a:xfrm>
          <a:prstGeom prst="rect">
            <a:avLst/>
          </a:prstGeom>
          <a:noFill/>
        </p:spPr>
        <p:txBody>
          <a:bodyPr wrap="square" lIns="76200" tIns="0" rIns="76200" bIns="0" anchor="ctr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40 – 150</a:t>
            </a:r>
          </a:p>
        </p:txBody>
      </p:sp>
      <p:sp>
        <p:nvSpPr>
          <p:cNvPr id="6029" name="tb"/>
          <p:cNvSpPr txBox="1"/>
          <p:nvPr/>
        </p:nvSpPr>
        <p:spPr>
          <a:xfrm>
            <a:off x="5842000" y="3149600"/>
            <a:ext cx="1320800" cy="381000"/>
          </a:xfrm>
          <a:prstGeom prst="rect">
            <a:avLst/>
          </a:prstGeom>
          <a:noFill/>
        </p:spPr>
        <p:txBody>
          <a:bodyPr wrap="square" lIns="76200" tIns="0" rIns="76200" bIns="0" anchor="ctr">
            <a:normAutofit/>
          </a:bodyPr>
          <a:lstStyle/>
          <a:p>
            <a:pPr algn="l"/>
            <a:r>
              <a:rPr lang="en-US" sz="1300" i="1" dirty="0">
                <a:solidFill>
                  <a:srgbClr val="333333"/>
                </a:solidFill>
              </a:rPr>
              <a:t>kg</a:t>
            </a:r>
          </a:p>
        </p:txBody>
      </p:sp>
      <p:sp>
        <p:nvSpPr>
          <p:cNvPr id="6030" name="cl"/>
          <p:cNvSpPr/>
          <p:nvPr/>
        </p:nvSpPr>
        <p:spPr>
          <a:xfrm>
            <a:off x="355600" y="3530600"/>
            <a:ext cx="2997200" cy="381000"/>
          </a:xfrm>
          <a:prstGeom prst="rect">
            <a:avLst/>
          </a:prstGeom>
          <a:solidFill>
            <a:srgbClr val="F3EFF8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31" name="cl"/>
          <p:cNvSpPr/>
          <p:nvPr/>
        </p:nvSpPr>
        <p:spPr>
          <a:xfrm>
            <a:off x="3352800" y="3530600"/>
            <a:ext cx="2489200" cy="381000"/>
          </a:xfrm>
          <a:prstGeom prst="rect">
            <a:avLst/>
          </a:prstGeom>
          <a:solidFill>
            <a:srgbClr val="F3EFF8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32" name="cl"/>
          <p:cNvSpPr/>
          <p:nvPr/>
        </p:nvSpPr>
        <p:spPr>
          <a:xfrm>
            <a:off x="5842000" y="3530600"/>
            <a:ext cx="1320800" cy="381000"/>
          </a:xfrm>
          <a:prstGeom prst="rect">
            <a:avLst/>
          </a:prstGeom>
          <a:solidFill>
            <a:srgbClr val="F3EFF8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33" name="tb"/>
          <p:cNvSpPr txBox="1"/>
          <p:nvPr/>
        </p:nvSpPr>
        <p:spPr>
          <a:xfrm>
            <a:off x="355600" y="3530600"/>
            <a:ext cx="2997200" cy="381000"/>
          </a:xfrm>
          <a:prstGeom prst="rect">
            <a:avLst/>
          </a:prstGeom>
          <a:noFill/>
        </p:spPr>
        <p:txBody>
          <a:bodyPr wrap="square" lIns="76200" tIns="0" rIns="76200" bIns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333333"/>
                </a:solidFill>
              </a:rPr>
              <a:t>Body temperature</a:t>
            </a:r>
          </a:p>
        </p:txBody>
      </p:sp>
      <p:sp>
        <p:nvSpPr>
          <p:cNvPr id="6034" name="tb"/>
          <p:cNvSpPr txBox="1"/>
          <p:nvPr/>
        </p:nvSpPr>
        <p:spPr>
          <a:xfrm>
            <a:off x="3352800" y="3530600"/>
            <a:ext cx="2489200" cy="381000"/>
          </a:xfrm>
          <a:prstGeom prst="rect">
            <a:avLst/>
          </a:prstGeom>
          <a:noFill/>
        </p:spPr>
        <p:txBody>
          <a:bodyPr wrap="square" lIns="76200" tIns="0" rIns="76200" bIns="0" anchor="ctr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36 – 40</a:t>
            </a:r>
          </a:p>
        </p:txBody>
      </p:sp>
      <p:sp>
        <p:nvSpPr>
          <p:cNvPr id="6035" name="tb"/>
          <p:cNvSpPr txBox="1"/>
          <p:nvPr/>
        </p:nvSpPr>
        <p:spPr>
          <a:xfrm>
            <a:off x="5842000" y="3530600"/>
            <a:ext cx="1320800" cy="381000"/>
          </a:xfrm>
          <a:prstGeom prst="rect">
            <a:avLst/>
          </a:prstGeom>
          <a:noFill/>
        </p:spPr>
        <p:txBody>
          <a:bodyPr wrap="square" lIns="76200" tIns="0" rIns="76200" bIns="0" anchor="ctr">
            <a:normAutofit/>
          </a:bodyPr>
          <a:lstStyle/>
          <a:p>
            <a:pPr algn="l"/>
            <a:r>
              <a:rPr lang="en-US" sz="1300" i="1" dirty="0">
                <a:solidFill>
                  <a:srgbClr val="333333"/>
                </a:solidFill>
              </a:rPr>
              <a:t>°C</a:t>
            </a:r>
          </a:p>
        </p:txBody>
      </p:sp>
      <p:sp>
        <p:nvSpPr>
          <p:cNvPr id="6036" name="cl"/>
          <p:cNvSpPr/>
          <p:nvPr/>
        </p:nvSpPr>
        <p:spPr>
          <a:xfrm>
            <a:off x="355600" y="3911600"/>
            <a:ext cx="2997200" cy="38100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37" name="cl"/>
          <p:cNvSpPr/>
          <p:nvPr/>
        </p:nvSpPr>
        <p:spPr>
          <a:xfrm>
            <a:off x="3352800" y="3911600"/>
            <a:ext cx="2489200" cy="38100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38" name="cl"/>
          <p:cNvSpPr/>
          <p:nvPr/>
        </p:nvSpPr>
        <p:spPr>
          <a:xfrm>
            <a:off x="5842000" y="3911600"/>
            <a:ext cx="1320800" cy="38100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39" name="tb"/>
          <p:cNvSpPr txBox="1"/>
          <p:nvPr/>
        </p:nvSpPr>
        <p:spPr>
          <a:xfrm>
            <a:off x="355600" y="3911600"/>
            <a:ext cx="2997200" cy="381000"/>
          </a:xfrm>
          <a:prstGeom prst="rect">
            <a:avLst/>
          </a:prstGeom>
          <a:noFill/>
        </p:spPr>
        <p:txBody>
          <a:bodyPr wrap="square" lIns="76200" tIns="0" rIns="76200" bIns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333333"/>
                </a:solidFill>
              </a:rPr>
              <a:t>House price</a:t>
            </a:r>
          </a:p>
        </p:txBody>
      </p:sp>
      <p:sp>
        <p:nvSpPr>
          <p:cNvPr id="6040" name="tb"/>
          <p:cNvSpPr txBox="1"/>
          <p:nvPr/>
        </p:nvSpPr>
        <p:spPr>
          <a:xfrm>
            <a:off x="3352800" y="3911600"/>
            <a:ext cx="2489200" cy="381000"/>
          </a:xfrm>
          <a:prstGeom prst="rect">
            <a:avLst/>
          </a:prstGeom>
          <a:noFill/>
        </p:spPr>
        <p:txBody>
          <a:bodyPr wrap="square" lIns="76200" tIns="0" rIns="76200" bIns="0" anchor="ctr">
            <a:normAutofit/>
          </a:bodyPr>
          <a:lstStyle/>
          <a:p>
            <a:pPr algn="l"/>
            <a:r>
              <a:rPr lang="en-US" sz="1300" dirty="0">
                <a:solidFill>
                  <a:srgbClr val="D1578A"/>
                </a:solidFill>
              </a:rPr>
              <a:t>50,000 – 5,000,000</a:t>
            </a:r>
          </a:p>
        </p:txBody>
      </p:sp>
      <p:sp>
        <p:nvSpPr>
          <p:cNvPr id="6041" name="tb"/>
          <p:cNvSpPr txBox="1"/>
          <p:nvPr/>
        </p:nvSpPr>
        <p:spPr>
          <a:xfrm>
            <a:off x="5842000" y="3911600"/>
            <a:ext cx="1320800" cy="381000"/>
          </a:xfrm>
          <a:prstGeom prst="rect">
            <a:avLst/>
          </a:prstGeom>
          <a:noFill/>
        </p:spPr>
        <p:txBody>
          <a:bodyPr wrap="square" lIns="76200" tIns="0" rIns="76200" bIns="0" anchor="ctr">
            <a:normAutofit/>
          </a:bodyPr>
          <a:lstStyle/>
          <a:p>
            <a:pPr algn="l"/>
            <a:r>
              <a:rPr lang="en-US" sz="1300" i="1" dirty="0">
                <a:solidFill>
                  <a:srgbClr val="333333"/>
                </a:solidFill>
              </a:rPr>
              <a:t>dollars</a:t>
            </a:r>
          </a:p>
        </p:txBody>
      </p:sp>
      <p:sp>
        <p:nvSpPr>
          <p:cNvPr id="6042" name="cl"/>
          <p:cNvSpPr/>
          <p:nvPr/>
        </p:nvSpPr>
        <p:spPr>
          <a:xfrm>
            <a:off x="355600" y="4292600"/>
            <a:ext cx="2997200" cy="381000"/>
          </a:xfrm>
          <a:prstGeom prst="rect">
            <a:avLst/>
          </a:prstGeom>
          <a:solidFill>
            <a:srgbClr val="F3EFF8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43" name="cl"/>
          <p:cNvSpPr/>
          <p:nvPr/>
        </p:nvSpPr>
        <p:spPr>
          <a:xfrm>
            <a:off x="3352800" y="4292600"/>
            <a:ext cx="2489200" cy="381000"/>
          </a:xfrm>
          <a:prstGeom prst="rect">
            <a:avLst/>
          </a:prstGeom>
          <a:solidFill>
            <a:srgbClr val="F3EFF8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44" name="cl"/>
          <p:cNvSpPr/>
          <p:nvPr/>
        </p:nvSpPr>
        <p:spPr>
          <a:xfrm>
            <a:off x="5842000" y="4292600"/>
            <a:ext cx="1320800" cy="381000"/>
          </a:xfrm>
          <a:prstGeom prst="rect">
            <a:avLst/>
          </a:prstGeom>
          <a:solidFill>
            <a:srgbClr val="F3EFF8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45" name="tb"/>
          <p:cNvSpPr txBox="1"/>
          <p:nvPr/>
        </p:nvSpPr>
        <p:spPr>
          <a:xfrm>
            <a:off x="355600" y="4292600"/>
            <a:ext cx="2997200" cy="381000"/>
          </a:xfrm>
          <a:prstGeom prst="rect">
            <a:avLst/>
          </a:prstGeom>
          <a:noFill/>
        </p:spPr>
        <p:txBody>
          <a:bodyPr wrap="square" lIns="76200" tIns="0" rIns="76200" bIns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333333"/>
                </a:solidFill>
              </a:rPr>
              <a:t>Distance to store</a:t>
            </a:r>
          </a:p>
        </p:txBody>
      </p:sp>
      <p:sp>
        <p:nvSpPr>
          <p:cNvPr id="6046" name="tb"/>
          <p:cNvSpPr txBox="1"/>
          <p:nvPr/>
        </p:nvSpPr>
        <p:spPr>
          <a:xfrm>
            <a:off x="3352800" y="4292600"/>
            <a:ext cx="2489200" cy="381000"/>
          </a:xfrm>
          <a:prstGeom prst="rect">
            <a:avLst/>
          </a:prstGeom>
          <a:noFill/>
        </p:spPr>
        <p:txBody>
          <a:bodyPr wrap="square" lIns="76200" tIns="0" rIns="76200" bIns="0" anchor="ctr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0.1 – 50</a:t>
            </a:r>
          </a:p>
        </p:txBody>
      </p:sp>
      <p:sp>
        <p:nvSpPr>
          <p:cNvPr id="6047" name="tb"/>
          <p:cNvSpPr txBox="1"/>
          <p:nvPr/>
        </p:nvSpPr>
        <p:spPr>
          <a:xfrm>
            <a:off x="5842000" y="4292600"/>
            <a:ext cx="1320800" cy="381000"/>
          </a:xfrm>
          <a:prstGeom prst="rect">
            <a:avLst/>
          </a:prstGeom>
          <a:noFill/>
        </p:spPr>
        <p:txBody>
          <a:bodyPr wrap="square" lIns="76200" tIns="0" rIns="76200" bIns="0" anchor="ctr">
            <a:normAutofit/>
          </a:bodyPr>
          <a:lstStyle/>
          <a:p>
            <a:pPr algn="l"/>
            <a:r>
              <a:rPr lang="en-US" sz="1300" i="1" dirty="0">
                <a:solidFill>
                  <a:srgbClr val="333333"/>
                </a:solidFill>
              </a:rPr>
              <a:t>km</a:t>
            </a:r>
          </a:p>
        </p:txBody>
      </p:sp>
      <p:sp>
        <p:nvSpPr>
          <p:cNvPr id="6048" name="cl"/>
          <p:cNvSpPr/>
          <p:nvPr/>
        </p:nvSpPr>
        <p:spPr>
          <a:xfrm>
            <a:off x="355600" y="4673600"/>
            <a:ext cx="2997200" cy="38100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49" name="cl"/>
          <p:cNvSpPr/>
          <p:nvPr/>
        </p:nvSpPr>
        <p:spPr>
          <a:xfrm>
            <a:off x="3352800" y="4673600"/>
            <a:ext cx="2489200" cy="38100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50" name="cl"/>
          <p:cNvSpPr/>
          <p:nvPr/>
        </p:nvSpPr>
        <p:spPr>
          <a:xfrm>
            <a:off x="5842000" y="4673600"/>
            <a:ext cx="1320800" cy="38100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51" name="tb"/>
          <p:cNvSpPr txBox="1"/>
          <p:nvPr/>
        </p:nvSpPr>
        <p:spPr>
          <a:xfrm>
            <a:off x="355600" y="4673600"/>
            <a:ext cx="2997200" cy="381000"/>
          </a:xfrm>
          <a:prstGeom prst="rect">
            <a:avLst/>
          </a:prstGeom>
          <a:noFill/>
        </p:spPr>
        <p:txBody>
          <a:bodyPr wrap="square" lIns="76200" tIns="0" rIns="76200" bIns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333333"/>
                </a:solidFill>
              </a:rPr>
              <a:t>Rooms</a:t>
            </a:r>
          </a:p>
        </p:txBody>
      </p:sp>
      <p:sp>
        <p:nvSpPr>
          <p:cNvPr id="6052" name="tb"/>
          <p:cNvSpPr txBox="1"/>
          <p:nvPr/>
        </p:nvSpPr>
        <p:spPr>
          <a:xfrm>
            <a:off x="3352800" y="4673600"/>
            <a:ext cx="2489200" cy="381000"/>
          </a:xfrm>
          <a:prstGeom prst="rect">
            <a:avLst/>
          </a:prstGeom>
          <a:noFill/>
        </p:spPr>
        <p:txBody>
          <a:bodyPr wrap="square" lIns="76200" tIns="0" rIns="76200" bIns="0" anchor="ctr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1 – 10</a:t>
            </a:r>
          </a:p>
        </p:txBody>
      </p:sp>
      <p:sp>
        <p:nvSpPr>
          <p:cNvPr id="6053" name="tb"/>
          <p:cNvSpPr txBox="1"/>
          <p:nvPr/>
        </p:nvSpPr>
        <p:spPr>
          <a:xfrm>
            <a:off x="5842000" y="4673600"/>
            <a:ext cx="1320800" cy="381000"/>
          </a:xfrm>
          <a:prstGeom prst="rect">
            <a:avLst/>
          </a:prstGeom>
          <a:noFill/>
        </p:spPr>
        <p:txBody>
          <a:bodyPr wrap="square" lIns="76200" tIns="0" rIns="76200" bIns="0" anchor="ctr">
            <a:normAutofit/>
          </a:bodyPr>
          <a:lstStyle/>
          <a:p>
            <a:pPr algn="l"/>
            <a:r>
              <a:rPr lang="en-US" sz="1300" i="1" dirty="0">
                <a:solidFill>
                  <a:srgbClr val="333333"/>
                </a:solidFill>
              </a:rPr>
              <a:t>count</a:t>
            </a:r>
          </a:p>
        </p:txBody>
      </p:sp>
      <p:sp>
        <p:nvSpPr>
          <p:cNvPr id="6054" name="tb"/>
          <p:cNvSpPr txBox="1"/>
          <p:nvPr/>
        </p:nvSpPr>
        <p:spPr>
          <a:xfrm>
            <a:off x="355600" y="5156200"/>
            <a:ext cx="6807200" cy="228600"/>
          </a:xfrm>
          <a:prstGeom prst="rect">
            <a:avLst/>
          </a:prstGeom>
          <a:noFill/>
        </p:spPr>
        <p:txBody>
          <a:bodyPr wrap="square" lIns="76200" tIns="0" rIns="76200" bIns="0" anchor="ctr">
            <a:normAutofit/>
          </a:bodyPr>
          <a:lstStyle/>
          <a:p>
            <a:pPr algn="l"/>
            <a:r>
              <a:rPr lang="en-US" sz="1250" i="1" dirty="0">
                <a:solidFill>
                  <a:srgbClr val="6E6E6E"/>
                </a:solidFill>
              </a:rPr>
              <a:t>Dollar features are ~10⁶× larger than rooms or height.</a:t>
            </a:r>
          </a:p>
        </p:txBody>
      </p:sp>
      <p:sp>
        <p:nvSpPr>
          <p:cNvPr id="6055" name="pn"/>
          <p:cNvSpPr/>
          <p:nvPr/>
        </p:nvSpPr>
        <p:spPr>
          <a:xfrm>
            <a:off x="7569200" y="1371600"/>
            <a:ext cx="4318000" cy="43942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56" name="tb"/>
          <p:cNvSpPr txBox="1"/>
          <p:nvPr/>
        </p:nvSpPr>
        <p:spPr>
          <a:xfrm>
            <a:off x="7823200" y="1574800"/>
            <a:ext cx="3810000" cy="304800"/>
          </a:xfrm>
          <a:prstGeom prst="rect">
            <a:avLst/>
          </a:prstGeom>
          <a:noFill/>
        </p:spPr>
        <p:txBody>
          <a:bodyPr wrap="square" lIns="76200" tIns="0" rIns="76200" bIns="0" anchor="ctr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Why it matters</a:t>
            </a:r>
          </a:p>
        </p:txBody>
      </p:sp>
      <p:sp>
        <p:nvSpPr>
          <p:cNvPr id="6057" name="tb"/>
          <p:cNvSpPr txBox="1"/>
          <p:nvPr/>
        </p:nvSpPr>
        <p:spPr>
          <a:xfrm>
            <a:off x="7823200" y="2006600"/>
            <a:ext cx="3860800" cy="1905000"/>
          </a:xfrm>
          <a:prstGeom prst="rect">
            <a:avLst/>
          </a:prstGeom>
          <a:noFill/>
        </p:spPr>
        <p:txBody>
          <a:bodyPr wrap="square" lIns="76200" tIns="0" rIns="76200" bIns="0" anchor="ctr">
            <a:normAutofit/>
          </a:bodyPr>
          <a:lstStyle/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These ranges differ by over a million× — income and price dwarf age, height, rooms.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Distance, covariance, KNN, k-means, PCA and gradient descent all sum squared differences.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The big-scale feature dominates; the rest are effectively ignored.</a:t>
            </a:r>
          </a:p>
        </p:txBody>
      </p:sp>
      <p:sp>
        <p:nvSpPr>
          <p:cNvPr id="6058" name="tb"/>
          <p:cNvSpPr txBox="1"/>
          <p:nvPr/>
        </p:nvSpPr>
        <p:spPr>
          <a:xfrm>
            <a:off x="7823200" y="4089400"/>
            <a:ext cx="3810000" cy="304800"/>
          </a:xfrm>
          <a:prstGeom prst="rect">
            <a:avLst/>
          </a:prstGeom>
          <a:noFill/>
        </p:spPr>
        <p:txBody>
          <a:bodyPr wrap="square" lIns="76200" tIns="0" rIns="76200" bIns="0" anchor="ctr">
            <a:normAutofit/>
          </a:bodyPr>
          <a:lstStyle/>
          <a:p>
            <a:pPr algn="l"/>
            <a:r>
              <a:rPr lang="en-US" sz="1500" b="1" dirty="0">
                <a:solidFill>
                  <a:srgbClr val="7AB648"/>
                </a:solidFill>
              </a:rPr>
              <a:t>The fix</a:t>
            </a:r>
          </a:p>
        </p:txBody>
      </p:sp>
      <p:sp>
        <p:nvSpPr>
          <p:cNvPr id="6059" name="tb"/>
          <p:cNvSpPr txBox="1"/>
          <p:nvPr/>
        </p:nvSpPr>
        <p:spPr>
          <a:xfrm>
            <a:off x="7823200" y="4470400"/>
            <a:ext cx="3860800" cy="1143000"/>
          </a:xfrm>
          <a:prstGeom prst="rect">
            <a:avLst/>
          </a:prstGeom>
          <a:noFill/>
        </p:spPr>
        <p:txBody>
          <a:bodyPr wrap="square" lIns="76200" tIns="0" rIns="76200" bIns="0" anchor="ctr">
            <a:normAutofit/>
          </a:bodyPr>
          <a:lstStyle/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Standardize:  z = (x − μ)/σ.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Every feature → mean 0, std 1, directly comparable.</a:t>
            </a:r>
          </a:p>
        </p:txBody>
      </p:sp>
    </p:spTree>
    <p:extLst>
      <p:ext uri="{BB962C8B-B14F-4D97-AF65-F5344CB8AC3E}">
        <p14:creationId xmlns:p14="http://schemas.microsoft.com/office/powerpoint/2010/main" val="274803989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Standardization (Z-scores)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Rescale every feature to mean 0 and standard deviation 1.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Standardizing removes units and scale, so features compare fairly — and R = 1/(n−1)·ZᵀZ.</a:t>
            </a:r>
          </a:p>
        </p:txBody>
      </p:sp>
      <p:sp>
        <p:nvSpPr>
          <p:cNvPr id="6000" name="panel"/>
          <p:cNvSpPr/>
          <p:nvPr/>
        </p:nvSpPr>
        <p:spPr>
          <a:xfrm>
            <a:off x="304800" y="1219200"/>
            <a:ext cx="59436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47800"/>
            <a:ext cx="5461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Per element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002" name="tb"/>
              <p:cNvSpPr txBox="1"/>
              <p:nvPr/>
            </p:nvSpPr>
            <p:spPr>
              <a:xfrm>
                <a:off x="558800" y="1854200"/>
                <a:ext cx="5461000" cy="3556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rmAutofit fontScale="62500" lnSpcReduction="20000"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7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𝑧</m:t>
                          </m:r>
                        </m:e>
                        <m:sub>
                          <m:r>
                            <a:rPr lang="en-US" sz="17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𝑖𝑗</m:t>
                          </m:r>
                        </m:sub>
                      </m:sSub>
                      <m:r>
                        <a:rPr lang="en-US" sz="1700">
                          <a:solidFill>
                            <a:srgbClr val="333333"/>
                          </a:solidFill>
                          <a:latin typeface="Cambria Math"/>
                        </a:rPr>
                        <m:t> = </m:t>
                      </m:r>
                      <m:f>
                        <m:fPr>
                          <m:ctrlPr>
                            <a:rPr lang="en-US" sz="17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7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70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70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sz="17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− </m:t>
                          </m:r>
                          <m:sSub>
                            <m:sSubPr>
                              <m:ctrlPr>
                                <a:rPr lang="en-US" sz="17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70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170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700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70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700">
                                  <a:solidFill>
                                    <a:srgbClr val="333333"/>
                                  </a:solidFill>
                                  <a:latin typeface="Cambria Math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6002" name="tb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800" y="1854200"/>
                <a:ext cx="5461000" cy="355600"/>
              </a:xfrm>
              <a:prstGeom prst="rect">
                <a:avLst/>
              </a:prstGeom>
              <a:blipFill>
                <a:blip r:embed="rId2"/>
                <a:stretch>
                  <a:fillRect t="-13333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03" name="tb"/>
          <p:cNvSpPr txBox="1"/>
          <p:nvPr/>
        </p:nvSpPr>
        <p:spPr>
          <a:xfrm>
            <a:off x="558800" y="2311400"/>
            <a:ext cx="5461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00" i="1" dirty="0">
                <a:solidFill>
                  <a:srgbClr val="6E6E6E"/>
                </a:solidFill>
              </a:rPr>
              <a:t>subtract the column mean, divide by its std dev</a:t>
            </a:r>
          </a:p>
        </p:txBody>
      </p:sp>
      <p:sp>
        <p:nvSpPr>
          <p:cNvPr id="6004" name="tb"/>
          <p:cNvSpPr txBox="1"/>
          <p:nvPr/>
        </p:nvSpPr>
        <p:spPr>
          <a:xfrm>
            <a:off x="558800" y="2844800"/>
            <a:ext cx="5461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Matrix form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005" name="tb"/>
              <p:cNvSpPr txBox="1"/>
              <p:nvPr/>
            </p:nvSpPr>
            <p:spPr>
              <a:xfrm>
                <a:off x="558800" y="3251200"/>
                <a:ext cx="5461000" cy="3556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>
                          <a:solidFill>
                            <a:srgbClr val="333333"/>
                          </a:solidFill>
                          <a:latin typeface="Cambria Math"/>
                        </a:rPr>
                        <m:t>𝑍</m:t>
                      </m:r>
                      <m:r>
                        <a:rPr lang="en-US" sz="1700">
                          <a:solidFill>
                            <a:srgbClr val="333333"/>
                          </a:solidFill>
                          <a:latin typeface="Cambria Math"/>
                        </a:rPr>
                        <m:t> = (</m:t>
                      </m:r>
                      <m:r>
                        <a:rPr lang="en-US" sz="1700">
                          <a:solidFill>
                            <a:srgbClr val="333333"/>
                          </a:solidFill>
                          <a:latin typeface="Cambria Math"/>
                        </a:rPr>
                        <m:t>𝑋</m:t>
                      </m:r>
                      <m:r>
                        <a:rPr lang="en-US" sz="1700">
                          <a:solidFill>
                            <a:srgbClr val="333333"/>
                          </a:solidFill>
                          <a:latin typeface="Cambria Math"/>
                        </a:rPr>
                        <m:t> − 1</m:t>
                      </m:r>
                      <m:sSup>
                        <m:sSupPr>
                          <m:ctrlPr>
                            <a:rPr lang="en-US" sz="17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7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𝜇</m:t>
                          </m:r>
                        </m:e>
                        <m:sup>
                          <m:r>
                            <a:rPr lang="en-US" sz="17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𝑇</m:t>
                          </m:r>
                        </m:sup>
                      </m:sSup>
                      <m:r>
                        <a:rPr lang="en-US" sz="1700">
                          <a:solidFill>
                            <a:srgbClr val="333333"/>
                          </a:solidFill>
                          <a:latin typeface="Cambria Math"/>
                        </a:rPr>
                        <m:t>)</m:t>
                      </m:r>
                      <m:sSup>
                        <m:sSupPr>
                          <m:ctrlPr>
                            <a:rPr lang="en-US" sz="17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7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𝐷</m:t>
                          </m:r>
                        </m:e>
                        <m:sup>
                          <m:r>
                            <a:rPr lang="en-US" sz="17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−1</m:t>
                          </m:r>
                        </m:sup>
                      </m:sSup>
                      <m:r>
                        <a:rPr lang="en-US" sz="1700">
                          <a:solidFill>
                            <a:srgbClr val="333333"/>
                          </a:solidFill>
                          <a:latin typeface="Cambria Math"/>
                        </a:rPr>
                        <m:t> = </m:t>
                      </m:r>
                      <m:sSub>
                        <m:sSubPr>
                          <m:ctrlPr>
                            <a:rPr lang="en-US" sz="17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lang="en-US" sz="17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𝑐</m:t>
                          </m:r>
                        </m:sub>
                      </m:sSub>
                      <m:sSup>
                        <m:sSupPr>
                          <m:ctrlPr>
                            <a:rPr lang="en-US" sz="1700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7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𝐷</m:t>
                          </m:r>
                        </m:e>
                        <m:sup>
                          <m:r>
                            <a:rPr lang="en-US" sz="170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6005" name="tb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800" y="3251200"/>
                <a:ext cx="5461000" cy="355600"/>
              </a:xfrm>
              <a:prstGeom prst="rect">
                <a:avLst/>
              </a:prstGeom>
              <a:blipFill>
                <a:blip r:embed="rId3"/>
                <a:stretch>
                  <a:fillRect t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06" name="tb"/>
          <p:cNvSpPr txBox="1"/>
          <p:nvPr/>
        </p:nvSpPr>
        <p:spPr>
          <a:xfrm>
            <a:off x="558800" y="3708400"/>
            <a:ext cx="5461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dirty="0">
                <a:solidFill>
                  <a:srgbClr val="333333"/>
                </a:solidFill>
                <a:latin typeface="Consolas"/>
                <a:cs typeface="Consolas"/>
              </a:rPr>
              <a:t>D = diag(σ₁, σ₂, …, σ_p)</a:t>
            </a:r>
          </a:p>
        </p:txBody>
      </p:sp>
      <p:sp>
        <p:nvSpPr>
          <p:cNvPr id="6007" name="tb"/>
          <p:cNvSpPr txBox="1"/>
          <p:nvPr/>
        </p:nvSpPr>
        <p:spPr>
          <a:xfrm>
            <a:off x="558800" y="4216400"/>
            <a:ext cx="5588000" cy="1397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en-US" sz="1350" dirty="0">
                <a:solidFill>
                  <a:srgbClr val="333333"/>
                </a:solidFill>
              </a:rPr>
              <a:t>Every column of Z has mean 0 and std 1.</a:t>
            </a:r>
          </a:p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en-US" sz="1350" dirty="0">
                <a:solidFill>
                  <a:srgbClr val="333333"/>
                </a:solidFill>
              </a:rPr>
              <a:t>Correlation = covariance of the standardized data:</a:t>
            </a:r>
          </a:p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en-US" sz="1350" dirty="0">
                <a:solidFill>
                  <a:srgbClr val="333333"/>
                </a:solidFill>
              </a:rPr>
              <a:t>R = 1/(n−1) · Zᵀ Z.</a:t>
            </a:r>
          </a:p>
        </p:txBody>
      </p:sp>
      <p:sp>
        <p:nvSpPr>
          <p:cNvPr id="6008" name="panel"/>
          <p:cNvSpPr/>
          <p:nvPr/>
        </p:nvSpPr>
        <p:spPr>
          <a:xfrm>
            <a:off x="6451600" y="1219200"/>
            <a:ext cx="54356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9" name="tb"/>
          <p:cNvSpPr txBox="1"/>
          <p:nvPr/>
        </p:nvSpPr>
        <p:spPr>
          <a:xfrm>
            <a:off x="6705600" y="1447800"/>
            <a:ext cx="49276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Same data, shifted and rescaled</a:t>
            </a:r>
          </a:p>
        </p:txBody>
      </p:sp>
      <p:sp>
        <p:nvSpPr>
          <p:cNvPr id="6010" name="tb"/>
          <p:cNvSpPr txBox="1"/>
          <p:nvPr/>
        </p:nvSpPr>
        <p:spPr>
          <a:xfrm>
            <a:off x="6705600" y="2057400"/>
            <a:ext cx="2540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00" i="1" dirty="0">
                <a:solidFill>
                  <a:srgbClr val="6E6E6E"/>
                </a:solidFill>
              </a:rPr>
              <a:t>raw values  x</a:t>
            </a:r>
          </a:p>
        </p:txBody>
      </p:sp>
      <p:sp>
        <p:nvSpPr>
          <p:cNvPr id="6011" name="r"/>
          <p:cNvSpPr/>
          <p:nvPr/>
        </p:nvSpPr>
        <p:spPr>
          <a:xfrm>
            <a:off x="6959600" y="2489200"/>
            <a:ext cx="4445000" cy="2032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2" name="dt"/>
          <p:cNvSpPr/>
          <p:nvPr/>
        </p:nvSpPr>
        <p:spPr>
          <a:xfrm>
            <a:off x="7594600" y="2413000"/>
            <a:ext cx="152400" cy="152400"/>
          </a:xfrm>
          <a:prstGeom prst="ellipse">
            <a:avLst/>
          </a:prstGeom>
          <a:solidFill>
            <a:srgbClr val="00A7B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3" name="dt"/>
          <p:cNvSpPr/>
          <p:nvPr/>
        </p:nvSpPr>
        <p:spPr>
          <a:xfrm>
            <a:off x="8483600" y="2413000"/>
            <a:ext cx="152400" cy="152400"/>
          </a:xfrm>
          <a:prstGeom prst="ellipse">
            <a:avLst/>
          </a:prstGeom>
          <a:solidFill>
            <a:srgbClr val="00A7B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4" name="dt"/>
          <p:cNvSpPr/>
          <p:nvPr/>
        </p:nvSpPr>
        <p:spPr>
          <a:xfrm>
            <a:off x="9372600" y="2413000"/>
            <a:ext cx="152400" cy="152400"/>
          </a:xfrm>
          <a:prstGeom prst="ellipse">
            <a:avLst/>
          </a:prstGeom>
          <a:solidFill>
            <a:srgbClr val="00A7B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5" name="dt"/>
          <p:cNvSpPr/>
          <p:nvPr/>
        </p:nvSpPr>
        <p:spPr>
          <a:xfrm>
            <a:off x="10261600" y="2413000"/>
            <a:ext cx="152400" cy="152400"/>
          </a:xfrm>
          <a:prstGeom prst="ellipse">
            <a:avLst/>
          </a:prstGeom>
          <a:solidFill>
            <a:srgbClr val="00A7B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6" name="dt"/>
          <p:cNvSpPr/>
          <p:nvPr/>
        </p:nvSpPr>
        <p:spPr>
          <a:xfrm>
            <a:off x="11150600" y="2413000"/>
            <a:ext cx="152400" cy="152400"/>
          </a:xfrm>
          <a:prstGeom prst="ellipse">
            <a:avLst/>
          </a:prstGeom>
          <a:solidFill>
            <a:srgbClr val="00A7B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7" name="r"/>
          <p:cNvSpPr/>
          <p:nvPr/>
        </p:nvSpPr>
        <p:spPr>
          <a:xfrm>
            <a:off x="9438640" y="2336800"/>
            <a:ext cx="20320" cy="3048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8" name="tb"/>
          <p:cNvSpPr txBox="1"/>
          <p:nvPr/>
        </p:nvSpPr>
        <p:spPr>
          <a:xfrm>
            <a:off x="9347200" y="2082800"/>
            <a:ext cx="381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μ</a:t>
            </a:r>
          </a:p>
        </p:txBody>
      </p:sp>
      <p:cxnSp>
        <p:nvCxnSpPr>
          <p:cNvPr id="6019" name="ar"/>
          <p:cNvCxnSpPr/>
          <p:nvPr/>
        </p:nvCxnSpPr>
        <p:spPr>
          <a:xfrm>
            <a:off x="9169400" y="2768600"/>
            <a:ext cx="0" cy="812800"/>
          </a:xfrm>
          <a:prstGeom prst="line">
            <a:avLst/>
          </a:prstGeom>
          <a:ln w="22225">
            <a:solidFill>
              <a:srgbClr val="4B2E83"/>
            </a:solidFill>
            <a:tailEnd type="triangle"/>
          </a:ln>
        </p:spPr>
      </p:cxnSp>
      <p:sp>
        <p:nvSpPr>
          <p:cNvPr id="6020" name="tb"/>
          <p:cNvSpPr txBox="1"/>
          <p:nvPr/>
        </p:nvSpPr>
        <p:spPr>
          <a:xfrm>
            <a:off x="9347200" y="2997200"/>
            <a:ext cx="2540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b="1" dirty="0">
                <a:solidFill>
                  <a:srgbClr val="4B2E83"/>
                </a:solidFill>
                <a:latin typeface="Consolas"/>
                <a:cs typeface="Consolas"/>
              </a:rPr>
              <a:t>z = (x − μ) / σ</a:t>
            </a:r>
          </a:p>
        </p:txBody>
      </p:sp>
      <p:sp>
        <p:nvSpPr>
          <p:cNvPr id="6021" name="r"/>
          <p:cNvSpPr/>
          <p:nvPr/>
        </p:nvSpPr>
        <p:spPr>
          <a:xfrm>
            <a:off x="6959600" y="3860800"/>
            <a:ext cx="4445000" cy="20320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2" name="dt"/>
          <p:cNvSpPr/>
          <p:nvPr/>
        </p:nvSpPr>
        <p:spPr>
          <a:xfrm>
            <a:off x="8037068" y="3784600"/>
            <a:ext cx="152400" cy="152400"/>
          </a:xfrm>
          <a:prstGeom prst="ellipse">
            <a:avLst/>
          </a:prstGeom>
          <a:solidFill>
            <a:srgbClr val="7AB64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3" name="dt"/>
          <p:cNvSpPr/>
          <p:nvPr/>
        </p:nvSpPr>
        <p:spPr>
          <a:xfrm>
            <a:off x="8565134" y="3784600"/>
            <a:ext cx="152400" cy="152400"/>
          </a:xfrm>
          <a:prstGeom prst="ellipse">
            <a:avLst/>
          </a:prstGeom>
          <a:solidFill>
            <a:srgbClr val="7AB64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4" name="dt"/>
          <p:cNvSpPr/>
          <p:nvPr/>
        </p:nvSpPr>
        <p:spPr>
          <a:xfrm>
            <a:off x="9093200" y="3784600"/>
            <a:ext cx="152400" cy="152400"/>
          </a:xfrm>
          <a:prstGeom prst="ellipse">
            <a:avLst/>
          </a:prstGeom>
          <a:solidFill>
            <a:srgbClr val="7AB64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5" name="dt"/>
          <p:cNvSpPr/>
          <p:nvPr/>
        </p:nvSpPr>
        <p:spPr>
          <a:xfrm>
            <a:off x="9621266" y="3784600"/>
            <a:ext cx="152400" cy="152400"/>
          </a:xfrm>
          <a:prstGeom prst="ellipse">
            <a:avLst/>
          </a:prstGeom>
          <a:solidFill>
            <a:srgbClr val="7AB64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6" name="dt"/>
          <p:cNvSpPr/>
          <p:nvPr/>
        </p:nvSpPr>
        <p:spPr>
          <a:xfrm>
            <a:off x="10149332" y="3784600"/>
            <a:ext cx="152400" cy="152400"/>
          </a:xfrm>
          <a:prstGeom prst="ellipse">
            <a:avLst/>
          </a:prstGeom>
          <a:solidFill>
            <a:srgbClr val="7AB64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7" name="r"/>
          <p:cNvSpPr/>
          <p:nvPr/>
        </p:nvSpPr>
        <p:spPr>
          <a:xfrm>
            <a:off x="9159240" y="3708400"/>
            <a:ext cx="20320" cy="3048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8" name="tb"/>
          <p:cNvSpPr txBox="1"/>
          <p:nvPr/>
        </p:nvSpPr>
        <p:spPr>
          <a:xfrm>
            <a:off x="7366000" y="3987800"/>
            <a:ext cx="254000" cy="177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dirty="0">
                <a:solidFill>
                  <a:srgbClr val="7A7A7A"/>
                </a:solidFill>
              </a:rPr>
              <a:t>-2</a:t>
            </a:r>
          </a:p>
        </p:txBody>
      </p:sp>
      <p:sp>
        <p:nvSpPr>
          <p:cNvPr id="6029" name="tb"/>
          <p:cNvSpPr txBox="1"/>
          <p:nvPr/>
        </p:nvSpPr>
        <p:spPr>
          <a:xfrm>
            <a:off x="8204200" y="3987800"/>
            <a:ext cx="254000" cy="177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dirty="0">
                <a:solidFill>
                  <a:srgbClr val="7A7A7A"/>
                </a:solidFill>
              </a:rPr>
              <a:t>-1</a:t>
            </a:r>
          </a:p>
        </p:txBody>
      </p:sp>
      <p:sp>
        <p:nvSpPr>
          <p:cNvPr id="6030" name="tb"/>
          <p:cNvSpPr txBox="1"/>
          <p:nvPr/>
        </p:nvSpPr>
        <p:spPr>
          <a:xfrm>
            <a:off x="9042400" y="3987800"/>
            <a:ext cx="254000" cy="177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dirty="0">
                <a:solidFill>
                  <a:srgbClr val="7A7A7A"/>
                </a:solidFill>
              </a:rPr>
              <a:t>0</a:t>
            </a:r>
          </a:p>
        </p:txBody>
      </p:sp>
      <p:sp>
        <p:nvSpPr>
          <p:cNvPr id="6031" name="tb"/>
          <p:cNvSpPr txBox="1"/>
          <p:nvPr/>
        </p:nvSpPr>
        <p:spPr>
          <a:xfrm>
            <a:off x="9880600" y="3987800"/>
            <a:ext cx="254000" cy="177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dirty="0">
                <a:solidFill>
                  <a:srgbClr val="7A7A7A"/>
                </a:solidFill>
              </a:rPr>
              <a:t>1</a:t>
            </a:r>
          </a:p>
        </p:txBody>
      </p:sp>
      <p:sp>
        <p:nvSpPr>
          <p:cNvPr id="6032" name="tb"/>
          <p:cNvSpPr txBox="1"/>
          <p:nvPr/>
        </p:nvSpPr>
        <p:spPr>
          <a:xfrm>
            <a:off x="10718800" y="3987800"/>
            <a:ext cx="254000" cy="177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dirty="0">
                <a:solidFill>
                  <a:srgbClr val="7A7A7A"/>
                </a:solidFill>
              </a:rPr>
              <a:t>2</a:t>
            </a:r>
          </a:p>
        </p:txBody>
      </p:sp>
      <p:sp>
        <p:nvSpPr>
          <p:cNvPr id="6033" name="tb"/>
          <p:cNvSpPr txBox="1"/>
          <p:nvPr/>
        </p:nvSpPr>
        <p:spPr>
          <a:xfrm>
            <a:off x="6705600" y="4292600"/>
            <a:ext cx="4572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00" i="1" dirty="0">
                <a:solidFill>
                  <a:srgbClr val="6E6E6E"/>
                </a:solidFill>
              </a:rPr>
              <a:t>z  (standard units: mean 0, std 1)</a:t>
            </a:r>
          </a:p>
        </p:txBody>
      </p:sp>
    </p:spTree>
    <p:extLst>
      <p:ext uri="{BB962C8B-B14F-4D97-AF65-F5344CB8AC3E}">
        <p14:creationId xmlns:p14="http://schemas.microsoft.com/office/powerpoint/2010/main" val="4510526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Worked Example 1 — Covariance &amp; Correlation (5×2)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Mean → center → S = XcᵀXc /(n−1) → rescale to R.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The diagonal of S holds the variances; R rescales every entry to [−1, 1] with 1's on the diagonal.</a:t>
            </a:r>
          </a:p>
        </p:txBody>
      </p:sp>
      <p:sp>
        <p:nvSpPr>
          <p:cNvPr id="6000" name="panel"/>
          <p:cNvSpPr/>
          <p:nvPr/>
        </p:nvSpPr>
        <p:spPr>
          <a:xfrm>
            <a:off x="304800" y="1219200"/>
            <a:ext cx="320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08000" y="1422400"/>
            <a:ext cx="2794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Data  X   (n=5, p=2)</a:t>
            </a:r>
          </a:p>
        </p:txBody>
      </p:sp>
      <p:sp>
        <p:nvSpPr>
          <p:cNvPr id="6002" name="tb"/>
          <p:cNvSpPr txBox="1"/>
          <p:nvPr/>
        </p:nvSpPr>
        <p:spPr>
          <a:xfrm>
            <a:off x="1219200" y="1803400"/>
            <a:ext cx="5588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6E6E6E"/>
                </a:solidFill>
              </a:rPr>
              <a:t>x₁</a:t>
            </a:r>
          </a:p>
        </p:txBody>
      </p:sp>
      <p:sp>
        <p:nvSpPr>
          <p:cNvPr id="6003" name="tb"/>
          <p:cNvSpPr txBox="1"/>
          <p:nvPr/>
        </p:nvSpPr>
        <p:spPr>
          <a:xfrm>
            <a:off x="1778000" y="1803400"/>
            <a:ext cx="5588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6E6E6E"/>
                </a:solidFill>
              </a:rPr>
              <a:t>x₂</a:t>
            </a:r>
          </a:p>
        </p:txBody>
      </p:sp>
      <p:sp>
        <p:nvSpPr>
          <p:cNvPr id="6004" name="hl"/>
          <p:cNvSpPr/>
          <p:nvPr/>
        </p:nvSpPr>
        <p:spPr>
          <a:xfrm>
            <a:off x="1104900" y="20193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5" name="hl"/>
          <p:cNvSpPr/>
          <p:nvPr/>
        </p:nvSpPr>
        <p:spPr>
          <a:xfrm>
            <a:off x="1104900" y="2019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6" name="hl"/>
          <p:cNvSpPr/>
          <p:nvPr/>
        </p:nvSpPr>
        <p:spPr>
          <a:xfrm>
            <a:off x="1104900" y="377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7" name="hl"/>
          <p:cNvSpPr/>
          <p:nvPr/>
        </p:nvSpPr>
        <p:spPr>
          <a:xfrm>
            <a:off x="2413000" y="20193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8" name="hl"/>
          <p:cNvSpPr/>
          <p:nvPr/>
        </p:nvSpPr>
        <p:spPr>
          <a:xfrm>
            <a:off x="2336800" y="2019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9" name="hl"/>
          <p:cNvSpPr/>
          <p:nvPr/>
        </p:nvSpPr>
        <p:spPr>
          <a:xfrm>
            <a:off x="2336800" y="377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0" name="tb"/>
          <p:cNvSpPr txBox="1"/>
          <p:nvPr/>
        </p:nvSpPr>
        <p:spPr>
          <a:xfrm>
            <a:off x="1219200" y="20574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6011" name="tb"/>
          <p:cNvSpPr txBox="1"/>
          <p:nvPr/>
        </p:nvSpPr>
        <p:spPr>
          <a:xfrm>
            <a:off x="1778000" y="20574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8</a:t>
            </a:r>
          </a:p>
        </p:txBody>
      </p:sp>
      <p:sp>
        <p:nvSpPr>
          <p:cNvPr id="6012" name="tb"/>
          <p:cNvSpPr txBox="1"/>
          <p:nvPr/>
        </p:nvSpPr>
        <p:spPr>
          <a:xfrm>
            <a:off x="1219200" y="24003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13" name="tb"/>
          <p:cNvSpPr txBox="1"/>
          <p:nvPr/>
        </p:nvSpPr>
        <p:spPr>
          <a:xfrm>
            <a:off x="1778000" y="24003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6014" name="tb"/>
          <p:cNvSpPr txBox="1"/>
          <p:nvPr/>
        </p:nvSpPr>
        <p:spPr>
          <a:xfrm>
            <a:off x="1219200" y="2743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6015" name="tb"/>
          <p:cNvSpPr txBox="1"/>
          <p:nvPr/>
        </p:nvSpPr>
        <p:spPr>
          <a:xfrm>
            <a:off x="1778000" y="2743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9</a:t>
            </a:r>
          </a:p>
        </p:txBody>
      </p:sp>
      <p:sp>
        <p:nvSpPr>
          <p:cNvPr id="6016" name="tb"/>
          <p:cNvSpPr txBox="1"/>
          <p:nvPr/>
        </p:nvSpPr>
        <p:spPr>
          <a:xfrm>
            <a:off x="1219200" y="3086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8</a:t>
            </a:r>
          </a:p>
        </p:txBody>
      </p:sp>
      <p:sp>
        <p:nvSpPr>
          <p:cNvPr id="6017" name="tb"/>
          <p:cNvSpPr txBox="1"/>
          <p:nvPr/>
        </p:nvSpPr>
        <p:spPr>
          <a:xfrm>
            <a:off x="1778000" y="3086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18" name="tb"/>
          <p:cNvSpPr txBox="1"/>
          <p:nvPr/>
        </p:nvSpPr>
        <p:spPr>
          <a:xfrm>
            <a:off x="1219200" y="3429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10</a:t>
            </a:r>
          </a:p>
        </p:txBody>
      </p:sp>
      <p:sp>
        <p:nvSpPr>
          <p:cNvPr id="6019" name="tb"/>
          <p:cNvSpPr txBox="1"/>
          <p:nvPr/>
        </p:nvSpPr>
        <p:spPr>
          <a:xfrm>
            <a:off x="1778000" y="3429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7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508000" y="3873500"/>
            <a:ext cx="2794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b="1" dirty="0">
                <a:solidFill>
                  <a:srgbClr val="333333"/>
                </a:solidFill>
              </a:rPr>
              <a:t>μ = ( </a:t>
            </a:r>
            <a:r>
              <a:rPr lang="en-US" sz="1400" b="1" dirty="0">
                <a:solidFill>
                  <a:srgbClr val="4B2E83"/>
                </a:solidFill>
              </a:rPr>
              <a:t>6.00,  7.00</a:t>
            </a:r>
            <a:r>
              <a:rPr lang="en-US" sz="1400" b="1" dirty="0">
                <a:solidFill>
                  <a:srgbClr val="333333"/>
                </a:solidFill>
              </a:rPr>
              <a:t> )</a:t>
            </a:r>
          </a:p>
        </p:txBody>
      </p:sp>
      <p:sp>
        <p:nvSpPr>
          <p:cNvPr id="6021" name="panel"/>
          <p:cNvSpPr/>
          <p:nvPr/>
        </p:nvSpPr>
        <p:spPr>
          <a:xfrm>
            <a:off x="3657600" y="1219200"/>
            <a:ext cx="29972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2" name="tb"/>
          <p:cNvSpPr txBox="1"/>
          <p:nvPr/>
        </p:nvSpPr>
        <p:spPr>
          <a:xfrm>
            <a:off x="3860800" y="1422400"/>
            <a:ext cx="2667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Centered  Xc = X − 1μᵀ</a:t>
            </a:r>
          </a:p>
        </p:txBody>
      </p:sp>
      <p:sp>
        <p:nvSpPr>
          <p:cNvPr id="6023" name="hl"/>
          <p:cNvSpPr/>
          <p:nvPr/>
        </p:nvSpPr>
        <p:spPr>
          <a:xfrm>
            <a:off x="4406900" y="20193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4" name="hl"/>
          <p:cNvSpPr/>
          <p:nvPr/>
        </p:nvSpPr>
        <p:spPr>
          <a:xfrm>
            <a:off x="4406900" y="2019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5" name="hl"/>
          <p:cNvSpPr/>
          <p:nvPr/>
        </p:nvSpPr>
        <p:spPr>
          <a:xfrm>
            <a:off x="4406900" y="377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6" name="hl"/>
          <p:cNvSpPr/>
          <p:nvPr/>
        </p:nvSpPr>
        <p:spPr>
          <a:xfrm>
            <a:off x="5715000" y="20193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7" name="hl"/>
          <p:cNvSpPr/>
          <p:nvPr/>
        </p:nvSpPr>
        <p:spPr>
          <a:xfrm>
            <a:off x="5638800" y="2019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8" name="hl"/>
          <p:cNvSpPr/>
          <p:nvPr/>
        </p:nvSpPr>
        <p:spPr>
          <a:xfrm>
            <a:off x="5638800" y="377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9" name="tb"/>
          <p:cNvSpPr txBox="1"/>
          <p:nvPr/>
        </p:nvSpPr>
        <p:spPr>
          <a:xfrm>
            <a:off x="4521200" y="20574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−4.00</a:t>
            </a:r>
          </a:p>
        </p:txBody>
      </p:sp>
      <p:sp>
        <p:nvSpPr>
          <p:cNvPr id="6030" name="tb"/>
          <p:cNvSpPr txBox="1"/>
          <p:nvPr/>
        </p:nvSpPr>
        <p:spPr>
          <a:xfrm>
            <a:off x="5080000" y="20574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1.00</a:t>
            </a:r>
          </a:p>
        </p:txBody>
      </p:sp>
      <p:sp>
        <p:nvSpPr>
          <p:cNvPr id="6031" name="tb"/>
          <p:cNvSpPr txBox="1"/>
          <p:nvPr/>
        </p:nvSpPr>
        <p:spPr>
          <a:xfrm>
            <a:off x="4521200" y="24003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−2.00</a:t>
            </a:r>
          </a:p>
        </p:txBody>
      </p:sp>
      <p:sp>
        <p:nvSpPr>
          <p:cNvPr id="6032" name="tb"/>
          <p:cNvSpPr txBox="1"/>
          <p:nvPr/>
        </p:nvSpPr>
        <p:spPr>
          <a:xfrm>
            <a:off x="5080000" y="24003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−1.00</a:t>
            </a:r>
          </a:p>
        </p:txBody>
      </p:sp>
      <p:sp>
        <p:nvSpPr>
          <p:cNvPr id="6033" name="tb"/>
          <p:cNvSpPr txBox="1"/>
          <p:nvPr/>
        </p:nvSpPr>
        <p:spPr>
          <a:xfrm>
            <a:off x="4521200" y="2743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0.00</a:t>
            </a:r>
          </a:p>
        </p:txBody>
      </p:sp>
      <p:sp>
        <p:nvSpPr>
          <p:cNvPr id="6034" name="tb"/>
          <p:cNvSpPr txBox="1"/>
          <p:nvPr/>
        </p:nvSpPr>
        <p:spPr>
          <a:xfrm>
            <a:off x="5080000" y="2743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2.00</a:t>
            </a:r>
          </a:p>
        </p:txBody>
      </p:sp>
      <p:sp>
        <p:nvSpPr>
          <p:cNvPr id="6035" name="tb"/>
          <p:cNvSpPr txBox="1"/>
          <p:nvPr/>
        </p:nvSpPr>
        <p:spPr>
          <a:xfrm>
            <a:off x="4521200" y="3086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2.00</a:t>
            </a:r>
          </a:p>
        </p:txBody>
      </p:sp>
      <p:sp>
        <p:nvSpPr>
          <p:cNvPr id="6036" name="tb"/>
          <p:cNvSpPr txBox="1"/>
          <p:nvPr/>
        </p:nvSpPr>
        <p:spPr>
          <a:xfrm>
            <a:off x="5080000" y="3086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−2.00</a:t>
            </a:r>
          </a:p>
        </p:txBody>
      </p:sp>
      <p:sp>
        <p:nvSpPr>
          <p:cNvPr id="6037" name="tb"/>
          <p:cNvSpPr txBox="1"/>
          <p:nvPr/>
        </p:nvSpPr>
        <p:spPr>
          <a:xfrm>
            <a:off x="4521200" y="3429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4.00</a:t>
            </a:r>
          </a:p>
        </p:txBody>
      </p:sp>
      <p:sp>
        <p:nvSpPr>
          <p:cNvPr id="6038" name="tb"/>
          <p:cNvSpPr txBox="1"/>
          <p:nvPr/>
        </p:nvSpPr>
        <p:spPr>
          <a:xfrm>
            <a:off x="5080000" y="3429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0.00</a:t>
            </a:r>
          </a:p>
        </p:txBody>
      </p:sp>
      <p:sp>
        <p:nvSpPr>
          <p:cNvPr id="6039" name="tb"/>
          <p:cNvSpPr txBox="1"/>
          <p:nvPr/>
        </p:nvSpPr>
        <p:spPr>
          <a:xfrm>
            <a:off x="3860800" y="3873500"/>
            <a:ext cx="2667000" cy="50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00" i="1" dirty="0">
                <a:solidFill>
                  <a:srgbClr val="6E6E6E"/>
                </a:solidFill>
              </a:rPr>
              <a:t>Each column now sums to 0.</a:t>
            </a:r>
          </a:p>
        </p:txBody>
      </p:sp>
      <p:sp>
        <p:nvSpPr>
          <p:cNvPr id="6040" name="panel"/>
          <p:cNvSpPr/>
          <p:nvPr/>
        </p:nvSpPr>
        <p:spPr>
          <a:xfrm>
            <a:off x="6807200" y="1219200"/>
            <a:ext cx="50800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41" name="tb"/>
          <p:cNvSpPr txBox="1"/>
          <p:nvPr/>
        </p:nvSpPr>
        <p:spPr>
          <a:xfrm>
            <a:off x="7061200" y="1422400"/>
            <a:ext cx="4826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Covariance  S = XcᵀXc /(n−1)</a:t>
            </a:r>
          </a:p>
        </p:txBody>
      </p:sp>
      <p:sp>
        <p:nvSpPr>
          <p:cNvPr id="6042" name="hl"/>
          <p:cNvSpPr/>
          <p:nvPr/>
        </p:nvSpPr>
        <p:spPr>
          <a:xfrm>
            <a:off x="8382000" y="1854200"/>
            <a:ext cx="736600" cy="4318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3" name="hl"/>
          <p:cNvSpPr/>
          <p:nvPr/>
        </p:nvSpPr>
        <p:spPr>
          <a:xfrm>
            <a:off x="9118600" y="2286000"/>
            <a:ext cx="736600" cy="4318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4" name="hl"/>
          <p:cNvSpPr/>
          <p:nvPr/>
        </p:nvSpPr>
        <p:spPr>
          <a:xfrm>
            <a:off x="8267700" y="1816100"/>
            <a:ext cx="38100" cy="939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5" name="hl"/>
          <p:cNvSpPr/>
          <p:nvPr/>
        </p:nvSpPr>
        <p:spPr>
          <a:xfrm>
            <a:off x="8267700" y="18161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6" name="hl"/>
          <p:cNvSpPr/>
          <p:nvPr/>
        </p:nvSpPr>
        <p:spPr>
          <a:xfrm>
            <a:off x="8267700" y="27178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7" name="hl"/>
          <p:cNvSpPr/>
          <p:nvPr/>
        </p:nvSpPr>
        <p:spPr>
          <a:xfrm>
            <a:off x="9931400" y="1816100"/>
            <a:ext cx="38100" cy="939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8" name="hl"/>
          <p:cNvSpPr/>
          <p:nvPr/>
        </p:nvSpPr>
        <p:spPr>
          <a:xfrm>
            <a:off x="9855200" y="18161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9" name="hl"/>
          <p:cNvSpPr/>
          <p:nvPr/>
        </p:nvSpPr>
        <p:spPr>
          <a:xfrm>
            <a:off x="9855200" y="27178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50" name="tb"/>
          <p:cNvSpPr txBox="1"/>
          <p:nvPr/>
        </p:nvSpPr>
        <p:spPr>
          <a:xfrm>
            <a:off x="8382000" y="1854200"/>
            <a:ext cx="7366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10.00</a:t>
            </a:r>
          </a:p>
        </p:txBody>
      </p:sp>
      <p:sp>
        <p:nvSpPr>
          <p:cNvPr id="6051" name="tb"/>
          <p:cNvSpPr txBox="1"/>
          <p:nvPr/>
        </p:nvSpPr>
        <p:spPr>
          <a:xfrm>
            <a:off x="9118600" y="1854200"/>
            <a:ext cx="7366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−1.50</a:t>
            </a:r>
          </a:p>
        </p:txBody>
      </p:sp>
      <p:sp>
        <p:nvSpPr>
          <p:cNvPr id="6052" name="tb"/>
          <p:cNvSpPr txBox="1"/>
          <p:nvPr/>
        </p:nvSpPr>
        <p:spPr>
          <a:xfrm>
            <a:off x="8382000" y="2286000"/>
            <a:ext cx="7366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−1.50</a:t>
            </a:r>
          </a:p>
        </p:txBody>
      </p:sp>
      <p:sp>
        <p:nvSpPr>
          <p:cNvPr id="6053" name="tb"/>
          <p:cNvSpPr txBox="1"/>
          <p:nvPr/>
        </p:nvSpPr>
        <p:spPr>
          <a:xfrm>
            <a:off x="9118600" y="2286000"/>
            <a:ext cx="7366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2.50</a:t>
            </a:r>
          </a:p>
        </p:txBody>
      </p:sp>
      <p:sp>
        <p:nvSpPr>
          <p:cNvPr id="6054" name="tb"/>
          <p:cNvSpPr txBox="1"/>
          <p:nvPr/>
        </p:nvSpPr>
        <p:spPr>
          <a:xfrm>
            <a:off x="7061200" y="3810000"/>
            <a:ext cx="4826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Correlation  R = D⁻¹ S D⁻¹</a:t>
            </a:r>
          </a:p>
        </p:txBody>
      </p:sp>
      <p:sp>
        <p:nvSpPr>
          <p:cNvPr id="6055" name="hl"/>
          <p:cNvSpPr/>
          <p:nvPr/>
        </p:nvSpPr>
        <p:spPr>
          <a:xfrm>
            <a:off x="8382000" y="4216400"/>
            <a:ext cx="736600" cy="4318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56" name="hl"/>
          <p:cNvSpPr/>
          <p:nvPr/>
        </p:nvSpPr>
        <p:spPr>
          <a:xfrm>
            <a:off x="9118600" y="4648200"/>
            <a:ext cx="736600" cy="4318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57" name="hl"/>
          <p:cNvSpPr/>
          <p:nvPr/>
        </p:nvSpPr>
        <p:spPr>
          <a:xfrm>
            <a:off x="8267700" y="4178300"/>
            <a:ext cx="38100" cy="939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58" name="hl"/>
          <p:cNvSpPr/>
          <p:nvPr/>
        </p:nvSpPr>
        <p:spPr>
          <a:xfrm>
            <a:off x="8267700" y="4178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59" name="hl"/>
          <p:cNvSpPr/>
          <p:nvPr/>
        </p:nvSpPr>
        <p:spPr>
          <a:xfrm>
            <a:off x="8267700" y="50800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60" name="hl"/>
          <p:cNvSpPr/>
          <p:nvPr/>
        </p:nvSpPr>
        <p:spPr>
          <a:xfrm>
            <a:off x="9931400" y="4178300"/>
            <a:ext cx="38100" cy="939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61" name="hl"/>
          <p:cNvSpPr/>
          <p:nvPr/>
        </p:nvSpPr>
        <p:spPr>
          <a:xfrm>
            <a:off x="9855200" y="4178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62" name="hl"/>
          <p:cNvSpPr/>
          <p:nvPr/>
        </p:nvSpPr>
        <p:spPr>
          <a:xfrm>
            <a:off x="9855200" y="50800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63" name="tb"/>
          <p:cNvSpPr txBox="1"/>
          <p:nvPr/>
        </p:nvSpPr>
        <p:spPr>
          <a:xfrm>
            <a:off x="8382000" y="4216400"/>
            <a:ext cx="7366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1.00</a:t>
            </a:r>
          </a:p>
        </p:txBody>
      </p:sp>
      <p:sp>
        <p:nvSpPr>
          <p:cNvPr id="6064" name="tb"/>
          <p:cNvSpPr txBox="1"/>
          <p:nvPr/>
        </p:nvSpPr>
        <p:spPr>
          <a:xfrm>
            <a:off x="9118600" y="4216400"/>
            <a:ext cx="7366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−0.30</a:t>
            </a:r>
          </a:p>
        </p:txBody>
      </p:sp>
      <p:sp>
        <p:nvSpPr>
          <p:cNvPr id="6065" name="tb"/>
          <p:cNvSpPr txBox="1"/>
          <p:nvPr/>
        </p:nvSpPr>
        <p:spPr>
          <a:xfrm>
            <a:off x="8382000" y="4648200"/>
            <a:ext cx="7366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−0.30</a:t>
            </a:r>
          </a:p>
        </p:txBody>
      </p:sp>
      <p:sp>
        <p:nvSpPr>
          <p:cNvPr id="6066" name="tb"/>
          <p:cNvSpPr txBox="1"/>
          <p:nvPr/>
        </p:nvSpPr>
        <p:spPr>
          <a:xfrm>
            <a:off x="9118600" y="4648200"/>
            <a:ext cx="7366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1.00</a:t>
            </a:r>
          </a:p>
        </p:txBody>
      </p:sp>
      <p:sp>
        <p:nvSpPr>
          <p:cNvPr id="6067" name="tb"/>
          <p:cNvSpPr txBox="1"/>
          <p:nvPr/>
        </p:nvSpPr>
        <p:spPr>
          <a:xfrm>
            <a:off x="7061200" y="5156200"/>
            <a:ext cx="4826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00" dirty="0">
                <a:solidFill>
                  <a:srgbClr val="6E6E6E"/>
                </a:solidFill>
              </a:rPr>
              <a:t>σ = ( </a:t>
            </a:r>
            <a:r>
              <a:rPr lang="en-US" sz="1300" b="1" dirty="0">
                <a:solidFill>
                  <a:srgbClr val="6E6E6E"/>
                </a:solidFill>
              </a:rPr>
              <a:t>3.16, 1.58</a:t>
            </a:r>
            <a:r>
              <a:rPr lang="en-US" sz="1300" dirty="0">
                <a:solidFill>
                  <a:srgbClr val="6E6E6E"/>
                </a:solidFill>
              </a:rPr>
              <a:t> )   ·   diag(S) = variances</a:t>
            </a:r>
          </a:p>
        </p:txBody>
      </p:sp>
    </p:spTree>
    <p:extLst>
      <p:ext uri="{BB962C8B-B14F-4D97-AF65-F5344CB8AC3E}">
        <p14:creationId xmlns:p14="http://schemas.microsoft.com/office/powerpoint/2010/main" val="268544321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Worked Example 2 — Covariance &amp; Correlation (5×3)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Mean → center → S = XcᵀXc /(n−1) → rescale to R.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Features 2 and 3 are exact opposites here — their correlation is −1.00.</a:t>
            </a:r>
          </a:p>
        </p:txBody>
      </p:sp>
      <p:sp>
        <p:nvSpPr>
          <p:cNvPr id="6000" name="panel"/>
          <p:cNvSpPr/>
          <p:nvPr/>
        </p:nvSpPr>
        <p:spPr>
          <a:xfrm>
            <a:off x="304800" y="1219200"/>
            <a:ext cx="320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08000" y="1422400"/>
            <a:ext cx="2794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Data  X   (n=5, p=3)</a:t>
            </a:r>
          </a:p>
        </p:txBody>
      </p:sp>
      <p:sp>
        <p:nvSpPr>
          <p:cNvPr id="6002" name="tb"/>
          <p:cNvSpPr txBox="1"/>
          <p:nvPr/>
        </p:nvSpPr>
        <p:spPr>
          <a:xfrm>
            <a:off x="1016000" y="1803400"/>
            <a:ext cx="5588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6E6E6E"/>
                </a:solidFill>
              </a:rPr>
              <a:t>x₁</a:t>
            </a:r>
          </a:p>
        </p:txBody>
      </p:sp>
      <p:sp>
        <p:nvSpPr>
          <p:cNvPr id="6003" name="tb"/>
          <p:cNvSpPr txBox="1"/>
          <p:nvPr/>
        </p:nvSpPr>
        <p:spPr>
          <a:xfrm>
            <a:off x="1574800" y="1803400"/>
            <a:ext cx="5588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6E6E6E"/>
                </a:solidFill>
              </a:rPr>
              <a:t>x₂</a:t>
            </a:r>
          </a:p>
        </p:txBody>
      </p:sp>
      <p:sp>
        <p:nvSpPr>
          <p:cNvPr id="6004" name="tb"/>
          <p:cNvSpPr txBox="1"/>
          <p:nvPr/>
        </p:nvSpPr>
        <p:spPr>
          <a:xfrm>
            <a:off x="2133600" y="1803400"/>
            <a:ext cx="5588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6E6E6E"/>
                </a:solidFill>
              </a:rPr>
              <a:t>x₃</a:t>
            </a:r>
          </a:p>
        </p:txBody>
      </p:sp>
      <p:sp>
        <p:nvSpPr>
          <p:cNvPr id="6005" name="hl"/>
          <p:cNvSpPr/>
          <p:nvPr/>
        </p:nvSpPr>
        <p:spPr>
          <a:xfrm>
            <a:off x="901700" y="20193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6" name="hl"/>
          <p:cNvSpPr/>
          <p:nvPr/>
        </p:nvSpPr>
        <p:spPr>
          <a:xfrm>
            <a:off x="901700" y="2019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7" name="hl"/>
          <p:cNvSpPr/>
          <p:nvPr/>
        </p:nvSpPr>
        <p:spPr>
          <a:xfrm>
            <a:off x="901700" y="377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8" name="hl"/>
          <p:cNvSpPr/>
          <p:nvPr/>
        </p:nvSpPr>
        <p:spPr>
          <a:xfrm>
            <a:off x="2768600" y="20193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9" name="hl"/>
          <p:cNvSpPr/>
          <p:nvPr/>
        </p:nvSpPr>
        <p:spPr>
          <a:xfrm>
            <a:off x="2692400" y="2019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0" name="hl"/>
          <p:cNvSpPr/>
          <p:nvPr/>
        </p:nvSpPr>
        <p:spPr>
          <a:xfrm>
            <a:off x="2692400" y="377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1" name="tb"/>
          <p:cNvSpPr txBox="1"/>
          <p:nvPr/>
        </p:nvSpPr>
        <p:spPr>
          <a:xfrm>
            <a:off x="1016000" y="20574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6012" name="tb"/>
          <p:cNvSpPr txBox="1"/>
          <p:nvPr/>
        </p:nvSpPr>
        <p:spPr>
          <a:xfrm>
            <a:off x="1574800" y="20574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6013" name="tb"/>
          <p:cNvSpPr txBox="1"/>
          <p:nvPr/>
        </p:nvSpPr>
        <p:spPr>
          <a:xfrm>
            <a:off x="2133600" y="20574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14" name="tb"/>
          <p:cNvSpPr txBox="1"/>
          <p:nvPr/>
        </p:nvSpPr>
        <p:spPr>
          <a:xfrm>
            <a:off x="1016000" y="24003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15" name="tb"/>
          <p:cNvSpPr txBox="1"/>
          <p:nvPr/>
        </p:nvSpPr>
        <p:spPr>
          <a:xfrm>
            <a:off x="1574800" y="24003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16" name="tb"/>
          <p:cNvSpPr txBox="1"/>
          <p:nvPr/>
        </p:nvSpPr>
        <p:spPr>
          <a:xfrm>
            <a:off x="2133600" y="24003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7</a:t>
            </a:r>
          </a:p>
        </p:txBody>
      </p:sp>
      <p:sp>
        <p:nvSpPr>
          <p:cNvPr id="6017" name="tb"/>
          <p:cNvSpPr txBox="1"/>
          <p:nvPr/>
        </p:nvSpPr>
        <p:spPr>
          <a:xfrm>
            <a:off x="1016000" y="2743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7</a:t>
            </a:r>
          </a:p>
        </p:txBody>
      </p:sp>
      <p:sp>
        <p:nvSpPr>
          <p:cNvPr id="6018" name="tb"/>
          <p:cNvSpPr txBox="1"/>
          <p:nvPr/>
        </p:nvSpPr>
        <p:spPr>
          <a:xfrm>
            <a:off x="1574800" y="2743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8</a:t>
            </a:r>
          </a:p>
        </p:txBody>
      </p:sp>
      <p:sp>
        <p:nvSpPr>
          <p:cNvPr id="6019" name="tb"/>
          <p:cNvSpPr txBox="1"/>
          <p:nvPr/>
        </p:nvSpPr>
        <p:spPr>
          <a:xfrm>
            <a:off x="2133600" y="2743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1016000" y="3086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21" name="tb"/>
          <p:cNvSpPr txBox="1"/>
          <p:nvPr/>
        </p:nvSpPr>
        <p:spPr>
          <a:xfrm>
            <a:off x="1574800" y="3086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22" name="tb"/>
          <p:cNvSpPr txBox="1"/>
          <p:nvPr/>
        </p:nvSpPr>
        <p:spPr>
          <a:xfrm>
            <a:off x="2133600" y="3086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6023" name="tb"/>
          <p:cNvSpPr txBox="1"/>
          <p:nvPr/>
        </p:nvSpPr>
        <p:spPr>
          <a:xfrm>
            <a:off x="1016000" y="3429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6024" name="tb"/>
          <p:cNvSpPr txBox="1"/>
          <p:nvPr/>
        </p:nvSpPr>
        <p:spPr>
          <a:xfrm>
            <a:off x="1574800" y="3429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6025" name="tb"/>
          <p:cNvSpPr txBox="1"/>
          <p:nvPr/>
        </p:nvSpPr>
        <p:spPr>
          <a:xfrm>
            <a:off x="2133600" y="3429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9</a:t>
            </a:r>
          </a:p>
        </p:txBody>
      </p:sp>
      <p:sp>
        <p:nvSpPr>
          <p:cNvPr id="6026" name="tb"/>
          <p:cNvSpPr txBox="1"/>
          <p:nvPr/>
        </p:nvSpPr>
        <p:spPr>
          <a:xfrm>
            <a:off x="508000" y="3873500"/>
            <a:ext cx="29464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b="1" dirty="0">
                <a:solidFill>
                  <a:srgbClr val="333333"/>
                </a:solidFill>
              </a:rPr>
              <a:t>μ = ( </a:t>
            </a:r>
            <a:r>
              <a:rPr lang="en-US" sz="1400" b="1" dirty="0">
                <a:solidFill>
                  <a:srgbClr val="4B2E83"/>
                </a:solidFill>
              </a:rPr>
              <a:t>5.00,  5.00,  6.00</a:t>
            </a:r>
            <a:r>
              <a:rPr lang="en-US" sz="1400" b="1" dirty="0">
                <a:solidFill>
                  <a:srgbClr val="333333"/>
                </a:solidFill>
              </a:rPr>
              <a:t> )</a:t>
            </a:r>
          </a:p>
        </p:txBody>
      </p:sp>
      <p:sp>
        <p:nvSpPr>
          <p:cNvPr id="6027" name="panel"/>
          <p:cNvSpPr/>
          <p:nvPr/>
        </p:nvSpPr>
        <p:spPr>
          <a:xfrm>
            <a:off x="3657600" y="1219200"/>
            <a:ext cx="29972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8" name="tb"/>
          <p:cNvSpPr txBox="1"/>
          <p:nvPr/>
        </p:nvSpPr>
        <p:spPr>
          <a:xfrm>
            <a:off x="3860800" y="1422400"/>
            <a:ext cx="2667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Centered  Xc = X − 1μᵀ</a:t>
            </a:r>
          </a:p>
        </p:txBody>
      </p:sp>
      <p:sp>
        <p:nvSpPr>
          <p:cNvPr id="6029" name="hl"/>
          <p:cNvSpPr/>
          <p:nvPr/>
        </p:nvSpPr>
        <p:spPr>
          <a:xfrm>
            <a:off x="4203700" y="20193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0" name="hl"/>
          <p:cNvSpPr/>
          <p:nvPr/>
        </p:nvSpPr>
        <p:spPr>
          <a:xfrm>
            <a:off x="4203700" y="2019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1" name="hl"/>
          <p:cNvSpPr/>
          <p:nvPr/>
        </p:nvSpPr>
        <p:spPr>
          <a:xfrm>
            <a:off x="4203700" y="377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2" name="hl"/>
          <p:cNvSpPr/>
          <p:nvPr/>
        </p:nvSpPr>
        <p:spPr>
          <a:xfrm>
            <a:off x="6070600" y="20193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3" name="hl"/>
          <p:cNvSpPr/>
          <p:nvPr/>
        </p:nvSpPr>
        <p:spPr>
          <a:xfrm>
            <a:off x="5994400" y="2019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4" name="hl"/>
          <p:cNvSpPr/>
          <p:nvPr/>
        </p:nvSpPr>
        <p:spPr>
          <a:xfrm>
            <a:off x="5994400" y="377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5" name="tb"/>
          <p:cNvSpPr txBox="1"/>
          <p:nvPr/>
        </p:nvSpPr>
        <p:spPr>
          <a:xfrm>
            <a:off x="4318000" y="20574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−2.00</a:t>
            </a:r>
          </a:p>
        </p:txBody>
      </p:sp>
      <p:sp>
        <p:nvSpPr>
          <p:cNvPr id="6036" name="tb"/>
          <p:cNvSpPr txBox="1"/>
          <p:nvPr/>
        </p:nvSpPr>
        <p:spPr>
          <a:xfrm>
            <a:off x="4876800" y="20574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1.00</a:t>
            </a:r>
          </a:p>
        </p:txBody>
      </p:sp>
      <p:sp>
        <p:nvSpPr>
          <p:cNvPr id="6037" name="tb"/>
          <p:cNvSpPr txBox="1"/>
          <p:nvPr/>
        </p:nvSpPr>
        <p:spPr>
          <a:xfrm>
            <a:off x="5435600" y="20574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−1.00</a:t>
            </a:r>
          </a:p>
        </p:txBody>
      </p:sp>
      <p:sp>
        <p:nvSpPr>
          <p:cNvPr id="6038" name="tb"/>
          <p:cNvSpPr txBox="1"/>
          <p:nvPr/>
        </p:nvSpPr>
        <p:spPr>
          <a:xfrm>
            <a:off x="4318000" y="24003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0.00</a:t>
            </a:r>
          </a:p>
        </p:txBody>
      </p:sp>
      <p:sp>
        <p:nvSpPr>
          <p:cNvPr id="6039" name="tb"/>
          <p:cNvSpPr txBox="1"/>
          <p:nvPr/>
        </p:nvSpPr>
        <p:spPr>
          <a:xfrm>
            <a:off x="4876800" y="24003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−1.00</a:t>
            </a:r>
          </a:p>
        </p:txBody>
      </p:sp>
      <p:sp>
        <p:nvSpPr>
          <p:cNvPr id="6040" name="tb"/>
          <p:cNvSpPr txBox="1"/>
          <p:nvPr/>
        </p:nvSpPr>
        <p:spPr>
          <a:xfrm>
            <a:off x="5435600" y="24003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1.00</a:t>
            </a:r>
          </a:p>
        </p:txBody>
      </p:sp>
      <p:sp>
        <p:nvSpPr>
          <p:cNvPr id="6041" name="tb"/>
          <p:cNvSpPr txBox="1"/>
          <p:nvPr/>
        </p:nvSpPr>
        <p:spPr>
          <a:xfrm>
            <a:off x="4318000" y="2743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2.00</a:t>
            </a:r>
          </a:p>
        </p:txBody>
      </p:sp>
      <p:sp>
        <p:nvSpPr>
          <p:cNvPr id="6042" name="tb"/>
          <p:cNvSpPr txBox="1"/>
          <p:nvPr/>
        </p:nvSpPr>
        <p:spPr>
          <a:xfrm>
            <a:off x="4876800" y="2743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3.00</a:t>
            </a:r>
          </a:p>
        </p:txBody>
      </p:sp>
      <p:sp>
        <p:nvSpPr>
          <p:cNvPr id="6043" name="tb"/>
          <p:cNvSpPr txBox="1"/>
          <p:nvPr/>
        </p:nvSpPr>
        <p:spPr>
          <a:xfrm>
            <a:off x="5435600" y="2743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−3.00</a:t>
            </a:r>
          </a:p>
        </p:txBody>
      </p:sp>
      <p:sp>
        <p:nvSpPr>
          <p:cNvPr id="6044" name="tb"/>
          <p:cNvSpPr txBox="1"/>
          <p:nvPr/>
        </p:nvSpPr>
        <p:spPr>
          <a:xfrm>
            <a:off x="4318000" y="3086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−1.00</a:t>
            </a:r>
          </a:p>
        </p:txBody>
      </p:sp>
      <p:sp>
        <p:nvSpPr>
          <p:cNvPr id="6045" name="tb"/>
          <p:cNvSpPr txBox="1"/>
          <p:nvPr/>
        </p:nvSpPr>
        <p:spPr>
          <a:xfrm>
            <a:off x="4876800" y="3086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0.00</a:t>
            </a:r>
          </a:p>
        </p:txBody>
      </p:sp>
      <p:sp>
        <p:nvSpPr>
          <p:cNvPr id="6046" name="tb"/>
          <p:cNvSpPr txBox="1"/>
          <p:nvPr/>
        </p:nvSpPr>
        <p:spPr>
          <a:xfrm>
            <a:off x="5435600" y="3086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0.00</a:t>
            </a:r>
          </a:p>
        </p:txBody>
      </p:sp>
      <p:sp>
        <p:nvSpPr>
          <p:cNvPr id="6047" name="tb"/>
          <p:cNvSpPr txBox="1"/>
          <p:nvPr/>
        </p:nvSpPr>
        <p:spPr>
          <a:xfrm>
            <a:off x="4318000" y="3429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1.00</a:t>
            </a:r>
          </a:p>
        </p:txBody>
      </p:sp>
      <p:sp>
        <p:nvSpPr>
          <p:cNvPr id="6048" name="tb"/>
          <p:cNvSpPr txBox="1"/>
          <p:nvPr/>
        </p:nvSpPr>
        <p:spPr>
          <a:xfrm>
            <a:off x="4876800" y="3429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−3.00</a:t>
            </a:r>
          </a:p>
        </p:txBody>
      </p:sp>
      <p:sp>
        <p:nvSpPr>
          <p:cNvPr id="6049" name="tb"/>
          <p:cNvSpPr txBox="1"/>
          <p:nvPr/>
        </p:nvSpPr>
        <p:spPr>
          <a:xfrm>
            <a:off x="5435600" y="3429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3.00</a:t>
            </a:r>
          </a:p>
        </p:txBody>
      </p:sp>
      <p:sp>
        <p:nvSpPr>
          <p:cNvPr id="6050" name="tb"/>
          <p:cNvSpPr txBox="1"/>
          <p:nvPr/>
        </p:nvSpPr>
        <p:spPr>
          <a:xfrm>
            <a:off x="3860800" y="3873500"/>
            <a:ext cx="2667000" cy="50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00" i="1" dirty="0">
                <a:solidFill>
                  <a:srgbClr val="6E6E6E"/>
                </a:solidFill>
              </a:rPr>
              <a:t>Each column now sums to 0.</a:t>
            </a:r>
          </a:p>
        </p:txBody>
      </p:sp>
      <p:sp>
        <p:nvSpPr>
          <p:cNvPr id="6051" name="panel"/>
          <p:cNvSpPr/>
          <p:nvPr/>
        </p:nvSpPr>
        <p:spPr>
          <a:xfrm>
            <a:off x="6807200" y="1219200"/>
            <a:ext cx="50800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52" name="tb"/>
          <p:cNvSpPr txBox="1"/>
          <p:nvPr/>
        </p:nvSpPr>
        <p:spPr>
          <a:xfrm>
            <a:off x="7061200" y="1422400"/>
            <a:ext cx="4826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Covariance  S = XcᵀXc /(n−1)</a:t>
            </a:r>
          </a:p>
        </p:txBody>
      </p:sp>
      <p:sp>
        <p:nvSpPr>
          <p:cNvPr id="6053" name="hl"/>
          <p:cNvSpPr/>
          <p:nvPr/>
        </p:nvSpPr>
        <p:spPr>
          <a:xfrm>
            <a:off x="7620000" y="1854200"/>
            <a:ext cx="736600" cy="4318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54" name="hl"/>
          <p:cNvSpPr/>
          <p:nvPr/>
        </p:nvSpPr>
        <p:spPr>
          <a:xfrm>
            <a:off x="8356600" y="2286000"/>
            <a:ext cx="736600" cy="4318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55" name="hl"/>
          <p:cNvSpPr/>
          <p:nvPr/>
        </p:nvSpPr>
        <p:spPr>
          <a:xfrm>
            <a:off x="9093200" y="2717800"/>
            <a:ext cx="736600" cy="4318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56" name="hl"/>
          <p:cNvSpPr/>
          <p:nvPr/>
        </p:nvSpPr>
        <p:spPr>
          <a:xfrm>
            <a:off x="7505700" y="1816100"/>
            <a:ext cx="38100" cy="1371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57" name="hl"/>
          <p:cNvSpPr/>
          <p:nvPr/>
        </p:nvSpPr>
        <p:spPr>
          <a:xfrm>
            <a:off x="7505700" y="18161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58" name="hl"/>
          <p:cNvSpPr/>
          <p:nvPr/>
        </p:nvSpPr>
        <p:spPr>
          <a:xfrm>
            <a:off x="7505700" y="31496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59" name="hl"/>
          <p:cNvSpPr/>
          <p:nvPr/>
        </p:nvSpPr>
        <p:spPr>
          <a:xfrm>
            <a:off x="9906000" y="1816100"/>
            <a:ext cx="38100" cy="1371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60" name="hl"/>
          <p:cNvSpPr/>
          <p:nvPr/>
        </p:nvSpPr>
        <p:spPr>
          <a:xfrm>
            <a:off x="9829800" y="18161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61" name="hl"/>
          <p:cNvSpPr/>
          <p:nvPr/>
        </p:nvSpPr>
        <p:spPr>
          <a:xfrm>
            <a:off x="9829800" y="31496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62" name="tb"/>
          <p:cNvSpPr txBox="1"/>
          <p:nvPr/>
        </p:nvSpPr>
        <p:spPr>
          <a:xfrm>
            <a:off x="7620000" y="1854200"/>
            <a:ext cx="7366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2.50</a:t>
            </a:r>
          </a:p>
        </p:txBody>
      </p:sp>
      <p:sp>
        <p:nvSpPr>
          <p:cNvPr id="6063" name="tb"/>
          <p:cNvSpPr txBox="1"/>
          <p:nvPr/>
        </p:nvSpPr>
        <p:spPr>
          <a:xfrm>
            <a:off x="8356600" y="1854200"/>
            <a:ext cx="7366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0.25</a:t>
            </a:r>
          </a:p>
        </p:txBody>
      </p:sp>
      <p:sp>
        <p:nvSpPr>
          <p:cNvPr id="6064" name="tb"/>
          <p:cNvSpPr txBox="1"/>
          <p:nvPr/>
        </p:nvSpPr>
        <p:spPr>
          <a:xfrm>
            <a:off x="9093200" y="1854200"/>
            <a:ext cx="7366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−0.25</a:t>
            </a:r>
          </a:p>
        </p:txBody>
      </p:sp>
      <p:sp>
        <p:nvSpPr>
          <p:cNvPr id="6065" name="tb"/>
          <p:cNvSpPr txBox="1"/>
          <p:nvPr/>
        </p:nvSpPr>
        <p:spPr>
          <a:xfrm>
            <a:off x="7620000" y="2286000"/>
            <a:ext cx="7366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0.25</a:t>
            </a:r>
          </a:p>
        </p:txBody>
      </p:sp>
      <p:sp>
        <p:nvSpPr>
          <p:cNvPr id="6066" name="tb"/>
          <p:cNvSpPr txBox="1"/>
          <p:nvPr/>
        </p:nvSpPr>
        <p:spPr>
          <a:xfrm>
            <a:off x="8356600" y="2286000"/>
            <a:ext cx="7366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5.00</a:t>
            </a:r>
          </a:p>
        </p:txBody>
      </p:sp>
      <p:sp>
        <p:nvSpPr>
          <p:cNvPr id="6067" name="tb"/>
          <p:cNvSpPr txBox="1"/>
          <p:nvPr/>
        </p:nvSpPr>
        <p:spPr>
          <a:xfrm>
            <a:off x="9093200" y="2286000"/>
            <a:ext cx="7366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−5.00</a:t>
            </a:r>
          </a:p>
        </p:txBody>
      </p:sp>
      <p:sp>
        <p:nvSpPr>
          <p:cNvPr id="6068" name="tb"/>
          <p:cNvSpPr txBox="1"/>
          <p:nvPr/>
        </p:nvSpPr>
        <p:spPr>
          <a:xfrm>
            <a:off x="7620000" y="2717800"/>
            <a:ext cx="7366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−0.25</a:t>
            </a:r>
          </a:p>
        </p:txBody>
      </p:sp>
      <p:sp>
        <p:nvSpPr>
          <p:cNvPr id="6069" name="tb"/>
          <p:cNvSpPr txBox="1"/>
          <p:nvPr/>
        </p:nvSpPr>
        <p:spPr>
          <a:xfrm>
            <a:off x="8356600" y="2717800"/>
            <a:ext cx="7366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−5.00</a:t>
            </a:r>
          </a:p>
        </p:txBody>
      </p:sp>
      <p:sp>
        <p:nvSpPr>
          <p:cNvPr id="6070" name="tb"/>
          <p:cNvSpPr txBox="1"/>
          <p:nvPr/>
        </p:nvSpPr>
        <p:spPr>
          <a:xfrm>
            <a:off x="9093200" y="2717800"/>
            <a:ext cx="7366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5.00</a:t>
            </a:r>
          </a:p>
        </p:txBody>
      </p:sp>
      <p:sp>
        <p:nvSpPr>
          <p:cNvPr id="6071" name="tb"/>
          <p:cNvSpPr txBox="1"/>
          <p:nvPr/>
        </p:nvSpPr>
        <p:spPr>
          <a:xfrm>
            <a:off x="7061200" y="3810000"/>
            <a:ext cx="4826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Correlation  R = D⁻¹ S D⁻¹</a:t>
            </a:r>
          </a:p>
        </p:txBody>
      </p:sp>
      <p:sp>
        <p:nvSpPr>
          <p:cNvPr id="6072" name="hl"/>
          <p:cNvSpPr/>
          <p:nvPr/>
        </p:nvSpPr>
        <p:spPr>
          <a:xfrm>
            <a:off x="7620000" y="4216400"/>
            <a:ext cx="736600" cy="4318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73" name="hl"/>
          <p:cNvSpPr/>
          <p:nvPr/>
        </p:nvSpPr>
        <p:spPr>
          <a:xfrm>
            <a:off x="8356600" y="4648200"/>
            <a:ext cx="736600" cy="4318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74" name="hl"/>
          <p:cNvSpPr/>
          <p:nvPr/>
        </p:nvSpPr>
        <p:spPr>
          <a:xfrm>
            <a:off x="9093200" y="5080000"/>
            <a:ext cx="736600" cy="4318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75" name="hl"/>
          <p:cNvSpPr/>
          <p:nvPr/>
        </p:nvSpPr>
        <p:spPr>
          <a:xfrm>
            <a:off x="7505700" y="4178300"/>
            <a:ext cx="38100" cy="1371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76" name="hl"/>
          <p:cNvSpPr/>
          <p:nvPr/>
        </p:nvSpPr>
        <p:spPr>
          <a:xfrm>
            <a:off x="7505700" y="4178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77" name="hl"/>
          <p:cNvSpPr/>
          <p:nvPr/>
        </p:nvSpPr>
        <p:spPr>
          <a:xfrm>
            <a:off x="7505700" y="55118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78" name="hl"/>
          <p:cNvSpPr/>
          <p:nvPr/>
        </p:nvSpPr>
        <p:spPr>
          <a:xfrm>
            <a:off x="9906000" y="4178300"/>
            <a:ext cx="38100" cy="1371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79" name="hl"/>
          <p:cNvSpPr/>
          <p:nvPr/>
        </p:nvSpPr>
        <p:spPr>
          <a:xfrm>
            <a:off x="9829800" y="4178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80" name="hl"/>
          <p:cNvSpPr/>
          <p:nvPr/>
        </p:nvSpPr>
        <p:spPr>
          <a:xfrm>
            <a:off x="9829800" y="55118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81" name="tb"/>
          <p:cNvSpPr txBox="1"/>
          <p:nvPr/>
        </p:nvSpPr>
        <p:spPr>
          <a:xfrm>
            <a:off x="7620000" y="4216400"/>
            <a:ext cx="7366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1.00</a:t>
            </a:r>
          </a:p>
        </p:txBody>
      </p:sp>
      <p:sp>
        <p:nvSpPr>
          <p:cNvPr id="6082" name="tb"/>
          <p:cNvSpPr txBox="1"/>
          <p:nvPr/>
        </p:nvSpPr>
        <p:spPr>
          <a:xfrm>
            <a:off x="8356600" y="4216400"/>
            <a:ext cx="7366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0.07</a:t>
            </a:r>
          </a:p>
        </p:txBody>
      </p:sp>
      <p:sp>
        <p:nvSpPr>
          <p:cNvPr id="6083" name="tb"/>
          <p:cNvSpPr txBox="1"/>
          <p:nvPr/>
        </p:nvSpPr>
        <p:spPr>
          <a:xfrm>
            <a:off x="9093200" y="4216400"/>
            <a:ext cx="7366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−0.07</a:t>
            </a:r>
          </a:p>
        </p:txBody>
      </p:sp>
      <p:sp>
        <p:nvSpPr>
          <p:cNvPr id="6084" name="tb"/>
          <p:cNvSpPr txBox="1"/>
          <p:nvPr/>
        </p:nvSpPr>
        <p:spPr>
          <a:xfrm>
            <a:off x="7620000" y="4648200"/>
            <a:ext cx="7366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0.07</a:t>
            </a:r>
          </a:p>
        </p:txBody>
      </p:sp>
      <p:sp>
        <p:nvSpPr>
          <p:cNvPr id="6085" name="tb"/>
          <p:cNvSpPr txBox="1"/>
          <p:nvPr/>
        </p:nvSpPr>
        <p:spPr>
          <a:xfrm>
            <a:off x="8356600" y="4648200"/>
            <a:ext cx="7366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1.00</a:t>
            </a:r>
          </a:p>
        </p:txBody>
      </p:sp>
      <p:sp>
        <p:nvSpPr>
          <p:cNvPr id="6086" name="tb"/>
          <p:cNvSpPr txBox="1"/>
          <p:nvPr/>
        </p:nvSpPr>
        <p:spPr>
          <a:xfrm>
            <a:off x="9093200" y="4648200"/>
            <a:ext cx="7366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−1.00</a:t>
            </a:r>
          </a:p>
        </p:txBody>
      </p:sp>
      <p:sp>
        <p:nvSpPr>
          <p:cNvPr id="6087" name="tb"/>
          <p:cNvSpPr txBox="1"/>
          <p:nvPr/>
        </p:nvSpPr>
        <p:spPr>
          <a:xfrm>
            <a:off x="7620000" y="5080000"/>
            <a:ext cx="7366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−0.07</a:t>
            </a:r>
          </a:p>
        </p:txBody>
      </p:sp>
      <p:sp>
        <p:nvSpPr>
          <p:cNvPr id="6088" name="tb"/>
          <p:cNvSpPr txBox="1"/>
          <p:nvPr/>
        </p:nvSpPr>
        <p:spPr>
          <a:xfrm>
            <a:off x="8356600" y="5080000"/>
            <a:ext cx="7366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−1.00</a:t>
            </a:r>
          </a:p>
        </p:txBody>
      </p:sp>
      <p:sp>
        <p:nvSpPr>
          <p:cNvPr id="6089" name="tb"/>
          <p:cNvSpPr txBox="1"/>
          <p:nvPr/>
        </p:nvSpPr>
        <p:spPr>
          <a:xfrm>
            <a:off x="9093200" y="5080000"/>
            <a:ext cx="7366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1.00</a:t>
            </a:r>
          </a:p>
        </p:txBody>
      </p:sp>
      <p:sp>
        <p:nvSpPr>
          <p:cNvPr id="6090" name="tb"/>
          <p:cNvSpPr txBox="1"/>
          <p:nvPr/>
        </p:nvSpPr>
        <p:spPr>
          <a:xfrm>
            <a:off x="7061200" y="5588000"/>
            <a:ext cx="4826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00" dirty="0">
                <a:solidFill>
                  <a:srgbClr val="6E6E6E"/>
                </a:solidFill>
              </a:rPr>
              <a:t>σ = ( </a:t>
            </a:r>
            <a:r>
              <a:rPr lang="en-US" sz="1300" b="1" dirty="0">
                <a:solidFill>
                  <a:srgbClr val="6E6E6E"/>
                </a:solidFill>
              </a:rPr>
              <a:t>1.58, 2.24, 2.24</a:t>
            </a:r>
            <a:r>
              <a:rPr lang="en-US" sz="1300" dirty="0">
                <a:solidFill>
                  <a:srgbClr val="6E6E6E"/>
                </a:solidFill>
              </a:rPr>
              <a:t> )   ·   diag(S) = variances</a:t>
            </a:r>
          </a:p>
        </p:txBody>
      </p:sp>
    </p:spTree>
    <p:extLst>
      <p:ext uri="{BB962C8B-B14F-4D97-AF65-F5344CB8AC3E}">
        <p14:creationId xmlns:p14="http://schemas.microsoft.com/office/powerpoint/2010/main" val="357283473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Worked Example 3 — Covariance &amp; Correlation (5×2)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Mean → center → S = XcᵀXc /(n−1) → rescale to R.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Both features rise together here — a strong positive correlation, R₁₂ = 0.79.</a:t>
            </a:r>
          </a:p>
        </p:txBody>
      </p:sp>
      <p:sp>
        <p:nvSpPr>
          <p:cNvPr id="6000" name="panel"/>
          <p:cNvSpPr/>
          <p:nvPr/>
        </p:nvSpPr>
        <p:spPr>
          <a:xfrm>
            <a:off x="304800" y="1219200"/>
            <a:ext cx="320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08000" y="1422400"/>
            <a:ext cx="2794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Data  X   (n=5, p=2)</a:t>
            </a:r>
          </a:p>
        </p:txBody>
      </p:sp>
      <p:sp>
        <p:nvSpPr>
          <p:cNvPr id="6002" name="tb"/>
          <p:cNvSpPr txBox="1"/>
          <p:nvPr/>
        </p:nvSpPr>
        <p:spPr>
          <a:xfrm>
            <a:off x="1219200" y="1803400"/>
            <a:ext cx="5588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6E6E6E"/>
                </a:solidFill>
              </a:rPr>
              <a:t>x₁</a:t>
            </a:r>
          </a:p>
        </p:txBody>
      </p:sp>
      <p:sp>
        <p:nvSpPr>
          <p:cNvPr id="6003" name="tb"/>
          <p:cNvSpPr txBox="1"/>
          <p:nvPr/>
        </p:nvSpPr>
        <p:spPr>
          <a:xfrm>
            <a:off x="1778000" y="1803400"/>
            <a:ext cx="5588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6E6E6E"/>
                </a:solidFill>
              </a:rPr>
              <a:t>x₂</a:t>
            </a:r>
          </a:p>
        </p:txBody>
      </p:sp>
      <p:sp>
        <p:nvSpPr>
          <p:cNvPr id="6004" name="hl"/>
          <p:cNvSpPr/>
          <p:nvPr/>
        </p:nvSpPr>
        <p:spPr>
          <a:xfrm>
            <a:off x="1104900" y="20193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5" name="hl"/>
          <p:cNvSpPr/>
          <p:nvPr/>
        </p:nvSpPr>
        <p:spPr>
          <a:xfrm>
            <a:off x="1104900" y="2019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6" name="hl"/>
          <p:cNvSpPr/>
          <p:nvPr/>
        </p:nvSpPr>
        <p:spPr>
          <a:xfrm>
            <a:off x="1104900" y="377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7" name="hl"/>
          <p:cNvSpPr/>
          <p:nvPr/>
        </p:nvSpPr>
        <p:spPr>
          <a:xfrm>
            <a:off x="2413000" y="20193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8" name="hl"/>
          <p:cNvSpPr/>
          <p:nvPr/>
        </p:nvSpPr>
        <p:spPr>
          <a:xfrm>
            <a:off x="2336800" y="2019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9" name="hl"/>
          <p:cNvSpPr/>
          <p:nvPr/>
        </p:nvSpPr>
        <p:spPr>
          <a:xfrm>
            <a:off x="2336800" y="377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0" name="tb"/>
          <p:cNvSpPr txBox="1"/>
          <p:nvPr/>
        </p:nvSpPr>
        <p:spPr>
          <a:xfrm>
            <a:off x="1219200" y="20574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11" name="tb"/>
          <p:cNvSpPr txBox="1"/>
          <p:nvPr/>
        </p:nvSpPr>
        <p:spPr>
          <a:xfrm>
            <a:off x="1778000" y="20574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12" name="tb"/>
          <p:cNvSpPr txBox="1"/>
          <p:nvPr/>
        </p:nvSpPr>
        <p:spPr>
          <a:xfrm>
            <a:off x="1219200" y="24003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6013" name="tb"/>
          <p:cNvSpPr txBox="1"/>
          <p:nvPr/>
        </p:nvSpPr>
        <p:spPr>
          <a:xfrm>
            <a:off x="1778000" y="24003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7</a:t>
            </a:r>
          </a:p>
        </p:txBody>
      </p:sp>
      <p:sp>
        <p:nvSpPr>
          <p:cNvPr id="6014" name="tb"/>
          <p:cNvSpPr txBox="1"/>
          <p:nvPr/>
        </p:nvSpPr>
        <p:spPr>
          <a:xfrm>
            <a:off x="1219200" y="2743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15" name="tb"/>
          <p:cNvSpPr txBox="1"/>
          <p:nvPr/>
        </p:nvSpPr>
        <p:spPr>
          <a:xfrm>
            <a:off x="1778000" y="2743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16" name="tb"/>
          <p:cNvSpPr txBox="1"/>
          <p:nvPr/>
        </p:nvSpPr>
        <p:spPr>
          <a:xfrm>
            <a:off x="1219200" y="3086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7</a:t>
            </a:r>
          </a:p>
        </p:txBody>
      </p:sp>
      <p:sp>
        <p:nvSpPr>
          <p:cNvPr id="6017" name="tb"/>
          <p:cNvSpPr txBox="1"/>
          <p:nvPr/>
        </p:nvSpPr>
        <p:spPr>
          <a:xfrm>
            <a:off x="1778000" y="3086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9</a:t>
            </a:r>
          </a:p>
        </p:txBody>
      </p:sp>
      <p:sp>
        <p:nvSpPr>
          <p:cNvPr id="6018" name="tb"/>
          <p:cNvSpPr txBox="1"/>
          <p:nvPr/>
        </p:nvSpPr>
        <p:spPr>
          <a:xfrm>
            <a:off x="1219200" y="3429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9</a:t>
            </a:r>
          </a:p>
        </p:txBody>
      </p:sp>
      <p:sp>
        <p:nvSpPr>
          <p:cNvPr id="6019" name="tb"/>
          <p:cNvSpPr txBox="1"/>
          <p:nvPr/>
        </p:nvSpPr>
        <p:spPr>
          <a:xfrm>
            <a:off x="1778000" y="3429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9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508000" y="3873500"/>
            <a:ext cx="2794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b="1" dirty="0">
                <a:solidFill>
                  <a:srgbClr val="333333"/>
                </a:solidFill>
              </a:rPr>
              <a:t>μ = ( </a:t>
            </a:r>
            <a:r>
              <a:rPr lang="en-US" sz="1400" b="1" dirty="0">
                <a:solidFill>
                  <a:srgbClr val="4B2E83"/>
                </a:solidFill>
              </a:rPr>
              <a:t>5.00,  7.00</a:t>
            </a:r>
            <a:r>
              <a:rPr lang="en-US" sz="1400" b="1" dirty="0">
                <a:solidFill>
                  <a:srgbClr val="333333"/>
                </a:solidFill>
              </a:rPr>
              <a:t> )</a:t>
            </a:r>
          </a:p>
        </p:txBody>
      </p:sp>
      <p:sp>
        <p:nvSpPr>
          <p:cNvPr id="6021" name="panel"/>
          <p:cNvSpPr/>
          <p:nvPr/>
        </p:nvSpPr>
        <p:spPr>
          <a:xfrm>
            <a:off x="3657600" y="1219200"/>
            <a:ext cx="29972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2" name="tb"/>
          <p:cNvSpPr txBox="1"/>
          <p:nvPr/>
        </p:nvSpPr>
        <p:spPr>
          <a:xfrm>
            <a:off x="3860800" y="1422400"/>
            <a:ext cx="2667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Centered  Xc = X − 1μᵀ</a:t>
            </a:r>
          </a:p>
        </p:txBody>
      </p:sp>
      <p:sp>
        <p:nvSpPr>
          <p:cNvPr id="6023" name="hl"/>
          <p:cNvSpPr/>
          <p:nvPr/>
        </p:nvSpPr>
        <p:spPr>
          <a:xfrm>
            <a:off x="4406900" y="20193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4" name="hl"/>
          <p:cNvSpPr/>
          <p:nvPr/>
        </p:nvSpPr>
        <p:spPr>
          <a:xfrm>
            <a:off x="4406900" y="2019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5" name="hl"/>
          <p:cNvSpPr/>
          <p:nvPr/>
        </p:nvSpPr>
        <p:spPr>
          <a:xfrm>
            <a:off x="4406900" y="377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6" name="hl"/>
          <p:cNvSpPr/>
          <p:nvPr/>
        </p:nvSpPr>
        <p:spPr>
          <a:xfrm>
            <a:off x="5715000" y="20193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7" name="hl"/>
          <p:cNvSpPr/>
          <p:nvPr/>
        </p:nvSpPr>
        <p:spPr>
          <a:xfrm>
            <a:off x="5638800" y="2019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8" name="hl"/>
          <p:cNvSpPr/>
          <p:nvPr/>
        </p:nvSpPr>
        <p:spPr>
          <a:xfrm>
            <a:off x="5638800" y="377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9" name="tb"/>
          <p:cNvSpPr txBox="1"/>
          <p:nvPr/>
        </p:nvSpPr>
        <p:spPr>
          <a:xfrm>
            <a:off x="4521200" y="20574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−4.00</a:t>
            </a:r>
          </a:p>
        </p:txBody>
      </p:sp>
      <p:sp>
        <p:nvSpPr>
          <p:cNvPr id="6030" name="tb"/>
          <p:cNvSpPr txBox="1"/>
          <p:nvPr/>
        </p:nvSpPr>
        <p:spPr>
          <a:xfrm>
            <a:off x="5080000" y="20574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−2.00</a:t>
            </a:r>
          </a:p>
        </p:txBody>
      </p:sp>
      <p:sp>
        <p:nvSpPr>
          <p:cNvPr id="6031" name="tb"/>
          <p:cNvSpPr txBox="1"/>
          <p:nvPr/>
        </p:nvSpPr>
        <p:spPr>
          <a:xfrm>
            <a:off x="4521200" y="24003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−2.00</a:t>
            </a:r>
          </a:p>
        </p:txBody>
      </p:sp>
      <p:sp>
        <p:nvSpPr>
          <p:cNvPr id="6032" name="tb"/>
          <p:cNvSpPr txBox="1"/>
          <p:nvPr/>
        </p:nvSpPr>
        <p:spPr>
          <a:xfrm>
            <a:off x="5080000" y="24003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0.00</a:t>
            </a:r>
          </a:p>
        </p:txBody>
      </p:sp>
      <p:sp>
        <p:nvSpPr>
          <p:cNvPr id="6033" name="tb"/>
          <p:cNvSpPr txBox="1"/>
          <p:nvPr/>
        </p:nvSpPr>
        <p:spPr>
          <a:xfrm>
            <a:off x="4521200" y="2743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0.00</a:t>
            </a:r>
          </a:p>
        </p:txBody>
      </p:sp>
      <p:sp>
        <p:nvSpPr>
          <p:cNvPr id="6034" name="tb"/>
          <p:cNvSpPr txBox="1"/>
          <p:nvPr/>
        </p:nvSpPr>
        <p:spPr>
          <a:xfrm>
            <a:off x="5080000" y="2743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−2.00</a:t>
            </a:r>
          </a:p>
        </p:txBody>
      </p:sp>
      <p:sp>
        <p:nvSpPr>
          <p:cNvPr id="6035" name="tb"/>
          <p:cNvSpPr txBox="1"/>
          <p:nvPr/>
        </p:nvSpPr>
        <p:spPr>
          <a:xfrm>
            <a:off x="4521200" y="3086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2.00</a:t>
            </a:r>
          </a:p>
        </p:txBody>
      </p:sp>
      <p:sp>
        <p:nvSpPr>
          <p:cNvPr id="6036" name="tb"/>
          <p:cNvSpPr txBox="1"/>
          <p:nvPr/>
        </p:nvSpPr>
        <p:spPr>
          <a:xfrm>
            <a:off x="5080000" y="3086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2.00</a:t>
            </a:r>
          </a:p>
        </p:txBody>
      </p:sp>
      <p:sp>
        <p:nvSpPr>
          <p:cNvPr id="6037" name="tb"/>
          <p:cNvSpPr txBox="1"/>
          <p:nvPr/>
        </p:nvSpPr>
        <p:spPr>
          <a:xfrm>
            <a:off x="4521200" y="3429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4.00</a:t>
            </a:r>
          </a:p>
        </p:txBody>
      </p:sp>
      <p:sp>
        <p:nvSpPr>
          <p:cNvPr id="6038" name="tb"/>
          <p:cNvSpPr txBox="1"/>
          <p:nvPr/>
        </p:nvSpPr>
        <p:spPr>
          <a:xfrm>
            <a:off x="5080000" y="3429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2.00</a:t>
            </a:r>
          </a:p>
        </p:txBody>
      </p:sp>
      <p:sp>
        <p:nvSpPr>
          <p:cNvPr id="6039" name="tb"/>
          <p:cNvSpPr txBox="1"/>
          <p:nvPr/>
        </p:nvSpPr>
        <p:spPr>
          <a:xfrm>
            <a:off x="3860800" y="3873500"/>
            <a:ext cx="2667000" cy="50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00" i="1" dirty="0">
                <a:solidFill>
                  <a:srgbClr val="6E6E6E"/>
                </a:solidFill>
              </a:rPr>
              <a:t>Each column now sums to 0.</a:t>
            </a:r>
          </a:p>
        </p:txBody>
      </p:sp>
      <p:sp>
        <p:nvSpPr>
          <p:cNvPr id="6040" name="panel"/>
          <p:cNvSpPr/>
          <p:nvPr/>
        </p:nvSpPr>
        <p:spPr>
          <a:xfrm>
            <a:off x="6807200" y="1219200"/>
            <a:ext cx="50800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41" name="tb"/>
          <p:cNvSpPr txBox="1"/>
          <p:nvPr/>
        </p:nvSpPr>
        <p:spPr>
          <a:xfrm>
            <a:off x="7061200" y="1422400"/>
            <a:ext cx="4826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Covariance  S = XcᵀXc /(n−1)</a:t>
            </a:r>
          </a:p>
        </p:txBody>
      </p:sp>
      <p:sp>
        <p:nvSpPr>
          <p:cNvPr id="6042" name="hl"/>
          <p:cNvSpPr/>
          <p:nvPr/>
        </p:nvSpPr>
        <p:spPr>
          <a:xfrm>
            <a:off x="8382000" y="1854200"/>
            <a:ext cx="736600" cy="4318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3" name="hl"/>
          <p:cNvSpPr/>
          <p:nvPr/>
        </p:nvSpPr>
        <p:spPr>
          <a:xfrm>
            <a:off x="9118600" y="2286000"/>
            <a:ext cx="736600" cy="4318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4" name="hl"/>
          <p:cNvSpPr/>
          <p:nvPr/>
        </p:nvSpPr>
        <p:spPr>
          <a:xfrm>
            <a:off x="8267700" y="1816100"/>
            <a:ext cx="38100" cy="939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5" name="hl"/>
          <p:cNvSpPr/>
          <p:nvPr/>
        </p:nvSpPr>
        <p:spPr>
          <a:xfrm>
            <a:off x="8267700" y="18161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6" name="hl"/>
          <p:cNvSpPr/>
          <p:nvPr/>
        </p:nvSpPr>
        <p:spPr>
          <a:xfrm>
            <a:off x="8267700" y="27178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7" name="hl"/>
          <p:cNvSpPr/>
          <p:nvPr/>
        </p:nvSpPr>
        <p:spPr>
          <a:xfrm>
            <a:off x="9931400" y="1816100"/>
            <a:ext cx="38100" cy="939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8" name="hl"/>
          <p:cNvSpPr/>
          <p:nvPr/>
        </p:nvSpPr>
        <p:spPr>
          <a:xfrm>
            <a:off x="9855200" y="18161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9" name="hl"/>
          <p:cNvSpPr/>
          <p:nvPr/>
        </p:nvSpPr>
        <p:spPr>
          <a:xfrm>
            <a:off x="9855200" y="27178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50" name="tb"/>
          <p:cNvSpPr txBox="1"/>
          <p:nvPr/>
        </p:nvSpPr>
        <p:spPr>
          <a:xfrm>
            <a:off x="8382000" y="1854200"/>
            <a:ext cx="7366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10.00</a:t>
            </a:r>
          </a:p>
        </p:txBody>
      </p:sp>
      <p:sp>
        <p:nvSpPr>
          <p:cNvPr id="6051" name="tb"/>
          <p:cNvSpPr txBox="1"/>
          <p:nvPr/>
        </p:nvSpPr>
        <p:spPr>
          <a:xfrm>
            <a:off x="9118600" y="1854200"/>
            <a:ext cx="7366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5.00</a:t>
            </a:r>
          </a:p>
        </p:txBody>
      </p:sp>
      <p:sp>
        <p:nvSpPr>
          <p:cNvPr id="6052" name="tb"/>
          <p:cNvSpPr txBox="1"/>
          <p:nvPr/>
        </p:nvSpPr>
        <p:spPr>
          <a:xfrm>
            <a:off x="8382000" y="2286000"/>
            <a:ext cx="7366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5.00</a:t>
            </a:r>
          </a:p>
        </p:txBody>
      </p:sp>
      <p:sp>
        <p:nvSpPr>
          <p:cNvPr id="6053" name="tb"/>
          <p:cNvSpPr txBox="1"/>
          <p:nvPr/>
        </p:nvSpPr>
        <p:spPr>
          <a:xfrm>
            <a:off x="9118600" y="2286000"/>
            <a:ext cx="7366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4.00</a:t>
            </a:r>
          </a:p>
        </p:txBody>
      </p:sp>
      <p:sp>
        <p:nvSpPr>
          <p:cNvPr id="6054" name="tb"/>
          <p:cNvSpPr txBox="1"/>
          <p:nvPr/>
        </p:nvSpPr>
        <p:spPr>
          <a:xfrm>
            <a:off x="7061200" y="3810000"/>
            <a:ext cx="4826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Correlation  R = D⁻¹ S D⁻¹</a:t>
            </a:r>
          </a:p>
        </p:txBody>
      </p:sp>
      <p:sp>
        <p:nvSpPr>
          <p:cNvPr id="6055" name="hl"/>
          <p:cNvSpPr/>
          <p:nvPr/>
        </p:nvSpPr>
        <p:spPr>
          <a:xfrm>
            <a:off x="8382000" y="4216400"/>
            <a:ext cx="736600" cy="4318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56" name="hl"/>
          <p:cNvSpPr/>
          <p:nvPr/>
        </p:nvSpPr>
        <p:spPr>
          <a:xfrm>
            <a:off x="9118600" y="4648200"/>
            <a:ext cx="736600" cy="4318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57" name="hl"/>
          <p:cNvSpPr/>
          <p:nvPr/>
        </p:nvSpPr>
        <p:spPr>
          <a:xfrm>
            <a:off x="8267700" y="4178300"/>
            <a:ext cx="38100" cy="939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58" name="hl"/>
          <p:cNvSpPr/>
          <p:nvPr/>
        </p:nvSpPr>
        <p:spPr>
          <a:xfrm>
            <a:off x="8267700" y="4178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59" name="hl"/>
          <p:cNvSpPr/>
          <p:nvPr/>
        </p:nvSpPr>
        <p:spPr>
          <a:xfrm>
            <a:off x="8267700" y="50800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60" name="hl"/>
          <p:cNvSpPr/>
          <p:nvPr/>
        </p:nvSpPr>
        <p:spPr>
          <a:xfrm>
            <a:off x="9931400" y="4178300"/>
            <a:ext cx="38100" cy="9398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61" name="hl"/>
          <p:cNvSpPr/>
          <p:nvPr/>
        </p:nvSpPr>
        <p:spPr>
          <a:xfrm>
            <a:off x="9855200" y="4178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62" name="hl"/>
          <p:cNvSpPr/>
          <p:nvPr/>
        </p:nvSpPr>
        <p:spPr>
          <a:xfrm>
            <a:off x="9855200" y="50800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63" name="tb"/>
          <p:cNvSpPr txBox="1"/>
          <p:nvPr/>
        </p:nvSpPr>
        <p:spPr>
          <a:xfrm>
            <a:off x="8382000" y="4216400"/>
            <a:ext cx="7366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1.00</a:t>
            </a:r>
          </a:p>
        </p:txBody>
      </p:sp>
      <p:sp>
        <p:nvSpPr>
          <p:cNvPr id="6064" name="tb"/>
          <p:cNvSpPr txBox="1"/>
          <p:nvPr/>
        </p:nvSpPr>
        <p:spPr>
          <a:xfrm>
            <a:off x="9118600" y="4216400"/>
            <a:ext cx="7366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0.79</a:t>
            </a:r>
          </a:p>
        </p:txBody>
      </p:sp>
      <p:sp>
        <p:nvSpPr>
          <p:cNvPr id="6065" name="tb"/>
          <p:cNvSpPr txBox="1"/>
          <p:nvPr/>
        </p:nvSpPr>
        <p:spPr>
          <a:xfrm>
            <a:off x="8382000" y="4648200"/>
            <a:ext cx="7366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0.79</a:t>
            </a:r>
          </a:p>
        </p:txBody>
      </p:sp>
      <p:sp>
        <p:nvSpPr>
          <p:cNvPr id="6066" name="tb"/>
          <p:cNvSpPr txBox="1"/>
          <p:nvPr/>
        </p:nvSpPr>
        <p:spPr>
          <a:xfrm>
            <a:off x="9118600" y="4648200"/>
            <a:ext cx="7366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  <a:cs typeface="Consolas"/>
              </a:rPr>
              <a:t>1.00</a:t>
            </a:r>
          </a:p>
        </p:txBody>
      </p:sp>
      <p:sp>
        <p:nvSpPr>
          <p:cNvPr id="6067" name="tb"/>
          <p:cNvSpPr txBox="1"/>
          <p:nvPr/>
        </p:nvSpPr>
        <p:spPr>
          <a:xfrm>
            <a:off x="7061200" y="5156200"/>
            <a:ext cx="4826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00" dirty="0">
                <a:solidFill>
                  <a:srgbClr val="6E6E6E"/>
                </a:solidFill>
              </a:rPr>
              <a:t>σ = ( </a:t>
            </a:r>
            <a:r>
              <a:rPr lang="en-US" sz="1300" b="1" dirty="0">
                <a:solidFill>
                  <a:srgbClr val="6E6E6E"/>
                </a:solidFill>
              </a:rPr>
              <a:t>3.16, 2.00</a:t>
            </a:r>
            <a:r>
              <a:rPr lang="en-US" sz="1300" dirty="0">
                <a:solidFill>
                  <a:srgbClr val="6E6E6E"/>
                </a:solidFill>
              </a:rPr>
              <a:t> )   ·   diag(S) = variances</a:t>
            </a:r>
          </a:p>
        </p:txBody>
      </p:sp>
    </p:spTree>
    <p:extLst>
      <p:ext uri="{BB962C8B-B14F-4D97-AF65-F5344CB8AC3E}">
        <p14:creationId xmlns:p14="http://schemas.microsoft.com/office/powerpoint/2010/main" val="81830680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Reading S and R as Heatmaps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Color encodes the sign and strength of every entry (5×3 dataset).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Heatmaps reveal structure at a glance: a bright unit diagonal in R, warm cells for positive, cool for negative.</a:t>
            </a:r>
          </a:p>
        </p:txBody>
      </p:sp>
      <p:sp>
        <p:nvSpPr>
          <p:cNvPr id="6000" name="panel"/>
          <p:cNvSpPr/>
          <p:nvPr/>
        </p:nvSpPr>
        <p:spPr>
          <a:xfrm>
            <a:off x="304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47800"/>
            <a:ext cx="5080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50" b="1" dirty="0">
                <a:solidFill>
                  <a:srgbClr val="4B2E83"/>
                </a:solidFill>
              </a:rPr>
              <a:t>Covariance  S</a:t>
            </a:r>
          </a:p>
        </p:txBody>
      </p:sp>
      <p:sp>
        <p:nvSpPr>
          <p:cNvPr id="6002" name="tb"/>
          <p:cNvSpPr txBox="1"/>
          <p:nvPr/>
        </p:nvSpPr>
        <p:spPr>
          <a:xfrm>
            <a:off x="1905000" y="2159000"/>
            <a:ext cx="8382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50" b="1" dirty="0">
                <a:solidFill>
                  <a:srgbClr val="6E6E6E"/>
                </a:solidFill>
              </a:rPr>
              <a:t>x₁</a:t>
            </a:r>
          </a:p>
        </p:txBody>
      </p:sp>
      <p:sp>
        <p:nvSpPr>
          <p:cNvPr id="6003" name="tb"/>
          <p:cNvSpPr txBox="1"/>
          <p:nvPr/>
        </p:nvSpPr>
        <p:spPr>
          <a:xfrm>
            <a:off x="2743200" y="2159000"/>
            <a:ext cx="8382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50" b="1" dirty="0">
                <a:solidFill>
                  <a:srgbClr val="6E6E6E"/>
                </a:solidFill>
              </a:rPr>
              <a:t>x₂</a:t>
            </a:r>
          </a:p>
        </p:txBody>
      </p:sp>
      <p:sp>
        <p:nvSpPr>
          <p:cNvPr id="6004" name="tb"/>
          <p:cNvSpPr txBox="1"/>
          <p:nvPr/>
        </p:nvSpPr>
        <p:spPr>
          <a:xfrm>
            <a:off x="3581400" y="2159000"/>
            <a:ext cx="8382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50" b="1" dirty="0">
                <a:solidFill>
                  <a:srgbClr val="6E6E6E"/>
                </a:solidFill>
              </a:rPr>
              <a:t>x₃</a:t>
            </a:r>
          </a:p>
        </p:txBody>
      </p:sp>
      <p:sp>
        <p:nvSpPr>
          <p:cNvPr id="6005" name="tb"/>
          <p:cNvSpPr txBox="1"/>
          <p:nvPr/>
        </p:nvSpPr>
        <p:spPr>
          <a:xfrm>
            <a:off x="1600200" y="2730500"/>
            <a:ext cx="254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50" b="1" dirty="0">
                <a:solidFill>
                  <a:srgbClr val="6E6E6E"/>
                </a:solidFill>
              </a:rPr>
              <a:t>x₁</a:t>
            </a:r>
          </a:p>
        </p:txBody>
      </p:sp>
      <p:sp>
        <p:nvSpPr>
          <p:cNvPr id="6006" name="cell"/>
          <p:cNvSpPr/>
          <p:nvPr/>
        </p:nvSpPr>
        <p:spPr>
          <a:xfrm>
            <a:off x="1905000" y="2413000"/>
            <a:ext cx="838200" cy="838200"/>
          </a:xfrm>
          <a:prstGeom prst="rect">
            <a:avLst/>
          </a:prstGeom>
          <a:solidFill>
            <a:srgbClr val="80D3DA"/>
          </a:solidFill>
          <a:ln w="9525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</a:rPr>
              <a:t>2.50</a:t>
            </a:r>
          </a:p>
        </p:txBody>
      </p:sp>
      <p:sp>
        <p:nvSpPr>
          <p:cNvPr id="6007" name="cell"/>
          <p:cNvSpPr/>
          <p:nvPr/>
        </p:nvSpPr>
        <p:spPr>
          <a:xfrm>
            <a:off x="2743200" y="2413000"/>
            <a:ext cx="838200" cy="838200"/>
          </a:xfrm>
          <a:prstGeom prst="rect">
            <a:avLst/>
          </a:prstGeom>
          <a:solidFill>
            <a:srgbClr val="F2FBFB"/>
          </a:solidFill>
          <a:ln w="9525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</a:rPr>
              <a:t>0.25</a:t>
            </a:r>
          </a:p>
        </p:txBody>
      </p:sp>
      <p:sp>
        <p:nvSpPr>
          <p:cNvPr id="6008" name="cell"/>
          <p:cNvSpPr/>
          <p:nvPr/>
        </p:nvSpPr>
        <p:spPr>
          <a:xfrm>
            <a:off x="3581400" y="2413000"/>
            <a:ext cx="838200" cy="838200"/>
          </a:xfrm>
          <a:prstGeom prst="rect">
            <a:avLst/>
          </a:prstGeom>
          <a:solidFill>
            <a:srgbClr val="FDF7F9"/>
          </a:solidFill>
          <a:ln w="9525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</a:rPr>
              <a:t>−0.25</a:t>
            </a:r>
          </a:p>
        </p:txBody>
      </p:sp>
      <p:sp>
        <p:nvSpPr>
          <p:cNvPr id="6009" name="tb"/>
          <p:cNvSpPr txBox="1"/>
          <p:nvPr/>
        </p:nvSpPr>
        <p:spPr>
          <a:xfrm>
            <a:off x="1600200" y="3568700"/>
            <a:ext cx="254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50" b="1" dirty="0">
                <a:solidFill>
                  <a:srgbClr val="6E6E6E"/>
                </a:solidFill>
              </a:rPr>
              <a:t>x₂</a:t>
            </a:r>
          </a:p>
        </p:txBody>
      </p:sp>
      <p:sp>
        <p:nvSpPr>
          <p:cNvPr id="6010" name="cell"/>
          <p:cNvSpPr/>
          <p:nvPr/>
        </p:nvSpPr>
        <p:spPr>
          <a:xfrm>
            <a:off x="1905000" y="3251200"/>
            <a:ext cx="838200" cy="838200"/>
          </a:xfrm>
          <a:prstGeom prst="rect">
            <a:avLst/>
          </a:prstGeom>
          <a:solidFill>
            <a:srgbClr val="F2FBFB"/>
          </a:solidFill>
          <a:ln w="9525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</a:rPr>
              <a:t>0.25</a:t>
            </a:r>
          </a:p>
        </p:txBody>
      </p:sp>
      <p:sp>
        <p:nvSpPr>
          <p:cNvPr id="6011" name="cell"/>
          <p:cNvSpPr/>
          <p:nvPr/>
        </p:nvSpPr>
        <p:spPr>
          <a:xfrm>
            <a:off x="2743200" y="3251200"/>
            <a:ext cx="838200" cy="838200"/>
          </a:xfrm>
          <a:prstGeom prst="rect">
            <a:avLst/>
          </a:prstGeom>
          <a:solidFill>
            <a:srgbClr val="00A7B5"/>
          </a:solidFill>
          <a:ln w="9525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onsolas"/>
              </a:rPr>
              <a:t>5.00</a:t>
            </a:r>
          </a:p>
        </p:txBody>
      </p:sp>
      <p:sp>
        <p:nvSpPr>
          <p:cNvPr id="6012" name="cell"/>
          <p:cNvSpPr/>
          <p:nvPr/>
        </p:nvSpPr>
        <p:spPr>
          <a:xfrm>
            <a:off x="3581400" y="3251200"/>
            <a:ext cx="838200" cy="838200"/>
          </a:xfrm>
          <a:prstGeom prst="rect">
            <a:avLst/>
          </a:prstGeom>
          <a:solidFill>
            <a:srgbClr val="D1578A"/>
          </a:solidFill>
          <a:ln w="9525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onsolas"/>
              </a:rPr>
              <a:t>−5.00</a:t>
            </a:r>
          </a:p>
        </p:txBody>
      </p:sp>
      <p:sp>
        <p:nvSpPr>
          <p:cNvPr id="6013" name="tb"/>
          <p:cNvSpPr txBox="1"/>
          <p:nvPr/>
        </p:nvSpPr>
        <p:spPr>
          <a:xfrm>
            <a:off x="1600200" y="4406900"/>
            <a:ext cx="254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50" b="1" dirty="0">
                <a:solidFill>
                  <a:srgbClr val="6E6E6E"/>
                </a:solidFill>
              </a:rPr>
              <a:t>x₃</a:t>
            </a:r>
          </a:p>
        </p:txBody>
      </p:sp>
      <p:sp>
        <p:nvSpPr>
          <p:cNvPr id="6014" name="cell"/>
          <p:cNvSpPr/>
          <p:nvPr/>
        </p:nvSpPr>
        <p:spPr>
          <a:xfrm>
            <a:off x="1905000" y="4089400"/>
            <a:ext cx="838200" cy="838200"/>
          </a:xfrm>
          <a:prstGeom prst="rect">
            <a:avLst/>
          </a:prstGeom>
          <a:solidFill>
            <a:srgbClr val="FDF7F9"/>
          </a:solidFill>
          <a:ln w="9525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</a:rPr>
              <a:t>−0.25</a:t>
            </a:r>
          </a:p>
        </p:txBody>
      </p:sp>
      <p:sp>
        <p:nvSpPr>
          <p:cNvPr id="6015" name="cell"/>
          <p:cNvSpPr/>
          <p:nvPr/>
        </p:nvSpPr>
        <p:spPr>
          <a:xfrm>
            <a:off x="2743200" y="4089400"/>
            <a:ext cx="838200" cy="838200"/>
          </a:xfrm>
          <a:prstGeom prst="rect">
            <a:avLst/>
          </a:prstGeom>
          <a:solidFill>
            <a:srgbClr val="D1578A"/>
          </a:solidFill>
          <a:ln w="9525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onsolas"/>
              </a:rPr>
              <a:t>−5.00</a:t>
            </a:r>
          </a:p>
        </p:txBody>
      </p:sp>
      <p:sp>
        <p:nvSpPr>
          <p:cNvPr id="6016" name="cell"/>
          <p:cNvSpPr/>
          <p:nvPr/>
        </p:nvSpPr>
        <p:spPr>
          <a:xfrm>
            <a:off x="3581400" y="4089400"/>
            <a:ext cx="838200" cy="838200"/>
          </a:xfrm>
          <a:prstGeom prst="rect">
            <a:avLst/>
          </a:prstGeom>
          <a:solidFill>
            <a:srgbClr val="00A7B5"/>
          </a:solidFill>
          <a:ln w="9525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onsolas"/>
              </a:rPr>
              <a:t>5.00</a:t>
            </a:r>
          </a:p>
        </p:txBody>
      </p:sp>
      <p:sp>
        <p:nvSpPr>
          <p:cNvPr id="6017" name="tb"/>
          <p:cNvSpPr txBox="1"/>
          <p:nvPr/>
        </p:nvSpPr>
        <p:spPr>
          <a:xfrm>
            <a:off x="558800" y="5207000"/>
            <a:ext cx="51816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00" i="1" dirty="0">
                <a:solidFill>
                  <a:srgbClr val="6E6E6E"/>
                </a:solidFill>
              </a:rPr>
              <a:t>Cell brightness ∝ |value|; diagonal = variances.</a:t>
            </a:r>
          </a:p>
        </p:txBody>
      </p:sp>
      <p:sp>
        <p:nvSpPr>
          <p:cNvPr id="6018" name="panel"/>
          <p:cNvSpPr/>
          <p:nvPr/>
        </p:nvSpPr>
        <p:spPr>
          <a:xfrm>
            <a:off x="6146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19" name="tb"/>
          <p:cNvSpPr txBox="1"/>
          <p:nvPr/>
        </p:nvSpPr>
        <p:spPr>
          <a:xfrm>
            <a:off x="6400800" y="1447800"/>
            <a:ext cx="5080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50" b="1" dirty="0">
                <a:solidFill>
                  <a:srgbClr val="4B2E83"/>
                </a:solidFill>
              </a:rPr>
              <a:t>Correlation  R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7747000" y="2159000"/>
            <a:ext cx="8382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50" b="1" dirty="0">
                <a:solidFill>
                  <a:srgbClr val="6E6E6E"/>
                </a:solidFill>
              </a:rPr>
              <a:t>x₁</a:t>
            </a:r>
          </a:p>
        </p:txBody>
      </p:sp>
      <p:sp>
        <p:nvSpPr>
          <p:cNvPr id="6021" name="tb"/>
          <p:cNvSpPr txBox="1"/>
          <p:nvPr/>
        </p:nvSpPr>
        <p:spPr>
          <a:xfrm>
            <a:off x="8585200" y="2159000"/>
            <a:ext cx="8382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50" b="1" dirty="0">
                <a:solidFill>
                  <a:srgbClr val="6E6E6E"/>
                </a:solidFill>
              </a:rPr>
              <a:t>x₂</a:t>
            </a:r>
          </a:p>
        </p:txBody>
      </p:sp>
      <p:sp>
        <p:nvSpPr>
          <p:cNvPr id="6022" name="tb"/>
          <p:cNvSpPr txBox="1"/>
          <p:nvPr/>
        </p:nvSpPr>
        <p:spPr>
          <a:xfrm>
            <a:off x="9423400" y="2159000"/>
            <a:ext cx="8382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50" b="1" dirty="0">
                <a:solidFill>
                  <a:srgbClr val="6E6E6E"/>
                </a:solidFill>
              </a:rPr>
              <a:t>x₃</a:t>
            </a:r>
          </a:p>
        </p:txBody>
      </p:sp>
      <p:sp>
        <p:nvSpPr>
          <p:cNvPr id="6023" name="tb"/>
          <p:cNvSpPr txBox="1"/>
          <p:nvPr/>
        </p:nvSpPr>
        <p:spPr>
          <a:xfrm>
            <a:off x="7442200" y="2730500"/>
            <a:ext cx="254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50" b="1" dirty="0">
                <a:solidFill>
                  <a:srgbClr val="6E6E6E"/>
                </a:solidFill>
              </a:rPr>
              <a:t>x₁</a:t>
            </a:r>
          </a:p>
        </p:txBody>
      </p:sp>
      <p:sp>
        <p:nvSpPr>
          <p:cNvPr id="6024" name="cell"/>
          <p:cNvSpPr/>
          <p:nvPr/>
        </p:nvSpPr>
        <p:spPr>
          <a:xfrm>
            <a:off x="7747000" y="2413000"/>
            <a:ext cx="838200" cy="838200"/>
          </a:xfrm>
          <a:prstGeom prst="rect">
            <a:avLst/>
          </a:prstGeom>
          <a:solidFill>
            <a:srgbClr val="00A7B5"/>
          </a:solidFill>
          <a:ln w="9525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onsolas"/>
              </a:rPr>
              <a:t>1.00</a:t>
            </a:r>
          </a:p>
        </p:txBody>
      </p:sp>
      <p:sp>
        <p:nvSpPr>
          <p:cNvPr id="6025" name="cell"/>
          <p:cNvSpPr/>
          <p:nvPr/>
        </p:nvSpPr>
        <p:spPr>
          <a:xfrm>
            <a:off x="8585200" y="2413000"/>
            <a:ext cx="838200" cy="838200"/>
          </a:xfrm>
          <a:prstGeom prst="rect">
            <a:avLst/>
          </a:prstGeom>
          <a:solidFill>
            <a:srgbClr val="EDF9FA"/>
          </a:solidFill>
          <a:ln w="9525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</a:rPr>
              <a:t>0.07</a:t>
            </a:r>
          </a:p>
        </p:txBody>
      </p:sp>
      <p:sp>
        <p:nvSpPr>
          <p:cNvPr id="6026" name="cell"/>
          <p:cNvSpPr/>
          <p:nvPr/>
        </p:nvSpPr>
        <p:spPr>
          <a:xfrm>
            <a:off x="9423400" y="2413000"/>
            <a:ext cx="838200" cy="838200"/>
          </a:xfrm>
          <a:prstGeom prst="rect">
            <a:avLst/>
          </a:prstGeom>
          <a:solidFill>
            <a:srgbClr val="FCF3F7"/>
          </a:solidFill>
          <a:ln w="9525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</a:rPr>
              <a:t>−0.07</a:t>
            </a:r>
          </a:p>
        </p:txBody>
      </p:sp>
      <p:sp>
        <p:nvSpPr>
          <p:cNvPr id="6027" name="tb"/>
          <p:cNvSpPr txBox="1"/>
          <p:nvPr/>
        </p:nvSpPr>
        <p:spPr>
          <a:xfrm>
            <a:off x="7442200" y="3568700"/>
            <a:ext cx="254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50" b="1" dirty="0">
                <a:solidFill>
                  <a:srgbClr val="6E6E6E"/>
                </a:solidFill>
              </a:rPr>
              <a:t>x₂</a:t>
            </a:r>
          </a:p>
        </p:txBody>
      </p:sp>
      <p:sp>
        <p:nvSpPr>
          <p:cNvPr id="6028" name="cell"/>
          <p:cNvSpPr/>
          <p:nvPr/>
        </p:nvSpPr>
        <p:spPr>
          <a:xfrm>
            <a:off x="7747000" y="3251200"/>
            <a:ext cx="838200" cy="838200"/>
          </a:xfrm>
          <a:prstGeom prst="rect">
            <a:avLst/>
          </a:prstGeom>
          <a:solidFill>
            <a:srgbClr val="EDF9FA"/>
          </a:solidFill>
          <a:ln w="9525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</a:rPr>
              <a:t>0.07</a:t>
            </a:r>
          </a:p>
        </p:txBody>
      </p:sp>
      <p:sp>
        <p:nvSpPr>
          <p:cNvPr id="6029" name="cell"/>
          <p:cNvSpPr/>
          <p:nvPr/>
        </p:nvSpPr>
        <p:spPr>
          <a:xfrm>
            <a:off x="8585200" y="3251200"/>
            <a:ext cx="838200" cy="838200"/>
          </a:xfrm>
          <a:prstGeom prst="rect">
            <a:avLst/>
          </a:prstGeom>
          <a:solidFill>
            <a:srgbClr val="00A7B5"/>
          </a:solidFill>
          <a:ln w="9525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onsolas"/>
              </a:rPr>
              <a:t>1.00</a:t>
            </a:r>
          </a:p>
        </p:txBody>
      </p:sp>
      <p:sp>
        <p:nvSpPr>
          <p:cNvPr id="6030" name="cell"/>
          <p:cNvSpPr/>
          <p:nvPr/>
        </p:nvSpPr>
        <p:spPr>
          <a:xfrm>
            <a:off x="9423400" y="3251200"/>
            <a:ext cx="838200" cy="838200"/>
          </a:xfrm>
          <a:prstGeom prst="rect">
            <a:avLst/>
          </a:prstGeom>
          <a:solidFill>
            <a:srgbClr val="D1578A"/>
          </a:solidFill>
          <a:ln w="9525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onsolas"/>
              </a:rPr>
              <a:t>−1.00</a:t>
            </a:r>
          </a:p>
        </p:txBody>
      </p:sp>
      <p:sp>
        <p:nvSpPr>
          <p:cNvPr id="6031" name="tb"/>
          <p:cNvSpPr txBox="1"/>
          <p:nvPr/>
        </p:nvSpPr>
        <p:spPr>
          <a:xfrm>
            <a:off x="7442200" y="4406900"/>
            <a:ext cx="254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50" b="1" dirty="0">
                <a:solidFill>
                  <a:srgbClr val="6E6E6E"/>
                </a:solidFill>
              </a:rPr>
              <a:t>x₃</a:t>
            </a:r>
          </a:p>
        </p:txBody>
      </p:sp>
      <p:sp>
        <p:nvSpPr>
          <p:cNvPr id="6032" name="cell"/>
          <p:cNvSpPr/>
          <p:nvPr/>
        </p:nvSpPr>
        <p:spPr>
          <a:xfrm>
            <a:off x="7747000" y="4089400"/>
            <a:ext cx="838200" cy="838200"/>
          </a:xfrm>
          <a:prstGeom prst="rect">
            <a:avLst/>
          </a:prstGeom>
          <a:solidFill>
            <a:srgbClr val="FCF3F7"/>
          </a:solidFill>
          <a:ln w="9525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Consolas"/>
              </a:rPr>
              <a:t>−0.07</a:t>
            </a:r>
          </a:p>
        </p:txBody>
      </p:sp>
      <p:sp>
        <p:nvSpPr>
          <p:cNvPr id="6033" name="cell"/>
          <p:cNvSpPr/>
          <p:nvPr/>
        </p:nvSpPr>
        <p:spPr>
          <a:xfrm>
            <a:off x="8585200" y="4089400"/>
            <a:ext cx="838200" cy="838200"/>
          </a:xfrm>
          <a:prstGeom prst="rect">
            <a:avLst/>
          </a:prstGeom>
          <a:solidFill>
            <a:srgbClr val="D1578A"/>
          </a:solidFill>
          <a:ln w="9525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onsolas"/>
              </a:rPr>
              <a:t>−1.00</a:t>
            </a:r>
          </a:p>
        </p:txBody>
      </p:sp>
      <p:sp>
        <p:nvSpPr>
          <p:cNvPr id="6034" name="cell"/>
          <p:cNvSpPr/>
          <p:nvPr/>
        </p:nvSpPr>
        <p:spPr>
          <a:xfrm>
            <a:off x="9423400" y="4089400"/>
            <a:ext cx="838200" cy="838200"/>
          </a:xfrm>
          <a:prstGeom prst="rect">
            <a:avLst/>
          </a:prstGeom>
          <a:solidFill>
            <a:srgbClr val="00A7B5"/>
          </a:solidFill>
          <a:ln w="9525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onsolas"/>
              </a:rPr>
              <a:t>1.00</a:t>
            </a:r>
          </a:p>
        </p:txBody>
      </p:sp>
      <p:sp>
        <p:nvSpPr>
          <p:cNvPr id="6035" name="cell"/>
          <p:cNvSpPr/>
          <p:nvPr/>
        </p:nvSpPr>
        <p:spPr>
          <a:xfrm>
            <a:off x="7112000" y="5080000"/>
            <a:ext cx="482600" cy="228600"/>
          </a:xfrm>
          <a:prstGeom prst="rect">
            <a:avLst/>
          </a:prstGeom>
          <a:solidFill>
            <a:srgbClr val="D1578A"/>
          </a:solidFill>
          <a:ln w="9525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6036" name="cell"/>
          <p:cNvSpPr/>
          <p:nvPr/>
        </p:nvSpPr>
        <p:spPr>
          <a:xfrm>
            <a:off x="7594600" y="5080000"/>
            <a:ext cx="482600" cy="228600"/>
          </a:xfrm>
          <a:prstGeom prst="rect">
            <a:avLst/>
          </a:prstGeom>
          <a:solidFill>
            <a:srgbClr val="E08FB1"/>
          </a:solidFill>
          <a:ln w="9525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6037" name="cell"/>
          <p:cNvSpPr/>
          <p:nvPr/>
        </p:nvSpPr>
        <p:spPr>
          <a:xfrm>
            <a:off x="8077200" y="5080000"/>
            <a:ext cx="482600" cy="228600"/>
          </a:xfrm>
          <a:prstGeom prst="rect">
            <a:avLst/>
          </a:prstGeom>
          <a:solidFill>
            <a:srgbClr val="F2C9DA"/>
          </a:solidFill>
          <a:ln w="9525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6038" name="cell"/>
          <p:cNvSpPr/>
          <p:nvPr/>
        </p:nvSpPr>
        <p:spPr>
          <a:xfrm>
            <a:off x="8559800" y="5080000"/>
            <a:ext cx="48260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6039" name="cell"/>
          <p:cNvSpPr/>
          <p:nvPr/>
        </p:nvSpPr>
        <p:spPr>
          <a:xfrm>
            <a:off x="9042400" y="5080000"/>
            <a:ext cx="482600" cy="228600"/>
          </a:xfrm>
          <a:prstGeom prst="rect">
            <a:avLst/>
          </a:prstGeom>
          <a:solidFill>
            <a:srgbClr val="BFE9ED"/>
          </a:solidFill>
          <a:ln w="9525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6040" name="cell"/>
          <p:cNvSpPr/>
          <p:nvPr/>
        </p:nvSpPr>
        <p:spPr>
          <a:xfrm>
            <a:off x="9525000" y="5080000"/>
            <a:ext cx="482600" cy="228600"/>
          </a:xfrm>
          <a:prstGeom prst="rect">
            <a:avLst/>
          </a:prstGeom>
          <a:solidFill>
            <a:srgbClr val="7FD3DB"/>
          </a:solidFill>
          <a:ln w="9525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6041" name="cell"/>
          <p:cNvSpPr/>
          <p:nvPr/>
        </p:nvSpPr>
        <p:spPr>
          <a:xfrm>
            <a:off x="10007600" y="5080000"/>
            <a:ext cx="482600" cy="228600"/>
          </a:xfrm>
          <a:prstGeom prst="rect">
            <a:avLst/>
          </a:prstGeom>
          <a:solidFill>
            <a:srgbClr val="00A7B5"/>
          </a:solidFill>
          <a:ln w="9525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6042" name="tb"/>
          <p:cNvSpPr txBox="1"/>
          <p:nvPr/>
        </p:nvSpPr>
        <p:spPr>
          <a:xfrm>
            <a:off x="7061200" y="5359400"/>
            <a:ext cx="5842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50" b="1" dirty="0">
                <a:solidFill>
                  <a:srgbClr val="6E6E6E"/>
                </a:solidFill>
              </a:rPr>
              <a:t>−1</a:t>
            </a:r>
          </a:p>
        </p:txBody>
      </p:sp>
      <p:sp>
        <p:nvSpPr>
          <p:cNvPr id="6043" name="tb"/>
          <p:cNvSpPr txBox="1"/>
          <p:nvPr/>
        </p:nvSpPr>
        <p:spPr>
          <a:xfrm>
            <a:off x="8458200" y="5359400"/>
            <a:ext cx="381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50" b="1" dirty="0">
                <a:solidFill>
                  <a:srgbClr val="6E6E6E"/>
                </a:solidFill>
              </a:rPr>
              <a:t>0</a:t>
            </a:r>
          </a:p>
        </p:txBody>
      </p:sp>
      <p:sp>
        <p:nvSpPr>
          <p:cNvPr id="6044" name="tb"/>
          <p:cNvSpPr txBox="1"/>
          <p:nvPr/>
        </p:nvSpPr>
        <p:spPr>
          <a:xfrm>
            <a:off x="9931400" y="5359400"/>
            <a:ext cx="508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50" b="1" dirty="0">
                <a:solidFill>
                  <a:srgbClr val="6E6E6E"/>
                </a:solidFill>
              </a:rPr>
              <a:t>+1</a:t>
            </a:r>
          </a:p>
        </p:txBody>
      </p:sp>
    </p:spTree>
    <p:extLst>
      <p:ext uri="{BB962C8B-B14F-4D97-AF65-F5344CB8AC3E}">
        <p14:creationId xmlns:p14="http://schemas.microsoft.com/office/powerpoint/2010/main" val="40170074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Correlation as a Distance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Convert similarity into distance with  d = 1 − r   (so r = 1 → d = 0).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1 − R is a distance between features: strongly correlated features sit close, weakly correlated ones far apart.</a:t>
            </a:r>
          </a:p>
        </p:txBody>
      </p:sp>
      <p:sp>
        <p:nvSpPr>
          <p:cNvPr id="6000" name="panel"/>
          <p:cNvSpPr/>
          <p:nvPr/>
        </p:nvSpPr>
        <p:spPr>
          <a:xfrm>
            <a:off x="304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98600"/>
            <a:ext cx="2286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Correlation  R</a:t>
            </a:r>
          </a:p>
        </p:txBody>
      </p:sp>
      <p:sp>
        <p:nvSpPr>
          <p:cNvPr id="6002" name="hl"/>
          <p:cNvSpPr/>
          <p:nvPr/>
        </p:nvSpPr>
        <p:spPr>
          <a:xfrm>
            <a:off x="1790700" y="1866900"/>
            <a:ext cx="38100" cy="1600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3" name="hl"/>
          <p:cNvSpPr/>
          <p:nvPr/>
        </p:nvSpPr>
        <p:spPr>
          <a:xfrm>
            <a:off x="1790700" y="1866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4" name="hl"/>
          <p:cNvSpPr/>
          <p:nvPr/>
        </p:nvSpPr>
        <p:spPr>
          <a:xfrm>
            <a:off x="1790700" y="34290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5" name="hl"/>
          <p:cNvSpPr/>
          <p:nvPr/>
        </p:nvSpPr>
        <p:spPr>
          <a:xfrm>
            <a:off x="3962400" y="1866900"/>
            <a:ext cx="38100" cy="1600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6" name="hl"/>
          <p:cNvSpPr/>
          <p:nvPr/>
        </p:nvSpPr>
        <p:spPr>
          <a:xfrm>
            <a:off x="3886200" y="1866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7" name="hl"/>
          <p:cNvSpPr/>
          <p:nvPr/>
        </p:nvSpPr>
        <p:spPr>
          <a:xfrm>
            <a:off x="3886200" y="34290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8" name="tb"/>
          <p:cNvSpPr txBox="1"/>
          <p:nvPr/>
        </p:nvSpPr>
        <p:spPr>
          <a:xfrm>
            <a:off x="1905000" y="19050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1.00</a:t>
            </a:r>
          </a:p>
        </p:txBody>
      </p:sp>
      <p:sp>
        <p:nvSpPr>
          <p:cNvPr id="6009" name="tb"/>
          <p:cNvSpPr txBox="1"/>
          <p:nvPr/>
        </p:nvSpPr>
        <p:spPr>
          <a:xfrm>
            <a:off x="2565400" y="19050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0.90</a:t>
            </a:r>
          </a:p>
        </p:txBody>
      </p:sp>
      <p:sp>
        <p:nvSpPr>
          <p:cNvPr id="6010" name="tb"/>
          <p:cNvSpPr txBox="1"/>
          <p:nvPr/>
        </p:nvSpPr>
        <p:spPr>
          <a:xfrm>
            <a:off x="3225800" y="19050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0.10</a:t>
            </a:r>
          </a:p>
        </p:txBody>
      </p:sp>
      <p:sp>
        <p:nvSpPr>
          <p:cNvPr id="6011" name="tb"/>
          <p:cNvSpPr txBox="1"/>
          <p:nvPr/>
        </p:nvSpPr>
        <p:spPr>
          <a:xfrm>
            <a:off x="1905000" y="24130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0.90</a:t>
            </a:r>
          </a:p>
        </p:txBody>
      </p:sp>
      <p:sp>
        <p:nvSpPr>
          <p:cNvPr id="6012" name="tb"/>
          <p:cNvSpPr txBox="1"/>
          <p:nvPr/>
        </p:nvSpPr>
        <p:spPr>
          <a:xfrm>
            <a:off x="2565400" y="24130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1.00</a:t>
            </a:r>
          </a:p>
        </p:txBody>
      </p:sp>
      <p:sp>
        <p:nvSpPr>
          <p:cNvPr id="6013" name="tb"/>
          <p:cNvSpPr txBox="1"/>
          <p:nvPr/>
        </p:nvSpPr>
        <p:spPr>
          <a:xfrm>
            <a:off x="3225800" y="24130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0.20</a:t>
            </a:r>
          </a:p>
        </p:txBody>
      </p:sp>
      <p:sp>
        <p:nvSpPr>
          <p:cNvPr id="6014" name="tb"/>
          <p:cNvSpPr txBox="1"/>
          <p:nvPr/>
        </p:nvSpPr>
        <p:spPr>
          <a:xfrm>
            <a:off x="1905000" y="29210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0.10</a:t>
            </a:r>
          </a:p>
        </p:txBody>
      </p:sp>
      <p:sp>
        <p:nvSpPr>
          <p:cNvPr id="6015" name="tb"/>
          <p:cNvSpPr txBox="1"/>
          <p:nvPr/>
        </p:nvSpPr>
        <p:spPr>
          <a:xfrm>
            <a:off x="2565400" y="29210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0.20</a:t>
            </a:r>
          </a:p>
        </p:txBody>
      </p:sp>
      <p:sp>
        <p:nvSpPr>
          <p:cNvPr id="6016" name="tb"/>
          <p:cNvSpPr txBox="1"/>
          <p:nvPr/>
        </p:nvSpPr>
        <p:spPr>
          <a:xfrm>
            <a:off x="3225800" y="29210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1.00</a:t>
            </a:r>
          </a:p>
        </p:txBody>
      </p:sp>
      <p:sp>
        <p:nvSpPr>
          <p:cNvPr id="6017" name="tb"/>
          <p:cNvSpPr txBox="1"/>
          <p:nvPr/>
        </p:nvSpPr>
        <p:spPr>
          <a:xfrm>
            <a:off x="558800" y="3810000"/>
            <a:ext cx="2540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Distance  D = 1 − R</a:t>
            </a:r>
          </a:p>
        </p:txBody>
      </p:sp>
      <p:sp>
        <p:nvSpPr>
          <p:cNvPr id="6018" name="hl"/>
          <p:cNvSpPr/>
          <p:nvPr/>
        </p:nvSpPr>
        <p:spPr>
          <a:xfrm>
            <a:off x="1790700" y="4178300"/>
            <a:ext cx="38100" cy="1600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9" name="hl"/>
          <p:cNvSpPr/>
          <p:nvPr/>
        </p:nvSpPr>
        <p:spPr>
          <a:xfrm>
            <a:off x="1790700" y="4178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0" name="hl"/>
          <p:cNvSpPr/>
          <p:nvPr/>
        </p:nvSpPr>
        <p:spPr>
          <a:xfrm>
            <a:off x="1790700" y="5740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1" name="hl"/>
          <p:cNvSpPr/>
          <p:nvPr/>
        </p:nvSpPr>
        <p:spPr>
          <a:xfrm>
            <a:off x="3962400" y="4178300"/>
            <a:ext cx="38100" cy="1600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2" name="hl"/>
          <p:cNvSpPr/>
          <p:nvPr/>
        </p:nvSpPr>
        <p:spPr>
          <a:xfrm>
            <a:off x="3886200" y="4178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3" name="hl"/>
          <p:cNvSpPr/>
          <p:nvPr/>
        </p:nvSpPr>
        <p:spPr>
          <a:xfrm>
            <a:off x="3886200" y="5740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4" name="tb"/>
          <p:cNvSpPr txBox="1"/>
          <p:nvPr/>
        </p:nvSpPr>
        <p:spPr>
          <a:xfrm>
            <a:off x="1905000" y="42164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0.00</a:t>
            </a:r>
          </a:p>
        </p:txBody>
      </p:sp>
      <p:sp>
        <p:nvSpPr>
          <p:cNvPr id="6025" name="tb"/>
          <p:cNvSpPr txBox="1"/>
          <p:nvPr/>
        </p:nvSpPr>
        <p:spPr>
          <a:xfrm>
            <a:off x="2565400" y="42164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0.10</a:t>
            </a:r>
          </a:p>
        </p:txBody>
      </p:sp>
      <p:sp>
        <p:nvSpPr>
          <p:cNvPr id="6026" name="tb"/>
          <p:cNvSpPr txBox="1"/>
          <p:nvPr/>
        </p:nvSpPr>
        <p:spPr>
          <a:xfrm>
            <a:off x="3225800" y="42164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0.90</a:t>
            </a:r>
          </a:p>
        </p:txBody>
      </p:sp>
      <p:sp>
        <p:nvSpPr>
          <p:cNvPr id="6027" name="tb"/>
          <p:cNvSpPr txBox="1"/>
          <p:nvPr/>
        </p:nvSpPr>
        <p:spPr>
          <a:xfrm>
            <a:off x="1905000" y="47244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0.10</a:t>
            </a:r>
          </a:p>
        </p:txBody>
      </p:sp>
      <p:sp>
        <p:nvSpPr>
          <p:cNvPr id="6028" name="tb"/>
          <p:cNvSpPr txBox="1"/>
          <p:nvPr/>
        </p:nvSpPr>
        <p:spPr>
          <a:xfrm>
            <a:off x="2565400" y="47244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0.00</a:t>
            </a:r>
          </a:p>
        </p:txBody>
      </p:sp>
      <p:sp>
        <p:nvSpPr>
          <p:cNvPr id="6029" name="tb"/>
          <p:cNvSpPr txBox="1"/>
          <p:nvPr/>
        </p:nvSpPr>
        <p:spPr>
          <a:xfrm>
            <a:off x="3225800" y="47244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0.80</a:t>
            </a:r>
          </a:p>
        </p:txBody>
      </p:sp>
      <p:sp>
        <p:nvSpPr>
          <p:cNvPr id="6030" name="tb"/>
          <p:cNvSpPr txBox="1"/>
          <p:nvPr/>
        </p:nvSpPr>
        <p:spPr>
          <a:xfrm>
            <a:off x="1905000" y="52324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0.90</a:t>
            </a:r>
          </a:p>
        </p:txBody>
      </p:sp>
      <p:sp>
        <p:nvSpPr>
          <p:cNvPr id="6031" name="tb"/>
          <p:cNvSpPr txBox="1"/>
          <p:nvPr/>
        </p:nvSpPr>
        <p:spPr>
          <a:xfrm>
            <a:off x="2565400" y="52324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0.80</a:t>
            </a:r>
          </a:p>
        </p:txBody>
      </p:sp>
      <p:sp>
        <p:nvSpPr>
          <p:cNvPr id="6032" name="tb"/>
          <p:cNvSpPr txBox="1"/>
          <p:nvPr/>
        </p:nvSpPr>
        <p:spPr>
          <a:xfrm>
            <a:off x="3225800" y="52324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0.00</a:t>
            </a:r>
          </a:p>
        </p:txBody>
      </p:sp>
      <p:sp>
        <p:nvSpPr>
          <p:cNvPr id="6035" name="panel"/>
          <p:cNvSpPr/>
          <p:nvPr/>
        </p:nvSpPr>
        <p:spPr>
          <a:xfrm>
            <a:off x="6146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36" name="tb"/>
          <p:cNvSpPr txBox="1"/>
          <p:nvPr/>
        </p:nvSpPr>
        <p:spPr>
          <a:xfrm>
            <a:off x="6400800" y="1447800"/>
            <a:ext cx="5080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Features placed by distance</a:t>
            </a:r>
          </a:p>
        </p:txBody>
      </p:sp>
      <p:sp>
        <p:nvSpPr>
          <p:cNvPr id="6037" name="hl"/>
          <p:cNvSpPr/>
          <p:nvPr/>
        </p:nvSpPr>
        <p:spPr>
          <a:xfrm>
            <a:off x="7569200" y="2692400"/>
            <a:ext cx="1219200" cy="863600"/>
          </a:xfrm>
          <a:prstGeom prst="rect">
            <a:avLst/>
          </a:prstGeom>
          <a:solidFill>
            <a:srgbClr val="00A7B5">
              <a:alpha val="16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cxnSp>
        <p:nvCxnSpPr>
          <p:cNvPr id="6038" name="seg"/>
          <p:cNvCxnSpPr/>
          <p:nvPr/>
        </p:nvCxnSpPr>
        <p:spPr>
          <a:xfrm flipV="1">
            <a:off x="7848600" y="2946400"/>
            <a:ext cx="431800" cy="228600"/>
          </a:xfrm>
          <a:prstGeom prst="line">
            <a:avLst/>
          </a:prstGeom>
          <a:ln w="19050" cap="rnd">
            <a:solidFill>
              <a:srgbClr val="4B2E83"/>
            </a:solidFill>
          </a:ln>
        </p:spPr>
      </p:cxnSp>
      <p:cxnSp>
        <p:nvCxnSpPr>
          <p:cNvPr id="6039" name="seg"/>
          <p:cNvCxnSpPr/>
          <p:nvPr/>
        </p:nvCxnSpPr>
        <p:spPr>
          <a:xfrm>
            <a:off x="7848600" y="3175000"/>
            <a:ext cx="2819400" cy="863600"/>
          </a:xfrm>
          <a:prstGeom prst="line">
            <a:avLst/>
          </a:prstGeom>
          <a:ln w="15875" cap="rnd">
            <a:solidFill>
              <a:srgbClr val="9A9A9A"/>
            </a:solidFill>
            <a:prstDash val="dash"/>
          </a:ln>
        </p:spPr>
      </p:cxnSp>
      <p:cxnSp>
        <p:nvCxnSpPr>
          <p:cNvPr id="6040" name="seg"/>
          <p:cNvCxnSpPr/>
          <p:nvPr/>
        </p:nvCxnSpPr>
        <p:spPr>
          <a:xfrm>
            <a:off x="8280400" y="2946400"/>
            <a:ext cx="2387600" cy="1092200"/>
          </a:xfrm>
          <a:prstGeom prst="line">
            <a:avLst/>
          </a:prstGeom>
          <a:ln w="15875" cap="rnd">
            <a:solidFill>
              <a:srgbClr val="9A9A9A"/>
            </a:solidFill>
            <a:prstDash val="dash"/>
          </a:ln>
        </p:spPr>
      </p:cxnSp>
      <p:sp>
        <p:nvSpPr>
          <p:cNvPr id="6041" name="node"/>
          <p:cNvSpPr/>
          <p:nvPr/>
        </p:nvSpPr>
        <p:spPr>
          <a:xfrm>
            <a:off x="7683500" y="3009900"/>
            <a:ext cx="330200" cy="330200"/>
          </a:xfrm>
          <a:prstGeom prst="ellipse">
            <a:avLst/>
          </a:prstGeom>
          <a:solidFill>
            <a:srgbClr val="00A7B5"/>
          </a:solidFill>
          <a:ln w="1270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6042" name="node"/>
          <p:cNvSpPr/>
          <p:nvPr/>
        </p:nvSpPr>
        <p:spPr>
          <a:xfrm>
            <a:off x="8115300" y="2781300"/>
            <a:ext cx="330200" cy="330200"/>
          </a:xfrm>
          <a:prstGeom prst="ellipse">
            <a:avLst/>
          </a:prstGeom>
          <a:solidFill>
            <a:srgbClr val="00A7B5"/>
          </a:solidFill>
          <a:ln w="1270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6043" name="node"/>
          <p:cNvSpPr/>
          <p:nvPr/>
        </p:nvSpPr>
        <p:spPr>
          <a:xfrm>
            <a:off x="10502900" y="3873500"/>
            <a:ext cx="330200" cy="330200"/>
          </a:xfrm>
          <a:prstGeom prst="ellipse">
            <a:avLst/>
          </a:prstGeom>
          <a:solidFill>
            <a:srgbClr val="B7A57A"/>
          </a:solidFill>
          <a:ln w="12700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6044" name="tb"/>
          <p:cNvSpPr txBox="1"/>
          <p:nvPr/>
        </p:nvSpPr>
        <p:spPr>
          <a:xfrm>
            <a:off x="7112000" y="2489200"/>
            <a:ext cx="1524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b="1" dirty="0">
                <a:solidFill>
                  <a:srgbClr val="4B2E83"/>
                </a:solidFill>
              </a:rPr>
              <a:t>d = 0.10</a:t>
            </a:r>
          </a:p>
        </p:txBody>
      </p:sp>
      <p:sp>
        <p:nvSpPr>
          <p:cNvPr id="6045" name="tb"/>
          <p:cNvSpPr txBox="1"/>
          <p:nvPr/>
        </p:nvSpPr>
        <p:spPr>
          <a:xfrm>
            <a:off x="8890000" y="3175000"/>
            <a:ext cx="1143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b="1" dirty="0">
                <a:solidFill>
                  <a:srgbClr val="6E6E6E"/>
                </a:solidFill>
              </a:rPr>
              <a:t>d = 0.90</a:t>
            </a:r>
          </a:p>
        </p:txBody>
      </p:sp>
      <p:sp>
        <p:nvSpPr>
          <p:cNvPr id="6046" name="tb"/>
          <p:cNvSpPr txBox="1"/>
          <p:nvPr/>
        </p:nvSpPr>
        <p:spPr>
          <a:xfrm>
            <a:off x="8890000" y="3810000"/>
            <a:ext cx="1143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b="1" dirty="0">
                <a:solidFill>
                  <a:srgbClr val="6E6E6E"/>
                </a:solidFill>
              </a:rPr>
              <a:t>d = 0.80</a:t>
            </a:r>
          </a:p>
        </p:txBody>
      </p:sp>
      <p:sp>
        <p:nvSpPr>
          <p:cNvPr id="6047" name="tb"/>
          <p:cNvSpPr txBox="1"/>
          <p:nvPr/>
        </p:nvSpPr>
        <p:spPr>
          <a:xfrm>
            <a:off x="7569200" y="3606800"/>
            <a:ext cx="1905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50" b="1" i="1" dirty="0">
                <a:solidFill>
                  <a:srgbClr val="00A7B5"/>
                </a:solidFill>
              </a:rPr>
              <a:t>similar features</a:t>
            </a:r>
          </a:p>
        </p:txBody>
      </p:sp>
      <p:sp>
        <p:nvSpPr>
          <p:cNvPr id="6048" name="tb"/>
          <p:cNvSpPr txBox="1"/>
          <p:nvPr/>
        </p:nvSpPr>
        <p:spPr>
          <a:xfrm>
            <a:off x="6400800" y="5181600"/>
            <a:ext cx="5334000" cy="381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00" i="1" dirty="0">
                <a:solidFill>
                  <a:srgbClr val="6E6E6E"/>
                </a:solidFill>
              </a:rPr>
              <a:t>A and B are strongly correlated (r=0.9) → close;  C is nearly uncorrelated → far.</a:t>
            </a:r>
          </a:p>
        </p:txBody>
      </p:sp>
      <p:sp>
        <p:nvSpPr>
          <p:cNvPr id="7100" name="tb"/>
          <p:cNvSpPr txBox="1"/>
          <p:nvPr/>
        </p:nvSpPr>
        <p:spPr>
          <a:xfrm>
            <a:off x="4191000" y="2616200"/>
            <a:ext cx="1803400" cy="3048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500" b="1" dirty="0">
                <a:solidFill>
                  <a:srgbClr val="333333"/>
                </a:solidFill>
              </a:rPr>
              <a:t>dᵢⱼ = 1 − rᵢⱼ</a:t>
            </a:r>
          </a:p>
        </p:txBody>
      </p:sp>
      <p:sp>
        <p:nvSpPr>
          <p:cNvPr id="7101" name="tb"/>
          <p:cNvSpPr txBox="1"/>
          <p:nvPr/>
        </p:nvSpPr>
        <p:spPr>
          <a:xfrm>
            <a:off x="4191000" y="3098800"/>
            <a:ext cx="1905000" cy="254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300" i="1" dirty="0">
                <a:solidFill>
                  <a:srgbClr val="6E6E6E"/>
                </a:solidFill>
              </a:rPr>
              <a:t>r = 1  →  d = 0</a:t>
            </a:r>
          </a:p>
        </p:txBody>
      </p:sp>
      <p:sp>
        <p:nvSpPr>
          <p:cNvPr id="7102" name="tb"/>
          <p:cNvSpPr txBox="1"/>
          <p:nvPr/>
        </p:nvSpPr>
        <p:spPr>
          <a:xfrm>
            <a:off x="4191000" y="3403600"/>
            <a:ext cx="1905000" cy="254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300" i="1" dirty="0">
                <a:solidFill>
                  <a:srgbClr val="6E6E6E"/>
                </a:solidFill>
              </a:rPr>
              <a:t>r = 0  →  d = 1</a:t>
            </a:r>
          </a:p>
        </p:txBody>
      </p:sp>
      <p:sp>
        <p:nvSpPr>
          <p:cNvPr id="7103" name="tb"/>
          <p:cNvSpPr txBox="1"/>
          <p:nvPr/>
        </p:nvSpPr>
        <p:spPr>
          <a:xfrm>
            <a:off x="4191000" y="3708400"/>
            <a:ext cx="1905000" cy="254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300" i="1" dirty="0">
                <a:solidFill>
                  <a:srgbClr val="6E6E6E"/>
                </a:solidFill>
              </a:rPr>
              <a:t>r = −1 →  d = 2</a:t>
            </a:r>
          </a:p>
        </p:txBody>
      </p:sp>
    </p:spTree>
    <p:extLst>
      <p:ext uri="{BB962C8B-B14F-4D97-AF65-F5344CB8AC3E}">
        <p14:creationId xmlns:p14="http://schemas.microsoft.com/office/powerpoint/2010/main" val="43428564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Covariance Matrix — Example 1  (5×2)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Center the data, then S = XcᵀXc /(n−1).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Covariance = cross-product of the centered data, divided by n−1.</a:t>
            </a:r>
          </a:p>
        </p:txBody>
      </p:sp>
      <p:sp>
        <p:nvSpPr>
          <p:cNvPr id="6000" name="pn"/>
          <p:cNvSpPr/>
          <p:nvPr/>
        </p:nvSpPr>
        <p:spPr>
          <a:xfrm>
            <a:off x="304800" y="1219200"/>
            <a:ext cx="45720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22400"/>
            <a:ext cx="4191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Data  X   (n=5, p=2)</a:t>
            </a:r>
          </a:p>
        </p:txBody>
      </p:sp>
      <p:sp>
        <p:nvSpPr>
          <p:cNvPr id="6002" name="tb"/>
          <p:cNvSpPr txBox="1"/>
          <p:nvPr/>
        </p:nvSpPr>
        <p:spPr>
          <a:xfrm>
            <a:off x="1905000" y="1803400"/>
            <a:ext cx="5588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6E6E6E"/>
                </a:solidFill>
              </a:rPr>
              <a:t>x₁</a:t>
            </a:r>
          </a:p>
        </p:txBody>
      </p:sp>
      <p:sp>
        <p:nvSpPr>
          <p:cNvPr id="6003" name="tb"/>
          <p:cNvSpPr txBox="1"/>
          <p:nvPr/>
        </p:nvSpPr>
        <p:spPr>
          <a:xfrm>
            <a:off x="2463800" y="1803400"/>
            <a:ext cx="5588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6E6E6E"/>
                </a:solidFill>
              </a:rPr>
              <a:t>x₂</a:t>
            </a:r>
          </a:p>
        </p:txBody>
      </p:sp>
      <p:sp>
        <p:nvSpPr>
          <p:cNvPr id="6004" name="hl"/>
          <p:cNvSpPr/>
          <p:nvPr/>
        </p:nvSpPr>
        <p:spPr>
          <a:xfrm>
            <a:off x="1790700" y="20193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5" name="hl"/>
          <p:cNvSpPr/>
          <p:nvPr/>
        </p:nvSpPr>
        <p:spPr>
          <a:xfrm>
            <a:off x="1790700" y="2019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6" name="hl"/>
          <p:cNvSpPr/>
          <p:nvPr/>
        </p:nvSpPr>
        <p:spPr>
          <a:xfrm>
            <a:off x="1790700" y="377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7" name="hl"/>
          <p:cNvSpPr/>
          <p:nvPr/>
        </p:nvSpPr>
        <p:spPr>
          <a:xfrm>
            <a:off x="3098800" y="20193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8" name="hl"/>
          <p:cNvSpPr/>
          <p:nvPr/>
        </p:nvSpPr>
        <p:spPr>
          <a:xfrm>
            <a:off x="3022600" y="2019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9" name="hl"/>
          <p:cNvSpPr/>
          <p:nvPr/>
        </p:nvSpPr>
        <p:spPr>
          <a:xfrm>
            <a:off x="3022600" y="377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0" name="tb"/>
          <p:cNvSpPr txBox="1"/>
          <p:nvPr/>
        </p:nvSpPr>
        <p:spPr>
          <a:xfrm>
            <a:off x="1905000" y="20574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11" name="tb"/>
          <p:cNvSpPr txBox="1"/>
          <p:nvPr/>
        </p:nvSpPr>
        <p:spPr>
          <a:xfrm>
            <a:off x="2463800" y="20574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12" name="tb"/>
          <p:cNvSpPr txBox="1"/>
          <p:nvPr/>
        </p:nvSpPr>
        <p:spPr>
          <a:xfrm>
            <a:off x="1905000" y="24003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6013" name="tb"/>
          <p:cNvSpPr txBox="1"/>
          <p:nvPr/>
        </p:nvSpPr>
        <p:spPr>
          <a:xfrm>
            <a:off x="2463800" y="24003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8</a:t>
            </a:r>
          </a:p>
        </p:txBody>
      </p:sp>
      <p:sp>
        <p:nvSpPr>
          <p:cNvPr id="6014" name="tb"/>
          <p:cNvSpPr txBox="1"/>
          <p:nvPr/>
        </p:nvSpPr>
        <p:spPr>
          <a:xfrm>
            <a:off x="1905000" y="2743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15" name="tb"/>
          <p:cNvSpPr txBox="1"/>
          <p:nvPr/>
        </p:nvSpPr>
        <p:spPr>
          <a:xfrm>
            <a:off x="2463800" y="2743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6016" name="tb"/>
          <p:cNvSpPr txBox="1"/>
          <p:nvPr/>
        </p:nvSpPr>
        <p:spPr>
          <a:xfrm>
            <a:off x="1905000" y="3086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7</a:t>
            </a:r>
          </a:p>
        </p:txBody>
      </p:sp>
      <p:sp>
        <p:nvSpPr>
          <p:cNvPr id="6017" name="tb"/>
          <p:cNvSpPr txBox="1"/>
          <p:nvPr/>
        </p:nvSpPr>
        <p:spPr>
          <a:xfrm>
            <a:off x="2463800" y="3086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6018" name="tb"/>
          <p:cNvSpPr txBox="1"/>
          <p:nvPr/>
        </p:nvSpPr>
        <p:spPr>
          <a:xfrm>
            <a:off x="1905000" y="3429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9</a:t>
            </a:r>
          </a:p>
        </p:txBody>
      </p:sp>
      <p:sp>
        <p:nvSpPr>
          <p:cNvPr id="6019" name="tb"/>
          <p:cNvSpPr txBox="1"/>
          <p:nvPr/>
        </p:nvSpPr>
        <p:spPr>
          <a:xfrm>
            <a:off x="2463800" y="3429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10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558800" y="38735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50" b="1" dirty="0">
                <a:solidFill>
                  <a:srgbClr val="333333"/>
                </a:solidFill>
              </a:rPr>
              <a:t>μ = ( </a:t>
            </a:r>
            <a:r>
              <a:rPr lang="en-US" sz="1350" b="1" dirty="0">
                <a:solidFill>
                  <a:srgbClr val="4B2E83"/>
                </a:solidFill>
              </a:rPr>
              <a:t>5.00,  6.00</a:t>
            </a:r>
            <a:r>
              <a:rPr lang="en-US" sz="1350" b="1" dirty="0">
                <a:solidFill>
                  <a:srgbClr val="333333"/>
                </a:solidFill>
              </a:rPr>
              <a:t> )</a:t>
            </a:r>
          </a:p>
        </p:txBody>
      </p:sp>
      <p:sp>
        <p:nvSpPr>
          <p:cNvPr id="6021" name="pn"/>
          <p:cNvSpPr/>
          <p:nvPr/>
        </p:nvSpPr>
        <p:spPr>
          <a:xfrm>
            <a:off x="5080000" y="1219200"/>
            <a:ext cx="68072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2" name="tb"/>
          <p:cNvSpPr txBox="1"/>
          <p:nvPr/>
        </p:nvSpPr>
        <p:spPr>
          <a:xfrm>
            <a:off x="5334000" y="1447800"/>
            <a:ext cx="6350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Xc = X − 1μᵀ    →    S = XcᵀXc /(n−1)</a:t>
            </a:r>
          </a:p>
        </p:txBody>
      </p:sp>
      <p:sp>
        <p:nvSpPr>
          <p:cNvPr id="6023" name="tb"/>
          <p:cNvSpPr txBox="1"/>
          <p:nvPr/>
        </p:nvSpPr>
        <p:spPr>
          <a:xfrm>
            <a:off x="5969000" y="1905000"/>
            <a:ext cx="1524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250" b="1" dirty="0">
                <a:solidFill>
                  <a:srgbClr val="6E6E6E"/>
                </a:solidFill>
              </a:rPr>
              <a:t>Xc</a:t>
            </a:r>
          </a:p>
        </p:txBody>
      </p:sp>
      <p:sp>
        <p:nvSpPr>
          <p:cNvPr id="6024" name="hl"/>
          <p:cNvSpPr/>
          <p:nvPr/>
        </p:nvSpPr>
        <p:spPr>
          <a:xfrm>
            <a:off x="5854700" y="21971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5" name="hl"/>
          <p:cNvSpPr/>
          <p:nvPr/>
        </p:nvSpPr>
        <p:spPr>
          <a:xfrm>
            <a:off x="5854700" y="21971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6" name="hl"/>
          <p:cNvSpPr/>
          <p:nvPr/>
        </p:nvSpPr>
        <p:spPr>
          <a:xfrm>
            <a:off x="5854700" y="39497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7" name="hl"/>
          <p:cNvSpPr/>
          <p:nvPr/>
        </p:nvSpPr>
        <p:spPr>
          <a:xfrm>
            <a:off x="7162800" y="21971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8" name="hl"/>
          <p:cNvSpPr/>
          <p:nvPr/>
        </p:nvSpPr>
        <p:spPr>
          <a:xfrm>
            <a:off x="7086600" y="21971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9" name="hl"/>
          <p:cNvSpPr/>
          <p:nvPr/>
        </p:nvSpPr>
        <p:spPr>
          <a:xfrm>
            <a:off x="7086600" y="39497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0" name="tb"/>
          <p:cNvSpPr txBox="1"/>
          <p:nvPr/>
        </p:nvSpPr>
        <p:spPr>
          <a:xfrm>
            <a:off x="5969000" y="2235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−4.00</a:t>
            </a:r>
          </a:p>
        </p:txBody>
      </p:sp>
      <p:sp>
        <p:nvSpPr>
          <p:cNvPr id="6031" name="tb"/>
          <p:cNvSpPr txBox="1"/>
          <p:nvPr/>
        </p:nvSpPr>
        <p:spPr>
          <a:xfrm>
            <a:off x="6527800" y="2235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−2.00</a:t>
            </a:r>
          </a:p>
        </p:txBody>
      </p:sp>
      <p:sp>
        <p:nvSpPr>
          <p:cNvPr id="6032" name="tb"/>
          <p:cNvSpPr txBox="1"/>
          <p:nvPr/>
        </p:nvSpPr>
        <p:spPr>
          <a:xfrm>
            <a:off x="5969000" y="2578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−2.00</a:t>
            </a:r>
          </a:p>
        </p:txBody>
      </p:sp>
      <p:sp>
        <p:nvSpPr>
          <p:cNvPr id="6033" name="tb"/>
          <p:cNvSpPr txBox="1"/>
          <p:nvPr/>
        </p:nvSpPr>
        <p:spPr>
          <a:xfrm>
            <a:off x="6527800" y="2578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2.00</a:t>
            </a:r>
          </a:p>
        </p:txBody>
      </p:sp>
      <p:sp>
        <p:nvSpPr>
          <p:cNvPr id="6034" name="tb"/>
          <p:cNvSpPr txBox="1"/>
          <p:nvPr/>
        </p:nvSpPr>
        <p:spPr>
          <a:xfrm>
            <a:off x="5969000" y="2921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0.00</a:t>
            </a:r>
          </a:p>
        </p:txBody>
      </p:sp>
      <p:sp>
        <p:nvSpPr>
          <p:cNvPr id="6035" name="tb"/>
          <p:cNvSpPr txBox="1"/>
          <p:nvPr/>
        </p:nvSpPr>
        <p:spPr>
          <a:xfrm>
            <a:off x="6527800" y="2921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0.00</a:t>
            </a:r>
          </a:p>
        </p:txBody>
      </p:sp>
      <p:sp>
        <p:nvSpPr>
          <p:cNvPr id="6036" name="tb"/>
          <p:cNvSpPr txBox="1"/>
          <p:nvPr/>
        </p:nvSpPr>
        <p:spPr>
          <a:xfrm>
            <a:off x="5969000" y="32639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2.00</a:t>
            </a:r>
          </a:p>
        </p:txBody>
      </p:sp>
      <p:sp>
        <p:nvSpPr>
          <p:cNvPr id="6037" name="tb"/>
          <p:cNvSpPr txBox="1"/>
          <p:nvPr/>
        </p:nvSpPr>
        <p:spPr>
          <a:xfrm>
            <a:off x="6527800" y="32639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−4.00</a:t>
            </a:r>
          </a:p>
        </p:txBody>
      </p:sp>
      <p:sp>
        <p:nvSpPr>
          <p:cNvPr id="6038" name="tb"/>
          <p:cNvSpPr txBox="1"/>
          <p:nvPr/>
        </p:nvSpPr>
        <p:spPr>
          <a:xfrm>
            <a:off x="5969000" y="36068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4.00</a:t>
            </a:r>
          </a:p>
        </p:txBody>
      </p:sp>
      <p:sp>
        <p:nvSpPr>
          <p:cNvPr id="6039" name="tb"/>
          <p:cNvSpPr txBox="1"/>
          <p:nvPr/>
        </p:nvSpPr>
        <p:spPr>
          <a:xfrm>
            <a:off x="6527800" y="36068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4.00</a:t>
            </a:r>
          </a:p>
        </p:txBody>
      </p:sp>
      <p:sp>
        <p:nvSpPr>
          <p:cNvPr id="6040" name="tb"/>
          <p:cNvSpPr txBox="1"/>
          <p:nvPr/>
        </p:nvSpPr>
        <p:spPr>
          <a:xfrm>
            <a:off x="9652000" y="1905000"/>
            <a:ext cx="1524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250" b="1" dirty="0">
                <a:solidFill>
                  <a:srgbClr val="6E6E6E"/>
                </a:solidFill>
              </a:rPr>
              <a:t>S</a:t>
            </a:r>
          </a:p>
        </p:txBody>
      </p:sp>
      <p:sp>
        <p:nvSpPr>
          <p:cNvPr id="6041" name="hl"/>
          <p:cNvSpPr/>
          <p:nvPr/>
        </p:nvSpPr>
        <p:spPr>
          <a:xfrm>
            <a:off x="9144000" y="2540000"/>
            <a:ext cx="762000" cy="4572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2" name="hl"/>
          <p:cNvSpPr/>
          <p:nvPr/>
        </p:nvSpPr>
        <p:spPr>
          <a:xfrm>
            <a:off x="9906000" y="2997200"/>
            <a:ext cx="762000" cy="4572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3" name="hl"/>
          <p:cNvSpPr/>
          <p:nvPr/>
        </p:nvSpPr>
        <p:spPr>
          <a:xfrm>
            <a:off x="9029700" y="2501900"/>
            <a:ext cx="38100" cy="990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4" name="hl"/>
          <p:cNvSpPr/>
          <p:nvPr/>
        </p:nvSpPr>
        <p:spPr>
          <a:xfrm>
            <a:off x="9029700" y="250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5" name="hl"/>
          <p:cNvSpPr/>
          <p:nvPr/>
        </p:nvSpPr>
        <p:spPr>
          <a:xfrm>
            <a:off x="9029700" y="3454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6" name="hl"/>
          <p:cNvSpPr/>
          <p:nvPr/>
        </p:nvSpPr>
        <p:spPr>
          <a:xfrm>
            <a:off x="10744200" y="2501900"/>
            <a:ext cx="38100" cy="990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7" name="hl"/>
          <p:cNvSpPr/>
          <p:nvPr/>
        </p:nvSpPr>
        <p:spPr>
          <a:xfrm>
            <a:off x="10668000" y="250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8" name="hl"/>
          <p:cNvSpPr/>
          <p:nvPr/>
        </p:nvSpPr>
        <p:spPr>
          <a:xfrm>
            <a:off x="10668000" y="3454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9" name="tb"/>
          <p:cNvSpPr txBox="1"/>
          <p:nvPr/>
        </p:nvSpPr>
        <p:spPr>
          <a:xfrm>
            <a:off x="9144000" y="25400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10.00</a:t>
            </a:r>
          </a:p>
        </p:txBody>
      </p:sp>
      <p:sp>
        <p:nvSpPr>
          <p:cNvPr id="6050" name="tb"/>
          <p:cNvSpPr txBox="1"/>
          <p:nvPr/>
        </p:nvSpPr>
        <p:spPr>
          <a:xfrm>
            <a:off x="9906000" y="25400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3.00</a:t>
            </a:r>
          </a:p>
        </p:txBody>
      </p:sp>
      <p:sp>
        <p:nvSpPr>
          <p:cNvPr id="6051" name="tb"/>
          <p:cNvSpPr txBox="1"/>
          <p:nvPr/>
        </p:nvSpPr>
        <p:spPr>
          <a:xfrm>
            <a:off x="9144000" y="29972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3.00</a:t>
            </a:r>
          </a:p>
        </p:txBody>
      </p:sp>
      <p:sp>
        <p:nvSpPr>
          <p:cNvPr id="6052" name="tb"/>
          <p:cNvSpPr txBox="1"/>
          <p:nvPr/>
        </p:nvSpPr>
        <p:spPr>
          <a:xfrm>
            <a:off x="9906000" y="29972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10.00</a:t>
            </a:r>
          </a:p>
        </p:txBody>
      </p:sp>
      <p:sp>
        <p:nvSpPr>
          <p:cNvPr id="6053" name="tb"/>
          <p:cNvSpPr txBox="1"/>
          <p:nvPr/>
        </p:nvSpPr>
        <p:spPr>
          <a:xfrm>
            <a:off x="8890000" y="3606800"/>
            <a:ext cx="2540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50" dirty="0">
                <a:solidFill>
                  <a:srgbClr val="6E6E6E"/>
                </a:solidFill>
              </a:rPr>
              <a:t>σ = ( </a:t>
            </a:r>
            <a:r>
              <a:rPr lang="en-US" sz="1250" b="1" dirty="0">
                <a:solidFill>
                  <a:srgbClr val="6E6E6E"/>
                </a:solidFill>
              </a:rPr>
              <a:t>3.16, 3.16</a:t>
            </a:r>
            <a:r>
              <a:rPr lang="en-US" sz="1250" dirty="0">
                <a:solidFill>
                  <a:srgbClr val="6E6E6E"/>
                </a:solidFill>
              </a:rPr>
              <a:t> )</a:t>
            </a:r>
          </a:p>
        </p:txBody>
      </p:sp>
    </p:spTree>
    <p:extLst>
      <p:ext uri="{BB962C8B-B14F-4D97-AF65-F5344CB8AC3E}">
        <p14:creationId xmlns:p14="http://schemas.microsoft.com/office/powerpoint/2010/main" val="168215473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Covariance Matrix — Example 2  (5×2)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Center the data, then S = XcᵀXc /(n−1).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Covariance = cross-product of the centered data, divided by n−1.</a:t>
            </a:r>
          </a:p>
        </p:txBody>
      </p:sp>
      <p:sp>
        <p:nvSpPr>
          <p:cNvPr id="6000" name="pn"/>
          <p:cNvSpPr/>
          <p:nvPr/>
        </p:nvSpPr>
        <p:spPr>
          <a:xfrm>
            <a:off x="304800" y="1219200"/>
            <a:ext cx="45720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22400"/>
            <a:ext cx="4191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Data  X   (n=5, p=2)</a:t>
            </a:r>
          </a:p>
        </p:txBody>
      </p:sp>
      <p:sp>
        <p:nvSpPr>
          <p:cNvPr id="6002" name="tb"/>
          <p:cNvSpPr txBox="1"/>
          <p:nvPr/>
        </p:nvSpPr>
        <p:spPr>
          <a:xfrm>
            <a:off x="1905000" y="1803400"/>
            <a:ext cx="5588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6E6E6E"/>
                </a:solidFill>
              </a:rPr>
              <a:t>x₁</a:t>
            </a:r>
          </a:p>
        </p:txBody>
      </p:sp>
      <p:sp>
        <p:nvSpPr>
          <p:cNvPr id="6003" name="tb"/>
          <p:cNvSpPr txBox="1"/>
          <p:nvPr/>
        </p:nvSpPr>
        <p:spPr>
          <a:xfrm>
            <a:off x="2463800" y="1803400"/>
            <a:ext cx="5588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6E6E6E"/>
                </a:solidFill>
              </a:rPr>
              <a:t>x₂</a:t>
            </a:r>
          </a:p>
        </p:txBody>
      </p:sp>
      <p:sp>
        <p:nvSpPr>
          <p:cNvPr id="6004" name="hl"/>
          <p:cNvSpPr/>
          <p:nvPr/>
        </p:nvSpPr>
        <p:spPr>
          <a:xfrm>
            <a:off x="1790700" y="20193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5" name="hl"/>
          <p:cNvSpPr/>
          <p:nvPr/>
        </p:nvSpPr>
        <p:spPr>
          <a:xfrm>
            <a:off x="1790700" y="2019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6" name="hl"/>
          <p:cNvSpPr/>
          <p:nvPr/>
        </p:nvSpPr>
        <p:spPr>
          <a:xfrm>
            <a:off x="1790700" y="377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7" name="hl"/>
          <p:cNvSpPr/>
          <p:nvPr/>
        </p:nvSpPr>
        <p:spPr>
          <a:xfrm>
            <a:off x="3098800" y="20193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8" name="hl"/>
          <p:cNvSpPr/>
          <p:nvPr/>
        </p:nvSpPr>
        <p:spPr>
          <a:xfrm>
            <a:off x="3022600" y="2019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9" name="hl"/>
          <p:cNvSpPr/>
          <p:nvPr/>
        </p:nvSpPr>
        <p:spPr>
          <a:xfrm>
            <a:off x="3022600" y="377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0" name="tb"/>
          <p:cNvSpPr txBox="1"/>
          <p:nvPr/>
        </p:nvSpPr>
        <p:spPr>
          <a:xfrm>
            <a:off x="1905000" y="20574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6011" name="tb"/>
          <p:cNvSpPr txBox="1"/>
          <p:nvPr/>
        </p:nvSpPr>
        <p:spPr>
          <a:xfrm>
            <a:off x="2463800" y="20574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12" name="tb"/>
          <p:cNvSpPr txBox="1"/>
          <p:nvPr/>
        </p:nvSpPr>
        <p:spPr>
          <a:xfrm>
            <a:off x="1905000" y="24003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13" name="tb"/>
          <p:cNvSpPr txBox="1"/>
          <p:nvPr/>
        </p:nvSpPr>
        <p:spPr>
          <a:xfrm>
            <a:off x="2463800" y="24003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6014" name="tb"/>
          <p:cNvSpPr txBox="1"/>
          <p:nvPr/>
        </p:nvSpPr>
        <p:spPr>
          <a:xfrm>
            <a:off x="1905000" y="2743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6015" name="tb"/>
          <p:cNvSpPr txBox="1"/>
          <p:nvPr/>
        </p:nvSpPr>
        <p:spPr>
          <a:xfrm>
            <a:off x="2463800" y="2743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9</a:t>
            </a:r>
          </a:p>
        </p:txBody>
      </p:sp>
      <p:sp>
        <p:nvSpPr>
          <p:cNvPr id="6016" name="tb"/>
          <p:cNvSpPr txBox="1"/>
          <p:nvPr/>
        </p:nvSpPr>
        <p:spPr>
          <a:xfrm>
            <a:off x="1905000" y="3086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8</a:t>
            </a:r>
          </a:p>
        </p:txBody>
      </p:sp>
      <p:sp>
        <p:nvSpPr>
          <p:cNvPr id="6017" name="tb"/>
          <p:cNvSpPr txBox="1"/>
          <p:nvPr/>
        </p:nvSpPr>
        <p:spPr>
          <a:xfrm>
            <a:off x="2463800" y="3086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18" name="tb"/>
          <p:cNvSpPr txBox="1"/>
          <p:nvPr/>
        </p:nvSpPr>
        <p:spPr>
          <a:xfrm>
            <a:off x="1905000" y="3429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19" name="tb"/>
          <p:cNvSpPr txBox="1"/>
          <p:nvPr/>
        </p:nvSpPr>
        <p:spPr>
          <a:xfrm>
            <a:off x="2463800" y="3429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9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558800" y="38735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50" b="1" dirty="0">
                <a:solidFill>
                  <a:srgbClr val="333333"/>
                </a:solidFill>
              </a:rPr>
              <a:t>μ = ( </a:t>
            </a:r>
            <a:r>
              <a:rPr lang="en-US" sz="1350" b="1" dirty="0">
                <a:solidFill>
                  <a:srgbClr val="4B2E83"/>
                </a:solidFill>
              </a:rPr>
              <a:t>5.00,  6.00</a:t>
            </a:r>
            <a:r>
              <a:rPr lang="en-US" sz="1350" b="1" dirty="0">
                <a:solidFill>
                  <a:srgbClr val="333333"/>
                </a:solidFill>
              </a:rPr>
              <a:t> )</a:t>
            </a:r>
          </a:p>
        </p:txBody>
      </p:sp>
      <p:sp>
        <p:nvSpPr>
          <p:cNvPr id="6021" name="pn"/>
          <p:cNvSpPr/>
          <p:nvPr/>
        </p:nvSpPr>
        <p:spPr>
          <a:xfrm>
            <a:off x="5080000" y="1219200"/>
            <a:ext cx="68072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2" name="tb"/>
          <p:cNvSpPr txBox="1"/>
          <p:nvPr/>
        </p:nvSpPr>
        <p:spPr>
          <a:xfrm>
            <a:off x="5334000" y="1447800"/>
            <a:ext cx="6350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Xc = X − 1μᵀ    →    S = XcᵀXc /(n−1)</a:t>
            </a:r>
          </a:p>
        </p:txBody>
      </p:sp>
      <p:sp>
        <p:nvSpPr>
          <p:cNvPr id="6023" name="tb"/>
          <p:cNvSpPr txBox="1"/>
          <p:nvPr/>
        </p:nvSpPr>
        <p:spPr>
          <a:xfrm>
            <a:off x="5969000" y="1905000"/>
            <a:ext cx="1524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250" b="1" dirty="0">
                <a:solidFill>
                  <a:srgbClr val="6E6E6E"/>
                </a:solidFill>
              </a:rPr>
              <a:t>Xc</a:t>
            </a:r>
          </a:p>
        </p:txBody>
      </p:sp>
      <p:sp>
        <p:nvSpPr>
          <p:cNvPr id="6024" name="hl"/>
          <p:cNvSpPr/>
          <p:nvPr/>
        </p:nvSpPr>
        <p:spPr>
          <a:xfrm>
            <a:off x="5854700" y="21971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5" name="hl"/>
          <p:cNvSpPr/>
          <p:nvPr/>
        </p:nvSpPr>
        <p:spPr>
          <a:xfrm>
            <a:off x="5854700" y="21971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6" name="hl"/>
          <p:cNvSpPr/>
          <p:nvPr/>
        </p:nvSpPr>
        <p:spPr>
          <a:xfrm>
            <a:off x="5854700" y="39497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7" name="hl"/>
          <p:cNvSpPr/>
          <p:nvPr/>
        </p:nvSpPr>
        <p:spPr>
          <a:xfrm>
            <a:off x="7162800" y="21971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8" name="hl"/>
          <p:cNvSpPr/>
          <p:nvPr/>
        </p:nvSpPr>
        <p:spPr>
          <a:xfrm>
            <a:off x="7086600" y="21971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9" name="hl"/>
          <p:cNvSpPr/>
          <p:nvPr/>
        </p:nvSpPr>
        <p:spPr>
          <a:xfrm>
            <a:off x="7086600" y="39497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0" name="tb"/>
          <p:cNvSpPr txBox="1"/>
          <p:nvPr/>
        </p:nvSpPr>
        <p:spPr>
          <a:xfrm>
            <a:off x="5969000" y="2235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−3.00</a:t>
            </a:r>
          </a:p>
        </p:txBody>
      </p:sp>
      <p:sp>
        <p:nvSpPr>
          <p:cNvPr id="6031" name="tb"/>
          <p:cNvSpPr txBox="1"/>
          <p:nvPr/>
        </p:nvSpPr>
        <p:spPr>
          <a:xfrm>
            <a:off x="6527800" y="2235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−1.00</a:t>
            </a:r>
          </a:p>
        </p:txBody>
      </p:sp>
      <p:sp>
        <p:nvSpPr>
          <p:cNvPr id="6032" name="tb"/>
          <p:cNvSpPr txBox="1"/>
          <p:nvPr/>
        </p:nvSpPr>
        <p:spPr>
          <a:xfrm>
            <a:off x="5969000" y="2578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−1.00</a:t>
            </a:r>
          </a:p>
        </p:txBody>
      </p:sp>
      <p:sp>
        <p:nvSpPr>
          <p:cNvPr id="6033" name="tb"/>
          <p:cNvSpPr txBox="1"/>
          <p:nvPr/>
        </p:nvSpPr>
        <p:spPr>
          <a:xfrm>
            <a:off x="6527800" y="2578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−3.00</a:t>
            </a:r>
          </a:p>
        </p:txBody>
      </p:sp>
      <p:sp>
        <p:nvSpPr>
          <p:cNvPr id="6034" name="tb"/>
          <p:cNvSpPr txBox="1"/>
          <p:nvPr/>
        </p:nvSpPr>
        <p:spPr>
          <a:xfrm>
            <a:off x="5969000" y="2921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1.00</a:t>
            </a:r>
          </a:p>
        </p:txBody>
      </p:sp>
      <p:sp>
        <p:nvSpPr>
          <p:cNvPr id="6035" name="tb"/>
          <p:cNvSpPr txBox="1"/>
          <p:nvPr/>
        </p:nvSpPr>
        <p:spPr>
          <a:xfrm>
            <a:off x="6527800" y="2921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3.00</a:t>
            </a:r>
          </a:p>
        </p:txBody>
      </p:sp>
      <p:sp>
        <p:nvSpPr>
          <p:cNvPr id="6036" name="tb"/>
          <p:cNvSpPr txBox="1"/>
          <p:nvPr/>
        </p:nvSpPr>
        <p:spPr>
          <a:xfrm>
            <a:off x="5969000" y="32639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3.00</a:t>
            </a:r>
          </a:p>
        </p:txBody>
      </p:sp>
      <p:sp>
        <p:nvSpPr>
          <p:cNvPr id="6037" name="tb"/>
          <p:cNvSpPr txBox="1"/>
          <p:nvPr/>
        </p:nvSpPr>
        <p:spPr>
          <a:xfrm>
            <a:off x="6527800" y="32639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−2.00</a:t>
            </a:r>
          </a:p>
        </p:txBody>
      </p:sp>
      <p:sp>
        <p:nvSpPr>
          <p:cNvPr id="6038" name="tb"/>
          <p:cNvSpPr txBox="1"/>
          <p:nvPr/>
        </p:nvSpPr>
        <p:spPr>
          <a:xfrm>
            <a:off x="5969000" y="36068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0.00</a:t>
            </a:r>
          </a:p>
        </p:txBody>
      </p:sp>
      <p:sp>
        <p:nvSpPr>
          <p:cNvPr id="6039" name="tb"/>
          <p:cNvSpPr txBox="1"/>
          <p:nvPr/>
        </p:nvSpPr>
        <p:spPr>
          <a:xfrm>
            <a:off x="6527800" y="36068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3.00</a:t>
            </a:r>
          </a:p>
        </p:txBody>
      </p:sp>
      <p:sp>
        <p:nvSpPr>
          <p:cNvPr id="6040" name="tb"/>
          <p:cNvSpPr txBox="1"/>
          <p:nvPr/>
        </p:nvSpPr>
        <p:spPr>
          <a:xfrm>
            <a:off x="9652000" y="1905000"/>
            <a:ext cx="1524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250" b="1" dirty="0">
                <a:solidFill>
                  <a:srgbClr val="6E6E6E"/>
                </a:solidFill>
              </a:rPr>
              <a:t>S</a:t>
            </a:r>
          </a:p>
        </p:txBody>
      </p:sp>
      <p:sp>
        <p:nvSpPr>
          <p:cNvPr id="6041" name="hl"/>
          <p:cNvSpPr/>
          <p:nvPr/>
        </p:nvSpPr>
        <p:spPr>
          <a:xfrm>
            <a:off x="9144000" y="2540000"/>
            <a:ext cx="762000" cy="4572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2" name="hl"/>
          <p:cNvSpPr/>
          <p:nvPr/>
        </p:nvSpPr>
        <p:spPr>
          <a:xfrm>
            <a:off x="9906000" y="2997200"/>
            <a:ext cx="762000" cy="4572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3" name="hl"/>
          <p:cNvSpPr/>
          <p:nvPr/>
        </p:nvSpPr>
        <p:spPr>
          <a:xfrm>
            <a:off x="9029700" y="2501900"/>
            <a:ext cx="38100" cy="990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4" name="hl"/>
          <p:cNvSpPr/>
          <p:nvPr/>
        </p:nvSpPr>
        <p:spPr>
          <a:xfrm>
            <a:off x="9029700" y="250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5" name="hl"/>
          <p:cNvSpPr/>
          <p:nvPr/>
        </p:nvSpPr>
        <p:spPr>
          <a:xfrm>
            <a:off x="9029700" y="3454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6" name="hl"/>
          <p:cNvSpPr/>
          <p:nvPr/>
        </p:nvSpPr>
        <p:spPr>
          <a:xfrm>
            <a:off x="10744200" y="2501900"/>
            <a:ext cx="38100" cy="990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7" name="hl"/>
          <p:cNvSpPr/>
          <p:nvPr/>
        </p:nvSpPr>
        <p:spPr>
          <a:xfrm>
            <a:off x="10668000" y="250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8" name="hl"/>
          <p:cNvSpPr/>
          <p:nvPr/>
        </p:nvSpPr>
        <p:spPr>
          <a:xfrm>
            <a:off x="10668000" y="3454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9" name="tb"/>
          <p:cNvSpPr txBox="1"/>
          <p:nvPr/>
        </p:nvSpPr>
        <p:spPr>
          <a:xfrm>
            <a:off x="9144000" y="25400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5.00</a:t>
            </a:r>
          </a:p>
        </p:txBody>
      </p:sp>
      <p:sp>
        <p:nvSpPr>
          <p:cNvPr id="6050" name="tb"/>
          <p:cNvSpPr txBox="1"/>
          <p:nvPr/>
        </p:nvSpPr>
        <p:spPr>
          <a:xfrm>
            <a:off x="9906000" y="25400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0.75</a:t>
            </a:r>
          </a:p>
        </p:txBody>
      </p:sp>
      <p:sp>
        <p:nvSpPr>
          <p:cNvPr id="6051" name="tb"/>
          <p:cNvSpPr txBox="1"/>
          <p:nvPr/>
        </p:nvSpPr>
        <p:spPr>
          <a:xfrm>
            <a:off x="9144000" y="29972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0.75</a:t>
            </a:r>
          </a:p>
        </p:txBody>
      </p:sp>
      <p:sp>
        <p:nvSpPr>
          <p:cNvPr id="6052" name="tb"/>
          <p:cNvSpPr txBox="1"/>
          <p:nvPr/>
        </p:nvSpPr>
        <p:spPr>
          <a:xfrm>
            <a:off x="9906000" y="29972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8.00</a:t>
            </a:r>
          </a:p>
        </p:txBody>
      </p:sp>
      <p:sp>
        <p:nvSpPr>
          <p:cNvPr id="6053" name="tb"/>
          <p:cNvSpPr txBox="1"/>
          <p:nvPr/>
        </p:nvSpPr>
        <p:spPr>
          <a:xfrm>
            <a:off x="8890000" y="3606800"/>
            <a:ext cx="2540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50" dirty="0">
                <a:solidFill>
                  <a:srgbClr val="6E6E6E"/>
                </a:solidFill>
              </a:rPr>
              <a:t>σ = ( </a:t>
            </a:r>
            <a:r>
              <a:rPr lang="en-US" sz="1250" b="1" dirty="0">
                <a:solidFill>
                  <a:srgbClr val="6E6E6E"/>
                </a:solidFill>
              </a:rPr>
              <a:t>2.24, 2.83</a:t>
            </a:r>
            <a:r>
              <a:rPr lang="en-US" sz="1250" dirty="0">
                <a:solidFill>
                  <a:srgbClr val="6E6E6E"/>
                </a:solidFill>
              </a:rPr>
              <a:t> )</a:t>
            </a:r>
          </a:p>
        </p:txBody>
      </p:sp>
    </p:spTree>
    <p:extLst>
      <p:ext uri="{BB962C8B-B14F-4D97-AF65-F5344CB8AC3E}">
        <p14:creationId xmlns:p14="http://schemas.microsoft.com/office/powerpoint/2010/main" val="314890836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Covariance Matrix — Example 3  (5×2)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Center the data, then S = XcᵀXc /(n−1).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Covariance = cross-product of the centered data, divided by n−1.</a:t>
            </a:r>
          </a:p>
        </p:txBody>
      </p:sp>
      <p:sp>
        <p:nvSpPr>
          <p:cNvPr id="6000" name="pn"/>
          <p:cNvSpPr/>
          <p:nvPr/>
        </p:nvSpPr>
        <p:spPr>
          <a:xfrm>
            <a:off x="304800" y="1219200"/>
            <a:ext cx="45720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22400"/>
            <a:ext cx="4191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Data  X   (n=5, p=2)</a:t>
            </a:r>
          </a:p>
        </p:txBody>
      </p:sp>
      <p:sp>
        <p:nvSpPr>
          <p:cNvPr id="6002" name="tb"/>
          <p:cNvSpPr txBox="1"/>
          <p:nvPr/>
        </p:nvSpPr>
        <p:spPr>
          <a:xfrm>
            <a:off x="1905000" y="1803400"/>
            <a:ext cx="5588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6E6E6E"/>
                </a:solidFill>
              </a:rPr>
              <a:t>x₁</a:t>
            </a:r>
          </a:p>
        </p:txBody>
      </p:sp>
      <p:sp>
        <p:nvSpPr>
          <p:cNvPr id="6003" name="tb"/>
          <p:cNvSpPr txBox="1"/>
          <p:nvPr/>
        </p:nvSpPr>
        <p:spPr>
          <a:xfrm>
            <a:off x="2463800" y="1803400"/>
            <a:ext cx="5588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6E6E6E"/>
                </a:solidFill>
              </a:rPr>
              <a:t>x₂</a:t>
            </a:r>
          </a:p>
        </p:txBody>
      </p:sp>
      <p:sp>
        <p:nvSpPr>
          <p:cNvPr id="6004" name="hl"/>
          <p:cNvSpPr/>
          <p:nvPr/>
        </p:nvSpPr>
        <p:spPr>
          <a:xfrm>
            <a:off x="1790700" y="20193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5" name="hl"/>
          <p:cNvSpPr/>
          <p:nvPr/>
        </p:nvSpPr>
        <p:spPr>
          <a:xfrm>
            <a:off x="1790700" y="2019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6" name="hl"/>
          <p:cNvSpPr/>
          <p:nvPr/>
        </p:nvSpPr>
        <p:spPr>
          <a:xfrm>
            <a:off x="1790700" y="377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7" name="hl"/>
          <p:cNvSpPr/>
          <p:nvPr/>
        </p:nvSpPr>
        <p:spPr>
          <a:xfrm>
            <a:off x="3098800" y="20193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8" name="hl"/>
          <p:cNvSpPr/>
          <p:nvPr/>
        </p:nvSpPr>
        <p:spPr>
          <a:xfrm>
            <a:off x="3022600" y="2019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9" name="hl"/>
          <p:cNvSpPr/>
          <p:nvPr/>
        </p:nvSpPr>
        <p:spPr>
          <a:xfrm>
            <a:off x="3022600" y="377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0" name="tb"/>
          <p:cNvSpPr txBox="1"/>
          <p:nvPr/>
        </p:nvSpPr>
        <p:spPr>
          <a:xfrm>
            <a:off x="1905000" y="20574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6011" name="tb"/>
          <p:cNvSpPr txBox="1"/>
          <p:nvPr/>
        </p:nvSpPr>
        <p:spPr>
          <a:xfrm>
            <a:off x="2463800" y="20574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6012" name="tb"/>
          <p:cNvSpPr txBox="1"/>
          <p:nvPr/>
        </p:nvSpPr>
        <p:spPr>
          <a:xfrm>
            <a:off x="1905000" y="24003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13" name="tb"/>
          <p:cNvSpPr txBox="1"/>
          <p:nvPr/>
        </p:nvSpPr>
        <p:spPr>
          <a:xfrm>
            <a:off x="2463800" y="24003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6014" name="tb"/>
          <p:cNvSpPr txBox="1"/>
          <p:nvPr/>
        </p:nvSpPr>
        <p:spPr>
          <a:xfrm>
            <a:off x="1905000" y="2743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15" name="tb"/>
          <p:cNvSpPr txBox="1"/>
          <p:nvPr/>
        </p:nvSpPr>
        <p:spPr>
          <a:xfrm>
            <a:off x="2463800" y="2743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8</a:t>
            </a:r>
          </a:p>
        </p:txBody>
      </p:sp>
      <p:sp>
        <p:nvSpPr>
          <p:cNvPr id="6016" name="tb"/>
          <p:cNvSpPr txBox="1"/>
          <p:nvPr/>
        </p:nvSpPr>
        <p:spPr>
          <a:xfrm>
            <a:off x="1905000" y="3086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7</a:t>
            </a:r>
          </a:p>
        </p:txBody>
      </p:sp>
      <p:sp>
        <p:nvSpPr>
          <p:cNvPr id="6017" name="tb"/>
          <p:cNvSpPr txBox="1"/>
          <p:nvPr/>
        </p:nvSpPr>
        <p:spPr>
          <a:xfrm>
            <a:off x="2463800" y="3086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18" name="tb"/>
          <p:cNvSpPr txBox="1"/>
          <p:nvPr/>
        </p:nvSpPr>
        <p:spPr>
          <a:xfrm>
            <a:off x="1905000" y="3429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9</a:t>
            </a:r>
          </a:p>
        </p:txBody>
      </p:sp>
      <p:sp>
        <p:nvSpPr>
          <p:cNvPr id="6019" name="tb"/>
          <p:cNvSpPr txBox="1"/>
          <p:nvPr/>
        </p:nvSpPr>
        <p:spPr>
          <a:xfrm>
            <a:off x="2463800" y="3429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558800" y="38735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50" b="1" dirty="0">
                <a:solidFill>
                  <a:srgbClr val="333333"/>
                </a:solidFill>
              </a:rPr>
              <a:t>μ = ( </a:t>
            </a:r>
            <a:r>
              <a:rPr lang="en-US" sz="1350" b="1" dirty="0">
                <a:solidFill>
                  <a:srgbClr val="4B2E83"/>
                </a:solidFill>
              </a:rPr>
              <a:t>5.00,  5.00</a:t>
            </a:r>
            <a:r>
              <a:rPr lang="en-US" sz="1350" b="1" dirty="0">
                <a:solidFill>
                  <a:srgbClr val="333333"/>
                </a:solidFill>
              </a:rPr>
              <a:t> )</a:t>
            </a:r>
          </a:p>
        </p:txBody>
      </p:sp>
      <p:sp>
        <p:nvSpPr>
          <p:cNvPr id="6021" name="pn"/>
          <p:cNvSpPr/>
          <p:nvPr/>
        </p:nvSpPr>
        <p:spPr>
          <a:xfrm>
            <a:off x="5080000" y="1219200"/>
            <a:ext cx="68072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2" name="tb"/>
          <p:cNvSpPr txBox="1"/>
          <p:nvPr/>
        </p:nvSpPr>
        <p:spPr>
          <a:xfrm>
            <a:off x="5334000" y="1447800"/>
            <a:ext cx="6350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Xc = X − 1μᵀ    →    S = XcᵀXc /(n−1)</a:t>
            </a:r>
          </a:p>
        </p:txBody>
      </p:sp>
      <p:sp>
        <p:nvSpPr>
          <p:cNvPr id="6023" name="tb"/>
          <p:cNvSpPr txBox="1"/>
          <p:nvPr/>
        </p:nvSpPr>
        <p:spPr>
          <a:xfrm>
            <a:off x="5969000" y="1905000"/>
            <a:ext cx="1524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250" b="1" dirty="0">
                <a:solidFill>
                  <a:srgbClr val="6E6E6E"/>
                </a:solidFill>
              </a:rPr>
              <a:t>Xc</a:t>
            </a:r>
          </a:p>
        </p:txBody>
      </p:sp>
      <p:sp>
        <p:nvSpPr>
          <p:cNvPr id="6024" name="hl"/>
          <p:cNvSpPr/>
          <p:nvPr/>
        </p:nvSpPr>
        <p:spPr>
          <a:xfrm>
            <a:off x="5854700" y="21971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5" name="hl"/>
          <p:cNvSpPr/>
          <p:nvPr/>
        </p:nvSpPr>
        <p:spPr>
          <a:xfrm>
            <a:off x="5854700" y="21971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6" name="hl"/>
          <p:cNvSpPr/>
          <p:nvPr/>
        </p:nvSpPr>
        <p:spPr>
          <a:xfrm>
            <a:off x="5854700" y="39497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7" name="hl"/>
          <p:cNvSpPr/>
          <p:nvPr/>
        </p:nvSpPr>
        <p:spPr>
          <a:xfrm>
            <a:off x="7162800" y="21971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8" name="hl"/>
          <p:cNvSpPr/>
          <p:nvPr/>
        </p:nvSpPr>
        <p:spPr>
          <a:xfrm>
            <a:off x="7086600" y="21971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9" name="hl"/>
          <p:cNvSpPr/>
          <p:nvPr/>
        </p:nvSpPr>
        <p:spPr>
          <a:xfrm>
            <a:off x="7086600" y="39497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0" name="tb"/>
          <p:cNvSpPr txBox="1"/>
          <p:nvPr/>
        </p:nvSpPr>
        <p:spPr>
          <a:xfrm>
            <a:off x="5969000" y="2235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−2.00</a:t>
            </a:r>
          </a:p>
        </p:txBody>
      </p:sp>
      <p:sp>
        <p:nvSpPr>
          <p:cNvPr id="6031" name="tb"/>
          <p:cNvSpPr txBox="1"/>
          <p:nvPr/>
        </p:nvSpPr>
        <p:spPr>
          <a:xfrm>
            <a:off x="6527800" y="2235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−3.00</a:t>
            </a:r>
          </a:p>
        </p:txBody>
      </p:sp>
      <p:sp>
        <p:nvSpPr>
          <p:cNvPr id="6032" name="tb"/>
          <p:cNvSpPr txBox="1"/>
          <p:nvPr/>
        </p:nvSpPr>
        <p:spPr>
          <a:xfrm>
            <a:off x="5969000" y="2578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0.00</a:t>
            </a:r>
          </a:p>
        </p:txBody>
      </p:sp>
      <p:sp>
        <p:nvSpPr>
          <p:cNvPr id="6033" name="tb"/>
          <p:cNvSpPr txBox="1"/>
          <p:nvPr/>
        </p:nvSpPr>
        <p:spPr>
          <a:xfrm>
            <a:off x="6527800" y="2578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1.00</a:t>
            </a:r>
          </a:p>
        </p:txBody>
      </p:sp>
      <p:sp>
        <p:nvSpPr>
          <p:cNvPr id="6034" name="tb"/>
          <p:cNvSpPr txBox="1"/>
          <p:nvPr/>
        </p:nvSpPr>
        <p:spPr>
          <a:xfrm>
            <a:off x="5969000" y="2921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−4.00</a:t>
            </a:r>
          </a:p>
        </p:txBody>
      </p:sp>
      <p:sp>
        <p:nvSpPr>
          <p:cNvPr id="6035" name="tb"/>
          <p:cNvSpPr txBox="1"/>
          <p:nvPr/>
        </p:nvSpPr>
        <p:spPr>
          <a:xfrm>
            <a:off x="6527800" y="2921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3.00</a:t>
            </a:r>
          </a:p>
        </p:txBody>
      </p:sp>
      <p:sp>
        <p:nvSpPr>
          <p:cNvPr id="6036" name="tb"/>
          <p:cNvSpPr txBox="1"/>
          <p:nvPr/>
        </p:nvSpPr>
        <p:spPr>
          <a:xfrm>
            <a:off x="5969000" y="32639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2.00</a:t>
            </a:r>
          </a:p>
        </p:txBody>
      </p:sp>
      <p:sp>
        <p:nvSpPr>
          <p:cNvPr id="6037" name="tb"/>
          <p:cNvSpPr txBox="1"/>
          <p:nvPr/>
        </p:nvSpPr>
        <p:spPr>
          <a:xfrm>
            <a:off x="6527800" y="32639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−1.00</a:t>
            </a:r>
          </a:p>
        </p:txBody>
      </p:sp>
      <p:sp>
        <p:nvSpPr>
          <p:cNvPr id="6038" name="tb"/>
          <p:cNvSpPr txBox="1"/>
          <p:nvPr/>
        </p:nvSpPr>
        <p:spPr>
          <a:xfrm>
            <a:off x="5969000" y="36068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4.00</a:t>
            </a:r>
          </a:p>
        </p:txBody>
      </p:sp>
      <p:sp>
        <p:nvSpPr>
          <p:cNvPr id="6039" name="tb"/>
          <p:cNvSpPr txBox="1"/>
          <p:nvPr/>
        </p:nvSpPr>
        <p:spPr>
          <a:xfrm>
            <a:off x="6527800" y="36068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0.00</a:t>
            </a:r>
          </a:p>
        </p:txBody>
      </p:sp>
      <p:sp>
        <p:nvSpPr>
          <p:cNvPr id="6040" name="tb"/>
          <p:cNvSpPr txBox="1"/>
          <p:nvPr/>
        </p:nvSpPr>
        <p:spPr>
          <a:xfrm>
            <a:off x="9652000" y="1905000"/>
            <a:ext cx="1524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250" b="1" dirty="0">
                <a:solidFill>
                  <a:srgbClr val="6E6E6E"/>
                </a:solidFill>
              </a:rPr>
              <a:t>S</a:t>
            </a:r>
          </a:p>
        </p:txBody>
      </p:sp>
      <p:sp>
        <p:nvSpPr>
          <p:cNvPr id="6041" name="hl"/>
          <p:cNvSpPr/>
          <p:nvPr/>
        </p:nvSpPr>
        <p:spPr>
          <a:xfrm>
            <a:off x="9144000" y="2540000"/>
            <a:ext cx="762000" cy="4572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2" name="hl"/>
          <p:cNvSpPr/>
          <p:nvPr/>
        </p:nvSpPr>
        <p:spPr>
          <a:xfrm>
            <a:off x="9906000" y="2997200"/>
            <a:ext cx="762000" cy="4572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3" name="hl"/>
          <p:cNvSpPr/>
          <p:nvPr/>
        </p:nvSpPr>
        <p:spPr>
          <a:xfrm>
            <a:off x="9029700" y="2501900"/>
            <a:ext cx="38100" cy="990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4" name="hl"/>
          <p:cNvSpPr/>
          <p:nvPr/>
        </p:nvSpPr>
        <p:spPr>
          <a:xfrm>
            <a:off x="9029700" y="250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5" name="hl"/>
          <p:cNvSpPr/>
          <p:nvPr/>
        </p:nvSpPr>
        <p:spPr>
          <a:xfrm>
            <a:off x="9029700" y="3454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6" name="hl"/>
          <p:cNvSpPr/>
          <p:nvPr/>
        </p:nvSpPr>
        <p:spPr>
          <a:xfrm>
            <a:off x="10744200" y="2501900"/>
            <a:ext cx="38100" cy="990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7" name="hl"/>
          <p:cNvSpPr/>
          <p:nvPr/>
        </p:nvSpPr>
        <p:spPr>
          <a:xfrm>
            <a:off x="10668000" y="250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8" name="hl"/>
          <p:cNvSpPr/>
          <p:nvPr/>
        </p:nvSpPr>
        <p:spPr>
          <a:xfrm>
            <a:off x="10668000" y="3454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9" name="tb"/>
          <p:cNvSpPr txBox="1"/>
          <p:nvPr/>
        </p:nvSpPr>
        <p:spPr>
          <a:xfrm>
            <a:off x="9144000" y="25400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10.00</a:t>
            </a:r>
          </a:p>
        </p:txBody>
      </p:sp>
      <p:sp>
        <p:nvSpPr>
          <p:cNvPr id="6050" name="tb"/>
          <p:cNvSpPr txBox="1"/>
          <p:nvPr/>
        </p:nvSpPr>
        <p:spPr>
          <a:xfrm>
            <a:off x="9906000" y="25400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−2.00</a:t>
            </a:r>
          </a:p>
        </p:txBody>
      </p:sp>
      <p:sp>
        <p:nvSpPr>
          <p:cNvPr id="6051" name="tb"/>
          <p:cNvSpPr txBox="1"/>
          <p:nvPr/>
        </p:nvSpPr>
        <p:spPr>
          <a:xfrm>
            <a:off x="9144000" y="29972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−2.00</a:t>
            </a:r>
          </a:p>
        </p:txBody>
      </p:sp>
      <p:sp>
        <p:nvSpPr>
          <p:cNvPr id="6052" name="tb"/>
          <p:cNvSpPr txBox="1"/>
          <p:nvPr/>
        </p:nvSpPr>
        <p:spPr>
          <a:xfrm>
            <a:off x="9906000" y="29972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5.00</a:t>
            </a:r>
          </a:p>
        </p:txBody>
      </p:sp>
      <p:sp>
        <p:nvSpPr>
          <p:cNvPr id="6053" name="tb"/>
          <p:cNvSpPr txBox="1"/>
          <p:nvPr/>
        </p:nvSpPr>
        <p:spPr>
          <a:xfrm>
            <a:off x="8890000" y="3606800"/>
            <a:ext cx="2540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50" dirty="0">
                <a:solidFill>
                  <a:srgbClr val="6E6E6E"/>
                </a:solidFill>
              </a:rPr>
              <a:t>σ = ( </a:t>
            </a:r>
            <a:r>
              <a:rPr lang="en-US" sz="1250" b="1" dirty="0">
                <a:solidFill>
                  <a:srgbClr val="6E6E6E"/>
                </a:solidFill>
              </a:rPr>
              <a:t>3.16, 2.24</a:t>
            </a:r>
            <a:r>
              <a:rPr lang="en-US" sz="1250" dirty="0">
                <a:solidFill>
                  <a:srgbClr val="6E6E6E"/>
                </a:solidFill>
              </a:rPr>
              <a:t> )</a:t>
            </a:r>
          </a:p>
        </p:txBody>
      </p:sp>
    </p:spTree>
    <p:extLst>
      <p:ext uri="{BB962C8B-B14F-4D97-AF65-F5344CB8AC3E}">
        <p14:creationId xmlns:p14="http://schemas.microsoft.com/office/powerpoint/2010/main" val="3992155111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Covariance Matrix — Exercise 1  (5×2)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Center the data, then S = XcᵀXc /(n−1).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Covariance = cross-product of the centered data, divided by n−1.</a:t>
            </a:r>
          </a:p>
        </p:txBody>
      </p:sp>
      <p:sp>
        <p:nvSpPr>
          <p:cNvPr id="6000" name="pn"/>
          <p:cNvSpPr/>
          <p:nvPr/>
        </p:nvSpPr>
        <p:spPr>
          <a:xfrm>
            <a:off x="304800" y="1219200"/>
            <a:ext cx="45720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22400"/>
            <a:ext cx="4191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Data  X   (n=5, p=2)</a:t>
            </a:r>
          </a:p>
        </p:txBody>
      </p:sp>
      <p:sp>
        <p:nvSpPr>
          <p:cNvPr id="6002" name="tb"/>
          <p:cNvSpPr txBox="1"/>
          <p:nvPr/>
        </p:nvSpPr>
        <p:spPr>
          <a:xfrm>
            <a:off x="1905000" y="1803400"/>
            <a:ext cx="5588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6E6E6E"/>
                </a:solidFill>
              </a:rPr>
              <a:t>x₁</a:t>
            </a:r>
          </a:p>
        </p:txBody>
      </p:sp>
      <p:sp>
        <p:nvSpPr>
          <p:cNvPr id="6003" name="tb"/>
          <p:cNvSpPr txBox="1"/>
          <p:nvPr/>
        </p:nvSpPr>
        <p:spPr>
          <a:xfrm>
            <a:off x="2463800" y="1803400"/>
            <a:ext cx="5588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6E6E6E"/>
                </a:solidFill>
              </a:rPr>
              <a:t>x₂</a:t>
            </a:r>
          </a:p>
        </p:txBody>
      </p:sp>
      <p:sp>
        <p:nvSpPr>
          <p:cNvPr id="6004" name="hl"/>
          <p:cNvSpPr/>
          <p:nvPr/>
        </p:nvSpPr>
        <p:spPr>
          <a:xfrm>
            <a:off x="1790700" y="20193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5" name="hl"/>
          <p:cNvSpPr/>
          <p:nvPr/>
        </p:nvSpPr>
        <p:spPr>
          <a:xfrm>
            <a:off x="1790700" y="2019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6" name="hl"/>
          <p:cNvSpPr/>
          <p:nvPr/>
        </p:nvSpPr>
        <p:spPr>
          <a:xfrm>
            <a:off x="1790700" y="377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7" name="hl"/>
          <p:cNvSpPr/>
          <p:nvPr/>
        </p:nvSpPr>
        <p:spPr>
          <a:xfrm>
            <a:off x="3098800" y="20193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8" name="hl"/>
          <p:cNvSpPr/>
          <p:nvPr/>
        </p:nvSpPr>
        <p:spPr>
          <a:xfrm>
            <a:off x="3022600" y="2019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9" name="hl"/>
          <p:cNvSpPr/>
          <p:nvPr/>
        </p:nvSpPr>
        <p:spPr>
          <a:xfrm>
            <a:off x="3022600" y="377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0" name="tb"/>
          <p:cNvSpPr txBox="1"/>
          <p:nvPr/>
        </p:nvSpPr>
        <p:spPr>
          <a:xfrm>
            <a:off x="1905000" y="20574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11" name="tb"/>
          <p:cNvSpPr txBox="1"/>
          <p:nvPr/>
        </p:nvSpPr>
        <p:spPr>
          <a:xfrm>
            <a:off x="2463800" y="20574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6012" name="tb"/>
          <p:cNvSpPr txBox="1"/>
          <p:nvPr/>
        </p:nvSpPr>
        <p:spPr>
          <a:xfrm>
            <a:off x="1905000" y="24003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6013" name="tb"/>
          <p:cNvSpPr txBox="1"/>
          <p:nvPr/>
        </p:nvSpPr>
        <p:spPr>
          <a:xfrm>
            <a:off x="2463800" y="24003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6014" name="tb"/>
          <p:cNvSpPr txBox="1"/>
          <p:nvPr/>
        </p:nvSpPr>
        <p:spPr>
          <a:xfrm>
            <a:off x="1905000" y="2743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8</a:t>
            </a:r>
          </a:p>
        </p:txBody>
      </p:sp>
      <p:sp>
        <p:nvSpPr>
          <p:cNvPr id="6015" name="tb"/>
          <p:cNvSpPr txBox="1"/>
          <p:nvPr/>
        </p:nvSpPr>
        <p:spPr>
          <a:xfrm>
            <a:off x="2463800" y="2743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8</a:t>
            </a:r>
          </a:p>
        </p:txBody>
      </p:sp>
      <p:sp>
        <p:nvSpPr>
          <p:cNvPr id="6016" name="tb"/>
          <p:cNvSpPr txBox="1"/>
          <p:nvPr/>
        </p:nvSpPr>
        <p:spPr>
          <a:xfrm>
            <a:off x="1905000" y="3086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6017" name="tb"/>
          <p:cNvSpPr txBox="1"/>
          <p:nvPr/>
        </p:nvSpPr>
        <p:spPr>
          <a:xfrm>
            <a:off x="2463800" y="3086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18" name="tb"/>
          <p:cNvSpPr txBox="1"/>
          <p:nvPr/>
        </p:nvSpPr>
        <p:spPr>
          <a:xfrm>
            <a:off x="1905000" y="3429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19" name="tb"/>
          <p:cNvSpPr txBox="1"/>
          <p:nvPr/>
        </p:nvSpPr>
        <p:spPr>
          <a:xfrm>
            <a:off x="2463800" y="3429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558800" y="38735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50" b="1" dirty="0">
                <a:solidFill>
                  <a:srgbClr val="333333"/>
                </a:solidFill>
              </a:rPr>
              <a:t>μ = ( </a:t>
            </a:r>
            <a:r>
              <a:rPr lang="en-US" sz="1350" b="1" dirty="0">
                <a:solidFill>
                  <a:srgbClr val="4B2E83"/>
                </a:solidFill>
              </a:rPr>
              <a:t>5.00,  5.00</a:t>
            </a:r>
            <a:r>
              <a:rPr lang="en-US" sz="1350" b="1" dirty="0">
                <a:solidFill>
                  <a:srgbClr val="333333"/>
                </a:solidFill>
              </a:rPr>
              <a:t> )</a:t>
            </a:r>
          </a:p>
        </p:txBody>
      </p:sp>
      <p:sp>
        <p:nvSpPr>
          <p:cNvPr id="6021" name="hl"/>
          <p:cNvSpPr/>
          <p:nvPr/>
        </p:nvSpPr>
        <p:spPr>
          <a:xfrm>
            <a:off x="558800" y="5080000"/>
            <a:ext cx="4191000" cy="508000"/>
          </a:xfrm>
          <a:prstGeom prst="rect">
            <a:avLst/>
          </a:prstGeom>
          <a:solidFill>
            <a:srgbClr val="4B2E83">
              <a:alpha val="12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2" name="tb"/>
          <p:cNvSpPr txBox="1"/>
          <p:nvPr/>
        </p:nvSpPr>
        <p:spPr>
          <a:xfrm>
            <a:off x="711200" y="5080000"/>
            <a:ext cx="3937000" cy="508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400" b="1" dirty="0">
                <a:solidFill>
                  <a:srgbClr val="4B2E83"/>
                </a:solidFill>
              </a:rPr>
              <a:t>Task:  Compute the covariance matrix S.</a:t>
            </a:r>
          </a:p>
        </p:txBody>
      </p:sp>
      <p:sp>
        <p:nvSpPr>
          <p:cNvPr id="6023" name="pn"/>
          <p:cNvSpPr/>
          <p:nvPr/>
        </p:nvSpPr>
        <p:spPr>
          <a:xfrm>
            <a:off x="5080000" y="1219200"/>
            <a:ext cx="68072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4" name="tb"/>
          <p:cNvSpPr txBox="1"/>
          <p:nvPr/>
        </p:nvSpPr>
        <p:spPr>
          <a:xfrm>
            <a:off x="5334000" y="1447800"/>
            <a:ext cx="6350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Xc = X − 1μᵀ    →    S = XcᵀXc /(n−1)</a:t>
            </a:r>
          </a:p>
        </p:txBody>
      </p:sp>
      <p:sp>
        <p:nvSpPr>
          <p:cNvPr id="6025" name="tb"/>
          <p:cNvSpPr txBox="1"/>
          <p:nvPr/>
        </p:nvSpPr>
        <p:spPr>
          <a:xfrm>
            <a:off x="5969000" y="1905000"/>
            <a:ext cx="1524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250" b="1" dirty="0">
                <a:solidFill>
                  <a:srgbClr val="6E6E6E"/>
                </a:solidFill>
              </a:rPr>
              <a:t>Xc</a:t>
            </a:r>
          </a:p>
        </p:txBody>
      </p:sp>
      <p:sp>
        <p:nvSpPr>
          <p:cNvPr id="6026" name="hl"/>
          <p:cNvSpPr/>
          <p:nvPr/>
        </p:nvSpPr>
        <p:spPr>
          <a:xfrm>
            <a:off x="5854700" y="21971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7" name="hl"/>
          <p:cNvSpPr/>
          <p:nvPr/>
        </p:nvSpPr>
        <p:spPr>
          <a:xfrm>
            <a:off x="5854700" y="21971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8" name="hl"/>
          <p:cNvSpPr/>
          <p:nvPr/>
        </p:nvSpPr>
        <p:spPr>
          <a:xfrm>
            <a:off x="5854700" y="39497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9" name="hl"/>
          <p:cNvSpPr/>
          <p:nvPr/>
        </p:nvSpPr>
        <p:spPr>
          <a:xfrm>
            <a:off x="7162800" y="21971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0" name="hl"/>
          <p:cNvSpPr/>
          <p:nvPr/>
        </p:nvSpPr>
        <p:spPr>
          <a:xfrm>
            <a:off x="7086600" y="21971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1" name="hl"/>
          <p:cNvSpPr/>
          <p:nvPr/>
        </p:nvSpPr>
        <p:spPr>
          <a:xfrm>
            <a:off x="7086600" y="39497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2" name="tb"/>
          <p:cNvSpPr txBox="1"/>
          <p:nvPr/>
        </p:nvSpPr>
        <p:spPr>
          <a:xfrm>
            <a:off x="5969000" y="2235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−1.00</a:t>
            </a:r>
          </a:p>
        </p:txBody>
      </p:sp>
      <p:sp>
        <p:nvSpPr>
          <p:cNvPr id="6033" name="tb"/>
          <p:cNvSpPr txBox="1"/>
          <p:nvPr/>
        </p:nvSpPr>
        <p:spPr>
          <a:xfrm>
            <a:off x="6527800" y="2235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1.00</a:t>
            </a:r>
          </a:p>
        </p:txBody>
      </p:sp>
      <p:sp>
        <p:nvSpPr>
          <p:cNvPr id="6034" name="tb"/>
          <p:cNvSpPr txBox="1"/>
          <p:nvPr/>
        </p:nvSpPr>
        <p:spPr>
          <a:xfrm>
            <a:off x="5969000" y="2578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−3.00</a:t>
            </a:r>
          </a:p>
        </p:txBody>
      </p:sp>
      <p:sp>
        <p:nvSpPr>
          <p:cNvPr id="6035" name="tb"/>
          <p:cNvSpPr txBox="1"/>
          <p:nvPr/>
        </p:nvSpPr>
        <p:spPr>
          <a:xfrm>
            <a:off x="6527800" y="2578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−3.00</a:t>
            </a:r>
          </a:p>
        </p:txBody>
      </p:sp>
      <p:sp>
        <p:nvSpPr>
          <p:cNvPr id="6036" name="tb"/>
          <p:cNvSpPr txBox="1"/>
          <p:nvPr/>
        </p:nvSpPr>
        <p:spPr>
          <a:xfrm>
            <a:off x="5969000" y="2921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3.00</a:t>
            </a:r>
          </a:p>
        </p:txBody>
      </p:sp>
      <p:sp>
        <p:nvSpPr>
          <p:cNvPr id="6037" name="tb"/>
          <p:cNvSpPr txBox="1"/>
          <p:nvPr/>
        </p:nvSpPr>
        <p:spPr>
          <a:xfrm>
            <a:off x="6527800" y="2921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3.00</a:t>
            </a:r>
          </a:p>
        </p:txBody>
      </p:sp>
      <p:sp>
        <p:nvSpPr>
          <p:cNvPr id="6038" name="tb"/>
          <p:cNvSpPr txBox="1"/>
          <p:nvPr/>
        </p:nvSpPr>
        <p:spPr>
          <a:xfrm>
            <a:off x="5969000" y="32639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1.00</a:t>
            </a:r>
          </a:p>
        </p:txBody>
      </p:sp>
      <p:sp>
        <p:nvSpPr>
          <p:cNvPr id="6039" name="tb"/>
          <p:cNvSpPr txBox="1"/>
          <p:nvPr/>
        </p:nvSpPr>
        <p:spPr>
          <a:xfrm>
            <a:off x="6527800" y="32639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−1.00</a:t>
            </a:r>
          </a:p>
        </p:txBody>
      </p:sp>
      <p:sp>
        <p:nvSpPr>
          <p:cNvPr id="6040" name="tb"/>
          <p:cNvSpPr txBox="1"/>
          <p:nvPr/>
        </p:nvSpPr>
        <p:spPr>
          <a:xfrm>
            <a:off x="5969000" y="36068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0.00</a:t>
            </a:r>
          </a:p>
        </p:txBody>
      </p:sp>
      <p:sp>
        <p:nvSpPr>
          <p:cNvPr id="6041" name="tb"/>
          <p:cNvSpPr txBox="1"/>
          <p:nvPr/>
        </p:nvSpPr>
        <p:spPr>
          <a:xfrm>
            <a:off x="6527800" y="36068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0.00</a:t>
            </a:r>
          </a:p>
        </p:txBody>
      </p:sp>
      <p:sp>
        <p:nvSpPr>
          <p:cNvPr id="6042" name="tb"/>
          <p:cNvSpPr txBox="1"/>
          <p:nvPr/>
        </p:nvSpPr>
        <p:spPr>
          <a:xfrm>
            <a:off x="9652000" y="1905000"/>
            <a:ext cx="1524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250" b="1" dirty="0">
                <a:solidFill>
                  <a:srgbClr val="6E6E6E"/>
                </a:solidFill>
              </a:rPr>
              <a:t>S</a:t>
            </a:r>
          </a:p>
        </p:txBody>
      </p:sp>
      <p:sp>
        <p:nvSpPr>
          <p:cNvPr id="6043" name="hl"/>
          <p:cNvSpPr/>
          <p:nvPr/>
        </p:nvSpPr>
        <p:spPr>
          <a:xfrm>
            <a:off x="9144000" y="2540000"/>
            <a:ext cx="762000" cy="4572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4" name="hl"/>
          <p:cNvSpPr/>
          <p:nvPr/>
        </p:nvSpPr>
        <p:spPr>
          <a:xfrm>
            <a:off x="9906000" y="2997200"/>
            <a:ext cx="762000" cy="4572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5" name="hl"/>
          <p:cNvSpPr/>
          <p:nvPr/>
        </p:nvSpPr>
        <p:spPr>
          <a:xfrm>
            <a:off x="9029700" y="2501900"/>
            <a:ext cx="38100" cy="990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6" name="hl"/>
          <p:cNvSpPr/>
          <p:nvPr/>
        </p:nvSpPr>
        <p:spPr>
          <a:xfrm>
            <a:off x="9029700" y="250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7" name="hl"/>
          <p:cNvSpPr/>
          <p:nvPr/>
        </p:nvSpPr>
        <p:spPr>
          <a:xfrm>
            <a:off x="9029700" y="3454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8" name="hl"/>
          <p:cNvSpPr/>
          <p:nvPr/>
        </p:nvSpPr>
        <p:spPr>
          <a:xfrm>
            <a:off x="10744200" y="2501900"/>
            <a:ext cx="38100" cy="990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9" name="hl"/>
          <p:cNvSpPr/>
          <p:nvPr/>
        </p:nvSpPr>
        <p:spPr>
          <a:xfrm>
            <a:off x="10668000" y="250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50" name="hl"/>
          <p:cNvSpPr/>
          <p:nvPr/>
        </p:nvSpPr>
        <p:spPr>
          <a:xfrm>
            <a:off x="10668000" y="3454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51" name="tb"/>
          <p:cNvSpPr txBox="1"/>
          <p:nvPr/>
        </p:nvSpPr>
        <p:spPr>
          <a:xfrm>
            <a:off x="9144000" y="25400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5.00</a:t>
            </a:r>
          </a:p>
        </p:txBody>
      </p:sp>
      <p:sp>
        <p:nvSpPr>
          <p:cNvPr id="6052" name="tb"/>
          <p:cNvSpPr txBox="1"/>
          <p:nvPr/>
        </p:nvSpPr>
        <p:spPr>
          <a:xfrm>
            <a:off x="9906000" y="25400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4.00</a:t>
            </a:r>
          </a:p>
        </p:txBody>
      </p:sp>
      <p:sp>
        <p:nvSpPr>
          <p:cNvPr id="6053" name="tb"/>
          <p:cNvSpPr txBox="1"/>
          <p:nvPr/>
        </p:nvSpPr>
        <p:spPr>
          <a:xfrm>
            <a:off x="9144000" y="29972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4.00</a:t>
            </a:r>
          </a:p>
        </p:txBody>
      </p:sp>
      <p:sp>
        <p:nvSpPr>
          <p:cNvPr id="6054" name="tb"/>
          <p:cNvSpPr txBox="1"/>
          <p:nvPr/>
        </p:nvSpPr>
        <p:spPr>
          <a:xfrm>
            <a:off x="9906000" y="29972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5.00</a:t>
            </a:r>
          </a:p>
        </p:txBody>
      </p:sp>
      <p:sp>
        <p:nvSpPr>
          <p:cNvPr id="6055" name="tb"/>
          <p:cNvSpPr txBox="1"/>
          <p:nvPr/>
        </p:nvSpPr>
        <p:spPr>
          <a:xfrm>
            <a:off x="8890000" y="3606800"/>
            <a:ext cx="2540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50" dirty="0">
                <a:solidFill>
                  <a:srgbClr val="6E6E6E"/>
                </a:solidFill>
              </a:rPr>
              <a:t>σ = ( </a:t>
            </a:r>
            <a:r>
              <a:rPr lang="en-US" sz="1250" b="1" dirty="0">
                <a:solidFill>
                  <a:srgbClr val="6E6E6E"/>
                </a:solidFill>
              </a:rPr>
              <a:t>2.24, 2.24</a:t>
            </a:r>
            <a:r>
              <a:rPr lang="en-US" sz="1250" dirty="0">
                <a:solidFill>
                  <a:srgbClr val="6E6E6E"/>
                </a:solidFill>
              </a:rPr>
              <a:t> )</a:t>
            </a:r>
          </a:p>
        </p:txBody>
      </p:sp>
      <p:sp>
        <p:nvSpPr>
          <p:cNvPr id="6056" name="cover"/>
          <p:cNvSpPr/>
          <p:nvPr/>
        </p:nvSpPr>
        <p:spPr>
          <a:xfrm>
            <a:off x="5181600" y="1778000"/>
            <a:ext cx="6604000" cy="3886200"/>
          </a:xfrm>
          <a:prstGeom prst="roundRect">
            <a:avLst>
              <a:gd name="adj" fmla="val 4000"/>
            </a:avLst>
          </a:prstGeom>
          <a:solidFill>
            <a:srgbClr val="4B2E83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Solution hidden</a:t>
            </a:r>
          </a:p>
          <a:p>
            <a:pPr algn="ctr"/>
            <a:r>
              <a:rPr lang="en-US" sz="1300" i="1" dirty="0">
                <a:solidFill>
                  <a:srgbClr val="E7DEF3"/>
                </a:solidFill>
              </a:rPr>
              <a:t>Work it out, then remove this cover to check.</a:t>
            </a:r>
          </a:p>
        </p:txBody>
      </p:sp>
    </p:spTree>
    <p:extLst>
      <p:ext uri="{BB962C8B-B14F-4D97-AF65-F5344CB8AC3E}">
        <p14:creationId xmlns:p14="http://schemas.microsoft.com/office/powerpoint/2010/main" val="245862759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Covariance Matrix — Exercise 2  (5×2)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Center the data, then S = XcᵀXc /(n−1).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Covariance = cross-product of the centered data, divided by n−1.</a:t>
            </a:r>
          </a:p>
        </p:txBody>
      </p:sp>
      <p:sp>
        <p:nvSpPr>
          <p:cNvPr id="6000" name="pn"/>
          <p:cNvSpPr/>
          <p:nvPr/>
        </p:nvSpPr>
        <p:spPr>
          <a:xfrm>
            <a:off x="304800" y="1219200"/>
            <a:ext cx="45720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22400"/>
            <a:ext cx="4191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Data  X   (n=5, p=2)</a:t>
            </a:r>
          </a:p>
        </p:txBody>
      </p:sp>
      <p:sp>
        <p:nvSpPr>
          <p:cNvPr id="6002" name="tb"/>
          <p:cNvSpPr txBox="1"/>
          <p:nvPr/>
        </p:nvSpPr>
        <p:spPr>
          <a:xfrm>
            <a:off x="1905000" y="1803400"/>
            <a:ext cx="5588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6E6E6E"/>
                </a:solidFill>
              </a:rPr>
              <a:t>x₁</a:t>
            </a:r>
          </a:p>
        </p:txBody>
      </p:sp>
      <p:sp>
        <p:nvSpPr>
          <p:cNvPr id="6003" name="tb"/>
          <p:cNvSpPr txBox="1"/>
          <p:nvPr/>
        </p:nvSpPr>
        <p:spPr>
          <a:xfrm>
            <a:off x="2463800" y="1803400"/>
            <a:ext cx="5588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6E6E6E"/>
                </a:solidFill>
              </a:rPr>
              <a:t>x₂</a:t>
            </a:r>
          </a:p>
        </p:txBody>
      </p:sp>
      <p:sp>
        <p:nvSpPr>
          <p:cNvPr id="6004" name="hl"/>
          <p:cNvSpPr/>
          <p:nvPr/>
        </p:nvSpPr>
        <p:spPr>
          <a:xfrm>
            <a:off x="1790700" y="20193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5" name="hl"/>
          <p:cNvSpPr/>
          <p:nvPr/>
        </p:nvSpPr>
        <p:spPr>
          <a:xfrm>
            <a:off x="1790700" y="2019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6" name="hl"/>
          <p:cNvSpPr/>
          <p:nvPr/>
        </p:nvSpPr>
        <p:spPr>
          <a:xfrm>
            <a:off x="1790700" y="377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7" name="hl"/>
          <p:cNvSpPr/>
          <p:nvPr/>
        </p:nvSpPr>
        <p:spPr>
          <a:xfrm>
            <a:off x="3098800" y="20193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8" name="hl"/>
          <p:cNvSpPr/>
          <p:nvPr/>
        </p:nvSpPr>
        <p:spPr>
          <a:xfrm>
            <a:off x="3022600" y="2019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9" name="hl"/>
          <p:cNvSpPr/>
          <p:nvPr/>
        </p:nvSpPr>
        <p:spPr>
          <a:xfrm>
            <a:off x="3022600" y="377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0" name="tb"/>
          <p:cNvSpPr txBox="1"/>
          <p:nvPr/>
        </p:nvSpPr>
        <p:spPr>
          <a:xfrm>
            <a:off x="1905000" y="20574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11" name="tb"/>
          <p:cNvSpPr txBox="1"/>
          <p:nvPr/>
        </p:nvSpPr>
        <p:spPr>
          <a:xfrm>
            <a:off x="2463800" y="20574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9</a:t>
            </a:r>
          </a:p>
        </p:txBody>
      </p:sp>
      <p:sp>
        <p:nvSpPr>
          <p:cNvPr id="6012" name="tb"/>
          <p:cNvSpPr txBox="1"/>
          <p:nvPr/>
        </p:nvSpPr>
        <p:spPr>
          <a:xfrm>
            <a:off x="1905000" y="24003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6013" name="tb"/>
          <p:cNvSpPr txBox="1"/>
          <p:nvPr/>
        </p:nvSpPr>
        <p:spPr>
          <a:xfrm>
            <a:off x="2463800" y="24003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7</a:t>
            </a:r>
          </a:p>
        </p:txBody>
      </p:sp>
      <p:sp>
        <p:nvSpPr>
          <p:cNvPr id="6014" name="tb"/>
          <p:cNvSpPr txBox="1"/>
          <p:nvPr/>
        </p:nvSpPr>
        <p:spPr>
          <a:xfrm>
            <a:off x="1905000" y="2743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15" name="tb"/>
          <p:cNvSpPr txBox="1"/>
          <p:nvPr/>
        </p:nvSpPr>
        <p:spPr>
          <a:xfrm>
            <a:off x="2463800" y="2743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16" name="tb"/>
          <p:cNvSpPr txBox="1"/>
          <p:nvPr/>
        </p:nvSpPr>
        <p:spPr>
          <a:xfrm>
            <a:off x="1905000" y="3086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7</a:t>
            </a:r>
          </a:p>
        </p:txBody>
      </p:sp>
      <p:sp>
        <p:nvSpPr>
          <p:cNvPr id="6017" name="tb"/>
          <p:cNvSpPr txBox="1"/>
          <p:nvPr/>
        </p:nvSpPr>
        <p:spPr>
          <a:xfrm>
            <a:off x="2463800" y="3086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6018" name="tb"/>
          <p:cNvSpPr txBox="1"/>
          <p:nvPr/>
        </p:nvSpPr>
        <p:spPr>
          <a:xfrm>
            <a:off x="1905000" y="3429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9</a:t>
            </a:r>
          </a:p>
        </p:txBody>
      </p:sp>
      <p:sp>
        <p:nvSpPr>
          <p:cNvPr id="6019" name="tb"/>
          <p:cNvSpPr txBox="1"/>
          <p:nvPr/>
        </p:nvSpPr>
        <p:spPr>
          <a:xfrm>
            <a:off x="2463800" y="3429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558800" y="38735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50" b="1" dirty="0">
                <a:solidFill>
                  <a:srgbClr val="333333"/>
                </a:solidFill>
              </a:rPr>
              <a:t>μ = ( </a:t>
            </a:r>
            <a:r>
              <a:rPr lang="en-US" sz="1350" b="1" dirty="0">
                <a:solidFill>
                  <a:srgbClr val="4B2E83"/>
                </a:solidFill>
              </a:rPr>
              <a:t>5.00,  5.00</a:t>
            </a:r>
            <a:r>
              <a:rPr lang="en-US" sz="1350" b="1" dirty="0">
                <a:solidFill>
                  <a:srgbClr val="333333"/>
                </a:solidFill>
              </a:rPr>
              <a:t> )</a:t>
            </a:r>
          </a:p>
        </p:txBody>
      </p:sp>
      <p:sp>
        <p:nvSpPr>
          <p:cNvPr id="6021" name="hl"/>
          <p:cNvSpPr/>
          <p:nvPr/>
        </p:nvSpPr>
        <p:spPr>
          <a:xfrm>
            <a:off x="558800" y="5080000"/>
            <a:ext cx="4191000" cy="508000"/>
          </a:xfrm>
          <a:prstGeom prst="rect">
            <a:avLst/>
          </a:prstGeom>
          <a:solidFill>
            <a:srgbClr val="4B2E83">
              <a:alpha val="12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2" name="tb"/>
          <p:cNvSpPr txBox="1"/>
          <p:nvPr/>
        </p:nvSpPr>
        <p:spPr>
          <a:xfrm>
            <a:off x="711200" y="5080000"/>
            <a:ext cx="3937000" cy="508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400" b="1" dirty="0">
                <a:solidFill>
                  <a:srgbClr val="4B2E83"/>
                </a:solidFill>
              </a:rPr>
              <a:t>Task:  Compute the covariance matrix S.</a:t>
            </a:r>
          </a:p>
        </p:txBody>
      </p:sp>
      <p:sp>
        <p:nvSpPr>
          <p:cNvPr id="6023" name="pn"/>
          <p:cNvSpPr/>
          <p:nvPr/>
        </p:nvSpPr>
        <p:spPr>
          <a:xfrm>
            <a:off x="5080000" y="1219200"/>
            <a:ext cx="68072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4" name="tb"/>
          <p:cNvSpPr txBox="1"/>
          <p:nvPr/>
        </p:nvSpPr>
        <p:spPr>
          <a:xfrm>
            <a:off x="5334000" y="1447800"/>
            <a:ext cx="6350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Xc = X − 1μᵀ    →    S = XcᵀXc /(n−1)</a:t>
            </a:r>
          </a:p>
        </p:txBody>
      </p:sp>
      <p:sp>
        <p:nvSpPr>
          <p:cNvPr id="6025" name="tb"/>
          <p:cNvSpPr txBox="1"/>
          <p:nvPr/>
        </p:nvSpPr>
        <p:spPr>
          <a:xfrm>
            <a:off x="5969000" y="1905000"/>
            <a:ext cx="1524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250" b="1" dirty="0">
                <a:solidFill>
                  <a:srgbClr val="6E6E6E"/>
                </a:solidFill>
              </a:rPr>
              <a:t>Xc</a:t>
            </a:r>
          </a:p>
        </p:txBody>
      </p:sp>
      <p:sp>
        <p:nvSpPr>
          <p:cNvPr id="6026" name="hl"/>
          <p:cNvSpPr/>
          <p:nvPr/>
        </p:nvSpPr>
        <p:spPr>
          <a:xfrm>
            <a:off x="5854700" y="21971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7" name="hl"/>
          <p:cNvSpPr/>
          <p:nvPr/>
        </p:nvSpPr>
        <p:spPr>
          <a:xfrm>
            <a:off x="5854700" y="21971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8" name="hl"/>
          <p:cNvSpPr/>
          <p:nvPr/>
        </p:nvSpPr>
        <p:spPr>
          <a:xfrm>
            <a:off x="5854700" y="39497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9" name="hl"/>
          <p:cNvSpPr/>
          <p:nvPr/>
        </p:nvSpPr>
        <p:spPr>
          <a:xfrm>
            <a:off x="7162800" y="21971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0" name="hl"/>
          <p:cNvSpPr/>
          <p:nvPr/>
        </p:nvSpPr>
        <p:spPr>
          <a:xfrm>
            <a:off x="7086600" y="21971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1" name="hl"/>
          <p:cNvSpPr/>
          <p:nvPr/>
        </p:nvSpPr>
        <p:spPr>
          <a:xfrm>
            <a:off x="7086600" y="39497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2" name="tb"/>
          <p:cNvSpPr txBox="1"/>
          <p:nvPr/>
        </p:nvSpPr>
        <p:spPr>
          <a:xfrm>
            <a:off x="5969000" y="2235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−4.00</a:t>
            </a:r>
          </a:p>
        </p:txBody>
      </p:sp>
      <p:sp>
        <p:nvSpPr>
          <p:cNvPr id="6033" name="tb"/>
          <p:cNvSpPr txBox="1"/>
          <p:nvPr/>
        </p:nvSpPr>
        <p:spPr>
          <a:xfrm>
            <a:off x="6527800" y="2235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4.00</a:t>
            </a:r>
          </a:p>
        </p:txBody>
      </p:sp>
      <p:sp>
        <p:nvSpPr>
          <p:cNvPr id="6034" name="tb"/>
          <p:cNvSpPr txBox="1"/>
          <p:nvPr/>
        </p:nvSpPr>
        <p:spPr>
          <a:xfrm>
            <a:off x="5969000" y="2578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−2.00</a:t>
            </a:r>
          </a:p>
        </p:txBody>
      </p:sp>
      <p:sp>
        <p:nvSpPr>
          <p:cNvPr id="6035" name="tb"/>
          <p:cNvSpPr txBox="1"/>
          <p:nvPr/>
        </p:nvSpPr>
        <p:spPr>
          <a:xfrm>
            <a:off x="6527800" y="2578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2.00</a:t>
            </a:r>
          </a:p>
        </p:txBody>
      </p:sp>
      <p:sp>
        <p:nvSpPr>
          <p:cNvPr id="6036" name="tb"/>
          <p:cNvSpPr txBox="1"/>
          <p:nvPr/>
        </p:nvSpPr>
        <p:spPr>
          <a:xfrm>
            <a:off x="5969000" y="2921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0.00</a:t>
            </a:r>
          </a:p>
        </p:txBody>
      </p:sp>
      <p:sp>
        <p:nvSpPr>
          <p:cNvPr id="6037" name="tb"/>
          <p:cNvSpPr txBox="1"/>
          <p:nvPr/>
        </p:nvSpPr>
        <p:spPr>
          <a:xfrm>
            <a:off x="6527800" y="2921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0.00</a:t>
            </a:r>
          </a:p>
        </p:txBody>
      </p:sp>
      <p:sp>
        <p:nvSpPr>
          <p:cNvPr id="6038" name="tb"/>
          <p:cNvSpPr txBox="1"/>
          <p:nvPr/>
        </p:nvSpPr>
        <p:spPr>
          <a:xfrm>
            <a:off x="5969000" y="32639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2.00</a:t>
            </a:r>
          </a:p>
        </p:txBody>
      </p:sp>
      <p:sp>
        <p:nvSpPr>
          <p:cNvPr id="6039" name="tb"/>
          <p:cNvSpPr txBox="1"/>
          <p:nvPr/>
        </p:nvSpPr>
        <p:spPr>
          <a:xfrm>
            <a:off x="6527800" y="32639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−2.00</a:t>
            </a:r>
          </a:p>
        </p:txBody>
      </p:sp>
      <p:sp>
        <p:nvSpPr>
          <p:cNvPr id="6040" name="tb"/>
          <p:cNvSpPr txBox="1"/>
          <p:nvPr/>
        </p:nvSpPr>
        <p:spPr>
          <a:xfrm>
            <a:off x="5969000" y="36068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4.00</a:t>
            </a:r>
          </a:p>
        </p:txBody>
      </p:sp>
      <p:sp>
        <p:nvSpPr>
          <p:cNvPr id="6041" name="tb"/>
          <p:cNvSpPr txBox="1"/>
          <p:nvPr/>
        </p:nvSpPr>
        <p:spPr>
          <a:xfrm>
            <a:off x="6527800" y="36068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−4.00</a:t>
            </a:r>
          </a:p>
        </p:txBody>
      </p:sp>
      <p:sp>
        <p:nvSpPr>
          <p:cNvPr id="6042" name="tb"/>
          <p:cNvSpPr txBox="1"/>
          <p:nvPr/>
        </p:nvSpPr>
        <p:spPr>
          <a:xfrm>
            <a:off x="9652000" y="1905000"/>
            <a:ext cx="1524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250" b="1" dirty="0">
                <a:solidFill>
                  <a:srgbClr val="6E6E6E"/>
                </a:solidFill>
              </a:rPr>
              <a:t>S</a:t>
            </a:r>
          </a:p>
        </p:txBody>
      </p:sp>
      <p:sp>
        <p:nvSpPr>
          <p:cNvPr id="6043" name="hl"/>
          <p:cNvSpPr/>
          <p:nvPr/>
        </p:nvSpPr>
        <p:spPr>
          <a:xfrm>
            <a:off x="9144000" y="2540000"/>
            <a:ext cx="762000" cy="4572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4" name="hl"/>
          <p:cNvSpPr/>
          <p:nvPr/>
        </p:nvSpPr>
        <p:spPr>
          <a:xfrm>
            <a:off x="9906000" y="2997200"/>
            <a:ext cx="762000" cy="4572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5" name="hl"/>
          <p:cNvSpPr/>
          <p:nvPr/>
        </p:nvSpPr>
        <p:spPr>
          <a:xfrm>
            <a:off x="9029700" y="2501900"/>
            <a:ext cx="38100" cy="990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6" name="hl"/>
          <p:cNvSpPr/>
          <p:nvPr/>
        </p:nvSpPr>
        <p:spPr>
          <a:xfrm>
            <a:off x="9029700" y="250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7" name="hl"/>
          <p:cNvSpPr/>
          <p:nvPr/>
        </p:nvSpPr>
        <p:spPr>
          <a:xfrm>
            <a:off x="9029700" y="3454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8" name="hl"/>
          <p:cNvSpPr/>
          <p:nvPr/>
        </p:nvSpPr>
        <p:spPr>
          <a:xfrm>
            <a:off x="10744200" y="2501900"/>
            <a:ext cx="38100" cy="990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9" name="hl"/>
          <p:cNvSpPr/>
          <p:nvPr/>
        </p:nvSpPr>
        <p:spPr>
          <a:xfrm>
            <a:off x="10668000" y="250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50" name="hl"/>
          <p:cNvSpPr/>
          <p:nvPr/>
        </p:nvSpPr>
        <p:spPr>
          <a:xfrm>
            <a:off x="10668000" y="3454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51" name="tb"/>
          <p:cNvSpPr txBox="1"/>
          <p:nvPr/>
        </p:nvSpPr>
        <p:spPr>
          <a:xfrm>
            <a:off x="9144000" y="25400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10.00</a:t>
            </a:r>
          </a:p>
        </p:txBody>
      </p:sp>
      <p:sp>
        <p:nvSpPr>
          <p:cNvPr id="6052" name="tb"/>
          <p:cNvSpPr txBox="1"/>
          <p:nvPr/>
        </p:nvSpPr>
        <p:spPr>
          <a:xfrm>
            <a:off x="9906000" y="25400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−10.00</a:t>
            </a:r>
          </a:p>
        </p:txBody>
      </p:sp>
      <p:sp>
        <p:nvSpPr>
          <p:cNvPr id="6053" name="tb"/>
          <p:cNvSpPr txBox="1"/>
          <p:nvPr/>
        </p:nvSpPr>
        <p:spPr>
          <a:xfrm>
            <a:off x="9144000" y="29972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−10.00</a:t>
            </a:r>
          </a:p>
        </p:txBody>
      </p:sp>
      <p:sp>
        <p:nvSpPr>
          <p:cNvPr id="6054" name="tb"/>
          <p:cNvSpPr txBox="1"/>
          <p:nvPr/>
        </p:nvSpPr>
        <p:spPr>
          <a:xfrm>
            <a:off x="9906000" y="29972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10.00</a:t>
            </a:r>
          </a:p>
        </p:txBody>
      </p:sp>
      <p:sp>
        <p:nvSpPr>
          <p:cNvPr id="6055" name="tb"/>
          <p:cNvSpPr txBox="1"/>
          <p:nvPr/>
        </p:nvSpPr>
        <p:spPr>
          <a:xfrm>
            <a:off x="8890000" y="3606800"/>
            <a:ext cx="2540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50" dirty="0">
                <a:solidFill>
                  <a:srgbClr val="6E6E6E"/>
                </a:solidFill>
              </a:rPr>
              <a:t>σ = ( </a:t>
            </a:r>
            <a:r>
              <a:rPr lang="en-US" sz="1250" b="1" dirty="0">
                <a:solidFill>
                  <a:srgbClr val="6E6E6E"/>
                </a:solidFill>
              </a:rPr>
              <a:t>3.16, 3.16</a:t>
            </a:r>
            <a:r>
              <a:rPr lang="en-US" sz="1250" dirty="0">
                <a:solidFill>
                  <a:srgbClr val="6E6E6E"/>
                </a:solidFill>
              </a:rPr>
              <a:t> )</a:t>
            </a:r>
          </a:p>
        </p:txBody>
      </p:sp>
      <p:sp>
        <p:nvSpPr>
          <p:cNvPr id="6056" name="cover"/>
          <p:cNvSpPr/>
          <p:nvPr/>
        </p:nvSpPr>
        <p:spPr>
          <a:xfrm>
            <a:off x="5181600" y="1778000"/>
            <a:ext cx="6604000" cy="3886200"/>
          </a:xfrm>
          <a:prstGeom prst="roundRect">
            <a:avLst>
              <a:gd name="adj" fmla="val 4000"/>
            </a:avLst>
          </a:prstGeom>
          <a:solidFill>
            <a:srgbClr val="4B2E83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Solution hidden</a:t>
            </a:r>
          </a:p>
          <a:p>
            <a:pPr algn="ctr"/>
            <a:r>
              <a:rPr lang="en-US" sz="1300" i="1" dirty="0">
                <a:solidFill>
                  <a:srgbClr val="E7DEF3"/>
                </a:solidFill>
              </a:rPr>
              <a:t>Work it out, then remove this cover to check.</a:t>
            </a:r>
          </a:p>
        </p:txBody>
      </p:sp>
    </p:spTree>
    <p:extLst>
      <p:ext uri="{BB962C8B-B14F-4D97-AF65-F5344CB8AC3E}">
        <p14:creationId xmlns:p14="http://schemas.microsoft.com/office/powerpoint/2010/main" val="121587135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Covariance Matrix — Exercise 3  (5×3)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Center the data, then S = XcᵀXc /(n−1).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Covariance = cross-product of the centered data, divided by n−1.</a:t>
            </a:r>
          </a:p>
        </p:txBody>
      </p:sp>
      <p:sp>
        <p:nvSpPr>
          <p:cNvPr id="6000" name="pn"/>
          <p:cNvSpPr/>
          <p:nvPr/>
        </p:nvSpPr>
        <p:spPr>
          <a:xfrm>
            <a:off x="304800" y="1219200"/>
            <a:ext cx="45720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22400"/>
            <a:ext cx="4191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Data  X   (n=5, p=3)</a:t>
            </a:r>
          </a:p>
        </p:txBody>
      </p:sp>
      <p:sp>
        <p:nvSpPr>
          <p:cNvPr id="6002" name="tb"/>
          <p:cNvSpPr txBox="1"/>
          <p:nvPr/>
        </p:nvSpPr>
        <p:spPr>
          <a:xfrm>
            <a:off x="1524000" y="1803400"/>
            <a:ext cx="5588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6E6E6E"/>
                </a:solidFill>
              </a:rPr>
              <a:t>x₁</a:t>
            </a:r>
          </a:p>
        </p:txBody>
      </p:sp>
      <p:sp>
        <p:nvSpPr>
          <p:cNvPr id="6003" name="tb"/>
          <p:cNvSpPr txBox="1"/>
          <p:nvPr/>
        </p:nvSpPr>
        <p:spPr>
          <a:xfrm>
            <a:off x="2082800" y="1803400"/>
            <a:ext cx="5588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6E6E6E"/>
                </a:solidFill>
              </a:rPr>
              <a:t>x₂</a:t>
            </a:r>
          </a:p>
        </p:txBody>
      </p:sp>
      <p:sp>
        <p:nvSpPr>
          <p:cNvPr id="6004" name="tb"/>
          <p:cNvSpPr txBox="1"/>
          <p:nvPr/>
        </p:nvSpPr>
        <p:spPr>
          <a:xfrm>
            <a:off x="2641600" y="1803400"/>
            <a:ext cx="5588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6E6E6E"/>
                </a:solidFill>
              </a:rPr>
              <a:t>x₃</a:t>
            </a:r>
          </a:p>
        </p:txBody>
      </p:sp>
      <p:sp>
        <p:nvSpPr>
          <p:cNvPr id="6005" name="hl"/>
          <p:cNvSpPr/>
          <p:nvPr/>
        </p:nvSpPr>
        <p:spPr>
          <a:xfrm>
            <a:off x="1409700" y="20193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6" name="hl"/>
          <p:cNvSpPr/>
          <p:nvPr/>
        </p:nvSpPr>
        <p:spPr>
          <a:xfrm>
            <a:off x="1409700" y="2019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7" name="hl"/>
          <p:cNvSpPr/>
          <p:nvPr/>
        </p:nvSpPr>
        <p:spPr>
          <a:xfrm>
            <a:off x="1409700" y="377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8" name="hl"/>
          <p:cNvSpPr/>
          <p:nvPr/>
        </p:nvSpPr>
        <p:spPr>
          <a:xfrm>
            <a:off x="3276600" y="20193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9" name="hl"/>
          <p:cNvSpPr/>
          <p:nvPr/>
        </p:nvSpPr>
        <p:spPr>
          <a:xfrm>
            <a:off x="3200400" y="2019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0" name="hl"/>
          <p:cNvSpPr/>
          <p:nvPr/>
        </p:nvSpPr>
        <p:spPr>
          <a:xfrm>
            <a:off x="3200400" y="377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1" name="tb"/>
          <p:cNvSpPr txBox="1"/>
          <p:nvPr/>
        </p:nvSpPr>
        <p:spPr>
          <a:xfrm>
            <a:off x="1524000" y="20574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6012" name="tb"/>
          <p:cNvSpPr txBox="1"/>
          <p:nvPr/>
        </p:nvSpPr>
        <p:spPr>
          <a:xfrm>
            <a:off x="2082800" y="20574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13" name="tb"/>
          <p:cNvSpPr txBox="1"/>
          <p:nvPr/>
        </p:nvSpPr>
        <p:spPr>
          <a:xfrm>
            <a:off x="2641600" y="20574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6014" name="tb"/>
          <p:cNvSpPr txBox="1"/>
          <p:nvPr/>
        </p:nvSpPr>
        <p:spPr>
          <a:xfrm>
            <a:off x="1524000" y="24003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15" name="tb"/>
          <p:cNvSpPr txBox="1"/>
          <p:nvPr/>
        </p:nvSpPr>
        <p:spPr>
          <a:xfrm>
            <a:off x="2082800" y="24003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6016" name="tb"/>
          <p:cNvSpPr txBox="1"/>
          <p:nvPr/>
        </p:nvSpPr>
        <p:spPr>
          <a:xfrm>
            <a:off x="2641600" y="24003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6017" name="tb"/>
          <p:cNvSpPr txBox="1"/>
          <p:nvPr/>
        </p:nvSpPr>
        <p:spPr>
          <a:xfrm>
            <a:off x="1524000" y="2743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6018" name="tb"/>
          <p:cNvSpPr txBox="1"/>
          <p:nvPr/>
        </p:nvSpPr>
        <p:spPr>
          <a:xfrm>
            <a:off x="2082800" y="2743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6019" name="tb"/>
          <p:cNvSpPr txBox="1"/>
          <p:nvPr/>
        </p:nvSpPr>
        <p:spPr>
          <a:xfrm>
            <a:off x="2641600" y="2743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9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1524000" y="3086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8</a:t>
            </a:r>
          </a:p>
        </p:txBody>
      </p:sp>
      <p:sp>
        <p:nvSpPr>
          <p:cNvPr id="6021" name="tb"/>
          <p:cNvSpPr txBox="1"/>
          <p:nvPr/>
        </p:nvSpPr>
        <p:spPr>
          <a:xfrm>
            <a:off x="2082800" y="3086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8</a:t>
            </a:r>
          </a:p>
        </p:txBody>
      </p:sp>
      <p:sp>
        <p:nvSpPr>
          <p:cNvPr id="6022" name="tb"/>
          <p:cNvSpPr txBox="1"/>
          <p:nvPr/>
        </p:nvSpPr>
        <p:spPr>
          <a:xfrm>
            <a:off x="2641600" y="3086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6023" name="tb"/>
          <p:cNvSpPr txBox="1"/>
          <p:nvPr/>
        </p:nvSpPr>
        <p:spPr>
          <a:xfrm>
            <a:off x="1524000" y="3429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24" name="tb"/>
          <p:cNvSpPr txBox="1"/>
          <p:nvPr/>
        </p:nvSpPr>
        <p:spPr>
          <a:xfrm>
            <a:off x="2082800" y="3429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25" name="tb"/>
          <p:cNvSpPr txBox="1"/>
          <p:nvPr/>
        </p:nvSpPr>
        <p:spPr>
          <a:xfrm>
            <a:off x="2641600" y="3429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26" name="tb"/>
          <p:cNvSpPr txBox="1"/>
          <p:nvPr/>
        </p:nvSpPr>
        <p:spPr>
          <a:xfrm>
            <a:off x="558800" y="38735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50" b="1" dirty="0">
                <a:solidFill>
                  <a:srgbClr val="333333"/>
                </a:solidFill>
              </a:rPr>
              <a:t>μ = ( </a:t>
            </a:r>
            <a:r>
              <a:rPr lang="en-US" sz="1350" b="1" dirty="0">
                <a:solidFill>
                  <a:srgbClr val="4B2E83"/>
                </a:solidFill>
              </a:rPr>
              <a:t>5.00,  5.00,  5.00</a:t>
            </a:r>
            <a:r>
              <a:rPr lang="en-US" sz="1350" b="1" dirty="0">
                <a:solidFill>
                  <a:srgbClr val="333333"/>
                </a:solidFill>
              </a:rPr>
              <a:t> )</a:t>
            </a:r>
          </a:p>
        </p:txBody>
      </p:sp>
      <p:sp>
        <p:nvSpPr>
          <p:cNvPr id="6027" name="hl"/>
          <p:cNvSpPr/>
          <p:nvPr/>
        </p:nvSpPr>
        <p:spPr>
          <a:xfrm>
            <a:off x="558800" y="5080000"/>
            <a:ext cx="4191000" cy="508000"/>
          </a:xfrm>
          <a:prstGeom prst="rect">
            <a:avLst/>
          </a:prstGeom>
          <a:solidFill>
            <a:srgbClr val="4B2E83">
              <a:alpha val="12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8" name="tb"/>
          <p:cNvSpPr txBox="1"/>
          <p:nvPr/>
        </p:nvSpPr>
        <p:spPr>
          <a:xfrm>
            <a:off x="711200" y="5080000"/>
            <a:ext cx="3937000" cy="508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400" b="1" dirty="0">
                <a:solidFill>
                  <a:srgbClr val="4B2E83"/>
                </a:solidFill>
              </a:rPr>
              <a:t>Task:  Compute the covariance matrix S.</a:t>
            </a:r>
          </a:p>
        </p:txBody>
      </p:sp>
      <p:sp>
        <p:nvSpPr>
          <p:cNvPr id="6029" name="pn"/>
          <p:cNvSpPr/>
          <p:nvPr/>
        </p:nvSpPr>
        <p:spPr>
          <a:xfrm>
            <a:off x="5080000" y="1219200"/>
            <a:ext cx="68072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30" name="tb"/>
          <p:cNvSpPr txBox="1"/>
          <p:nvPr/>
        </p:nvSpPr>
        <p:spPr>
          <a:xfrm>
            <a:off x="5334000" y="1447800"/>
            <a:ext cx="6350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Xc = X − 1μᵀ    →    S = XcᵀXc /(n−1)</a:t>
            </a:r>
          </a:p>
        </p:txBody>
      </p:sp>
      <p:sp>
        <p:nvSpPr>
          <p:cNvPr id="6031" name="tb"/>
          <p:cNvSpPr txBox="1"/>
          <p:nvPr/>
        </p:nvSpPr>
        <p:spPr>
          <a:xfrm>
            <a:off x="5842000" y="1905000"/>
            <a:ext cx="1524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250" b="1" dirty="0">
                <a:solidFill>
                  <a:srgbClr val="6E6E6E"/>
                </a:solidFill>
              </a:rPr>
              <a:t>Xc</a:t>
            </a:r>
          </a:p>
        </p:txBody>
      </p:sp>
      <p:sp>
        <p:nvSpPr>
          <p:cNvPr id="6032" name="hl"/>
          <p:cNvSpPr/>
          <p:nvPr/>
        </p:nvSpPr>
        <p:spPr>
          <a:xfrm>
            <a:off x="5473700" y="21971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3" name="hl"/>
          <p:cNvSpPr/>
          <p:nvPr/>
        </p:nvSpPr>
        <p:spPr>
          <a:xfrm>
            <a:off x="5473700" y="21971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4" name="hl"/>
          <p:cNvSpPr/>
          <p:nvPr/>
        </p:nvSpPr>
        <p:spPr>
          <a:xfrm>
            <a:off x="5473700" y="39497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5" name="hl"/>
          <p:cNvSpPr/>
          <p:nvPr/>
        </p:nvSpPr>
        <p:spPr>
          <a:xfrm>
            <a:off x="7188200" y="21971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6" name="hl"/>
          <p:cNvSpPr/>
          <p:nvPr/>
        </p:nvSpPr>
        <p:spPr>
          <a:xfrm>
            <a:off x="7112000" y="21971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7" name="hl"/>
          <p:cNvSpPr/>
          <p:nvPr/>
        </p:nvSpPr>
        <p:spPr>
          <a:xfrm>
            <a:off x="7112000" y="39497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8" name="tb"/>
          <p:cNvSpPr txBox="1"/>
          <p:nvPr/>
        </p:nvSpPr>
        <p:spPr>
          <a:xfrm>
            <a:off x="5588000" y="2235200"/>
            <a:ext cx="5080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−3.00</a:t>
            </a:r>
          </a:p>
        </p:txBody>
      </p:sp>
      <p:sp>
        <p:nvSpPr>
          <p:cNvPr id="6039" name="tb"/>
          <p:cNvSpPr txBox="1"/>
          <p:nvPr/>
        </p:nvSpPr>
        <p:spPr>
          <a:xfrm>
            <a:off x="6096000" y="2235200"/>
            <a:ext cx="5080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−1.00</a:t>
            </a:r>
          </a:p>
        </p:txBody>
      </p:sp>
      <p:sp>
        <p:nvSpPr>
          <p:cNvPr id="6040" name="tb"/>
          <p:cNvSpPr txBox="1"/>
          <p:nvPr/>
        </p:nvSpPr>
        <p:spPr>
          <a:xfrm>
            <a:off x="6604000" y="2235200"/>
            <a:ext cx="5080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1.00</a:t>
            </a:r>
          </a:p>
        </p:txBody>
      </p:sp>
      <p:sp>
        <p:nvSpPr>
          <p:cNvPr id="6041" name="tb"/>
          <p:cNvSpPr txBox="1"/>
          <p:nvPr/>
        </p:nvSpPr>
        <p:spPr>
          <a:xfrm>
            <a:off x="5588000" y="2578100"/>
            <a:ext cx="5080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−1.00</a:t>
            </a:r>
          </a:p>
        </p:txBody>
      </p:sp>
      <p:sp>
        <p:nvSpPr>
          <p:cNvPr id="6042" name="tb"/>
          <p:cNvSpPr txBox="1"/>
          <p:nvPr/>
        </p:nvSpPr>
        <p:spPr>
          <a:xfrm>
            <a:off x="6096000" y="2578100"/>
            <a:ext cx="5080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1.00</a:t>
            </a:r>
          </a:p>
        </p:txBody>
      </p:sp>
      <p:sp>
        <p:nvSpPr>
          <p:cNvPr id="6043" name="tb"/>
          <p:cNvSpPr txBox="1"/>
          <p:nvPr/>
        </p:nvSpPr>
        <p:spPr>
          <a:xfrm>
            <a:off x="6604000" y="2578100"/>
            <a:ext cx="5080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−2.00</a:t>
            </a:r>
          </a:p>
        </p:txBody>
      </p:sp>
      <p:sp>
        <p:nvSpPr>
          <p:cNvPr id="6044" name="tb"/>
          <p:cNvSpPr txBox="1"/>
          <p:nvPr/>
        </p:nvSpPr>
        <p:spPr>
          <a:xfrm>
            <a:off x="5588000" y="2921000"/>
            <a:ext cx="5080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1.00</a:t>
            </a:r>
          </a:p>
        </p:txBody>
      </p:sp>
      <p:sp>
        <p:nvSpPr>
          <p:cNvPr id="6045" name="tb"/>
          <p:cNvSpPr txBox="1"/>
          <p:nvPr/>
        </p:nvSpPr>
        <p:spPr>
          <a:xfrm>
            <a:off x="6096000" y="2921000"/>
            <a:ext cx="5080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−3.00</a:t>
            </a:r>
          </a:p>
        </p:txBody>
      </p:sp>
      <p:sp>
        <p:nvSpPr>
          <p:cNvPr id="6046" name="tb"/>
          <p:cNvSpPr txBox="1"/>
          <p:nvPr/>
        </p:nvSpPr>
        <p:spPr>
          <a:xfrm>
            <a:off x="6604000" y="2921000"/>
            <a:ext cx="5080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4.00</a:t>
            </a:r>
          </a:p>
        </p:txBody>
      </p:sp>
      <p:sp>
        <p:nvSpPr>
          <p:cNvPr id="6047" name="tb"/>
          <p:cNvSpPr txBox="1"/>
          <p:nvPr/>
        </p:nvSpPr>
        <p:spPr>
          <a:xfrm>
            <a:off x="5588000" y="3263900"/>
            <a:ext cx="5080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3.00</a:t>
            </a:r>
          </a:p>
        </p:txBody>
      </p:sp>
      <p:sp>
        <p:nvSpPr>
          <p:cNvPr id="6048" name="tb"/>
          <p:cNvSpPr txBox="1"/>
          <p:nvPr/>
        </p:nvSpPr>
        <p:spPr>
          <a:xfrm>
            <a:off x="6096000" y="3263900"/>
            <a:ext cx="5080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3.00</a:t>
            </a:r>
          </a:p>
        </p:txBody>
      </p:sp>
      <p:sp>
        <p:nvSpPr>
          <p:cNvPr id="6049" name="tb"/>
          <p:cNvSpPr txBox="1"/>
          <p:nvPr/>
        </p:nvSpPr>
        <p:spPr>
          <a:xfrm>
            <a:off x="6604000" y="3263900"/>
            <a:ext cx="5080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−3.00</a:t>
            </a:r>
          </a:p>
        </p:txBody>
      </p:sp>
      <p:sp>
        <p:nvSpPr>
          <p:cNvPr id="6050" name="tb"/>
          <p:cNvSpPr txBox="1"/>
          <p:nvPr/>
        </p:nvSpPr>
        <p:spPr>
          <a:xfrm>
            <a:off x="5588000" y="3606800"/>
            <a:ext cx="5080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0.00</a:t>
            </a:r>
          </a:p>
        </p:txBody>
      </p:sp>
      <p:sp>
        <p:nvSpPr>
          <p:cNvPr id="6051" name="tb"/>
          <p:cNvSpPr txBox="1"/>
          <p:nvPr/>
        </p:nvSpPr>
        <p:spPr>
          <a:xfrm>
            <a:off x="6096000" y="3606800"/>
            <a:ext cx="5080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0.00</a:t>
            </a:r>
          </a:p>
        </p:txBody>
      </p:sp>
      <p:sp>
        <p:nvSpPr>
          <p:cNvPr id="6052" name="tb"/>
          <p:cNvSpPr txBox="1"/>
          <p:nvPr/>
        </p:nvSpPr>
        <p:spPr>
          <a:xfrm>
            <a:off x="6604000" y="3606800"/>
            <a:ext cx="5080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0.00</a:t>
            </a:r>
          </a:p>
        </p:txBody>
      </p:sp>
      <p:sp>
        <p:nvSpPr>
          <p:cNvPr id="6053" name="tb"/>
          <p:cNvSpPr txBox="1"/>
          <p:nvPr/>
        </p:nvSpPr>
        <p:spPr>
          <a:xfrm>
            <a:off x="9398000" y="1905000"/>
            <a:ext cx="1524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250" b="1" dirty="0">
                <a:solidFill>
                  <a:srgbClr val="6E6E6E"/>
                </a:solidFill>
              </a:rPr>
              <a:t>S</a:t>
            </a:r>
          </a:p>
        </p:txBody>
      </p:sp>
      <p:sp>
        <p:nvSpPr>
          <p:cNvPr id="6054" name="hl"/>
          <p:cNvSpPr/>
          <p:nvPr/>
        </p:nvSpPr>
        <p:spPr>
          <a:xfrm>
            <a:off x="8763000" y="2489200"/>
            <a:ext cx="711200" cy="4064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55" name="hl"/>
          <p:cNvSpPr/>
          <p:nvPr/>
        </p:nvSpPr>
        <p:spPr>
          <a:xfrm>
            <a:off x="9474200" y="2895600"/>
            <a:ext cx="711200" cy="4064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56" name="hl"/>
          <p:cNvSpPr/>
          <p:nvPr/>
        </p:nvSpPr>
        <p:spPr>
          <a:xfrm>
            <a:off x="10185400" y="3302000"/>
            <a:ext cx="711200" cy="4064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57" name="hl"/>
          <p:cNvSpPr/>
          <p:nvPr/>
        </p:nvSpPr>
        <p:spPr>
          <a:xfrm>
            <a:off x="8648700" y="2451100"/>
            <a:ext cx="38100" cy="12954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58" name="hl"/>
          <p:cNvSpPr/>
          <p:nvPr/>
        </p:nvSpPr>
        <p:spPr>
          <a:xfrm>
            <a:off x="8648700" y="24511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59" name="hl"/>
          <p:cNvSpPr/>
          <p:nvPr/>
        </p:nvSpPr>
        <p:spPr>
          <a:xfrm>
            <a:off x="8648700" y="3708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60" name="hl"/>
          <p:cNvSpPr/>
          <p:nvPr/>
        </p:nvSpPr>
        <p:spPr>
          <a:xfrm>
            <a:off x="10972800" y="2451100"/>
            <a:ext cx="38100" cy="12954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61" name="hl"/>
          <p:cNvSpPr/>
          <p:nvPr/>
        </p:nvSpPr>
        <p:spPr>
          <a:xfrm>
            <a:off x="10896600" y="24511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62" name="hl"/>
          <p:cNvSpPr/>
          <p:nvPr/>
        </p:nvSpPr>
        <p:spPr>
          <a:xfrm>
            <a:off x="10896600" y="3708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63" name="tb"/>
          <p:cNvSpPr txBox="1"/>
          <p:nvPr/>
        </p:nvSpPr>
        <p:spPr>
          <a:xfrm>
            <a:off x="8763000" y="2489200"/>
            <a:ext cx="711200" cy="406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5.00</a:t>
            </a:r>
          </a:p>
        </p:txBody>
      </p:sp>
      <p:sp>
        <p:nvSpPr>
          <p:cNvPr id="6064" name="tb"/>
          <p:cNvSpPr txBox="1"/>
          <p:nvPr/>
        </p:nvSpPr>
        <p:spPr>
          <a:xfrm>
            <a:off x="9474200" y="2489200"/>
            <a:ext cx="711200" cy="406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2.00</a:t>
            </a:r>
          </a:p>
        </p:txBody>
      </p:sp>
      <p:sp>
        <p:nvSpPr>
          <p:cNvPr id="6065" name="tb"/>
          <p:cNvSpPr txBox="1"/>
          <p:nvPr/>
        </p:nvSpPr>
        <p:spPr>
          <a:xfrm>
            <a:off x="10185400" y="2489200"/>
            <a:ext cx="711200" cy="406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−1.50</a:t>
            </a:r>
          </a:p>
        </p:txBody>
      </p:sp>
      <p:sp>
        <p:nvSpPr>
          <p:cNvPr id="6066" name="tb"/>
          <p:cNvSpPr txBox="1"/>
          <p:nvPr/>
        </p:nvSpPr>
        <p:spPr>
          <a:xfrm>
            <a:off x="8763000" y="2895600"/>
            <a:ext cx="711200" cy="406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2.00</a:t>
            </a:r>
          </a:p>
        </p:txBody>
      </p:sp>
      <p:sp>
        <p:nvSpPr>
          <p:cNvPr id="6067" name="tb"/>
          <p:cNvSpPr txBox="1"/>
          <p:nvPr/>
        </p:nvSpPr>
        <p:spPr>
          <a:xfrm>
            <a:off x="9474200" y="2895600"/>
            <a:ext cx="711200" cy="406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5.00</a:t>
            </a:r>
          </a:p>
        </p:txBody>
      </p:sp>
      <p:sp>
        <p:nvSpPr>
          <p:cNvPr id="6068" name="tb"/>
          <p:cNvSpPr txBox="1"/>
          <p:nvPr/>
        </p:nvSpPr>
        <p:spPr>
          <a:xfrm>
            <a:off x="10185400" y="2895600"/>
            <a:ext cx="711200" cy="406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−6.00</a:t>
            </a:r>
          </a:p>
        </p:txBody>
      </p:sp>
      <p:sp>
        <p:nvSpPr>
          <p:cNvPr id="6069" name="tb"/>
          <p:cNvSpPr txBox="1"/>
          <p:nvPr/>
        </p:nvSpPr>
        <p:spPr>
          <a:xfrm>
            <a:off x="8763000" y="3302000"/>
            <a:ext cx="711200" cy="406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−1.50</a:t>
            </a:r>
          </a:p>
        </p:txBody>
      </p:sp>
      <p:sp>
        <p:nvSpPr>
          <p:cNvPr id="6070" name="tb"/>
          <p:cNvSpPr txBox="1"/>
          <p:nvPr/>
        </p:nvSpPr>
        <p:spPr>
          <a:xfrm>
            <a:off x="9474200" y="3302000"/>
            <a:ext cx="711200" cy="406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−6.00</a:t>
            </a:r>
          </a:p>
        </p:txBody>
      </p:sp>
      <p:sp>
        <p:nvSpPr>
          <p:cNvPr id="6071" name="tb"/>
          <p:cNvSpPr txBox="1"/>
          <p:nvPr/>
        </p:nvSpPr>
        <p:spPr>
          <a:xfrm>
            <a:off x="10185400" y="3302000"/>
            <a:ext cx="711200" cy="406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7.50</a:t>
            </a:r>
          </a:p>
        </p:txBody>
      </p:sp>
      <p:sp>
        <p:nvSpPr>
          <p:cNvPr id="6072" name="cover"/>
          <p:cNvSpPr/>
          <p:nvPr/>
        </p:nvSpPr>
        <p:spPr>
          <a:xfrm>
            <a:off x="5181600" y="1778000"/>
            <a:ext cx="6604000" cy="3886200"/>
          </a:xfrm>
          <a:prstGeom prst="roundRect">
            <a:avLst>
              <a:gd name="adj" fmla="val 4000"/>
            </a:avLst>
          </a:prstGeom>
          <a:solidFill>
            <a:srgbClr val="4B2E83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Solution hidden</a:t>
            </a:r>
          </a:p>
          <a:p>
            <a:pPr algn="ctr"/>
            <a:r>
              <a:rPr lang="en-US" sz="1300" i="1" dirty="0">
                <a:solidFill>
                  <a:srgbClr val="E7DEF3"/>
                </a:solidFill>
              </a:rPr>
              <a:t>Work it out, then remove this cover to check.</a:t>
            </a:r>
          </a:p>
        </p:txBody>
      </p:sp>
    </p:spTree>
    <p:extLst>
      <p:ext uri="{BB962C8B-B14F-4D97-AF65-F5344CB8AC3E}">
        <p14:creationId xmlns:p14="http://schemas.microsoft.com/office/powerpoint/2010/main" val="150558914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Correlation Matrix — Example 1  (5×2)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Rescale covariance by the std-devs: R = D⁻¹ S D⁻¹.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Correlation rescales covariance by the std-devs to land in [−1, 1].</a:t>
            </a:r>
          </a:p>
        </p:txBody>
      </p:sp>
      <p:sp>
        <p:nvSpPr>
          <p:cNvPr id="6000" name="pn"/>
          <p:cNvSpPr/>
          <p:nvPr/>
        </p:nvSpPr>
        <p:spPr>
          <a:xfrm>
            <a:off x="304800" y="1219200"/>
            <a:ext cx="45720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22400"/>
            <a:ext cx="4191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Data  X   (n=5, p=2)</a:t>
            </a:r>
          </a:p>
        </p:txBody>
      </p:sp>
      <p:sp>
        <p:nvSpPr>
          <p:cNvPr id="6002" name="tb"/>
          <p:cNvSpPr txBox="1"/>
          <p:nvPr/>
        </p:nvSpPr>
        <p:spPr>
          <a:xfrm>
            <a:off x="1905000" y="1803400"/>
            <a:ext cx="5588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6E6E6E"/>
                </a:solidFill>
              </a:rPr>
              <a:t>x₁</a:t>
            </a:r>
          </a:p>
        </p:txBody>
      </p:sp>
      <p:sp>
        <p:nvSpPr>
          <p:cNvPr id="6003" name="tb"/>
          <p:cNvSpPr txBox="1"/>
          <p:nvPr/>
        </p:nvSpPr>
        <p:spPr>
          <a:xfrm>
            <a:off x="2463800" y="1803400"/>
            <a:ext cx="5588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6E6E6E"/>
                </a:solidFill>
              </a:rPr>
              <a:t>x₂</a:t>
            </a:r>
          </a:p>
        </p:txBody>
      </p:sp>
      <p:sp>
        <p:nvSpPr>
          <p:cNvPr id="6004" name="hl"/>
          <p:cNvSpPr/>
          <p:nvPr/>
        </p:nvSpPr>
        <p:spPr>
          <a:xfrm>
            <a:off x="1790700" y="20193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5" name="hl"/>
          <p:cNvSpPr/>
          <p:nvPr/>
        </p:nvSpPr>
        <p:spPr>
          <a:xfrm>
            <a:off x="1790700" y="2019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6" name="hl"/>
          <p:cNvSpPr/>
          <p:nvPr/>
        </p:nvSpPr>
        <p:spPr>
          <a:xfrm>
            <a:off x="1790700" y="377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7" name="hl"/>
          <p:cNvSpPr/>
          <p:nvPr/>
        </p:nvSpPr>
        <p:spPr>
          <a:xfrm>
            <a:off x="3098800" y="20193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8" name="hl"/>
          <p:cNvSpPr/>
          <p:nvPr/>
        </p:nvSpPr>
        <p:spPr>
          <a:xfrm>
            <a:off x="3022600" y="2019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9" name="hl"/>
          <p:cNvSpPr/>
          <p:nvPr/>
        </p:nvSpPr>
        <p:spPr>
          <a:xfrm>
            <a:off x="3022600" y="377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0" name="tb"/>
          <p:cNvSpPr txBox="1"/>
          <p:nvPr/>
        </p:nvSpPr>
        <p:spPr>
          <a:xfrm>
            <a:off x="1905000" y="20574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6011" name="tb"/>
          <p:cNvSpPr txBox="1"/>
          <p:nvPr/>
        </p:nvSpPr>
        <p:spPr>
          <a:xfrm>
            <a:off x="2463800" y="20574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6012" name="tb"/>
          <p:cNvSpPr txBox="1"/>
          <p:nvPr/>
        </p:nvSpPr>
        <p:spPr>
          <a:xfrm>
            <a:off x="1905000" y="24003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13" name="tb"/>
          <p:cNvSpPr txBox="1"/>
          <p:nvPr/>
        </p:nvSpPr>
        <p:spPr>
          <a:xfrm>
            <a:off x="2463800" y="24003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7</a:t>
            </a:r>
          </a:p>
        </p:txBody>
      </p:sp>
      <p:sp>
        <p:nvSpPr>
          <p:cNvPr id="6014" name="tb"/>
          <p:cNvSpPr txBox="1"/>
          <p:nvPr/>
        </p:nvSpPr>
        <p:spPr>
          <a:xfrm>
            <a:off x="1905000" y="2743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6015" name="tb"/>
          <p:cNvSpPr txBox="1"/>
          <p:nvPr/>
        </p:nvSpPr>
        <p:spPr>
          <a:xfrm>
            <a:off x="2463800" y="2743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16" name="tb"/>
          <p:cNvSpPr txBox="1"/>
          <p:nvPr/>
        </p:nvSpPr>
        <p:spPr>
          <a:xfrm>
            <a:off x="1905000" y="3086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8</a:t>
            </a:r>
          </a:p>
        </p:txBody>
      </p:sp>
      <p:sp>
        <p:nvSpPr>
          <p:cNvPr id="6017" name="tb"/>
          <p:cNvSpPr txBox="1"/>
          <p:nvPr/>
        </p:nvSpPr>
        <p:spPr>
          <a:xfrm>
            <a:off x="2463800" y="3086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9</a:t>
            </a:r>
          </a:p>
        </p:txBody>
      </p:sp>
      <p:sp>
        <p:nvSpPr>
          <p:cNvPr id="6018" name="tb"/>
          <p:cNvSpPr txBox="1"/>
          <p:nvPr/>
        </p:nvSpPr>
        <p:spPr>
          <a:xfrm>
            <a:off x="1905000" y="3429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19" name="tb"/>
          <p:cNvSpPr txBox="1"/>
          <p:nvPr/>
        </p:nvSpPr>
        <p:spPr>
          <a:xfrm>
            <a:off x="2463800" y="3429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558800" y="38735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50" b="1" dirty="0">
                <a:solidFill>
                  <a:srgbClr val="333333"/>
                </a:solidFill>
              </a:rPr>
              <a:t>μ = ( </a:t>
            </a:r>
            <a:r>
              <a:rPr lang="en-US" sz="1350" b="1" dirty="0">
                <a:solidFill>
                  <a:srgbClr val="4B2E83"/>
                </a:solidFill>
              </a:rPr>
              <a:t>5.00,  6.00</a:t>
            </a:r>
            <a:r>
              <a:rPr lang="en-US" sz="1350" b="1" dirty="0">
                <a:solidFill>
                  <a:srgbClr val="333333"/>
                </a:solidFill>
              </a:rPr>
              <a:t> )</a:t>
            </a:r>
          </a:p>
        </p:txBody>
      </p:sp>
      <p:sp>
        <p:nvSpPr>
          <p:cNvPr id="6021" name="tb"/>
          <p:cNvSpPr txBox="1"/>
          <p:nvPr/>
        </p:nvSpPr>
        <p:spPr>
          <a:xfrm>
            <a:off x="558800" y="42037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50" b="1" dirty="0">
                <a:solidFill>
                  <a:srgbClr val="333333"/>
                </a:solidFill>
              </a:rPr>
              <a:t>σ = ( </a:t>
            </a:r>
            <a:r>
              <a:rPr lang="en-US" sz="1350" b="1" dirty="0">
                <a:solidFill>
                  <a:srgbClr val="4B2E83"/>
                </a:solidFill>
              </a:rPr>
              <a:t>2.24,  2.24</a:t>
            </a:r>
            <a:r>
              <a:rPr lang="en-US" sz="1350" b="1" dirty="0">
                <a:solidFill>
                  <a:srgbClr val="333333"/>
                </a:solidFill>
              </a:rPr>
              <a:t> )</a:t>
            </a:r>
          </a:p>
        </p:txBody>
      </p:sp>
      <p:sp>
        <p:nvSpPr>
          <p:cNvPr id="6022" name="pn"/>
          <p:cNvSpPr/>
          <p:nvPr/>
        </p:nvSpPr>
        <p:spPr>
          <a:xfrm>
            <a:off x="5080000" y="1219200"/>
            <a:ext cx="68072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3" name="tb"/>
          <p:cNvSpPr txBox="1"/>
          <p:nvPr/>
        </p:nvSpPr>
        <p:spPr>
          <a:xfrm>
            <a:off x="5334000" y="1447800"/>
            <a:ext cx="6350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S = XcᵀXc /(n−1)    →    R = D⁻¹ S D⁻¹</a:t>
            </a:r>
          </a:p>
        </p:txBody>
      </p:sp>
      <p:sp>
        <p:nvSpPr>
          <p:cNvPr id="6024" name="tb"/>
          <p:cNvSpPr txBox="1"/>
          <p:nvPr/>
        </p:nvSpPr>
        <p:spPr>
          <a:xfrm>
            <a:off x="6350000" y="2082800"/>
            <a:ext cx="1524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250" b="1" dirty="0">
                <a:solidFill>
                  <a:srgbClr val="6E6E6E"/>
                </a:solidFill>
              </a:rPr>
              <a:t>S</a:t>
            </a:r>
          </a:p>
        </p:txBody>
      </p:sp>
      <p:sp>
        <p:nvSpPr>
          <p:cNvPr id="6025" name="hl"/>
          <p:cNvSpPr/>
          <p:nvPr/>
        </p:nvSpPr>
        <p:spPr>
          <a:xfrm>
            <a:off x="5969000" y="2413000"/>
            <a:ext cx="762000" cy="4572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6" name="hl"/>
          <p:cNvSpPr/>
          <p:nvPr/>
        </p:nvSpPr>
        <p:spPr>
          <a:xfrm>
            <a:off x="6731000" y="2870200"/>
            <a:ext cx="762000" cy="4572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7" name="hl"/>
          <p:cNvSpPr/>
          <p:nvPr/>
        </p:nvSpPr>
        <p:spPr>
          <a:xfrm>
            <a:off x="5854700" y="2374900"/>
            <a:ext cx="38100" cy="990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8" name="hl"/>
          <p:cNvSpPr/>
          <p:nvPr/>
        </p:nvSpPr>
        <p:spPr>
          <a:xfrm>
            <a:off x="5854700" y="2374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9" name="hl"/>
          <p:cNvSpPr/>
          <p:nvPr/>
        </p:nvSpPr>
        <p:spPr>
          <a:xfrm>
            <a:off x="5854700" y="3327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0" name="hl"/>
          <p:cNvSpPr/>
          <p:nvPr/>
        </p:nvSpPr>
        <p:spPr>
          <a:xfrm>
            <a:off x="7569200" y="2374900"/>
            <a:ext cx="38100" cy="990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1" name="hl"/>
          <p:cNvSpPr/>
          <p:nvPr/>
        </p:nvSpPr>
        <p:spPr>
          <a:xfrm>
            <a:off x="7493000" y="2374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2" name="hl"/>
          <p:cNvSpPr/>
          <p:nvPr/>
        </p:nvSpPr>
        <p:spPr>
          <a:xfrm>
            <a:off x="7493000" y="3327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3" name="tb"/>
          <p:cNvSpPr txBox="1"/>
          <p:nvPr/>
        </p:nvSpPr>
        <p:spPr>
          <a:xfrm>
            <a:off x="5969000" y="24130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5.00</a:t>
            </a:r>
          </a:p>
        </p:txBody>
      </p:sp>
      <p:sp>
        <p:nvSpPr>
          <p:cNvPr id="6034" name="tb"/>
          <p:cNvSpPr txBox="1"/>
          <p:nvPr/>
        </p:nvSpPr>
        <p:spPr>
          <a:xfrm>
            <a:off x="6731000" y="24130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4.00</a:t>
            </a:r>
          </a:p>
        </p:txBody>
      </p:sp>
      <p:sp>
        <p:nvSpPr>
          <p:cNvPr id="6035" name="tb"/>
          <p:cNvSpPr txBox="1"/>
          <p:nvPr/>
        </p:nvSpPr>
        <p:spPr>
          <a:xfrm>
            <a:off x="5969000" y="28702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4.00</a:t>
            </a:r>
          </a:p>
        </p:txBody>
      </p:sp>
      <p:sp>
        <p:nvSpPr>
          <p:cNvPr id="6036" name="tb"/>
          <p:cNvSpPr txBox="1"/>
          <p:nvPr/>
        </p:nvSpPr>
        <p:spPr>
          <a:xfrm>
            <a:off x="6731000" y="28702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5.00</a:t>
            </a:r>
          </a:p>
        </p:txBody>
      </p:sp>
      <p:sp>
        <p:nvSpPr>
          <p:cNvPr id="6037" name="tb"/>
          <p:cNvSpPr txBox="1"/>
          <p:nvPr/>
        </p:nvSpPr>
        <p:spPr>
          <a:xfrm>
            <a:off x="10160000" y="2082800"/>
            <a:ext cx="1524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250" b="1" dirty="0">
                <a:solidFill>
                  <a:srgbClr val="6E6E6E"/>
                </a:solidFill>
              </a:rPr>
              <a:t>R</a:t>
            </a:r>
          </a:p>
        </p:txBody>
      </p:sp>
      <p:sp>
        <p:nvSpPr>
          <p:cNvPr id="6038" name="hl"/>
          <p:cNvSpPr/>
          <p:nvPr/>
        </p:nvSpPr>
        <p:spPr>
          <a:xfrm>
            <a:off x="9652000" y="2413000"/>
            <a:ext cx="762000" cy="4572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9" name="hl"/>
          <p:cNvSpPr/>
          <p:nvPr/>
        </p:nvSpPr>
        <p:spPr>
          <a:xfrm>
            <a:off x="10414000" y="2870200"/>
            <a:ext cx="762000" cy="4572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0" name="hl"/>
          <p:cNvSpPr/>
          <p:nvPr/>
        </p:nvSpPr>
        <p:spPr>
          <a:xfrm>
            <a:off x="9537700" y="2374900"/>
            <a:ext cx="38100" cy="990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1" name="hl"/>
          <p:cNvSpPr/>
          <p:nvPr/>
        </p:nvSpPr>
        <p:spPr>
          <a:xfrm>
            <a:off x="9537700" y="2374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2" name="hl"/>
          <p:cNvSpPr/>
          <p:nvPr/>
        </p:nvSpPr>
        <p:spPr>
          <a:xfrm>
            <a:off x="9537700" y="3327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3" name="hl"/>
          <p:cNvSpPr/>
          <p:nvPr/>
        </p:nvSpPr>
        <p:spPr>
          <a:xfrm>
            <a:off x="11252200" y="2374900"/>
            <a:ext cx="38100" cy="990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4" name="hl"/>
          <p:cNvSpPr/>
          <p:nvPr/>
        </p:nvSpPr>
        <p:spPr>
          <a:xfrm>
            <a:off x="11176000" y="2374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5" name="hl"/>
          <p:cNvSpPr/>
          <p:nvPr/>
        </p:nvSpPr>
        <p:spPr>
          <a:xfrm>
            <a:off x="11176000" y="3327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6" name="tb"/>
          <p:cNvSpPr txBox="1"/>
          <p:nvPr/>
        </p:nvSpPr>
        <p:spPr>
          <a:xfrm>
            <a:off x="9652000" y="24130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1.00</a:t>
            </a:r>
          </a:p>
        </p:txBody>
      </p:sp>
      <p:sp>
        <p:nvSpPr>
          <p:cNvPr id="6047" name="tb"/>
          <p:cNvSpPr txBox="1"/>
          <p:nvPr/>
        </p:nvSpPr>
        <p:spPr>
          <a:xfrm>
            <a:off x="10414000" y="24130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0.80</a:t>
            </a:r>
          </a:p>
        </p:txBody>
      </p:sp>
      <p:sp>
        <p:nvSpPr>
          <p:cNvPr id="6048" name="tb"/>
          <p:cNvSpPr txBox="1"/>
          <p:nvPr/>
        </p:nvSpPr>
        <p:spPr>
          <a:xfrm>
            <a:off x="9652000" y="28702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0.80</a:t>
            </a:r>
          </a:p>
        </p:txBody>
      </p:sp>
      <p:sp>
        <p:nvSpPr>
          <p:cNvPr id="6049" name="tb"/>
          <p:cNvSpPr txBox="1"/>
          <p:nvPr/>
        </p:nvSpPr>
        <p:spPr>
          <a:xfrm>
            <a:off x="10414000" y="28702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1.00</a:t>
            </a:r>
          </a:p>
        </p:txBody>
      </p:sp>
      <p:sp>
        <p:nvSpPr>
          <p:cNvPr id="6050" name="tb"/>
          <p:cNvSpPr txBox="1"/>
          <p:nvPr/>
        </p:nvSpPr>
        <p:spPr>
          <a:xfrm>
            <a:off x="5588000" y="4572000"/>
            <a:ext cx="5969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50" dirty="0">
                <a:solidFill>
                  <a:srgbClr val="6E6E6E"/>
                </a:solidFill>
              </a:rPr>
              <a:t>σ = ( </a:t>
            </a:r>
            <a:r>
              <a:rPr lang="en-US" sz="1250" b="1" dirty="0">
                <a:solidFill>
                  <a:srgbClr val="6E6E6E"/>
                </a:solidFill>
              </a:rPr>
              <a:t>2.24, 2.24</a:t>
            </a:r>
            <a:r>
              <a:rPr lang="en-US" sz="1250" dirty="0">
                <a:solidFill>
                  <a:srgbClr val="6E6E6E"/>
                </a:solidFill>
              </a:rPr>
              <a:t> )    ·    Rᵢⱼ = Sᵢⱼ /(σᵢ σⱼ)</a:t>
            </a:r>
          </a:p>
        </p:txBody>
      </p:sp>
    </p:spTree>
    <p:extLst>
      <p:ext uri="{BB962C8B-B14F-4D97-AF65-F5344CB8AC3E}">
        <p14:creationId xmlns:p14="http://schemas.microsoft.com/office/powerpoint/2010/main" val="710739920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Correlation Matrix — Example 2  (5×2)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Rescale covariance by the std-devs: R = D⁻¹ S D⁻¹.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Correlation rescales covariance by the std-devs to land in [−1, 1].</a:t>
            </a:r>
          </a:p>
        </p:txBody>
      </p:sp>
      <p:sp>
        <p:nvSpPr>
          <p:cNvPr id="6000" name="pn"/>
          <p:cNvSpPr/>
          <p:nvPr/>
        </p:nvSpPr>
        <p:spPr>
          <a:xfrm>
            <a:off x="304800" y="1219200"/>
            <a:ext cx="45720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22400"/>
            <a:ext cx="4191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Data  X   (n=5, p=2)</a:t>
            </a:r>
          </a:p>
        </p:txBody>
      </p:sp>
      <p:sp>
        <p:nvSpPr>
          <p:cNvPr id="6002" name="tb"/>
          <p:cNvSpPr txBox="1"/>
          <p:nvPr/>
        </p:nvSpPr>
        <p:spPr>
          <a:xfrm>
            <a:off x="1905000" y="1803400"/>
            <a:ext cx="5588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6E6E6E"/>
                </a:solidFill>
              </a:rPr>
              <a:t>x₁</a:t>
            </a:r>
          </a:p>
        </p:txBody>
      </p:sp>
      <p:sp>
        <p:nvSpPr>
          <p:cNvPr id="6003" name="tb"/>
          <p:cNvSpPr txBox="1"/>
          <p:nvPr/>
        </p:nvSpPr>
        <p:spPr>
          <a:xfrm>
            <a:off x="2463800" y="1803400"/>
            <a:ext cx="5588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6E6E6E"/>
                </a:solidFill>
              </a:rPr>
              <a:t>x₂</a:t>
            </a:r>
          </a:p>
        </p:txBody>
      </p:sp>
      <p:sp>
        <p:nvSpPr>
          <p:cNvPr id="6004" name="hl"/>
          <p:cNvSpPr/>
          <p:nvPr/>
        </p:nvSpPr>
        <p:spPr>
          <a:xfrm>
            <a:off x="1790700" y="20193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5" name="hl"/>
          <p:cNvSpPr/>
          <p:nvPr/>
        </p:nvSpPr>
        <p:spPr>
          <a:xfrm>
            <a:off x="1790700" y="2019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6" name="hl"/>
          <p:cNvSpPr/>
          <p:nvPr/>
        </p:nvSpPr>
        <p:spPr>
          <a:xfrm>
            <a:off x="1790700" y="377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7" name="hl"/>
          <p:cNvSpPr/>
          <p:nvPr/>
        </p:nvSpPr>
        <p:spPr>
          <a:xfrm>
            <a:off x="3098800" y="20193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8" name="hl"/>
          <p:cNvSpPr/>
          <p:nvPr/>
        </p:nvSpPr>
        <p:spPr>
          <a:xfrm>
            <a:off x="3022600" y="2019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9" name="hl"/>
          <p:cNvSpPr/>
          <p:nvPr/>
        </p:nvSpPr>
        <p:spPr>
          <a:xfrm>
            <a:off x="3022600" y="377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0" name="tb"/>
          <p:cNvSpPr txBox="1"/>
          <p:nvPr/>
        </p:nvSpPr>
        <p:spPr>
          <a:xfrm>
            <a:off x="1905000" y="20574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11" name="tb"/>
          <p:cNvSpPr txBox="1"/>
          <p:nvPr/>
        </p:nvSpPr>
        <p:spPr>
          <a:xfrm>
            <a:off x="2463800" y="20574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12" name="tb"/>
          <p:cNvSpPr txBox="1"/>
          <p:nvPr/>
        </p:nvSpPr>
        <p:spPr>
          <a:xfrm>
            <a:off x="1905000" y="24003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6013" name="tb"/>
          <p:cNvSpPr txBox="1"/>
          <p:nvPr/>
        </p:nvSpPr>
        <p:spPr>
          <a:xfrm>
            <a:off x="2463800" y="24003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6014" name="tb"/>
          <p:cNvSpPr txBox="1"/>
          <p:nvPr/>
        </p:nvSpPr>
        <p:spPr>
          <a:xfrm>
            <a:off x="1905000" y="2743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15" name="tb"/>
          <p:cNvSpPr txBox="1"/>
          <p:nvPr/>
        </p:nvSpPr>
        <p:spPr>
          <a:xfrm>
            <a:off x="2463800" y="2743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9</a:t>
            </a:r>
          </a:p>
        </p:txBody>
      </p:sp>
      <p:sp>
        <p:nvSpPr>
          <p:cNvPr id="6016" name="tb"/>
          <p:cNvSpPr txBox="1"/>
          <p:nvPr/>
        </p:nvSpPr>
        <p:spPr>
          <a:xfrm>
            <a:off x="1905000" y="3086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7</a:t>
            </a:r>
          </a:p>
        </p:txBody>
      </p:sp>
      <p:sp>
        <p:nvSpPr>
          <p:cNvPr id="6017" name="tb"/>
          <p:cNvSpPr txBox="1"/>
          <p:nvPr/>
        </p:nvSpPr>
        <p:spPr>
          <a:xfrm>
            <a:off x="2463800" y="3086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7</a:t>
            </a:r>
          </a:p>
        </p:txBody>
      </p:sp>
      <p:sp>
        <p:nvSpPr>
          <p:cNvPr id="6018" name="tb"/>
          <p:cNvSpPr txBox="1"/>
          <p:nvPr/>
        </p:nvSpPr>
        <p:spPr>
          <a:xfrm>
            <a:off x="1905000" y="3429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9</a:t>
            </a:r>
          </a:p>
        </p:txBody>
      </p:sp>
      <p:sp>
        <p:nvSpPr>
          <p:cNvPr id="6019" name="tb"/>
          <p:cNvSpPr txBox="1"/>
          <p:nvPr/>
        </p:nvSpPr>
        <p:spPr>
          <a:xfrm>
            <a:off x="2463800" y="3429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558800" y="38735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50" b="1" dirty="0">
                <a:solidFill>
                  <a:srgbClr val="333333"/>
                </a:solidFill>
              </a:rPr>
              <a:t>μ = ( </a:t>
            </a:r>
            <a:r>
              <a:rPr lang="en-US" sz="1350" b="1" dirty="0">
                <a:solidFill>
                  <a:srgbClr val="4B2E83"/>
                </a:solidFill>
              </a:rPr>
              <a:t>5.00,  5.00</a:t>
            </a:r>
            <a:r>
              <a:rPr lang="en-US" sz="1350" b="1" dirty="0">
                <a:solidFill>
                  <a:srgbClr val="333333"/>
                </a:solidFill>
              </a:rPr>
              <a:t> )</a:t>
            </a:r>
          </a:p>
        </p:txBody>
      </p:sp>
      <p:sp>
        <p:nvSpPr>
          <p:cNvPr id="6021" name="tb"/>
          <p:cNvSpPr txBox="1"/>
          <p:nvPr/>
        </p:nvSpPr>
        <p:spPr>
          <a:xfrm>
            <a:off x="558800" y="42037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50" b="1" dirty="0">
                <a:solidFill>
                  <a:srgbClr val="333333"/>
                </a:solidFill>
              </a:rPr>
              <a:t>σ = ( </a:t>
            </a:r>
            <a:r>
              <a:rPr lang="en-US" sz="1350" b="1" dirty="0">
                <a:solidFill>
                  <a:srgbClr val="4B2E83"/>
                </a:solidFill>
              </a:rPr>
              <a:t>3.16,  3.16</a:t>
            </a:r>
            <a:r>
              <a:rPr lang="en-US" sz="1350" b="1" dirty="0">
                <a:solidFill>
                  <a:srgbClr val="333333"/>
                </a:solidFill>
              </a:rPr>
              <a:t> )</a:t>
            </a:r>
          </a:p>
        </p:txBody>
      </p:sp>
      <p:sp>
        <p:nvSpPr>
          <p:cNvPr id="6022" name="pn"/>
          <p:cNvSpPr/>
          <p:nvPr/>
        </p:nvSpPr>
        <p:spPr>
          <a:xfrm>
            <a:off x="5080000" y="1219200"/>
            <a:ext cx="68072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3" name="tb"/>
          <p:cNvSpPr txBox="1"/>
          <p:nvPr/>
        </p:nvSpPr>
        <p:spPr>
          <a:xfrm>
            <a:off x="5334000" y="1447800"/>
            <a:ext cx="6350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S = XcᵀXc /(n−1)    →    R = D⁻¹ S D⁻¹</a:t>
            </a:r>
          </a:p>
        </p:txBody>
      </p:sp>
      <p:sp>
        <p:nvSpPr>
          <p:cNvPr id="6024" name="tb"/>
          <p:cNvSpPr txBox="1"/>
          <p:nvPr/>
        </p:nvSpPr>
        <p:spPr>
          <a:xfrm>
            <a:off x="6350000" y="2082800"/>
            <a:ext cx="1524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250" b="1" dirty="0">
                <a:solidFill>
                  <a:srgbClr val="6E6E6E"/>
                </a:solidFill>
              </a:rPr>
              <a:t>S</a:t>
            </a:r>
          </a:p>
        </p:txBody>
      </p:sp>
      <p:sp>
        <p:nvSpPr>
          <p:cNvPr id="6025" name="hl"/>
          <p:cNvSpPr/>
          <p:nvPr/>
        </p:nvSpPr>
        <p:spPr>
          <a:xfrm>
            <a:off x="5969000" y="2413000"/>
            <a:ext cx="762000" cy="4572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6" name="hl"/>
          <p:cNvSpPr/>
          <p:nvPr/>
        </p:nvSpPr>
        <p:spPr>
          <a:xfrm>
            <a:off x="6731000" y="2870200"/>
            <a:ext cx="762000" cy="4572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7" name="hl"/>
          <p:cNvSpPr/>
          <p:nvPr/>
        </p:nvSpPr>
        <p:spPr>
          <a:xfrm>
            <a:off x="5854700" y="2374900"/>
            <a:ext cx="38100" cy="990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8" name="hl"/>
          <p:cNvSpPr/>
          <p:nvPr/>
        </p:nvSpPr>
        <p:spPr>
          <a:xfrm>
            <a:off x="5854700" y="2374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9" name="hl"/>
          <p:cNvSpPr/>
          <p:nvPr/>
        </p:nvSpPr>
        <p:spPr>
          <a:xfrm>
            <a:off x="5854700" y="3327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0" name="hl"/>
          <p:cNvSpPr/>
          <p:nvPr/>
        </p:nvSpPr>
        <p:spPr>
          <a:xfrm>
            <a:off x="7569200" y="2374900"/>
            <a:ext cx="38100" cy="990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1" name="hl"/>
          <p:cNvSpPr/>
          <p:nvPr/>
        </p:nvSpPr>
        <p:spPr>
          <a:xfrm>
            <a:off x="7493000" y="2374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2" name="hl"/>
          <p:cNvSpPr/>
          <p:nvPr/>
        </p:nvSpPr>
        <p:spPr>
          <a:xfrm>
            <a:off x="7493000" y="3327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3" name="tb"/>
          <p:cNvSpPr txBox="1"/>
          <p:nvPr/>
        </p:nvSpPr>
        <p:spPr>
          <a:xfrm>
            <a:off x="5969000" y="24130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10.00</a:t>
            </a:r>
          </a:p>
        </p:txBody>
      </p:sp>
      <p:sp>
        <p:nvSpPr>
          <p:cNvPr id="6034" name="tb"/>
          <p:cNvSpPr txBox="1"/>
          <p:nvPr/>
        </p:nvSpPr>
        <p:spPr>
          <a:xfrm>
            <a:off x="6731000" y="24130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−2.00</a:t>
            </a:r>
          </a:p>
        </p:txBody>
      </p:sp>
      <p:sp>
        <p:nvSpPr>
          <p:cNvPr id="6035" name="tb"/>
          <p:cNvSpPr txBox="1"/>
          <p:nvPr/>
        </p:nvSpPr>
        <p:spPr>
          <a:xfrm>
            <a:off x="5969000" y="28702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−2.00</a:t>
            </a:r>
          </a:p>
        </p:txBody>
      </p:sp>
      <p:sp>
        <p:nvSpPr>
          <p:cNvPr id="6036" name="tb"/>
          <p:cNvSpPr txBox="1"/>
          <p:nvPr/>
        </p:nvSpPr>
        <p:spPr>
          <a:xfrm>
            <a:off x="6731000" y="28702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10.00</a:t>
            </a:r>
          </a:p>
        </p:txBody>
      </p:sp>
      <p:sp>
        <p:nvSpPr>
          <p:cNvPr id="6037" name="tb"/>
          <p:cNvSpPr txBox="1"/>
          <p:nvPr/>
        </p:nvSpPr>
        <p:spPr>
          <a:xfrm>
            <a:off x="10160000" y="2082800"/>
            <a:ext cx="1524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250" b="1" dirty="0">
                <a:solidFill>
                  <a:srgbClr val="6E6E6E"/>
                </a:solidFill>
              </a:rPr>
              <a:t>R</a:t>
            </a:r>
          </a:p>
        </p:txBody>
      </p:sp>
      <p:sp>
        <p:nvSpPr>
          <p:cNvPr id="6038" name="hl"/>
          <p:cNvSpPr/>
          <p:nvPr/>
        </p:nvSpPr>
        <p:spPr>
          <a:xfrm>
            <a:off x="9652000" y="2413000"/>
            <a:ext cx="762000" cy="4572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9" name="hl"/>
          <p:cNvSpPr/>
          <p:nvPr/>
        </p:nvSpPr>
        <p:spPr>
          <a:xfrm>
            <a:off x="10414000" y="2870200"/>
            <a:ext cx="762000" cy="4572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0" name="hl"/>
          <p:cNvSpPr/>
          <p:nvPr/>
        </p:nvSpPr>
        <p:spPr>
          <a:xfrm>
            <a:off x="9537700" y="2374900"/>
            <a:ext cx="38100" cy="990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1" name="hl"/>
          <p:cNvSpPr/>
          <p:nvPr/>
        </p:nvSpPr>
        <p:spPr>
          <a:xfrm>
            <a:off x="9537700" y="2374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2" name="hl"/>
          <p:cNvSpPr/>
          <p:nvPr/>
        </p:nvSpPr>
        <p:spPr>
          <a:xfrm>
            <a:off x="9537700" y="3327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3" name="hl"/>
          <p:cNvSpPr/>
          <p:nvPr/>
        </p:nvSpPr>
        <p:spPr>
          <a:xfrm>
            <a:off x="11252200" y="2374900"/>
            <a:ext cx="38100" cy="990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4" name="hl"/>
          <p:cNvSpPr/>
          <p:nvPr/>
        </p:nvSpPr>
        <p:spPr>
          <a:xfrm>
            <a:off x="11176000" y="2374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5" name="hl"/>
          <p:cNvSpPr/>
          <p:nvPr/>
        </p:nvSpPr>
        <p:spPr>
          <a:xfrm>
            <a:off x="11176000" y="3327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6" name="tb"/>
          <p:cNvSpPr txBox="1"/>
          <p:nvPr/>
        </p:nvSpPr>
        <p:spPr>
          <a:xfrm>
            <a:off x="9652000" y="24130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1.00</a:t>
            </a:r>
          </a:p>
        </p:txBody>
      </p:sp>
      <p:sp>
        <p:nvSpPr>
          <p:cNvPr id="6047" name="tb"/>
          <p:cNvSpPr txBox="1"/>
          <p:nvPr/>
        </p:nvSpPr>
        <p:spPr>
          <a:xfrm>
            <a:off x="10414000" y="24130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−0.20</a:t>
            </a:r>
          </a:p>
        </p:txBody>
      </p:sp>
      <p:sp>
        <p:nvSpPr>
          <p:cNvPr id="6048" name="tb"/>
          <p:cNvSpPr txBox="1"/>
          <p:nvPr/>
        </p:nvSpPr>
        <p:spPr>
          <a:xfrm>
            <a:off x="9652000" y="28702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−0.20</a:t>
            </a:r>
          </a:p>
        </p:txBody>
      </p:sp>
      <p:sp>
        <p:nvSpPr>
          <p:cNvPr id="6049" name="tb"/>
          <p:cNvSpPr txBox="1"/>
          <p:nvPr/>
        </p:nvSpPr>
        <p:spPr>
          <a:xfrm>
            <a:off x="10414000" y="28702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1.00</a:t>
            </a:r>
          </a:p>
        </p:txBody>
      </p:sp>
      <p:sp>
        <p:nvSpPr>
          <p:cNvPr id="6050" name="tb"/>
          <p:cNvSpPr txBox="1"/>
          <p:nvPr/>
        </p:nvSpPr>
        <p:spPr>
          <a:xfrm>
            <a:off x="5588000" y="4572000"/>
            <a:ext cx="5969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50" dirty="0">
                <a:solidFill>
                  <a:srgbClr val="6E6E6E"/>
                </a:solidFill>
              </a:rPr>
              <a:t>σ = ( </a:t>
            </a:r>
            <a:r>
              <a:rPr lang="en-US" sz="1250" b="1" dirty="0">
                <a:solidFill>
                  <a:srgbClr val="6E6E6E"/>
                </a:solidFill>
              </a:rPr>
              <a:t>3.16, 3.16</a:t>
            </a:r>
            <a:r>
              <a:rPr lang="en-US" sz="1250" dirty="0">
                <a:solidFill>
                  <a:srgbClr val="6E6E6E"/>
                </a:solidFill>
              </a:rPr>
              <a:t> )    ·    Rᵢⱼ = Sᵢⱼ /(σᵢ σⱼ)</a:t>
            </a:r>
          </a:p>
        </p:txBody>
      </p:sp>
    </p:spTree>
    <p:extLst>
      <p:ext uri="{BB962C8B-B14F-4D97-AF65-F5344CB8AC3E}">
        <p14:creationId xmlns:p14="http://schemas.microsoft.com/office/powerpoint/2010/main" val="4229813465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Correlation Matrix — Example 3  (5×3)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Rescale covariance by the std-devs: R = D⁻¹ S D⁻¹.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Correlation rescales covariance by the std-devs to land in [−1, 1].</a:t>
            </a:r>
          </a:p>
        </p:txBody>
      </p:sp>
      <p:sp>
        <p:nvSpPr>
          <p:cNvPr id="6000" name="pn"/>
          <p:cNvSpPr/>
          <p:nvPr/>
        </p:nvSpPr>
        <p:spPr>
          <a:xfrm>
            <a:off x="304800" y="1219200"/>
            <a:ext cx="45720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22400"/>
            <a:ext cx="4191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Data  X   (n=5, p=3)</a:t>
            </a:r>
          </a:p>
        </p:txBody>
      </p:sp>
      <p:sp>
        <p:nvSpPr>
          <p:cNvPr id="6002" name="tb"/>
          <p:cNvSpPr txBox="1"/>
          <p:nvPr/>
        </p:nvSpPr>
        <p:spPr>
          <a:xfrm>
            <a:off x="1524000" y="1803400"/>
            <a:ext cx="5588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6E6E6E"/>
                </a:solidFill>
              </a:rPr>
              <a:t>x₁</a:t>
            </a:r>
          </a:p>
        </p:txBody>
      </p:sp>
      <p:sp>
        <p:nvSpPr>
          <p:cNvPr id="6003" name="tb"/>
          <p:cNvSpPr txBox="1"/>
          <p:nvPr/>
        </p:nvSpPr>
        <p:spPr>
          <a:xfrm>
            <a:off x="2082800" y="1803400"/>
            <a:ext cx="5588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6E6E6E"/>
                </a:solidFill>
              </a:rPr>
              <a:t>x₂</a:t>
            </a:r>
          </a:p>
        </p:txBody>
      </p:sp>
      <p:sp>
        <p:nvSpPr>
          <p:cNvPr id="6004" name="tb"/>
          <p:cNvSpPr txBox="1"/>
          <p:nvPr/>
        </p:nvSpPr>
        <p:spPr>
          <a:xfrm>
            <a:off x="2641600" y="1803400"/>
            <a:ext cx="5588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6E6E6E"/>
                </a:solidFill>
              </a:rPr>
              <a:t>x₃</a:t>
            </a:r>
          </a:p>
        </p:txBody>
      </p:sp>
      <p:sp>
        <p:nvSpPr>
          <p:cNvPr id="6005" name="hl"/>
          <p:cNvSpPr/>
          <p:nvPr/>
        </p:nvSpPr>
        <p:spPr>
          <a:xfrm>
            <a:off x="1409700" y="20193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6" name="hl"/>
          <p:cNvSpPr/>
          <p:nvPr/>
        </p:nvSpPr>
        <p:spPr>
          <a:xfrm>
            <a:off x="1409700" y="2019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7" name="hl"/>
          <p:cNvSpPr/>
          <p:nvPr/>
        </p:nvSpPr>
        <p:spPr>
          <a:xfrm>
            <a:off x="1409700" y="377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8" name="hl"/>
          <p:cNvSpPr/>
          <p:nvPr/>
        </p:nvSpPr>
        <p:spPr>
          <a:xfrm>
            <a:off x="3276600" y="20193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9" name="hl"/>
          <p:cNvSpPr/>
          <p:nvPr/>
        </p:nvSpPr>
        <p:spPr>
          <a:xfrm>
            <a:off x="3200400" y="2019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0" name="hl"/>
          <p:cNvSpPr/>
          <p:nvPr/>
        </p:nvSpPr>
        <p:spPr>
          <a:xfrm>
            <a:off x="3200400" y="377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1" name="tb"/>
          <p:cNvSpPr txBox="1"/>
          <p:nvPr/>
        </p:nvSpPr>
        <p:spPr>
          <a:xfrm>
            <a:off x="1524000" y="20574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6012" name="tb"/>
          <p:cNvSpPr txBox="1"/>
          <p:nvPr/>
        </p:nvSpPr>
        <p:spPr>
          <a:xfrm>
            <a:off x="2082800" y="20574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6013" name="tb"/>
          <p:cNvSpPr txBox="1"/>
          <p:nvPr/>
        </p:nvSpPr>
        <p:spPr>
          <a:xfrm>
            <a:off x="2641600" y="20574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14" name="tb"/>
          <p:cNvSpPr txBox="1"/>
          <p:nvPr/>
        </p:nvSpPr>
        <p:spPr>
          <a:xfrm>
            <a:off x="1524000" y="24003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15" name="tb"/>
          <p:cNvSpPr txBox="1"/>
          <p:nvPr/>
        </p:nvSpPr>
        <p:spPr>
          <a:xfrm>
            <a:off x="2082800" y="24003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16" name="tb"/>
          <p:cNvSpPr txBox="1"/>
          <p:nvPr/>
        </p:nvSpPr>
        <p:spPr>
          <a:xfrm>
            <a:off x="2641600" y="24003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6017" name="tb"/>
          <p:cNvSpPr txBox="1"/>
          <p:nvPr/>
        </p:nvSpPr>
        <p:spPr>
          <a:xfrm>
            <a:off x="1524000" y="2743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7</a:t>
            </a:r>
          </a:p>
        </p:txBody>
      </p:sp>
      <p:sp>
        <p:nvSpPr>
          <p:cNvPr id="6018" name="tb"/>
          <p:cNvSpPr txBox="1"/>
          <p:nvPr/>
        </p:nvSpPr>
        <p:spPr>
          <a:xfrm>
            <a:off x="2082800" y="2743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8</a:t>
            </a:r>
          </a:p>
        </p:txBody>
      </p:sp>
      <p:sp>
        <p:nvSpPr>
          <p:cNvPr id="6019" name="tb"/>
          <p:cNvSpPr txBox="1"/>
          <p:nvPr/>
        </p:nvSpPr>
        <p:spPr>
          <a:xfrm>
            <a:off x="2641600" y="2743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1524000" y="3086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6021" name="tb"/>
          <p:cNvSpPr txBox="1"/>
          <p:nvPr/>
        </p:nvSpPr>
        <p:spPr>
          <a:xfrm>
            <a:off x="2082800" y="3086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22" name="tb"/>
          <p:cNvSpPr txBox="1"/>
          <p:nvPr/>
        </p:nvSpPr>
        <p:spPr>
          <a:xfrm>
            <a:off x="2641600" y="3086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7</a:t>
            </a:r>
          </a:p>
        </p:txBody>
      </p:sp>
      <p:sp>
        <p:nvSpPr>
          <p:cNvPr id="6023" name="tb"/>
          <p:cNvSpPr txBox="1"/>
          <p:nvPr/>
        </p:nvSpPr>
        <p:spPr>
          <a:xfrm>
            <a:off x="1524000" y="3429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8</a:t>
            </a:r>
          </a:p>
        </p:txBody>
      </p:sp>
      <p:sp>
        <p:nvSpPr>
          <p:cNvPr id="6024" name="tb"/>
          <p:cNvSpPr txBox="1"/>
          <p:nvPr/>
        </p:nvSpPr>
        <p:spPr>
          <a:xfrm>
            <a:off x="2082800" y="3429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6025" name="tb"/>
          <p:cNvSpPr txBox="1"/>
          <p:nvPr/>
        </p:nvSpPr>
        <p:spPr>
          <a:xfrm>
            <a:off x="2641600" y="3429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6026" name="tb"/>
          <p:cNvSpPr txBox="1"/>
          <p:nvPr/>
        </p:nvSpPr>
        <p:spPr>
          <a:xfrm>
            <a:off x="558800" y="38735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00" b="1" dirty="0">
                <a:solidFill>
                  <a:srgbClr val="333333"/>
                </a:solidFill>
              </a:rPr>
              <a:t>μ = ( </a:t>
            </a:r>
            <a:r>
              <a:rPr lang="en-US" sz="1300" b="1" dirty="0">
                <a:solidFill>
                  <a:srgbClr val="4B2E83"/>
                </a:solidFill>
              </a:rPr>
              <a:t>5.00, 5.00, 5.00</a:t>
            </a:r>
            <a:r>
              <a:rPr lang="en-US" sz="1300" b="1" dirty="0">
                <a:solidFill>
                  <a:srgbClr val="333333"/>
                </a:solidFill>
              </a:rPr>
              <a:t> )</a:t>
            </a:r>
          </a:p>
        </p:txBody>
      </p:sp>
      <p:sp>
        <p:nvSpPr>
          <p:cNvPr id="6027" name="tb"/>
          <p:cNvSpPr txBox="1"/>
          <p:nvPr/>
        </p:nvSpPr>
        <p:spPr>
          <a:xfrm>
            <a:off x="558800" y="41783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00" b="1" dirty="0">
                <a:solidFill>
                  <a:srgbClr val="333333"/>
                </a:solidFill>
              </a:rPr>
              <a:t>σ = ( </a:t>
            </a:r>
            <a:r>
              <a:rPr lang="en-US" sz="1300" b="1" dirty="0">
                <a:solidFill>
                  <a:srgbClr val="4B2E83"/>
                </a:solidFill>
              </a:rPr>
              <a:t>2.55, 2.24, 2.00</a:t>
            </a:r>
            <a:r>
              <a:rPr lang="en-US" sz="1300" b="1" dirty="0">
                <a:solidFill>
                  <a:srgbClr val="333333"/>
                </a:solidFill>
              </a:rPr>
              <a:t> )</a:t>
            </a:r>
          </a:p>
        </p:txBody>
      </p:sp>
      <p:sp>
        <p:nvSpPr>
          <p:cNvPr id="6028" name="pn"/>
          <p:cNvSpPr/>
          <p:nvPr/>
        </p:nvSpPr>
        <p:spPr>
          <a:xfrm>
            <a:off x="5080000" y="1219200"/>
            <a:ext cx="68072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9" name="tb"/>
          <p:cNvSpPr txBox="1"/>
          <p:nvPr/>
        </p:nvSpPr>
        <p:spPr>
          <a:xfrm>
            <a:off x="5334000" y="1447800"/>
            <a:ext cx="6350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00" b="1" dirty="0">
                <a:solidFill>
                  <a:srgbClr val="4B2E83"/>
                </a:solidFill>
              </a:rPr>
              <a:t>S = XcᵀXc /(n−1)   →   R = D⁻¹ S D⁻¹</a:t>
            </a:r>
          </a:p>
        </p:txBody>
      </p:sp>
      <p:sp>
        <p:nvSpPr>
          <p:cNvPr id="6030" name="tb"/>
          <p:cNvSpPr txBox="1"/>
          <p:nvPr/>
        </p:nvSpPr>
        <p:spPr>
          <a:xfrm>
            <a:off x="5791200" y="2032000"/>
            <a:ext cx="19812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250" b="1" dirty="0">
                <a:solidFill>
                  <a:srgbClr val="6E6E6E"/>
                </a:solidFill>
              </a:rPr>
              <a:t>S</a:t>
            </a:r>
          </a:p>
        </p:txBody>
      </p:sp>
      <p:sp>
        <p:nvSpPr>
          <p:cNvPr id="6031" name="hl"/>
          <p:cNvSpPr/>
          <p:nvPr/>
        </p:nvSpPr>
        <p:spPr>
          <a:xfrm>
            <a:off x="5791200" y="2362200"/>
            <a:ext cx="660400" cy="4064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2" name="hl"/>
          <p:cNvSpPr/>
          <p:nvPr/>
        </p:nvSpPr>
        <p:spPr>
          <a:xfrm>
            <a:off x="6451600" y="2768600"/>
            <a:ext cx="660400" cy="4064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3" name="hl"/>
          <p:cNvSpPr/>
          <p:nvPr/>
        </p:nvSpPr>
        <p:spPr>
          <a:xfrm>
            <a:off x="7112000" y="3175000"/>
            <a:ext cx="660400" cy="4064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4" name="hl"/>
          <p:cNvSpPr/>
          <p:nvPr/>
        </p:nvSpPr>
        <p:spPr>
          <a:xfrm>
            <a:off x="5676900" y="2324100"/>
            <a:ext cx="38100" cy="12954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5" name="hl"/>
          <p:cNvSpPr/>
          <p:nvPr/>
        </p:nvSpPr>
        <p:spPr>
          <a:xfrm>
            <a:off x="5676900" y="23241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6" name="hl"/>
          <p:cNvSpPr/>
          <p:nvPr/>
        </p:nvSpPr>
        <p:spPr>
          <a:xfrm>
            <a:off x="5676900" y="3581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7" name="hl"/>
          <p:cNvSpPr/>
          <p:nvPr/>
        </p:nvSpPr>
        <p:spPr>
          <a:xfrm>
            <a:off x="7848600" y="2324100"/>
            <a:ext cx="38100" cy="12954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8" name="hl"/>
          <p:cNvSpPr/>
          <p:nvPr/>
        </p:nvSpPr>
        <p:spPr>
          <a:xfrm>
            <a:off x="7772400" y="23241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9" name="hl"/>
          <p:cNvSpPr/>
          <p:nvPr/>
        </p:nvSpPr>
        <p:spPr>
          <a:xfrm>
            <a:off x="7772400" y="3581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0" name="tb"/>
          <p:cNvSpPr txBox="1"/>
          <p:nvPr/>
        </p:nvSpPr>
        <p:spPr>
          <a:xfrm>
            <a:off x="5791200" y="2362200"/>
            <a:ext cx="660400" cy="406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6.50</a:t>
            </a:r>
          </a:p>
        </p:txBody>
      </p:sp>
      <p:sp>
        <p:nvSpPr>
          <p:cNvPr id="6041" name="tb"/>
          <p:cNvSpPr txBox="1"/>
          <p:nvPr/>
        </p:nvSpPr>
        <p:spPr>
          <a:xfrm>
            <a:off x="6451600" y="2362200"/>
            <a:ext cx="660400" cy="406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−1.25</a:t>
            </a:r>
          </a:p>
        </p:txBody>
      </p:sp>
      <p:sp>
        <p:nvSpPr>
          <p:cNvPr id="6042" name="tb"/>
          <p:cNvSpPr txBox="1"/>
          <p:nvPr/>
        </p:nvSpPr>
        <p:spPr>
          <a:xfrm>
            <a:off x="7112000" y="2362200"/>
            <a:ext cx="660400" cy="406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−1.75</a:t>
            </a:r>
          </a:p>
        </p:txBody>
      </p:sp>
      <p:sp>
        <p:nvSpPr>
          <p:cNvPr id="6043" name="tb"/>
          <p:cNvSpPr txBox="1"/>
          <p:nvPr/>
        </p:nvSpPr>
        <p:spPr>
          <a:xfrm>
            <a:off x="5791200" y="2768600"/>
            <a:ext cx="660400" cy="406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−1.25</a:t>
            </a:r>
          </a:p>
        </p:txBody>
      </p:sp>
      <p:sp>
        <p:nvSpPr>
          <p:cNvPr id="6044" name="tb"/>
          <p:cNvSpPr txBox="1"/>
          <p:nvPr/>
        </p:nvSpPr>
        <p:spPr>
          <a:xfrm>
            <a:off x="6451600" y="2768600"/>
            <a:ext cx="660400" cy="406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5.00</a:t>
            </a:r>
          </a:p>
        </p:txBody>
      </p:sp>
      <p:sp>
        <p:nvSpPr>
          <p:cNvPr id="6045" name="tb"/>
          <p:cNvSpPr txBox="1"/>
          <p:nvPr/>
        </p:nvSpPr>
        <p:spPr>
          <a:xfrm>
            <a:off x="7112000" y="2768600"/>
            <a:ext cx="660400" cy="406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−3.50</a:t>
            </a:r>
          </a:p>
        </p:txBody>
      </p:sp>
      <p:sp>
        <p:nvSpPr>
          <p:cNvPr id="6046" name="tb"/>
          <p:cNvSpPr txBox="1"/>
          <p:nvPr/>
        </p:nvSpPr>
        <p:spPr>
          <a:xfrm>
            <a:off x="5791200" y="3175000"/>
            <a:ext cx="660400" cy="406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−1.75</a:t>
            </a:r>
          </a:p>
        </p:txBody>
      </p:sp>
      <p:sp>
        <p:nvSpPr>
          <p:cNvPr id="6047" name="tb"/>
          <p:cNvSpPr txBox="1"/>
          <p:nvPr/>
        </p:nvSpPr>
        <p:spPr>
          <a:xfrm>
            <a:off x="6451600" y="3175000"/>
            <a:ext cx="660400" cy="406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−3.50</a:t>
            </a:r>
          </a:p>
        </p:txBody>
      </p:sp>
      <p:sp>
        <p:nvSpPr>
          <p:cNvPr id="6048" name="tb"/>
          <p:cNvSpPr txBox="1"/>
          <p:nvPr/>
        </p:nvSpPr>
        <p:spPr>
          <a:xfrm>
            <a:off x="7112000" y="3175000"/>
            <a:ext cx="660400" cy="406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4.00</a:t>
            </a:r>
          </a:p>
        </p:txBody>
      </p:sp>
      <p:sp>
        <p:nvSpPr>
          <p:cNvPr id="6049" name="tb"/>
          <p:cNvSpPr txBox="1"/>
          <p:nvPr/>
        </p:nvSpPr>
        <p:spPr>
          <a:xfrm>
            <a:off x="9093200" y="2032000"/>
            <a:ext cx="19812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250" b="1" dirty="0">
                <a:solidFill>
                  <a:srgbClr val="6E6E6E"/>
                </a:solidFill>
              </a:rPr>
              <a:t>R</a:t>
            </a:r>
          </a:p>
        </p:txBody>
      </p:sp>
      <p:sp>
        <p:nvSpPr>
          <p:cNvPr id="6050" name="hl"/>
          <p:cNvSpPr/>
          <p:nvPr/>
        </p:nvSpPr>
        <p:spPr>
          <a:xfrm>
            <a:off x="9093200" y="2362200"/>
            <a:ext cx="660400" cy="4064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51" name="hl"/>
          <p:cNvSpPr/>
          <p:nvPr/>
        </p:nvSpPr>
        <p:spPr>
          <a:xfrm>
            <a:off x="9753600" y="2768600"/>
            <a:ext cx="660400" cy="4064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52" name="hl"/>
          <p:cNvSpPr/>
          <p:nvPr/>
        </p:nvSpPr>
        <p:spPr>
          <a:xfrm>
            <a:off x="10414000" y="3175000"/>
            <a:ext cx="660400" cy="4064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53" name="hl"/>
          <p:cNvSpPr/>
          <p:nvPr/>
        </p:nvSpPr>
        <p:spPr>
          <a:xfrm>
            <a:off x="8978900" y="2324100"/>
            <a:ext cx="38100" cy="12954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54" name="hl"/>
          <p:cNvSpPr/>
          <p:nvPr/>
        </p:nvSpPr>
        <p:spPr>
          <a:xfrm>
            <a:off x="8978900" y="23241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55" name="hl"/>
          <p:cNvSpPr/>
          <p:nvPr/>
        </p:nvSpPr>
        <p:spPr>
          <a:xfrm>
            <a:off x="8978900" y="3581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56" name="hl"/>
          <p:cNvSpPr/>
          <p:nvPr/>
        </p:nvSpPr>
        <p:spPr>
          <a:xfrm>
            <a:off x="11150600" y="2324100"/>
            <a:ext cx="38100" cy="12954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57" name="hl"/>
          <p:cNvSpPr/>
          <p:nvPr/>
        </p:nvSpPr>
        <p:spPr>
          <a:xfrm>
            <a:off x="11074400" y="23241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58" name="hl"/>
          <p:cNvSpPr/>
          <p:nvPr/>
        </p:nvSpPr>
        <p:spPr>
          <a:xfrm>
            <a:off x="11074400" y="3581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59" name="tb"/>
          <p:cNvSpPr txBox="1"/>
          <p:nvPr/>
        </p:nvSpPr>
        <p:spPr>
          <a:xfrm>
            <a:off x="9093200" y="2362200"/>
            <a:ext cx="660400" cy="406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1.00</a:t>
            </a:r>
          </a:p>
        </p:txBody>
      </p:sp>
      <p:sp>
        <p:nvSpPr>
          <p:cNvPr id="6060" name="tb"/>
          <p:cNvSpPr txBox="1"/>
          <p:nvPr/>
        </p:nvSpPr>
        <p:spPr>
          <a:xfrm>
            <a:off x="9753600" y="2362200"/>
            <a:ext cx="660400" cy="406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−0.22</a:t>
            </a:r>
          </a:p>
        </p:txBody>
      </p:sp>
      <p:sp>
        <p:nvSpPr>
          <p:cNvPr id="6061" name="tb"/>
          <p:cNvSpPr txBox="1"/>
          <p:nvPr/>
        </p:nvSpPr>
        <p:spPr>
          <a:xfrm>
            <a:off x="10414000" y="2362200"/>
            <a:ext cx="660400" cy="406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−0.34</a:t>
            </a:r>
          </a:p>
        </p:txBody>
      </p:sp>
      <p:sp>
        <p:nvSpPr>
          <p:cNvPr id="6062" name="tb"/>
          <p:cNvSpPr txBox="1"/>
          <p:nvPr/>
        </p:nvSpPr>
        <p:spPr>
          <a:xfrm>
            <a:off x="9093200" y="2768600"/>
            <a:ext cx="660400" cy="406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−0.22</a:t>
            </a:r>
          </a:p>
        </p:txBody>
      </p:sp>
      <p:sp>
        <p:nvSpPr>
          <p:cNvPr id="6063" name="tb"/>
          <p:cNvSpPr txBox="1"/>
          <p:nvPr/>
        </p:nvSpPr>
        <p:spPr>
          <a:xfrm>
            <a:off x="9753600" y="2768600"/>
            <a:ext cx="660400" cy="406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1.00</a:t>
            </a:r>
          </a:p>
        </p:txBody>
      </p:sp>
      <p:sp>
        <p:nvSpPr>
          <p:cNvPr id="6064" name="tb"/>
          <p:cNvSpPr txBox="1"/>
          <p:nvPr/>
        </p:nvSpPr>
        <p:spPr>
          <a:xfrm>
            <a:off x="10414000" y="2768600"/>
            <a:ext cx="660400" cy="406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−0.78</a:t>
            </a:r>
          </a:p>
        </p:txBody>
      </p:sp>
      <p:sp>
        <p:nvSpPr>
          <p:cNvPr id="6065" name="tb"/>
          <p:cNvSpPr txBox="1"/>
          <p:nvPr/>
        </p:nvSpPr>
        <p:spPr>
          <a:xfrm>
            <a:off x="9093200" y="3175000"/>
            <a:ext cx="660400" cy="406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−0.34</a:t>
            </a:r>
          </a:p>
        </p:txBody>
      </p:sp>
      <p:sp>
        <p:nvSpPr>
          <p:cNvPr id="6066" name="tb"/>
          <p:cNvSpPr txBox="1"/>
          <p:nvPr/>
        </p:nvSpPr>
        <p:spPr>
          <a:xfrm>
            <a:off x="9753600" y="3175000"/>
            <a:ext cx="660400" cy="406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−0.78</a:t>
            </a:r>
          </a:p>
        </p:txBody>
      </p:sp>
      <p:sp>
        <p:nvSpPr>
          <p:cNvPr id="6067" name="tb"/>
          <p:cNvSpPr txBox="1"/>
          <p:nvPr/>
        </p:nvSpPr>
        <p:spPr>
          <a:xfrm>
            <a:off x="10414000" y="3175000"/>
            <a:ext cx="660400" cy="406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1.00</a:t>
            </a:r>
          </a:p>
        </p:txBody>
      </p:sp>
      <p:sp>
        <p:nvSpPr>
          <p:cNvPr id="6068" name="tb"/>
          <p:cNvSpPr txBox="1"/>
          <p:nvPr/>
        </p:nvSpPr>
        <p:spPr>
          <a:xfrm>
            <a:off x="5588000" y="4648200"/>
            <a:ext cx="5969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50" i="1" dirty="0">
                <a:solidFill>
                  <a:srgbClr val="6E6E6E"/>
                </a:solidFill>
              </a:rPr>
              <a:t>Rᵢⱼ = Sᵢⱼ /(σᵢ σⱼ);  diagonal = 1.</a:t>
            </a:r>
          </a:p>
        </p:txBody>
      </p:sp>
    </p:spTree>
    <p:extLst>
      <p:ext uri="{BB962C8B-B14F-4D97-AF65-F5344CB8AC3E}">
        <p14:creationId xmlns:p14="http://schemas.microsoft.com/office/powerpoint/2010/main" val="2245262450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Correlation Matrix — Exercise 1  (5×2)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Rescale covariance by the std-devs: R = D⁻¹ S D⁻¹.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Correlation rescales covariance by the std-devs to land in [−1, 1].</a:t>
            </a:r>
          </a:p>
        </p:txBody>
      </p:sp>
      <p:sp>
        <p:nvSpPr>
          <p:cNvPr id="6000" name="pn"/>
          <p:cNvSpPr/>
          <p:nvPr/>
        </p:nvSpPr>
        <p:spPr>
          <a:xfrm>
            <a:off x="304800" y="1219200"/>
            <a:ext cx="45720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22400"/>
            <a:ext cx="4191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Data  X   (n=5, p=2)</a:t>
            </a:r>
          </a:p>
        </p:txBody>
      </p:sp>
      <p:sp>
        <p:nvSpPr>
          <p:cNvPr id="6002" name="tb"/>
          <p:cNvSpPr txBox="1"/>
          <p:nvPr/>
        </p:nvSpPr>
        <p:spPr>
          <a:xfrm>
            <a:off x="1905000" y="1803400"/>
            <a:ext cx="5588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6E6E6E"/>
                </a:solidFill>
              </a:rPr>
              <a:t>x₁</a:t>
            </a:r>
          </a:p>
        </p:txBody>
      </p:sp>
      <p:sp>
        <p:nvSpPr>
          <p:cNvPr id="6003" name="tb"/>
          <p:cNvSpPr txBox="1"/>
          <p:nvPr/>
        </p:nvSpPr>
        <p:spPr>
          <a:xfrm>
            <a:off x="2463800" y="1803400"/>
            <a:ext cx="5588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6E6E6E"/>
                </a:solidFill>
              </a:rPr>
              <a:t>x₂</a:t>
            </a:r>
          </a:p>
        </p:txBody>
      </p:sp>
      <p:sp>
        <p:nvSpPr>
          <p:cNvPr id="6004" name="hl"/>
          <p:cNvSpPr/>
          <p:nvPr/>
        </p:nvSpPr>
        <p:spPr>
          <a:xfrm>
            <a:off x="1790700" y="20193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5" name="hl"/>
          <p:cNvSpPr/>
          <p:nvPr/>
        </p:nvSpPr>
        <p:spPr>
          <a:xfrm>
            <a:off x="1790700" y="2019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6" name="hl"/>
          <p:cNvSpPr/>
          <p:nvPr/>
        </p:nvSpPr>
        <p:spPr>
          <a:xfrm>
            <a:off x="1790700" y="377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7" name="hl"/>
          <p:cNvSpPr/>
          <p:nvPr/>
        </p:nvSpPr>
        <p:spPr>
          <a:xfrm>
            <a:off x="3098800" y="20193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8" name="hl"/>
          <p:cNvSpPr/>
          <p:nvPr/>
        </p:nvSpPr>
        <p:spPr>
          <a:xfrm>
            <a:off x="3022600" y="2019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9" name="hl"/>
          <p:cNvSpPr/>
          <p:nvPr/>
        </p:nvSpPr>
        <p:spPr>
          <a:xfrm>
            <a:off x="3022600" y="377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0" name="tb"/>
          <p:cNvSpPr txBox="1"/>
          <p:nvPr/>
        </p:nvSpPr>
        <p:spPr>
          <a:xfrm>
            <a:off x="1905000" y="20574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6011" name="tb"/>
          <p:cNvSpPr txBox="1"/>
          <p:nvPr/>
        </p:nvSpPr>
        <p:spPr>
          <a:xfrm>
            <a:off x="2463800" y="20574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8</a:t>
            </a:r>
          </a:p>
        </p:txBody>
      </p:sp>
      <p:sp>
        <p:nvSpPr>
          <p:cNvPr id="6012" name="tb"/>
          <p:cNvSpPr txBox="1"/>
          <p:nvPr/>
        </p:nvSpPr>
        <p:spPr>
          <a:xfrm>
            <a:off x="1905000" y="24003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13" name="tb"/>
          <p:cNvSpPr txBox="1"/>
          <p:nvPr/>
        </p:nvSpPr>
        <p:spPr>
          <a:xfrm>
            <a:off x="2463800" y="24003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6014" name="tb"/>
          <p:cNvSpPr txBox="1"/>
          <p:nvPr/>
        </p:nvSpPr>
        <p:spPr>
          <a:xfrm>
            <a:off x="1905000" y="2743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6015" name="tb"/>
          <p:cNvSpPr txBox="1"/>
          <p:nvPr/>
        </p:nvSpPr>
        <p:spPr>
          <a:xfrm>
            <a:off x="2463800" y="2743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16" name="tb"/>
          <p:cNvSpPr txBox="1"/>
          <p:nvPr/>
        </p:nvSpPr>
        <p:spPr>
          <a:xfrm>
            <a:off x="1905000" y="3086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8</a:t>
            </a:r>
          </a:p>
        </p:txBody>
      </p:sp>
      <p:sp>
        <p:nvSpPr>
          <p:cNvPr id="6017" name="tb"/>
          <p:cNvSpPr txBox="1"/>
          <p:nvPr/>
        </p:nvSpPr>
        <p:spPr>
          <a:xfrm>
            <a:off x="2463800" y="3086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6018" name="tb"/>
          <p:cNvSpPr txBox="1"/>
          <p:nvPr/>
        </p:nvSpPr>
        <p:spPr>
          <a:xfrm>
            <a:off x="1905000" y="3429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19" name="tb"/>
          <p:cNvSpPr txBox="1"/>
          <p:nvPr/>
        </p:nvSpPr>
        <p:spPr>
          <a:xfrm>
            <a:off x="2463800" y="3429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558800" y="38735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50" b="1" dirty="0">
                <a:solidFill>
                  <a:srgbClr val="333333"/>
                </a:solidFill>
              </a:rPr>
              <a:t>μ = ( </a:t>
            </a:r>
            <a:r>
              <a:rPr lang="en-US" sz="1350" b="1" dirty="0">
                <a:solidFill>
                  <a:srgbClr val="4B2E83"/>
                </a:solidFill>
              </a:rPr>
              <a:t>5.00,  5.00</a:t>
            </a:r>
            <a:r>
              <a:rPr lang="en-US" sz="1350" b="1" dirty="0">
                <a:solidFill>
                  <a:srgbClr val="333333"/>
                </a:solidFill>
              </a:rPr>
              <a:t> )</a:t>
            </a:r>
          </a:p>
        </p:txBody>
      </p:sp>
      <p:sp>
        <p:nvSpPr>
          <p:cNvPr id="6021" name="hl"/>
          <p:cNvSpPr/>
          <p:nvPr/>
        </p:nvSpPr>
        <p:spPr>
          <a:xfrm>
            <a:off x="558800" y="5080000"/>
            <a:ext cx="4191000" cy="508000"/>
          </a:xfrm>
          <a:prstGeom prst="rect">
            <a:avLst/>
          </a:prstGeom>
          <a:solidFill>
            <a:srgbClr val="4B2E83">
              <a:alpha val="12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2" name="tb"/>
          <p:cNvSpPr txBox="1"/>
          <p:nvPr/>
        </p:nvSpPr>
        <p:spPr>
          <a:xfrm>
            <a:off x="711200" y="5080000"/>
            <a:ext cx="3937000" cy="508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400" b="1" dirty="0">
                <a:solidFill>
                  <a:srgbClr val="4B2E83"/>
                </a:solidFill>
              </a:rPr>
              <a:t>Task:  Compute the correlation matrix R.</a:t>
            </a:r>
          </a:p>
        </p:txBody>
      </p:sp>
      <p:sp>
        <p:nvSpPr>
          <p:cNvPr id="6023" name="pn"/>
          <p:cNvSpPr/>
          <p:nvPr/>
        </p:nvSpPr>
        <p:spPr>
          <a:xfrm>
            <a:off x="5080000" y="1219200"/>
            <a:ext cx="68072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4" name="tb"/>
          <p:cNvSpPr txBox="1"/>
          <p:nvPr/>
        </p:nvSpPr>
        <p:spPr>
          <a:xfrm>
            <a:off x="5334000" y="1447800"/>
            <a:ext cx="6350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S = XcᵀXc /(n−1)    →    R = D⁻¹ S D⁻¹</a:t>
            </a:r>
          </a:p>
        </p:txBody>
      </p:sp>
      <p:sp>
        <p:nvSpPr>
          <p:cNvPr id="6025" name="tb"/>
          <p:cNvSpPr txBox="1"/>
          <p:nvPr/>
        </p:nvSpPr>
        <p:spPr>
          <a:xfrm>
            <a:off x="6350000" y="2082800"/>
            <a:ext cx="1524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250" b="1" dirty="0">
                <a:solidFill>
                  <a:srgbClr val="6E6E6E"/>
                </a:solidFill>
              </a:rPr>
              <a:t>S</a:t>
            </a:r>
          </a:p>
        </p:txBody>
      </p:sp>
      <p:sp>
        <p:nvSpPr>
          <p:cNvPr id="6026" name="hl"/>
          <p:cNvSpPr/>
          <p:nvPr/>
        </p:nvSpPr>
        <p:spPr>
          <a:xfrm>
            <a:off x="5969000" y="2413000"/>
            <a:ext cx="762000" cy="4572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7" name="hl"/>
          <p:cNvSpPr/>
          <p:nvPr/>
        </p:nvSpPr>
        <p:spPr>
          <a:xfrm>
            <a:off x="6731000" y="2870200"/>
            <a:ext cx="762000" cy="4572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8" name="hl"/>
          <p:cNvSpPr/>
          <p:nvPr/>
        </p:nvSpPr>
        <p:spPr>
          <a:xfrm>
            <a:off x="5854700" y="2374900"/>
            <a:ext cx="38100" cy="990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9" name="hl"/>
          <p:cNvSpPr/>
          <p:nvPr/>
        </p:nvSpPr>
        <p:spPr>
          <a:xfrm>
            <a:off x="5854700" y="2374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0" name="hl"/>
          <p:cNvSpPr/>
          <p:nvPr/>
        </p:nvSpPr>
        <p:spPr>
          <a:xfrm>
            <a:off x="5854700" y="3327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1" name="hl"/>
          <p:cNvSpPr/>
          <p:nvPr/>
        </p:nvSpPr>
        <p:spPr>
          <a:xfrm>
            <a:off x="7569200" y="2374900"/>
            <a:ext cx="38100" cy="990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2" name="hl"/>
          <p:cNvSpPr/>
          <p:nvPr/>
        </p:nvSpPr>
        <p:spPr>
          <a:xfrm>
            <a:off x="7493000" y="2374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3" name="hl"/>
          <p:cNvSpPr/>
          <p:nvPr/>
        </p:nvSpPr>
        <p:spPr>
          <a:xfrm>
            <a:off x="7493000" y="3327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4" name="tb"/>
          <p:cNvSpPr txBox="1"/>
          <p:nvPr/>
        </p:nvSpPr>
        <p:spPr>
          <a:xfrm>
            <a:off x="5969000" y="24130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5.00</a:t>
            </a:r>
          </a:p>
        </p:txBody>
      </p:sp>
      <p:sp>
        <p:nvSpPr>
          <p:cNvPr id="6035" name="tb"/>
          <p:cNvSpPr txBox="1"/>
          <p:nvPr/>
        </p:nvSpPr>
        <p:spPr>
          <a:xfrm>
            <a:off x="6731000" y="24130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−5.00</a:t>
            </a:r>
          </a:p>
        </p:txBody>
      </p:sp>
      <p:sp>
        <p:nvSpPr>
          <p:cNvPr id="6036" name="tb"/>
          <p:cNvSpPr txBox="1"/>
          <p:nvPr/>
        </p:nvSpPr>
        <p:spPr>
          <a:xfrm>
            <a:off x="5969000" y="28702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−5.00</a:t>
            </a:r>
          </a:p>
        </p:txBody>
      </p:sp>
      <p:sp>
        <p:nvSpPr>
          <p:cNvPr id="6037" name="tb"/>
          <p:cNvSpPr txBox="1"/>
          <p:nvPr/>
        </p:nvSpPr>
        <p:spPr>
          <a:xfrm>
            <a:off x="6731000" y="28702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5.00</a:t>
            </a:r>
          </a:p>
        </p:txBody>
      </p:sp>
      <p:sp>
        <p:nvSpPr>
          <p:cNvPr id="6038" name="tb"/>
          <p:cNvSpPr txBox="1"/>
          <p:nvPr/>
        </p:nvSpPr>
        <p:spPr>
          <a:xfrm>
            <a:off x="10160000" y="2082800"/>
            <a:ext cx="1524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250" b="1" dirty="0">
                <a:solidFill>
                  <a:srgbClr val="6E6E6E"/>
                </a:solidFill>
              </a:rPr>
              <a:t>R</a:t>
            </a:r>
          </a:p>
        </p:txBody>
      </p:sp>
      <p:sp>
        <p:nvSpPr>
          <p:cNvPr id="6039" name="hl"/>
          <p:cNvSpPr/>
          <p:nvPr/>
        </p:nvSpPr>
        <p:spPr>
          <a:xfrm>
            <a:off x="9652000" y="2413000"/>
            <a:ext cx="762000" cy="4572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0" name="hl"/>
          <p:cNvSpPr/>
          <p:nvPr/>
        </p:nvSpPr>
        <p:spPr>
          <a:xfrm>
            <a:off x="10414000" y="2870200"/>
            <a:ext cx="762000" cy="4572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1" name="hl"/>
          <p:cNvSpPr/>
          <p:nvPr/>
        </p:nvSpPr>
        <p:spPr>
          <a:xfrm>
            <a:off x="9537700" y="2374900"/>
            <a:ext cx="38100" cy="990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2" name="hl"/>
          <p:cNvSpPr/>
          <p:nvPr/>
        </p:nvSpPr>
        <p:spPr>
          <a:xfrm>
            <a:off x="9537700" y="2374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3" name="hl"/>
          <p:cNvSpPr/>
          <p:nvPr/>
        </p:nvSpPr>
        <p:spPr>
          <a:xfrm>
            <a:off x="9537700" y="3327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4" name="hl"/>
          <p:cNvSpPr/>
          <p:nvPr/>
        </p:nvSpPr>
        <p:spPr>
          <a:xfrm>
            <a:off x="11252200" y="2374900"/>
            <a:ext cx="38100" cy="990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5" name="hl"/>
          <p:cNvSpPr/>
          <p:nvPr/>
        </p:nvSpPr>
        <p:spPr>
          <a:xfrm>
            <a:off x="11176000" y="2374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6" name="hl"/>
          <p:cNvSpPr/>
          <p:nvPr/>
        </p:nvSpPr>
        <p:spPr>
          <a:xfrm>
            <a:off x="11176000" y="3327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7" name="tb"/>
          <p:cNvSpPr txBox="1"/>
          <p:nvPr/>
        </p:nvSpPr>
        <p:spPr>
          <a:xfrm>
            <a:off x="9652000" y="24130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1.00</a:t>
            </a:r>
          </a:p>
        </p:txBody>
      </p:sp>
      <p:sp>
        <p:nvSpPr>
          <p:cNvPr id="6048" name="tb"/>
          <p:cNvSpPr txBox="1"/>
          <p:nvPr/>
        </p:nvSpPr>
        <p:spPr>
          <a:xfrm>
            <a:off x="10414000" y="24130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−1.00</a:t>
            </a:r>
          </a:p>
        </p:txBody>
      </p:sp>
      <p:sp>
        <p:nvSpPr>
          <p:cNvPr id="6049" name="tb"/>
          <p:cNvSpPr txBox="1"/>
          <p:nvPr/>
        </p:nvSpPr>
        <p:spPr>
          <a:xfrm>
            <a:off x="9652000" y="28702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−1.00</a:t>
            </a:r>
          </a:p>
        </p:txBody>
      </p:sp>
      <p:sp>
        <p:nvSpPr>
          <p:cNvPr id="6050" name="tb"/>
          <p:cNvSpPr txBox="1"/>
          <p:nvPr/>
        </p:nvSpPr>
        <p:spPr>
          <a:xfrm>
            <a:off x="10414000" y="28702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1.00</a:t>
            </a:r>
          </a:p>
        </p:txBody>
      </p:sp>
      <p:sp>
        <p:nvSpPr>
          <p:cNvPr id="6051" name="tb"/>
          <p:cNvSpPr txBox="1"/>
          <p:nvPr/>
        </p:nvSpPr>
        <p:spPr>
          <a:xfrm>
            <a:off x="5588000" y="4572000"/>
            <a:ext cx="5969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50" dirty="0">
                <a:solidFill>
                  <a:srgbClr val="6E6E6E"/>
                </a:solidFill>
              </a:rPr>
              <a:t>σ = ( </a:t>
            </a:r>
            <a:r>
              <a:rPr lang="en-US" sz="1250" b="1" dirty="0">
                <a:solidFill>
                  <a:srgbClr val="6E6E6E"/>
                </a:solidFill>
              </a:rPr>
              <a:t>2.24, 2.24</a:t>
            </a:r>
            <a:r>
              <a:rPr lang="en-US" sz="1250" dirty="0">
                <a:solidFill>
                  <a:srgbClr val="6E6E6E"/>
                </a:solidFill>
              </a:rPr>
              <a:t> )    ·    Rᵢⱼ = Sᵢⱼ /(σᵢ σⱼ)</a:t>
            </a:r>
          </a:p>
        </p:txBody>
      </p:sp>
      <p:sp>
        <p:nvSpPr>
          <p:cNvPr id="6052" name="cover"/>
          <p:cNvSpPr/>
          <p:nvPr/>
        </p:nvSpPr>
        <p:spPr>
          <a:xfrm>
            <a:off x="5181600" y="1778000"/>
            <a:ext cx="6604000" cy="3886200"/>
          </a:xfrm>
          <a:prstGeom prst="roundRect">
            <a:avLst>
              <a:gd name="adj" fmla="val 4000"/>
            </a:avLst>
          </a:prstGeom>
          <a:solidFill>
            <a:srgbClr val="4B2E83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Solution hidden</a:t>
            </a:r>
          </a:p>
          <a:p>
            <a:pPr algn="ctr"/>
            <a:r>
              <a:rPr lang="en-US" sz="1300" i="1" dirty="0">
                <a:solidFill>
                  <a:srgbClr val="E7DEF3"/>
                </a:solidFill>
              </a:rPr>
              <a:t>Work it out, then remove this cover to check.</a:t>
            </a:r>
          </a:p>
        </p:txBody>
      </p:sp>
    </p:spTree>
    <p:extLst>
      <p:ext uri="{BB962C8B-B14F-4D97-AF65-F5344CB8AC3E}">
        <p14:creationId xmlns:p14="http://schemas.microsoft.com/office/powerpoint/2010/main" val="31740249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Correlation Matrix — Exercise 2  (5×2)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Rescale covariance by the std-devs: R = D⁻¹ S D⁻¹.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Correlation rescales covariance by the std-devs to land in [−1, 1].</a:t>
            </a:r>
          </a:p>
        </p:txBody>
      </p:sp>
      <p:sp>
        <p:nvSpPr>
          <p:cNvPr id="6000" name="pn"/>
          <p:cNvSpPr/>
          <p:nvPr/>
        </p:nvSpPr>
        <p:spPr>
          <a:xfrm>
            <a:off x="304800" y="1219200"/>
            <a:ext cx="45720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22400"/>
            <a:ext cx="4191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Data  X   (n=5, p=2)</a:t>
            </a:r>
          </a:p>
        </p:txBody>
      </p:sp>
      <p:sp>
        <p:nvSpPr>
          <p:cNvPr id="6002" name="tb"/>
          <p:cNvSpPr txBox="1"/>
          <p:nvPr/>
        </p:nvSpPr>
        <p:spPr>
          <a:xfrm>
            <a:off x="1905000" y="1803400"/>
            <a:ext cx="5588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6E6E6E"/>
                </a:solidFill>
              </a:rPr>
              <a:t>x₁</a:t>
            </a:r>
          </a:p>
        </p:txBody>
      </p:sp>
      <p:sp>
        <p:nvSpPr>
          <p:cNvPr id="6003" name="tb"/>
          <p:cNvSpPr txBox="1"/>
          <p:nvPr/>
        </p:nvSpPr>
        <p:spPr>
          <a:xfrm>
            <a:off x="2463800" y="1803400"/>
            <a:ext cx="5588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6E6E6E"/>
                </a:solidFill>
              </a:rPr>
              <a:t>x₂</a:t>
            </a:r>
          </a:p>
        </p:txBody>
      </p:sp>
      <p:sp>
        <p:nvSpPr>
          <p:cNvPr id="6004" name="hl"/>
          <p:cNvSpPr/>
          <p:nvPr/>
        </p:nvSpPr>
        <p:spPr>
          <a:xfrm>
            <a:off x="1790700" y="20193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5" name="hl"/>
          <p:cNvSpPr/>
          <p:nvPr/>
        </p:nvSpPr>
        <p:spPr>
          <a:xfrm>
            <a:off x="1790700" y="2019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6" name="hl"/>
          <p:cNvSpPr/>
          <p:nvPr/>
        </p:nvSpPr>
        <p:spPr>
          <a:xfrm>
            <a:off x="1790700" y="377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7" name="hl"/>
          <p:cNvSpPr/>
          <p:nvPr/>
        </p:nvSpPr>
        <p:spPr>
          <a:xfrm>
            <a:off x="3098800" y="20193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8" name="hl"/>
          <p:cNvSpPr/>
          <p:nvPr/>
        </p:nvSpPr>
        <p:spPr>
          <a:xfrm>
            <a:off x="3022600" y="2019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9" name="hl"/>
          <p:cNvSpPr/>
          <p:nvPr/>
        </p:nvSpPr>
        <p:spPr>
          <a:xfrm>
            <a:off x="3022600" y="377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0" name="tb"/>
          <p:cNvSpPr txBox="1"/>
          <p:nvPr/>
        </p:nvSpPr>
        <p:spPr>
          <a:xfrm>
            <a:off x="1905000" y="20574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11" name="tb"/>
          <p:cNvSpPr txBox="1"/>
          <p:nvPr/>
        </p:nvSpPr>
        <p:spPr>
          <a:xfrm>
            <a:off x="2463800" y="20574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6012" name="tb"/>
          <p:cNvSpPr txBox="1"/>
          <p:nvPr/>
        </p:nvSpPr>
        <p:spPr>
          <a:xfrm>
            <a:off x="1905000" y="24003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6013" name="tb"/>
          <p:cNvSpPr txBox="1"/>
          <p:nvPr/>
        </p:nvSpPr>
        <p:spPr>
          <a:xfrm>
            <a:off x="2463800" y="24003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6014" name="tb"/>
          <p:cNvSpPr txBox="1"/>
          <p:nvPr/>
        </p:nvSpPr>
        <p:spPr>
          <a:xfrm>
            <a:off x="1905000" y="2743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15" name="tb"/>
          <p:cNvSpPr txBox="1"/>
          <p:nvPr/>
        </p:nvSpPr>
        <p:spPr>
          <a:xfrm>
            <a:off x="2463800" y="2743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16" name="tb"/>
          <p:cNvSpPr txBox="1"/>
          <p:nvPr/>
        </p:nvSpPr>
        <p:spPr>
          <a:xfrm>
            <a:off x="1905000" y="3086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7</a:t>
            </a:r>
          </a:p>
        </p:txBody>
      </p:sp>
      <p:sp>
        <p:nvSpPr>
          <p:cNvPr id="6017" name="tb"/>
          <p:cNvSpPr txBox="1"/>
          <p:nvPr/>
        </p:nvSpPr>
        <p:spPr>
          <a:xfrm>
            <a:off x="2463800" y="3086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8</a:t>
            </a:r>
          </a:p>
        </p:txBody>
      </p:sp>
      <p:sp>
        <p:nvSpPr>
          <p:cNvPr id="6018" name="tb"/>
          <p:cNvSpPr txBox="1"/>
          <p:nvPr/>
        </p:nvSpPr>
        <p:spPr>
          <a:xfrm>
            <a:off x="1905000" y="3429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9</a:t>
            </a:r>
          </a:p>
        </p:txBody>
      </p:sp>
      <p:sp>
        <p:nvSpPr>
          <p:cNvPr id="6019" name="tb"/>
          <p:cNvSpPr txBox="1"/>
          <p:nvPr/>
        </p:nvSpPr>
        <p:spPr>
          <a:xfrm>
            <a:off x="2463800" y="3429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558800" y="38735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50" b="1" dirty="0">
                <a:solidFill>
                  <a:srgbClr val="333333"/>
                </a:solidFill>
              </a:rPr>
              <a:t>μ = ( </a:t>
            </a:r>
            <a:r>
              <a:rPr lang="en-US" sz="1350" b="1" dirty="0">
                <a:solidFill>
                  <a:srgbClr val="4B2E83"/>
                </a:solidFill>
              </a:rPr>
              <a:t>5.00,  5.00</a:t>
            </a:r>
            <a:r>
              <a:rPr lang="en-US" sz="1350" b="1" dirty="0">
                <a:solidFill>
                  <a:srgbClr val="333333"/>
                </a:solidFill>
              </a:rPr>
              <a:t> )</a:t>
            </a:r>
          </a:p>
        </p:txBody>
      </p:sp>
      <p:sp>
        <p:nvSpPr>
          <p:cNvPr id="6021" name="tb"/>
          <p:cNvSpPr txBox="1"/>
          <p:nvPr/>
        </p:nvSpPr>
        <p:spPr>
          <a:xfrm>
            <a:off x="558800" y="42037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50" b="1" dirty="0">
                <a:solidFill>
                  <a:srgbClr val="333333"/>
                </a:solidFill>
              </a:rPr>
              <a:t>σ = ( </a:t>
            </a:r>
            <a:r>
              <a:rPr lang="en-US" sz="1350" b="1" dirty="0">
                <a:solidFill>
                  <a:srgbClr val="4B2E83"/>
                </a:solidFill>
              </a:rPr>
              <a:t>3.16,  2.24</a:t>
            </a:r>
            <a:r>
              <a:rPr lang="en-US" sz="1350" b="1" dirty="0">
                <a:solidFill>
                  <a:srgbClr val="333333"/>
                </a:solidFill>
              </a:rPr>
              <a:t> )</a:t>
            </a:r>
          </a:p>
        </p:txBody>
      </p:sp>
      <p:sp>
        <p:nvSpPr>
          <p:cNvPr id="6022" name="hl"/>
          <p:cNvSpPr/>
          <p:nvPr/>
        </p:nvSpPr>
        <p:spPr>
          <a:xfrm>
            <a:off x="558800" y="5080000"/>
            <a:ext cx="4191000" cy="508000"/>
          </a:xfrm>
          <a:prstGeom prst="rect">
            <a:avLst/>
          </a:prstGeom>
          <a:solidFill>
            <a:srgbClr val="4B2E83">
              <a:alpha val="12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3" name="tb"/>
          <p:cNvSpPr txBox="1"/>
          <p:nvPr/>
        </p:nvSpPr>
        <p:spPr>
          <a:xfrm>
            <a:off x="711200" y="5080000"/>
            <a:ext cx="3937000" cy="508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400" b="1" dirty="0">
                <a:solidFill>
                  <a:srgbClr val="4B2E83"/>
                </a:solidFill>
              </a:rPr>
              <a:t>Task:  Compute the correlation matrix R.</a:t>
            </a:r>
          </a:p>
        </p:txBody>
      </p:sp>
      <p:sp>
        <p:nvSpPr>
          <p:cNvPr id="6024" name="pn"/>
          <p:cNvSpPr/>
          <p:nvPr/>
        </p:nvSpPr>
        <p:spPr>
          <a:xfrm>
            <a:off x="5080000" y="1219200"/>
            <a:ext cx="68072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5" name="tb"/>
          <p:cNvSpPr txBox="1"/>
          <p:nvPr/>
        </p:nvSpPr>
        <p:spPr>
          <a:xfrm>
            <a:off x="5334000" y="1447800"/>
            <a:ext cx="6350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S = XcᵀXc /(n−1)    →    R = D⁻¹ S D⁻¹</a:t>
            </a:r>
          </a:p>
        </p:txBody>
      </p:sp>
      <p:sp>
        <p:nvSpPr>
          <p:cNvPr id="6026" name="tb"/>
          <p:cNvSpPr txBox="1"/>
          <p:nvPr/>
        </p:nvSpPr>
        <p:spPr>
          <a:xfrm>
            <a:off x="6350000" y="2082800"/>
            <a:ext cx="1524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250" b="1" dirty="0">
                <a:solidFill>
                  <a:srgbClr val="6E6E6E"/>
                </a:solidFill>
              </a:rPr>
              <a:t>S</a:t>
            </a:r>
          </a:p>
        </p:txBody>
      </p:sp>
      <p:sp>
        <p:nvSpPr>
          <p:cNvPr id="6027" name="hl"/>
          <p:cNvSpPr/>
          <p:nvPr/>
        </p:nvSpPr>
        <p:spPr>
          <a:xfrm>
            <a:off x="5969000" y="2413000"/>
            <a:ext cx="762000" cy="4572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8" name="hl"/>
          <p:cNvSpPr/>
          <p:nvPr/>
        </p:nvSpPr>
        <p:spPr>
          <a:xfrm>
            <a:off x="6731000" y="2870200"/>
            <a:ext cx="762000" cy="4572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9" name="hl"/>
          <p:cNvSpPr/>
          <p:nvPr/>
        </p:nvSpPr>
        <p:spPr>
          <a:xfrm>
            <a:off x="5854700" y="2374900"/>
            <a:ext cx="38100" cy="990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0" name="hl"/>
          <p:cNvSpPr/>
          <p:nvPr/>
        </p:nvSpPr>
        <p:spPr>
          <a:xfrm>
            <a:off x="5854700" y="2374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1" name="hl"/>
          <p:cNvSpPr/>
          <p:nvPr/>
        </p:nvSpPr>
        <p:spPr>
          <a:xfrm>
            <a:off x="5854700" y="3327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2" name="hl"/>
          <p:cNvSpPr/>
          <p:nvPr/>
        </p:nvSpPr>
        <p:spPr>
          <a:xfrm>
            <a:off x="7569200" y="2374900"/>
            <a:ext cx="38100" cy="990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3" name="hl"/>
          <p:cNvSpPr/>
          <p:nvPr/>
        </p:nvSpPr>
        <p:spPr>
          <a:xfrm>
            <a:off x="7493000" y="2374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4" name="hl"/>
          <p:cNvSpPr/>
          <p:nvPr/>
        </p:nvSpPr>
        <p:spPr>
          <a:xfrm>
            <a:off x="7493000" y="3327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5" name="tb"/>
          <p:cNvSpPr txBox="1"/>
          <p:nvPr/>
        </p:nvSpPr>
        <p:spPr>
          <a:xfrm>
            <a:off x="5969000" y="24130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10.00</a:t>
            </a:r>
          </a:p>
        </p:txBody>
      </p:sp>
      <p:sp>
        <p:nvSpPr>
          <p:cNvPr id="6036" name="tb"/>
          <p:cNvSpPr txBox="1"/>
          <p:nvPr/>
        </p:nvSpPr>
        <p:spPr>
          <a:xfrm>
            <a:off x="6731000" y="24130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4.00</a:t>
            </a:r>
          </a:p>
        </p:txBody>
      </p:sp>
      <p:sp>
        <p:nvSpPr>
          <p:cNvPr id="6037" name="tb"/>
          <p:cNvSpPr txBox="1"/>
          <p:nvPr/>
        </p:nvSpPr>
        <p:spPr>
          <a:xfrm>
            <a:off x="5969000" y="28702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4.00</a:t>
            </a:r>
          </a:p>
        </p:txBody>
      </p:sp>
      <p:sp>
        <p:nvSpPr>
          <p:cNvPr id="6038" name="tb"/>
          <p:cNvSpPr txBox="1"/>
          <p:nvPr/>
        </p:nvSpPr>
        <p:spPr>
          <a:xfrm>
            <a:off x="6731000" y="28702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5.00</a:t>
            </a:r>
          </a:p>
        </p:txBody>
      </p:sp>
      <p:sp>
        <p:nvSpPr>
          <p:cNvPr id="6039" name="tb"/>
          <p:cNvSpPr txBox="1"/>
          <p:nvPr/>
        </p:nvSpPr>
        <p:spPr>
          <a:xfrm>
            <a:off x="10160000" y="2082800"/>
            <a:ext cx="1524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250" b="1" dirty="0">
                <a:solidFill>
                  <a:srgbClr val="6E6E6E"/>
                </a:solidFill>
              </a:rPr>
              <a:t>R</a:t>
            </a:r>
          </a:p>
        </p:txBody>
      </p:sp>
      <p:sp>
        <p:nvSpPr>
          <p:cNvPr id="6040" name="hl"/>
          <p:cNvSpPr/>
          <p:nvPr/>
        </p:nvSpPr>
        <p:spPr>
          <a:xfrm>
            <a:off x="9652000" y="2413000"/>
            <a:ext cx="762000" cy="4572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1" name="hl"/>
          <p:cNvSpPr/>
          <p:nvPr/>
        </p:nvSpPr>
        <p:spPr>
          <a:xfrm>
            <a:off x="10414000" y="2870200"/>
            <a:ext cx="762000" cy="4572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2" name="hl"/>
          <p:cNvSpPr/>
          <p:nvPr/>
        </p:nvSpPr>
        <p:spPr>
          <a:xfrm>
            <a:off x="9537700" y="2374900"/>
            <a:ext cx="38100" cy="990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3" name="hl"/>
          <p:cNvSpPr/>
          <p:nvPr/>
        </p:nvSpPr>
        <p:spPr>
          <a:xfrm>
            <a:off x="9537700" y="2374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4" name="hl"/>
          <p:cNvSpPr/>
          <p:nvPr/>
        </p:nvSpPr>
        <p:spPr>
          <a:xfrm>
            <a:off x="9537700" y="3327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5" name="hl"/>
          <p:cNvSpPr/>
          <p:nvPr/>
        </p:nvSpPr>
        <p:spPr>
          <a:xfrm>
            <a:off x="11252200" y="2374900"/>
            <a:ext cx="38100" cy="990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6" name="hl"/>
          <p:cNvSpPr/>
          <p:nvPr/>
        </p:nvSpPr>
        <p:spPr>
          <a:xfrm>
            <a:off x="11176000" y="2374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7" name="hl"/>
          <p:cNvSpPr/>
          <p:nvPr/>
        </p:nvSpPr>
        <p:spPr>
          <a:xfrm>
            <a:off x="11176000" y="3327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8" name="tb"/>
          <p:cNvSpPr txBox="1"/>
          <p:nvPr/>
        </p:nvSpPr>
        <p:spPr>
          <a:xfrm>
            <a:off x="9652000" y="24130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1.00</a:t>
            </a:r>
          </a:p>
        </p:txBody>
      </p:sp>
      <p:sp>
        <p:nvSpPr>
          <p:cNvPr id="6049" name="tb"/>
          <p:cNvSpPr txBox="1"/>
          <p:nvPr/>
        </p:nvSpPr>
        <p:spPr>
          <a:xfrm>
            <a:off x="10414000" y="24130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0.57</a:t>
            </a:r>
          </a:p>
        </p:txBody>
      </p:sp>
      <p:sp>
        <p:nvSpPr>
          <p:cNvPr id="6050" name="tb"/>
          <p:cNvSpPr txBox="1"/>
          <p:nvPr/>
        </p:nvSpPr>
        <p:spPr>
          <a:xfrm>
            <a:off x="9652000" y="28702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0.57</a:t>
            </a:r>
          </a:p>
        </p:txBody>
      </p:sp>
      <p:sp>
        <p:nvSpPr>
          <p:cNvPr id="6051" name="tb"/>
          <p:cNvSpPr txBox="1"/>
          <p:nvPr/>
        </p:nvSpPr>
        <p:spPr>
          <a:xfrm>
            <a:off x="10414000" y="28702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1.00</a:t>
            </a:r>
          </a:p>
        </p:txBody>
      </p:sp>
      <p:sp>
        <p:nvSpPr>
          <p:cNvPr id="6052" name="tb"/>
          <p:cNvSpPr txBox="1"/>
          <p:nvPr/>
        </p:nvSpPr>
        <p:spPr>
          <a:xfrm>
            <a:off x="5588000" y="4572000"/>
            <a:ext cx="5969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50" dirty="0">
                <a:solidFill>
                  <a:srgbClr val="6E6E6E"/>
                </a:solidFill>
              </a:rPr>
              <a:t>σ = ( </a:t>
            </a:r>
            <a:r>
              <a:rPr lang="en-US" sz="1250" b="1" dirty="0">
                <a:solidFill>
                  <a:srgbClr val="6E6E6E"/>
                </a:solidFill>
              </a:rPr>
              <a:t>3.16, 2.24</a:t>
            </a:r>
            <a:r>
              <a:rPr lang="en-US" sz="1250" dirty="0">
                <a:solidFill>
                  <a:srgbClr val="6E6E6E"/>
                </a:solidFill>
              </a:rPr>
              <a:t> )    ·    Rᵢⱼ = Sᵢⱼ /(σᵢ σⱼ)</a:t>
            </a:r>
          </a:p>
        </p:txBody>
      </p:sp>
      <p:sp>
        <p:nvSpPr>
          <p:cNvPr id="6053" name="cover"/>
          <p:cNvSpPr/>
          <p:nvPr/>
        </p:nvSpPr>
        <p:spPr>
          <a:xfrm>
            <a:off x="5181600" y="1778000"/>
            <a:ext cx="6604000" cy="3886200"/>
          </a:xfrm>
          <a:prstGeom prst="roundRect">
            <a:avLst>
              <a:gd name="adj" fmla="val 4000"/>
            </a:avLst>
          </a:prstGeom>
          <a:solidFill>
            <a:srgbClr val="4B2E83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Solution hidden</a:t>
            </a:r>
          </a:p>
          <a:p>
            <a:pPr algn="ctr"/>
            <a:r>
              <a:rPr lang="en-US" sz="1300" i="1" dirty="0">
                <a:solidFill>
                  <a:srgbClr val="E7DEF3"/>
                </a:solidFill>
              </a:rPr>
              <a:t>Work it out, then remove this cover to check.</a:t>
            </a:r>
          </a:p>
        </p:txBody>
      </p:sp>
    </p:spTree>
    <p:extLst>
      <p:ext uri="{BB962C8B-B14F-4D97-AF65-F5344CB8AC3E}">
        <p14:creationId xmlns:p14="http://schemas.microsoft.com/office/powerpoint/2010/main" val="1933083717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Correlation Matrix — Exercise 3  (5×2)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Rescale covariance by the std-devs: R = D⁻¹ S D⁻¹.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Correlation rescales covariance by the std-devs to land in [−1, 1].</a:t>
            </a:r>
          </a:p>
        </p:txBody>
      </p:sp>
      <p:sp>
        <p:nvSpPr>
          <p:cNvPr id="6000" name="pn"/>
          <p:cNvSpPr/>
          <p:nvPr/>
        </p:nvSpPr>
        <p:spPr>
          <a:xfrm>
            <a:off x="304800" y="1219200"/>
            <a:ext cx="45720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22400"/>
            <a:ext cx="4191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Data  X   (n=5, p=2)</a:t>
            </a:r>
          </a:p>
        </p:txBody>
      </p:sp>
      <p:sp>
        <p:nvSpPr>
          <p:cNvPr id="6002" name="tb"/>
          <p:cNvSpPr txBox="1"/>
          <p:nvPr/>
        </p:nvSpPr>
        <p:spPr>
          <a:xfrm>
            <a:off x="1905000" y="1803400"/>
            <a:ext cx="5588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6E6E6E"/>
                </a:solidFill>
              </a:rPr>
              <a:t>x₁</a:t>
            </a:r>
          </a:p>
        </p:txBody>
      </p:sp>
      <p:sp>
        <p:nvSpPr>
          <p:cNvPr id="6003" name="tb"/>
          <p:cNvSpPr txBox="1"/>
          <p:nvPr/>
        </p:nvSpPr>
        <p:spPr>
          <a:xfrm>
            <a:off x="2463800" y="1803400"/>
            <a:ext cx="5588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6E6E6E"/>
                </a:solidFill>
              </a:rPr>
              <a:t>x₂</a:t>
            </a:r>
          </a:p>
        </p:txBody>
      </p:sp>
      <p:sp>
        <p:nvSpPr>
          <p:cNvPr id="6004" name="hl"/>
          <p:cNvSpPr/>
          <p:nvPr/>
        </p:nvSpPr>
        <p:spPr>
          <a:xfrm>
            <a:off x="1790700" y="20193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5" name="hl"/>
          <p:cNvSpPr/>
          <p:nvPr/>
        </p:nvSpPr>
        <p:spPr>
          <a:xfrm>
            <a:off x="1790700" y="2019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6" name="hl"/>
          <p:cNvSpPr/>
          <p:nvPr/>
        </p:nvSpPr>
        <p:spPr>
          <a:xfrm>
            <a:off x="1790700" y="377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7" name="hl"/>
          <p:cNvSpPr/>
          <p:nvPr/>
        </p:nvSpPr>
        <p:spPr>
          <a:xfrm>
            <a:off x="3098800" y="20193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8" name="hl"/>
          <p:cNvSpPr/>
          <p:nvPr/>
        </p:nvSpPr>
        <p:spPr>
          <a:xfrm>
            <a:off x="3022600" y="2019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9" name="hl"/>
          <p:cNvSpPr/>
          <p:nvPr/>
        </p:nvSpPr>
        <p:spPr>
          <a:xfrm>
            <a:off x="3022600" y="377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0" name="tb"/>
          <p:cNvSpPr txBox="1"/>
          <p:nvPr/>
        </p:nvSpPr>
        <p:spPr>
          <a:xfrm>
            <a:off x="1905000" y="20574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11" name="tb"/>
          <p:cNvSpPr txBox="1"/>
          <p:nvPr/>
        </p:nvSpPr>
        <p:spPr>
          <a:xfrm>
            <a:off x="2463800" y="20574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7</a:t>
            </a:r>
          </a:p>
        </p:txBody>
      </p:sp>
      <p:sp>
        <p:nvSpPr>
          <p:cNvPr id="6012" name="tb"/>
          <p:cNvSpPr txBox="1"/>
          <p:nvPr/>
        </p:nvSpPr>
        <p:spPr>
          <a:xfrm>
            <a:off x="1905000" y="24003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6013" name="tb"/>
          <p:cNvSpPr txBox="1"/>
          <p:nvPr/>
        </p:nvSpPr>
        <p:spPr>
          <a:xfrm>
            <a:off x="2463800" y="24003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6014" name="tb"/>
          <p:cNvSpPr txBox="1"/>
          <p:nvPr/>
        </p:nvSpPr>
        <p:spPr>
          <a:xfrm>
            <a:off x="1905000" y="2743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6015" name="tb"/>
          <p:cNvSpPr txBox="1"/>
          <p:nvPr/>
        </p:nvSpPr>
        <p:spPr>
          <a:xfrm>
            <a:off x="2463800" y="2743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9</a:t>
            </a:r>
          </a:p>
        </p:txBody>
      </p:sp>
      <p:sp>
        <p:nvSpPr>
          <p:cNvPr id="6016" name="tb"/>
          <p:cNvSpPr txBox="1"/>
          <p:nvPr/>
        </p:nvSpPr>
        <p:spPr>
          <a:xfrm>
            <a:off x="1905000" y="3086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8</a:t>
            </a:r>
          </a:p>
        </p:txBody>
      </p:sp>
      <p:sp>
        <p:nvSpPr>
          <p:cNvPr id="6017" name="tb"/>
          <p:cNvSpPr txBox="1"/>
          <p:nvPr/>
        </p:nvSpPr>
        <p:spPr>
          <a:xfrm>
            <a:off x="2463800" y="3086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18" name="tb"/>
          <p:cNvSpPr txBox="1"/>
          <p:nvPr/>
        </p:nvSpPr>
        <p:spPr>
          <a:xfrm>
            <a:off x="1905000" y="3429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19" name="tb"/>
          <p:cNvSpPr txBox="1"/>
          <p:nvPr/>
        </p:nvSpPr>
        <p:spPr>
          <a:xfrm>
            <a:off x="2463800" y="3429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558800" y="38735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50" b="1" dirty="0">
                <a:solidFill>
                  <a:srgbClr val="333333"/>
                </a:solidFill>
              </a:rPr>
              <a:t>μ = ( </a:t>
            </a:r>
            <a:r>
              <a:rPr lang="en-US" sz="1350" b="1" dirty="0">
                <a:solidFill>
                  <a:srgbClr val="4B2E83"/>
                </a:solidFill>
              </a:rPr>
              <a:t>5.00,  6.00</a:t>
            </a:r>
            <a:r>
              <a:rPr lang="en-US" sz="1350" b="1" dirty="0">
                <a:solidFill>
                  <a:srgbClr val="333333"/>
                </a:solidFill>
              </a:rPr>
              <a:t> )</a:t>
            </a:r>
          </a:p>
        </p:txBody>
      </p:sp>
      <p:sp>
        <p:nvSpPr>
          <p:cNvPr id="6021" name="tb"/>
          <p:cNvSpPr txBox="1"/>
          <p:nvPr/>
        </p:nvSpPr>
        <p:spPr>
          <a:xfrm>
            <a:off x="558800" y="42037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50" b="1" dirty="0">
                <a:solidFill>
                  <a:srgbClr val="333333"/>
                </a:solidFill>
              </a:rPr>
              <a:t>σ = ( </a:t>
            </a:r>
            <a:r>
              <a:rPr lang="en-US" sz="1350" b="1" dirty="0">
                <a:solidFill>
                  <a:srgbClr val="4B2E83"/>
                </a:solidFill>
              </a:rPr>
              <a:t>2.24,  2.24</a:t>
            </a:r>
            <a:r>
              <a:rPr lang="en-US" sz="1350" b="1" dirty="0">
                <a:solidFill>
                  <a:srgbClr val="333333"/>
                </a:solidFill>
              </a:rPr>
              <a:t> )</a:t>
            </a:r>
          </a:p>
        </p:txBody>
      </p:sp>
      <p:sp>
        <p:nvSpPr>
          <p:cNvPr id="6022" name="hl"/>
          <p:cNvSpPr/>
          <p:nvPr/>
        </p:nvSpPr>
        <p:spPr>
          <a:xfrm>
            <a:off x="558800" y="5080000"/>
            <a:ext cx="4191000" cy="508000"/>
          </a:xfrm>
          <a:prstGeom prst="rect">
            <a:avLst/>
          </a:prstGeom>
          <a:solidFill>
            <a:srgbClr val="4B2E83">
              <a:alpha val="12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3" name="tb"/>
          <p:cNvSpPr txBox="1"/>
          <p:nvPr/>
        </p:nvSpPr>
        <p:spPr>
          <a:xfrm>
            <a:off x="711200" y="5080000"/>
            <a:ext cx="3937000" cy="508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400" b="1" dirty="0">
                <a:solidFill>
                  <a:srgbClr val="4B2E83"/>
                </a:solidFill>
              </a:rPr>
              <a:t>Task:  Compute the correlation matrix R.</a:t>
            </a:r>
          </a:p>
        </p:txBody>
      </p:sp>
      <p:sp>
        <p:nvSpPr>
          <p:cNvPr id="6024" name="pn"/>
          <p:cNvSpPr/>
          <p:nvPr/>
        </p:nvSpPr>
        <p:spPr>
          <a:xfrm>
            <a:off x="5080000" y="1219200"/>
            <a:ext cx="68072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5" name="tb"/>
          <p:cNvSpPr txBox="1"/>
          <p:nvPr/>
        </p:nvSpPr>
        <p:spPr>
          <a:xfrm>
            <a:off x="5334000" y="1447800"/>
            <a:ext cx="6350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S = XcᵀXc /(n−1)    →    R = D⁻¹ S D⁻¹</a:t>
            </a:r>
          </a:p>
        </p:txBody>
      </p:sp>
      <p:sp>
        <p:nvSpPr>
          <p:cNvPr id="6026" name="tb"/>
          <p:cNvSpPr txBox="1"/>
          <p:nvPr/>
        </p:nvSpPr>
        <p:spPr>
          <a:xfrm>
            <a:off x="6350000" y="2082800"/>
            <a:ext cx="1524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250" b="1" dirty="0">
                <a:solidFill>
                  <a:srgbClr val="6E6E6E"/>
                </a:solidFill>
              </a:rPr>
              <a:t>S</a:t>
            </a:r>
          </a:p>
        </p:txBody>
      </p:sp>
      <p:sp>
        <p:nvSpPr>
          <p:cNvPr id="6027" name="hl"/>
          <p:cNvSpPr/>
          <p:nvPr/>
        </p:nvSpPr>
        <p:spPr>
          <a:xfrm>
            <a:off x="5969000" y="2413000"/>
            <a:ext cx="762000" cy="4572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8" name="hl"/>
          <p:cNvSpPr/>
          <p:nvPr/>
        </p:nvSpPr>
        <p:spPr>
          <a:xfrm>
            <a:off x="6731000" y="2870200"/>
            <a:ext cx="762000" cy="4572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9" name="hl"/>
          <p:cNvSpPr/>
          <p:nvPr/>
        </p:nvSpPr>
        <p:spPr>
          <a:xfrm>
            <a:off x="5854700" y="2374900"/>
            <a:ext cx="38100" cy="990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0" name="hl"/>
          <p:cNvSpPr/>
          <p:nvPr/>
        </p:nvSpPr>
        <p:spPr>
          <a:xfrm>
            <a:off x="5854700" y="2374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1" name="hl"/>
          <p:cNvSpPr/>
          <p:nvPr/>
        </p:nvSpPr>
        <p:spPr>
          <a:xfrm>
            <a:off x="5854700" y="3327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2" name="hl"/>
          <p:cNvSpPr/>
          <p:nvPr/>
        </p:nvSpPr>
        <p:spPr>
          <a:xfrm>
            <a:off x="7569200" y="2374900"/>
            <a:ext cx="38100" cy="990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3" name="hl"/>
          <p:cNvSpPr/>
          <p:nvPr/>
        </p:nvSpPr>
        <p:spPr>
          <a:xfrm>
            <a:off x="7493000" y="2374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4" name="hl"/>
          <p:cNvSpPr/>
          <p:nvPr/>
        </p:nvSpPr>
        <p:spPr>
          <a:xfrm>
            <a:off x="7493000" y="3327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5" name="tb"/>
          <p:cNvSpPr txBox="1"/>
          <p:nvPr/>
        </p:nvSpPr>
        <p:spPr>
          <a:xfrm>
            <a:off x="5969000" y="24130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5.00</a:t>
            </a:r>
          </a:p>
        </p:txBody>
      </p:sp>
      <p:sp>
        <p:nvSpPr>
          <p:cNvPr id="6036" name="tb"/>
          <p:cNvSpPr txBox="1"/>
          <p:nvPr/>
        </p:nvSpPr>
        <p:spPr>
          <a:xfrm>
            <a:off x="6731000" y="24130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−4.00</a:t>
            </a:r>
          </a:p>
        </p:txBody>
      </p:sp>
      <p:sp>
        <p:nvSpPr>
          <p:cNvPr id="6037" name="tb"/>
          <p:cNvSpPr txBox="1"/>
          <p:nvPr/>
        </p:nvSpPr>
        <p:spPr>
          <a:xfrm>
            <a:off x="5969000" y="28702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−4.00</a:t>
            </a:r>
          </a:p>
        </p:txBody>
      </p:sp>
      <p:sp>
        <p:nvSpPr>
          <p:cNvPr id="6038" name="tb"/>
          <p:cNvSpPr txBox="1"/>
          <p:nvPr/>
        </p:nvSpPr>
        <p:spPr>
          <a:xfrm>
            <a:off x="6731000" y="28702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5.00</a:t>
            </a:r>
          </a:p>
        </p:txBody>
      </p:sp>
      <p:sp>
        <p:nvSpPr>
          <p:cNvPr id="6039" name="tb"/>
          <p:cNvSpPr txBox="1"/>
          <p:nvPr/>
        </p:nvSpPr>
        <p:spPr>
          <a:xfrm>
            <a:off x="10160000" y="2082800"/>
            <a:ext cx="1524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250" b="1" dirty="0">
                <a:solidFill>
                  <a:srgbClr val="6E6E6E"/>
                </a:solidFill>
              </a:rPr>
              <a:t>R</a:t>
            </a:r>
          </a:p>
        </p:txBody>
      </p:sp>
      <p:sp>
        <p:nvSpPr>
          <p:cNvPr id="6040" name="hl"/>
          <p:cNvSpPr/>
          <p:nvPr/>
        </p:nvSpPr>
        <p:spPr>
          <a:xfrm>
            <a:off x="9652000" y="2413000"/>
            <a:ext cx="762000" cy="4572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1" name="hl"/>
          <p:cNvSpPr/>
          <p:nvPr/>
        </p:nvSpPr>
        <p:spPr>
          <a:xfrm>
            <a:off x="10414000" y="2870200"/>
            <a:ext cx="762000" cy="457200"/>
          </a:xfrm>
          <a:prstGeom prst="rect">
            <a:avLst/>
          </a:prstGeom>
          <a:solidFill>
            <a:srgbClr val="7AB648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2" name="hl"/>
          <p:cNvSpPr/>
          <p:nvPr/>
        </p:nvSpPr>
        <p:spPr>
          <a:xfrm>
            <a:off x="9537700" y="2374900"/>
            <a:ext cx="38100" cy="990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3" name="hl"/>
          <p:cNvSpPr/>
          <p:nvPr/>
        </p:nvSpPr>
        <p:spPr>
          <a:xfrm>
            <a:off x="9537700" y="2374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4" name="hl"/>
          <p:cNvSpPr/>
          <p:nvPr/>
        </p:nvSpPr>
        <p:spPr>
          <a:xfrm>
            <a:off x="9537700" y="3327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5" name="hl"/>
          <p:cNvSpPr/>
          <p:nvPr/>
        </p:nvSpPr>
        <p:spPr>
          <a:xfrm>
            <a:off x="11252200" y="2374900"/>
            <a:ext cx="38100" cy="9906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6" name="hl"/>
          <p:cNvSpPr/>
          <p:nvPr/>
        </p:nvSpPr>
        <p:spPr>
          <a:xfrm>
            <a:off x="11176000" y="2374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7" name="hl"/>
          <p:cNvSpPr/>
          <p:nvPr/>
        </p:nvSpPr>
        <p:spPr>
          <a:xfrm>
            <a:off x="11176000" y="3327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48" name="tb"/>
          <p:cNvSpPr txBox="1"/>
          <p:nvPr/>
        </p:nvSpPr>
        <p:spPr>
          <a:xfrm>
            <a:off x="9652000" y="24130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1.00</a:t>
            </a:r>
          </a:p>
        </p:txBody>
      </p:sp>
      <p:sp>
        <p:nvSpPr>
          <p:cNvPr id="6049" name="tb"/>
          <p:cNvSpPr txBox="1"/>
          <p:nvPr/>
        </p:nvSpPr>
        <p:spPr>
          <a:xfrm>
            <a:off x="10414000" y="24130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−0.80</a:t>
            </a:r>
          </a:p>
        </p:txBody>
      </p:sp>
      <p:sp>
        <p:nvSpPr>
          <p:cNvPr id="6050" name="tb"/>
          <p:cNvSpPr txBox="1"/>
          <p:nvPr/>
        </p:nvSpPr>
        <p:spPr>
          <a:xfrm>
            <a:off x="9652000" y="28702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−0.80</a:t>
            </a:r>
          </a:p>
        </p:txBody>
      </p:sp>
      <p:sp>
        <p:nvSpPr>
          <p:cNvPr id="6051" name="tb"/>
          <p:cNvSpPr txBox="1"/>
          <p:nvPr/>
        </p:nvSpPr>
        <p:spPr>
          <a:xfrm>
            <a:off x="10414000" y="2870200"/>
            <a:ext cx="762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1.00</a:t>
            </a:r>
          </a:p>
        </p:txBody>
      </p:sp>
      <p:sp>
        <p:nvSpPr>
          <p:cNvPr id="6052" name="tb"/>
          <p:cNvSpPr txBox="1"/>
          <p:nvPr/>
        </p:nvSpPr>
        <p:spPr>
          <a:xfrm>
            <a:off x="5588000" y="4572000"/>
            <a:ext cx="5969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50" dirty="0">
                <a:solidFill>
                  <a:srgbClr val="6E6E6E"/>
                </a:solidFill>
              </a:rPr>
              <a:t>σ = ( </a:t>
            </a:r>
            <a:r>
              <a:rPr lang="en-US" sz="1250" b="1" dirty="0">
                <a:solidFill>
                  <a:srgbClr val="6E6E6E"/>
                </a:solidFill>
              </a:rPr>
              <a:t>2.24, 2.24</a:t>
            </a:r>
            <a:r>
              <a:rPr lang="en-US" sz="1250" dirty="0">
                <a:solidFill>
                  <a:srgbClr val="6E6E6E"/>
                </a:solidFill>
              </a:rPr>
              <a:t> )    ·    Rᵢⱼ = Sᵢⱼ /(σᵢ σⱼ)</a:t>
            </a:r>
          </a:p>
        </p:txBody>
      </p:sp>
      <p:sp>
        <p:nvSpPr>
          <p:cNvPr id="6053" name="cover"/>
          <p:cNvSpPr/>
          <p:nvPr/>
        </p:nvSpPr>
        <p:spPr>
          <a:xfrm>
            <a:off x="5181600" y="1778000"/>
            <a:ext cx="6604000" cy="3886200"/>
          </a:xfrm>
          <a:prstGeom prst="roundRect">
            <a:avLst>
              <a:gd name="adj" fmla="val 4000"/>
            </a:avLst>
          </a:prstGeom>
          <a:solidFill>
            <a:srgbClr val="4B2E83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Solution hidden</a:t>
            </a:r>
          </a:p>
          <a:p>
            <a:pPr algn="ctr"/>
            <a:r>
              <a:rPr lang="en-US" sz="1300" i="1" dirty="0">
                <a:solidFill>
                  <a:srgbClr val="E7DEF3"/>
                </a:solidFill>
              </a:rPr>
              <a:t>Work it out, then remove this cover to check.</a:t>
            </a:r>
          </a:p>
        </p:txBody>
      </p:sp>
    </p:spTree>
    <p:extLst>
      <p:ext uri="{BB962C8B-B14F-4D97-AF65-F5344CB8AC3E}">
        <p14:creationId xmlns:p14="http://schemas.microsoft.com/office/powerpoint/2010/main" val="1105016337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Standardization — Example 1  (5×2)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Z = (X − 1μᵀ) D⁻¹ — every column to mean 0, std 1.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Standardizing makes every feature mean 0 and std 1, removing units so features compare fairly.</a:t>
            </a:r>
          </a:p>
        </p:txBody>
      </p:sp>
      <p:sp>
        <p:nvSpPr>
          <p:cNvPr id="6000" name="pn"/>
          <p:cNvSpPr/>
          <p:nvPr/>
        </p:nvSpPr>
        <p:spPr>
          <a:xfrm>
            <a:off x="304800" y="1219200"/>
            <a:ext cx="45720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22400"/>
            <a:ext cx="4191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Data  X   (n=5, p=2)</a:t>
            </a:r>
          </a:p>
        </p:txBody>
      </p:sp>
      <p:sp>
        <p:nvSpPr>
          <p:cNvPr id="6002" name="tb"/>
          <p:cNvSpPr txBox="1"/>
          <p:nvPr/>
        </p:nvSpPr>
        <p:spPr>
          <a:xfrm>
            <a:off x="1905000" y="1803400"/>
            <a:ext cx="5588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6E6E6E"/>
                </a:solidFill>
              </a:rPr>
              <a:t>x₁</a:t>
            </a:r>
          </a:p>
        </p:txBody>
      </p:sp>
      <p:sp>
        <p:nvSpPr>
          <p:cNvPr id="6003" name="tb"/>
          <p:cNvSpPr txBox="1"/>
          <p:nvPr/>
        </p:nvSpPr>
        <p:spPr>
          <a:xfrm>
            <a:off x="2463800" y="1803400"/>
            <a:ext cx="5588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6E6E6E"/>
                </a:solidFill>
              </a:rPr>
              <a:t>x₂</a:t>
            </a:r>
          </a:p>
        </p:txBody>
      </p:sp>
      <p:sp>
        <p:nvSpPr>
          <p:cNvPr id="6004" name="hl"/>
          <p:cNvSpPr/>
          <p:nvPr/>
        </p:nvSpPr>
        <p:spPr>
          <a:xfrm>
            <a:off x="1790700" y="20193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5" name="hl"/>
          <p:cNvSpPr/>
          <p:nvPr/>
        </p:nvSpPr>
        <p:spPr>
          <a:xfrm>
            <a:off x="1790700" y="2019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6" name="hl"/>
          <p:cNvSpPr/>
          <p:nvPr/>
        </p:nvSpPr>
        <p:spPr>
          <a:xfrm>
            <a:off x="1790700" y="377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7" name="hl"/>
          <p:cNvSpPr/>
          <p:nvPr/>
        </p:nvSpPr>
        <p:spPr>
          <a:xfrm>
            <a:off x="3098800" y="20193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8" name="hl"/>
          <p:cNvSpPr/>
          <p:nvPr/>
        </p:nvSpPr>
        <p:spPr>
          <a:xfrm>
            <a:off x="3022600" y="2019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9" name="hl"/>
          <p:cNvSpPr/>
          <p:nvPr/>
        </p:nvSpPr>
        <p:spPr>
          <a:xfrm>
            <a:off x="3022600" y="377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0" name="tb"/>
          <p:cNvSpPr txBox="1"/>
          <p:nvPr/>
        </p:nvSpPr>
        <p:spPr>
          <a:xfrm>
            <a:off x="1905000" y="20574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6011" name="tb"/>
          <p:cNvSpPr txBox="1"/>
          <p:nvPr/>
        </p:nvSpPr>
        <p:spPr>
          <a:xfrm>
            <a:off x="2463800" y="20574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6012" name="tb"/>
          <p:cNvSpPr txBox="1"/>
          <p:nvPr/>
        </p:nvSpPr>
        <p:spPr>
          <a:xfrm>
            <a:off x="1905000" y="24003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13" name="tb"/>
          <p:cNvSpPr txBox="1"/>
          <p:nvPr/>
        </p:nvSpPr>
        <p:spPr>
          <a:xfrm>
            <a:off x="2463800" y="24003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6014" name="tb"/>
          <p:cNvSpPr txBox="1"/>
          <p:nvPr/>
        </p:nvSpPr>
        <p:spPr>
          <a:xfrm>
            <a:off x="1905000" y="2743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6015" name="tb"/>
          <p:cNvSpPr txBox="1"/>
          <p:nvPr/>
        </p:nvSpPr>
        <p:spPr>
          <a:xfrm>
            <a:off x="2463800" y="2743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8</a:t>
            </a:r>
          </a:p>
        </p:txBody>
      </p:sp>
      <p:sp>
        <p:nvSpPr>
          <p:cNvPr id="6016" name="tb"/>
          <p:cNvSpPr txBox="1"/>
          <p:nvPr/>
        </p:nvSpPr>
        <p:spPr>
          <a:xfrm>
            <a:off x="1905000" y="3086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8</a:t>
            </a:r>
          </a:p>
        </p:txBody>
      </p:sp>
      <p:sp>
        <p:nvSpPr>
          <p:cNvPr id="6017" name="tb"/>
          <p:cNvSpPr txBox="1"/>
          <p:nvPr/>
        </p:nvSpPr>
        <p:spPr>
          <a:xfrm>
            <a:off x="2463800" y="3086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18" name="tb"/>
          <p:cNvSpPr txBox="1"/>
          <p:nvPr/>
        </p:nvSpPr>
        <p:spPr>
          <a:xfrm>
            <a:off x="1905000" y="3429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19" name="tb"/>
          <p:cNvSpPr txBox="1"/>
          <p:nvPr/>
        </p:nvSpPr>
        <p:spPr>
          <a:xfrm>
            <a:off x="2463800" y="3429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558800" y="38735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50" b="1" dirty="0">
                <a:solidFill>
                  <a:srgbClr val="333333"/>
                </a:solidFill>
              </a:rPr>
              <a:t>μ = ( </a:t>
            </a:r>
            <a:r>
              <a:rPr lang="en-US" sz="1350" b="1" dirty="0">
                <a:solidFill>
                  <a:srgbClr val="4B2E83"/>
                </a:solidFill>
              </a:rPr>
              <a:t>5.00,  5.00</a:t>
            </a:r>
            <a:r>
              <a:rPr lang="en-US" sz="1350" b="1" dirty="0">
                <a:solidFill>
                  <a:srgbClr val="333333"/>
                </a:solidFill>
              </a:rPr>
              <a:t> )</a:t>
            </a:r>
          </a:p>
        </p:txBody>
      </p:sp>
      <p:sp>
        <p:nvSpPr>
          <p:cNvPr id="6021" name="tb"/>
          <p:cNvSpPr txBox="1"/>
          <p:nvPr/>
        </p:nvSpPr>
        <p:spPr>
          <a:xfrm>
            <a:off x="558800" y="42037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50" b="1" dirty="0">
                <a:solidFill>
                  <a:srgbClr val="333333"/>
                </a:solidFill>
              </a:rPr>
              <a:t>σ = ( </a:t>
            </a:r>
            <a:r>
              <a:rPr lang="en-US" sz="1350" b="1" dirty="0">
                <a:solidFill>
                  <a:srgbClr val="4B2E83"/>
                </a:solidFill>
              </a:rPr>
              <a:t>2.24,  2.24</a:t>
            </a:r>
            <a:r>
              <a:rPr lang="en-US" sz="1350" b="1" dirty="0">
                <a:solidFill>
                  <a:srgbClr val="333333"/>
                </a:solidFill>
              </a:rPr>
              <a:t> )</a:t>
            </a:r>
          </a:p>
        </p:txBody>
      </p:sp>
      <p:sp>
        <p:nvSpPr>
          <p:cNvPr id="6022" name="pn"/>
          <p:cNvSpPr/>
          <p:nvPr/>
        </p:nvSpPr>
        <p:spPr>
          <a:xfrm>
            <a:off x="5080000" y="1219200"/>
            <a:ext cx="68072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3" name="tb"/>
          <p:cNvSpPr txBox="1"/>
          <p:nvPr/>
        </p:nvSpPr>
        <p:spPr>
          <a:xfrm>
            <a:off x="5334000" y="1447800"/>
            <a:ext cx="6350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Z = Xc D⁻¹     (z = (x − μ)/σ)</a:t>
            </a:r>
          </a:p>
        </p:txBody>
      </p:sp>
      <p:sp>
        <p:nvSpPr>
          <p:cNvPr id="6024" name="tb"/>
          <p:cNvSpPr txBox="1"/>
          <p:nvPr/>
        </p:nvSpPr>
        <p:spPr>
          <a:xfrm>
            <a:off x="8128000" y="1905000"/>
            <a:ext cx="6096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6E6E6E"/>
                </a:solidFill>
              </a:rPr>
              <a:t>z₁</a:t>
            </a:r>
          </a:p>
        </p:txBody>
      </p:sp>
      <p:sp>
        <p:nvSpPr>
          <p:cNvPr id="6025" name="tb"/>
          <p:cNvSpPr txBox="1"/>
          <p:nvPr/>
        </p:nvSpPr>
        <p:spPr>
          <a:xfrm>
            <a:off x="8737600" y="1905000"/>
            <a:ext cx="6096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6E6E6E"/>
                </a:solidFill>
              </a:rPr>
              <a:t>z₂</a:t>
            </a:r>
          </a:p>
        </p:txBody>
      </p:sp>
      <p:sp>
        <p:nvSpPr>
          <p:cNvPr id="6026" name="hl"/>
          <p:cNvSpPr/>
          <p:nvPr/>
        </p:nvSpPr>
        <p:spPr>
          <a:xfrm>
            <a:off x="8013700" y="2146300"/>
            <a:ext cx="38100" cy="1981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7" name="hl"/>
          <p:cNvSpPr/>
          <p:nvPr/>
        </p:nvSpPr>
        <p:spPr>
          <a:xfrm>
            <a:off x="8013700" y="2146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8" name="hl"/>
          <p:cNvSpPr/>
          <p:nvPr/>
        </p:nvSpPr>
        <p:spPr>
          <a:xfrm>
            <a:off x="8013700" y="4089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9" name="hl"/>
          <p:cNvSpPr/>
          <p:nvPr/>
        </p:nvSpPr>
        <p:spPr>
          <a:xfrm>
            <a:off x="9423400" y="2146300"/>
            <a:ext cx="38100" cy="1981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0" name="hl"/>
          <p:cNvSpPr/>
          <p:nvPr/>
        </p:nvSpPr>
        <p:spPr>
          <a:xfrm>
            <a:off x="9347200" y="2146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1" name="hl"/>
          <p:cNvSpPr/>
          <p:nvPr/>
        </p:nvSpPr>
        <p:spPr>
          <a:xfrm>
            <a:off x="9347200" y="4089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2" name="tb"/>
          <p:cNvSpPr txBox="1"/>
          <p:nvPr/>
        </p:nvSpPr>
        <p:spPr>
          <a:xfrm>
            <a:off x="8128000" y="2184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−1.34</a:t>
            </a:r>
          </a:p>
        </p:txBody>
      </p:sp>
      <p:sp>
        <p:nvSpPr>
          <p:cNvPr id="6033" name="tb"/>
          <p:cNvSpPr txBox="1"/>
          <p:nvPr/>
        </p:nvSpPr>
        <p:spPr>
          <a:xfrm>
            <a:off x="8737600" y="2184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0.45</a:t>
            </a:r>
          </a:p>
        </p:txBody>
      </p:sp>
      <p:sp>
        <p:nvSpPr>
          <p:cNvPr id="6034" name="tb"/>
          <p:cNvSpPr txBox="1"/>
          <p:nvPr/>
        </p:nvSpPr>
        <p:spPr>
          <a:xfrm>
            <a:off x="8128000" y="2565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−0.45</a:t>
            </a:r>
          </a:p>
        </p:txBody>
      </p:sp>
      <p:sp>
        <p:nvSpPr>
          <p:cNvPr id="6035" name="tb"/>
          <p:cNvSpPr txBox="1"/>
          <p:nvPr/>
        </p:nvSpPr>
        <p:spPr>
          <a:xfrm>
            <a:off x="8737600" y="2565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−1.34</a:t>
            </a:r>
          </a:p>
        </p:txBody>
      </p:sp>
      <p:sp>
        <p:nvSpPr>
          <p:cNvPr id="6036" name="tb"/>
          <p:cNvSpPr txBox="1"/>
          <p:nvPr/>
        </p:nvSpPr>
        <p:spPr>
          <a:xfrm>
            <a:off x="8128000" y="2946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0.45</a:t>
            </a:r>
          </a:p>
        </p:txBody>
      </p:sp>
      <p:sp>
        <p:nvSpPr>
          <p:cNvPr id="6037" name="tb"/>
          <p:cNvSpPr txBox="1"/>
          <p:nvPr/>
        </p:nvSpPr>
        <p:spPr>
          <a:xfrm>
            <a:off x="8737600" y="2946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1.34</a:t>
            </a:r>
          </a:p>
        </p:txBody>
      </p:sp>
      <p:sp>
        <p:nvSpPr>
          <p:cNvPr id="6038" name="tb"/>
          <p:cNvSpPr txBox="1"/>
          <p:nvPr/>
        </p:nvSpPr>
        <p:spPr>
          <a:xfrm>
            <a:off x="8128000" y="3327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1.34</a:t>
            </a:r>
          </a:p>
        </p:txBody>
      </p:sp>
      <p:sp>
        <p:nvSpPr>
          <p:cNvPr id="6039" name="tb"/>
          <p:cNvSpPr txBox="1"/>
          <p:nvPr/>
        </p:nvSpPr>
        <p:spPr>
          <a:xfrm>
            <a:off x="8737600" y="3327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−0.45</a:t>
            </a:r>
          </a:p>
        </p:txBody>
      </p:sp>
      <p:sp>
        <p:nvSpPr>
          <p:cNvPr id="6040" name="tb"/>
          <p:cNvSpPr txBox="1"/>
          <p:nvPr/>
        </p:nvSpPr>
        <p:spPr>
          <a:xfrm>
            <a:off x="8128000" y="3708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0.00</a:t>
            </a:r>
          </a:p>
        </p:txBody>
      </p:sp>
      <p:sp>
        <p:nvSpPr>
          <p:cNvPr id="6041" name="tb"/>
          <p:cNvSpPr txBox="1"/>
          <p:nvPr/>
        </p:nvSpPr>
        <p:spPr>
          <a:xfrm>
            <a:off x="8737600" y="3708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0.00</a:t>
            </a:r>
          </a:p>
        </p:txBody>
      </p:sp>
      <p:sp>
        <p:nvSpPr>
          <p:cNvPr id="6042" name="tb"/>
          <p:cNvSpPr txBox="1"/>
          <p:nvPr/>
        </p:nvSpPr>
        <p:spPr>
          <a:xfrm>
            <a:off x="5461000" y="4572000"/>
            <a:ext cx="6350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00" i="1" dirty="0">
                <a:solidFill>
                  <a:srgbClr val="6E6E6E"/>
                </a:solidFill>
              </a:rPr>
              <a:t>Each column of Z now has mean 0 and standard deviation 1.</a:t>
            </a:r>
          </a:p>
        </p:txBody>
      </p:sp>
    </p:spTree>
    <p:extLst>
      <p:ext uri="{BB962C8B-B14F-4D97-AF65-F5344CB8AC3E}">
        <p14:creationId xmlns:p14="http://schemas.microsoft.com/office/powerpoint/2010/main" val="1078847414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Standardization — Example 2  (5×2)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Z = (X − 1μᵀ) D⁻¹ — every column to mean 0, std 1.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Standardizing makes every feature mean 0 and std 1, removing units so features compare fairly.</a:t>
            </a:r>
          </a:p>
        </p:txBody>
      </p:sp>
      <p:sp>
        <p:nvSpPr>
          <p:cNvPr id="6000" name="pn"/>
          <p:cNvSpPr/>
          <p:nvPr/>
        </p:nvSpPr>
        <p:spPr>
          <a:xfrm>
            <a:off x="304800" y="1219200"/>
            <a:ext cx="45720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22400"/>
            <a:ext cx="4191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Data  X   (n=5, p=2)</a:t>
            </a:r>
          </a:p>
        </p:txBody>
      </p:sp>
      <p:sp>
        <p:nvSpPr>
          <p:cNvPr id="6002" name="tb"/>
          <p:cNvSpPr txBox="1"/>
          <p:nvPr/>
        </p:nvSpPr>
        <p:spPr>
          <a:xfrm>
            <a:off x="1905000" y="1803400"/>
            <a:ext cx="5588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6E6E6E"/>
                </a:solidFill>
              </a:rPr>
              <a:t>x₁</a:t>
            </a:r>
          </a:p>
        </p:txBody>
      </p:sp>
      <p:sp>
        <p:nvSpPr>
          <p:cNvPr id="6003" name="tb"/>
          <p:cNvSpPr txBox="1"/>
          <p:nvPr/>
        </p:nvSpPr>
        <p:spPr>
          <a:xfrm>
            <a:off x="2463800" y="1803400"/>
            <a:ext cx="5588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6E6E6E"/>
                </a:solidFill>
              </a:rPr>
              <a:t>x₂</a:t>
            </a:r>
          </a:p>
        </p:txBody>
      </p:sp>
      <p:sp>
        <p:nvSpPr>
          <p:cNvPr id="6004" name="hl"/>
          <p:cNvSpPr/>
          <p:nvPr/>
        </p:nvSpPr>
        <p:spPr>
          <a:xfrm>
            <a:off x="1790700" y="20193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5" name="hl"/>
          <p:cNvSpPr/>
          <p:nvPr/>
        </p:nvSpPr>
        <p:spPr>
          <a:xfrm>
            <a:off x="1790700" y="2019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6" name="hl"/>
          <p:cNvSpPr/>
          <p:nvPr/>
        </p:nvSpPr>
        <p:spPr>
          <a:xfrm>
            <a:off x="1790700" y="377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7" name="hl"/>
          <p:cNvSpPr/>
          <p:nvPr/>
        </p:nvSpPr>
        <p:spPr>
          <a:xfrm>
            <a:off x="3098800" y="20193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8" name="hl"/>
          <p:cNvSpPr/>
          <p:nvPr/>
        </p:nvSpPr>
        <p:spPr>
          <a:xfrm>
            <a:off x="3022600" y="2019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9" name="hl"/>
          <p:cNvSpPr/>
          <p:nvPr/>
        </p:nvSpPr>
        <p:spPr>
          <a:xfrm>
            <a:off x="3022600" y="377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0" name="tb"/>
          <p:cNvSpPr txBox="1"/>
          <p:nvPr/>
        </p:nvSpPr>
        <p:spPr>
          <a:xfrm>
            <a:off x="1905000" y="20574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11" name="tb"/>
          <p:cNvSpPr txBox="1"/>
          <p:nvPr/>
        </p:nvSpPr>
        <p:spPr>
          <a:xfrm>
            <a:off x="2463800" y="20574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12" name="tb"/>
          <p:cNvSpPr txBox="1"/>
          <p:nvPr/>
        </p:nvSpPr>
        <p:spPr>
          <a:xfrm>
            <a:off x="1905000" y="24003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6013" name="tb"/>
          <p:cNvSpPr txBox="1"/>
          <p:nvPr/>
        </p:nvSpPr>
        <p:spPr>
          <a:xfrm>
            <a:off x="2463800" y="24003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8</a:t>
            </a:r>
          </a:p>
        </p:txBody>
      </p:sp>
      <p:sp>
        <p:nvSpPr>
          <p:cNvPr id="6014" name="tb"/>
          <p:cNvSpPr txBox="1"/>
          <p:nvPr/>
        </p:nvSpPr>
        <p:spPr>
          <a:xfrm>
            <a:off x="1905000" y="2743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15" name="tb"/>
          <p:cNvSpPr txBox="1"/>
          <p:nvPr/>
        </p:nvSpPr>
        <p:spPr>
          <a:xfrm>
            <a:off x="2463800" y="2743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6016" name="tb"/>
          <p:cNvSpPr txBox="1"/>
          <p:nvPr/>
        </p:nvSpPr>
        <p:spPr>
          <a:xfrm>
            <a:off x="1905000" y="3086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7</a:t>
            </a:r>
          </a:p>
        </p:txBody>
      </p:sp>
      <p:sp>
        <p:nvSpPr>
          <p:cNvPr id="6017" name="tb"/>
          <p:cNvSpPr txBox="1"/>
          <p:nvPr/>
        </p:nvSpPr>
        <p:spPr>
          <a:xfrm>
            <a:off x="2463800" y="3086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6018" name="tb"/>
          <p:cNvSpPr txBox="1"/>
          <p:nvPr/>
        </p:nvSpPr>
        <p:spPr>
          <a:xfrm>
            <a:off x="1905000" y="3429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9</a:t>
            </a:r>
          </a:p>
        </p:txBody>
      </p:sp>
      <p:sp>
        <p:nvSpPr>
          <p:cNvPr id="6019" name="tb"/>
          <p:cNvSpPr txBox="1"/>
          <p:nvPr/>
        </p:nvSpPr>
        <p:spPr>
          <a:xfrm>
            <a:off x="2463800" y="3429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558800" y="38735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50" b="1" dirty="0">
                <a:solidFill>
                  <a:srgbClr val="333333"/>
                </a:solidFill>
              </a:rPr>
              <a:t>μ = ( </a:t>
            </a:r>
            <a:r>
              <a:rPr lang="en-US" sz="1350" b="1" dirty="0">
                <a:solidFill>
                  <a:srgbClr val="4B2E83"/>
                </a:solidFill>
              </a:rPr>
              <a:t>5.00,  5.00</a:t>
            </a:r>
            <a:r>
              <a:rPr lang="en-US" sz="1350" b="1" dirty="0">
                <a:solidFill>
                  <a:srgbClr val="333333"/>
                </a:solidFill>
              </a:rPr>
              <a:t> )</a:t>
            </a:r>
          </a:p>
        </p:txBody>
      </p:sp>
      <p:sp>
        <p:nvSpPr>
          <p:cNvPr id="6021" name="tb"/>
          <p:cNvSpPr txBox="1"/>
          <p:nvPr/>
        </p:nvSpPr>
        <p:spPr>
          <a:xfrm>
            <a:off x="558800" y="42037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50" b="1" dirty="0">
                <a:solidFill>
                  <a:srgbClr val="333333"/>
                </a:solidFill>
              </a:rPr>
              <a:t>σ = ( </a:t>
            </a:r>
            <a:r>
              <a:rPr lang="en-US" sz="1350" b="1" dirty="0">
                <a:solidFill>
                  <a:srgbClr val="4B2E83"/>
                </a:solidFill>
              </a:rPr>
              <a:t>3.16,  2.24</a:t>
            </a:r>
            <a:r>
              <a:rPr lang="en-US" sz="1350" b="1" dirty="0">
                <a:solidFill>
                  <a:srgbClr val="333333"/>
                </a:solidFill>
              </a:rPr>
              <a:t> )</a:t>
            </a:r>
          </a:p>
        </p:txBody>
      </p:sp>
      <p:sp>
        <p:nvSpPr>
          <p:cNvPr id="6022" name="pn"/>
          <p:cNvSpPr/>
          <p:nvPr/>
        </p:nvSpPr>
        <p:spPr>
          <a:xfrm>
            <a:off x="5080000" y="1219200"/>
            <a:ext cx="68072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3" name="tb"/>
          <p:cNvSpPr txBox="1"/>
          <p:nvPr/>
        </p:nvSpPr>
        <p:spPr>
          <a:xfrm>
            <a:off x="5334000" y="1447800"/>
            <a:ext cx="6350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Z = Xc D⁻¹     (z = (x − μ)/σ)</a:t>
            </a:r>
          </a:p>
        </p:txBody>
      </p:sp>
      <p:sp>
        <p:nvSpPr>
          <p:cNvPr id="6024" name="tb"/>
          <p:cNvSpPr txBox="1"/>
          <p:nvPr/>
        </p:nvSpPr>
        <p:spPr>
          <a:xfrm>
            <a:off x="8128000" y="1905000"/>
            <a:ext cx="6096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6E6E6E"/>
                </a:solidFill>
              </a:rPr>
              <a:t>z₁</a:t>
            </a:r>
          </a:p>
        </p:txBody>
      </p:sp>
      <p:sp>
        <p:nvSpPr>
          <p:cNvPr id="6025" name="tb"/>
          <p:cNvSpPr txBox="1"/>
          <p:nvPr/>
        </p:nvSpPr>
        <p:spPr>
          <a:xfrm>
            <a:off x="8737600" y="1905000"/>
            <a:ext cx="6096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6E6E6E"/>
                </a:solidFill>
              </a:rPr>
              <a:t>z₂</a:t>
            </a:r>
          </a:p>
        </p:txBody>
      </p:sp>
      <p:sp>
        <p:nvSpPr>
          <p:cNvPr id="6026" name="hl"/>
          <p:cNvSpPr/>
          <p:nvPr/>
        </p:nvSpPr>
        <p:spPr>
          <a:xfrm>
            <a:off x="8013700" y="2146300"/>
            <a:ext cx="38100" cy="1981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7" name="hl"/>
          <p:cNvSpPr/>
          <p:nvPr/>
        </p:nvSpPr>
        <p:spPr>
          <a:xfrm>
            <a:off x="8013700" y="2146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8" name="hl"/>
          <p:cNvSpPr/>
          <p:nvPr/>
        </p:nvSpPr>
        <p:spPr>
          <a:xfrm>
            <a:off x="8013700" y="4089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9" name="hl"/>
          <p:cNvSpPr/>
          <p:nvPr/>
        </p:nvSpPr>
        <p:spPr>
          <a:xfrm>
            <a:off x="9423400" y="2146300"/>
            <a:ext cx="38100" cy="1981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0" name="hl"/>
          <p:cNvSpPr/>
          <p:nvPr/>
        </p:nvSpPr>
        <p:spPr>
          <a:xfrm>
            <a:off x="9347200" y="2146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1" name="hl"/>
          <p:cNvSpPr/>
          <p:nvPr/>
        </p:nvSpPr>
        <p:spPr>
          <a:xfrm>
            <a:off x="9347200" y="4089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2" name="tb"/>
          <p:cNvSpPr txBox="1"/>
          <p:nvPr/>
        </p:nvSpPr>
        <p:spPr>
          <a:xfrm>
            <a:off x="8128000" y="2184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−1.26</a:t>
            </a:r>
          </a:p>
        </p:txBody>
      </p:sp>
      <p:sp>
        <p:nvSpPr>
          <p:cNvPr id="6033" name="tb"/>
          <p:cNvSpPr txBox="1"/>
          <p:nvPr/>
        </p:nvSpPr>
        <p:spPr>
          <a:xfrm>
            <a:off x="8737600" y="2184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−0.45</a:t>
            </a:r>
          </a:p>
        </p:txBody>
      </p:sp>
      <p:sp>
        <p:nvSpPr>
          <p:cNvPr id="6034" name="tb"/>
          <p:cNvSpPr txBox="1"/>
          <p:nvPr/>
        </p:nvSpPr>
        <p:spPr>
          <a:xfrm>
            <a:off x="8128000" y="2565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−0.63</a:t>
            </a:r>
          </a:p>
        </p:txBody>
      </p:sp>
      <p:sp>
        <p:nvSpPr>
          <p:cNvPr id="6035" name="tb"/>
          <p:cNvSpPr txBox="1"/>
          <p:nvPr/>
        </p:nvSpPr>
        <p:spPr>
          <a:xfrm>
            <a:off x="8737600" y="2565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1.34</a:t>
            </a:r>
          </a:p>
        </p:txBody>
      </p:sp>
      <p:sp>
        <p:nvSpPr>
          <p:cNvPr id="6036" name="tb"/>
          <p:cNvSpPr txBox="1"/>
          <p:nvPr/>
        </p:nvSpPr>
        <p:spPr>
          <a:xfrm>
            <a:off x="8128000" y="2946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0.00</a:t>
            </a:r>
          </a:p>
        </p:txBody>
      </p:sp>
      <p:sp>
        <p:nvSpPr>
          <p:cNvPr id="6037" name="tb"/>
          <p:cNvSpPr txBox="1"/>
          <p:nvPr/>
        </p:nvSpPr>
        <p:spPr>
          <a:xfrm>
            <a:off x="8737600" y="2946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−1.34</a:t>
            </a:r>
          </a:p>
        </p:txBody>
      </p:sp>
      <p:sp>
        <p:nvSpPr>
          <p:cNvPr id="6038" name="tb"/>
          <p:cNvSpPr txBox="1"/>
          <p:nvPr/>
        </p:nvSpPr>
        <p:spPr>
          <a:xfrm>
            <a:off x="8128000" y="3327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0.63</a:t>
            </a:r>
          </a:p>
        </p:txBody>
      </p:sp>
      <p:sp>
        <p:nvSpPr>
          <p:cNvPr id="6039" name="tb"/>
          <p:cNvSpPr txBox="1"/>
          <p:nvPr/>
        </p:nvSpPr>
        <p:spPr>
          <a:xfrm>
            <a:off x="8737600" y="3327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0.45</a:t>
            </a:r>
          </a:p>
        </p:txBody>
      </p:sp>
      <p:sp>
        <p:nvSpPr>
          <p:cNvPr id="6040" name="tb"/>
          <p:cNvSpPr txBox="1"/>
          <p:nvPr/>
        </p:nvSpPr>
        <p:spPr>
          <a:xfrm>
            <a:off x="8128000" y="3708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1.26</a:t>
            </a:r>
          </a:p>
        </p:txBody>
      </p:sp>
      <p:sp>
        <p:nvSpPr>
          <p:cNvPr id="6041" name="tb"/>
          <p:cNvSpPr txBox="1"/>
          <p:nvPr/>
        </p:nvSpPr>
        <p:spPr>
          <a:xfrm>
            <a:off x="8737600" y="3708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0.00</a:t>
            </a:r>
          </a:p>
        </p:txBody>
      </p:sp>
      <p:sp>
        <p:nvSpPr>
          <p:cNvPr id="6042" name="tb"/>
          <p:cNvSpPr txBox="1"/>
          <p:nvPr/>
        </p:nvSpPr>
        <p:spPr>
          <a:xfrm>
            <a:off x="5461000" y="4572000"/>
            <a:ext cx="6350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00" i="1" dirty="0">
                <a:solidFill>
                  <a:srgbClr val="6E6E6E"/>
                </a:solidFill>
              </a:rPr>
              <a:t>Each column of Z now has mean 0 and standard deviation 1.</a:t>
            </a:r>
          </a:p>
        </p:txBody>
      </p:sp>
    </p:spTree>
    <p:extLst>
      <p:ext uri="{BB962C8B-B14F-4D97-AF65-F5344CB8AC3E}">
        <p14:creationId xmlns:p14="http://schemas.microsoft.com/office/powerpoint/2010/main" val="682482569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Standardization — Example 3  (5×2)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Z = (X − 1μᵀ) D⁻¹ — every column to mean 0, std 1.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Standardizing makes every feature mean 0 and std 1, removing units so features compare fairly.</a:t>
            </a:r>
          </a:p>
        </p:txBody>
      </p:sp>
      <p:sp>
        <p:nvSpPr>
          <p:cNvPr id="6000" name="pn"/>
          <p:cNvSpPr/>
          <p:nvPr/>
        </p:nvSpPr>
        <p:spPr>
          <a:xfrm>
            <a:off x="304800" y="1219200"/>
            <a:ext cx="45720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22400"/>
            <a:ext cx="4191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Data  X   (n=5, p=2)</a:t>
            </a:r>
          </a:p>
        </p:txBody>
      </p:sp>
      <p:sp>
        <p:nvSpPr>
          <p:cNvPr id="6002" name="tb"/>
          <p:cNvSpPr txBox="1"/>
          <p:nvPr/>
        </p:nvSpPr>
        <p:spPr>
          <a:xfrm>
            <a:off x="1905000" y="1803400"/>
            <a:ext cx="5588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6E6E6E"/>
                </a:solidFill>
              </a:rPr>
              <a:t>x₁</a:t>
            </a:r>
          </a:p>
        </p:txBody>
      </p:sp>
      <p:sp>
        <p:nvSpPr>
          <p:cNvPr id="6003" name="tb"/>
          <p:cNvSpPr txBox="1"/>
          <p:nvPr/>
        </p:nvSpPr>
        <p:spPr>
          <a:xfrm>
            <a:off x="2463800" y="1803400"/>
            <a:ext cx="5588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6E6E6E"/>
                </a:solidFill>
              </a:rPr>
              <a:t>x₂</a:t>
            </a:r>
          </a:p>
        </p:txBody>
      </p:sp>
      <p:sp>
        <p:nvSpPr>
          <p:cNvPr id="6004" name="hl"/>
          <p:cNvSpPr/>
          <p:nvPr/>
        </p:nvSpPr>
        <p:spPr>
          <a:xfrm>
            <a:off x="1790700" y="20193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5" name="hl"/>
          <p:cNvSpPr/>
          <p:nvPr/>
        </p:nvSpPr>
        <p:spPr>
          <a:xfrm>
            <a:off x="1790700" y="2019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6" name="hl"/>
          <p:cNvSpPr/>
          <p:nvPr/>
        </p:nvSpPr>
        <p:spPr>
          <a:xfrm>
            <a:off x="1790700" y="377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7" name="hl"/>
          <p:cNvSpPr/>
          <p:nvPr/>
        </p:nvSpPr>
        <p:spPr>
          <a:xfrm>
            <a:off x="3098800" y="20193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8" name="hl"/>
          <p:cNvSpPr/>
          <p:nvPr/>
        </p:nvSpPr>
        <p:spPr>
          <a:xfrm>
            <a:off x="3022600" y="2019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9" name="hl"/>
          <p:cNvSpPr/>
          <p:nvPr/>
        </p:nvSpPr>
        <p:spPr>
          <a:xfrm>
            <a:off x="3022600" y="377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0" name="tb"/>
          <p:cNvSpPr txBox="1"/>
          <p:nvPr/>
        </p:nvSpPr>
        <p:spPr>
          <a:xfrm>
            <a:off x="1905000" y="20574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6011" name="tb"/>
          <p:cNvSpPr txBox="1"/>
          <p:nvPr/>
        </p:nvSpPr>
        <p:spPr>
          <a:xfrm>
            <a:off x="2463800" y="20574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9</a:t>
            </a:r>
          </a:p>
        </p:txBody>
      </p:sp>
      <p:sp>
        <p:nvSpPr>
          <p:cNvPr id="6012" name="tb"/>
          <p:cNvSpPr txBox="1"/>
          <p:nvPr/>
        </p:nvSpPr>
        <p:spPr>
          <a:xfrm>
            <a:off x="1905000" y="24003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13" name="tb"/>
          <p:cNvSpPr txBox="1"/>
          <p:nvPr/>
        </p:nvSpPr>
        <p:spPr>
          <a:xfrm>
            <a:off x="2463800" y="24003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14" name="tb"/>
          <p:cNvSpPr txBox="1"/>
          <p:nvPr/>
        </p:nvSpPr>
        <p:spPr>
          <a:xfrm>
            <a:off x="1905000" y="2743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7</a:t>
            </a:r>
          </a:p>
        </p:txBody>
      </p:sp>
      <p:sp>
        <p:nvSpPr>
          <p:cNvPr id="6015" name="tb"/>
          <p:cNvSpPr txBox="1"/>
          <p:nvPr/>
        </p:nvSpPr>
        <p:spPr>
          <a:xfrm>
            <a:off x="2463800" y="2743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16" name="tb"/>
          <p:cNvSpPr txBox="1"/>
          <p:nvPr/>
        </p:nvSpPr>
        <p:spPr>
          <a:xfrm>
            <a:off x="1905000" y="3086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6017" name="tb"/>
          <p:cNvSpPr txBox="1"/>
          <p:nvPr/>
        </p:nvSpPr>
        <p:spPr>
          <a:xfrm>
            <a:off x="2463800" y="3086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7</a:t>
            </a:r>
          </a:p>
        </p:txBody>
      </p:sp>
      <p:sp>
        <p:nvSpPr>
          <p:cNvPr id="6018" name="tb"/>
          <p:cNvSpPr txBox="1"/>
          <p:nvPr/>
        </p:nvSpPr>
        <p:spPr>
          <a:xfrm>
            <a:off x="1905000" y="3429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8</a:t>
            </a:r>
          </a:p>
        </p:txBody>
      </p:sp>
      <p:sp>
        <p:nvSpPr>
          <p:cNvPr id="6019" name="tb"/>
          <p:cNvSpPr txBox="1"/>
          <p:nvPr/>
        </p:nvSpPr>
        <p:spPr>
          <a:xfrm>
            <a:off x="2463800" y="3429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558800" y="38735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50" b="1" dirty="0">
                <a:solidFill>
                  <a:srgbClr val="333333"/>
                </a:solidFill>
              </a:rPr>
              <a:t>μ = ( </a:t>
            </a:r>
            <a:r>
              <a:rPr lang="en-US" sz="1350" b="1" dirty="0">
                <a:solidFill>
                  <a:srgbClr val="4B2E83"/>
                </a:solidFill>
              </a:rPr>
              <a:t>5.00,  5.00</a:t>
            </a:r>
            <a:r>
              <a:rPr lang="en-US" sz="1350" b="1" dirty="0">
                <a:solidFill>
                  <a:srgbClr val="333333"/>
                </a:solidFill>
              </a:rPr>
              <a:t> )</a:t>
            </a:r>
          </a:p>
        </p:txBody>
      </p:sp>
      <p:sp>
        <p:nvSpPr>
          <p:cNvPr id="6021" name="tb"/>
          <p:cNvSpPr txBox="1"/>
          <p:nvPr/>
        </p:nvSpPr>
        <p:spPr>
          <a:xfrm>
            <a:off x="558800" y="42037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50" b="1" dirty="0">
                <a:solidFill>
                  <a:srgbClr val="333333"/>
                </a:solidFill>
              </a:rPr>
              <a:t>σ = ( </a:t>
            </a:r>
            <a:r>
              <a:rPr lang="en-US" sz="1350" b="1" dirty="0">
                <a:solidFill>
                  <a:srgbClr val="4B2E83"/>
                </a:solidFill>
              </a:rPr>
              <a:t>2.55,  3.16</a:t>
            </a:r>
            <a:r>
              <a:rPr lang="en-US" sz="1350" b="1" dirty="0">
                <a:solidFill>
                  <a:srgbClr val="333333"/>
                </a:solidFill>
              </a:rPr>
              <a:t> )</a:t>
            </a:r>
          </a:p>
        </p:txBody>
      </p:sp>
      <p:sp>
        <p:nvSpPr>
          <p:cNvPr id="6022" name="pn"/>
          <p:cNvSpPr/>
          <p:nvPr/>
        </p:nvSpPr>
        <p:spPr>
          <a:xfrm>
            <a:off x="5080000" y="1219200"/>
            <a:ext cx="68072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3" name="tb"/>
          <p:cNvSpPr txBox="1"/>
          <p:nvPr/>
        </p:nvSpPr>
        <p:spPr>
          <a:xfrm>
            <a:off x="5334000" y="1447800"/>
            <a:ext cx="6350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Z = Xc D⁻¹     (z = (x − μ)/σ)</a:t>
            </a:r>
          </a:p>
        </p:txBody>
      </p:sp>
      <p:sp>
        <p:nvSpPr>
          <p:cNvPr id="6024" name="tb"/>
          <p:cNvSpPr txBox="1"/>
          <p:nvPr/>
        </p:nvSpPr>
        <p:spPr>
          <a:xfrm>
            <a:off x="8128000" y="1905000"/>
            <a:ext cx="6096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6E6E6E"/>
                </a:solidFill>
              </a:rPr>
              <a:t>z₁</a:t>
            </a:r>
          </a:p>
        </p:txBody>
      </p:sp>
      <p:sp>
        <p:nvSpPr>
          <p:cNvPr id="6025" name="tb"/>
          <p:cNvSpPr txBox="1"/>
          <p:nvPr/>
        </p:nvSpPr>
        <p:spPr>
          <a:xfrm>
            <a:off x="8737600" y="1905000"/>
            <a:ext cx="6096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6E6E6E"/>
                </a:solidFill>
              </a:rPr>
              <a:t>z₂</a:t>
            </a:r>
          </a:p>
        </p:txBody>
      </p:sp>
      <p:sp>
        <p:nvSpPr>
          <p:cNvPr id="6026" name="hl"/>
          <p:cNvSpPr/>
          <p:nvPr/>
        </p:nvSpPr>
        <p:spPr>
          <a:xfrm>
            <a:off x="8013700" y="2146300"/>
            <a:ext cx="38100" cy="1981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7" name="hl"/>
          <p:cNvSpPr/>
          <p:nvPr/>
        </p:nvSpPr>
        <p:spPr>
          <a:xfrm>
            <a:off x="8013700" y="2146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8" name="hl"/>
          <p:cNvSpPr/>
          <p:nvPr/>
        </p:nvSpPr>
        <p:spPr>
          <a:xfrm>
            <a:off x="8013700" y="4089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9" name="hl"/>
          <p:cNvSpPr/>
          <p:nvPr/>
        </p:nvSpPr>
        <p:spPr>
          <a:xfrm>
            <a:off x="9423400" y="2146300"/>
            <a:ext cx="38100" cy="1981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0" name="hl"/>
          <p:cNvSpPr/>
          <p:nvPr/>
        </p:nvSpPr>
        <p:spPr>
          <a:xfrm>
            <a:off x="9347200" y="2146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1" name="hl"/>
          <p:cNvSpPr/>
          <p:nvPr/>
        </p:nvSpPr>
        <p:spPr>
          <a:xfrm>
            <a:off x="9347200" y="4089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2" name="tb"/>
          <p:cNvSpPr txBox="1"/>
          <p:nvPr/>
        </p:nvSpPr>
        <p:spPr>
          <a:xfrm>
            <a:off x="8128000" y="2184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−0.78</a:t>
            </a:r>
          </a:p>
        </p:txBody>
      </p:sp>
      <p:sp>
        <p:nvSpPr>
          <p:cNvPr id="6033" name="tb"/>
          <p:cNvSpPr txBox="1"/>
          <p:nvPr/>
        </p:nvSpPr>
        <p:spPr>
          <a:xfrm>
            <a:off x="8737600" y="2184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1.26</a:t>
            </a:r>
          </a:p>
        </p:txBody>
      </p:sp>
      <p:sp>
        <p:nvSpPr>
          <p:cNvPr id="6034" name="tb"/>
          <p:cNvSpPr txBox="1"/>
          <p:nvPr/>
        </p:nvSpPr>
        <p:spPr>
          <a:xfrm>
            <a:off x="8128000" y="2565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0.00</a:t>
            </a:r>
          </a:p>
        </p:txBody>
      </p:sp>
      <p:sp>
        <p:nvSpPr>
          <p:cNvPr id="6035" name="tb"/>
          <p:cNvSpPr txBox="1"/>
          <p:nvPr/>
        </p:nvSpPr>
        <p:spPr>
          <a:xfrm>
            <a:off x="8737600" y="2565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0.00</a:t>
            </a:r>
          </a:p>
        </p:txBody>
      </p:sp>
      <p:sp>
        <p:nvSpPr>
          <p:cNvPr id="6036" name="tb"/>
          <p:cNvSpPr txBox="1"/>
          <p:nvPr/>
        </p:nvSpPr>
        <p:spPr>
          <a:xfrm>
            <a:off x="8128000" y="2946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0.78</a:t>
            </a:r>
          </a:p>
        </p:txBody>
      </p:sp>
      <p:sp>
        <p:nvSpPr>
          <p:cNvPr id="6037" name="tb"/>
          <p:cNvSpPr txBox="1"/>
          <p:nvPr/>
        </p:nvSpPr>
        <p:spPr>
          <a:xfrm>
            <a:off x="8737600" y="2946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−1.26</a:t>
            </a:r>
          </a:p>
        </p:txBody>
      </p:sp>
      <p:sp>
        <p:nvSpPr>
          <p:cNvPr id="6038" name="tb"/>
          <p:cNvSpPr txBox="1"/>
          <p:nvPr/>
        </p:nvSpPr>
        <p:spPr>
          <a:xfrm>
            <a:off x="8128000" y="3327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−1.18</a:t>
            </a:r>
          </a:p>
        </p:txBody>
      </p:sp>
      <p:sp>
        <p:nvSpPr>
          <p:cNvPr id="6039" name="tb"/>
          <p:cNvSpPr txBox="1"/>
          <p:nvPr/>
        </p:nvSpPr>
        <p:spPr>
          <a:xfrm>
            <a:off x="8737600" y="3327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0.63</a:t>
            </a:r>
          </a:p>
        </p:txBody>
      </p:sp>
      <p:sp>
        <p:nvSpPr>
          <p:cNvPr id="6040" name="tb"/>
          <p:cNvSpPr txBox="1"/>
          <p:nvPr/>
        </p:nvSpPr>
        <p:spPr>
          <a:xfrm>
            <a:off x="8128000" y="3708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1.18</a:t>
            </a:r>
          </a:p>
        </p:txBody>
      </p:sp>
      <p:sp>
        <p:nvSpPr>
          <p:cNvPr id="6041" name="tb"/>
          <p:cNvSpPr txBox="1"/>
          <p:nvPr/>
        </p:nvSpPr>
        <p:spPr>
          <a:xfrm>
            <a:off x="8737600" y="3708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−0.63</a:t>
            </a:r>
          </a:p>
        </p:txBody>
      </p:sp>
      <p:sp>
        <p:nvSpPr>
          <p:cNvPr id="6042" name="tb"/>
          <p:cNvSpPr txBox="1"/>
          <p:nvPr/>
        </p:nvSpPr>
        <p:spPr>
          <a:xfrm>
            <a:off x="5461000" y="4572000"/>
            <a:ext cx="6350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00" i="1" dirty="0">
                <a:solidFill>
                  <a:srgbClr val="6E6E6E"/>
                </a:solidFill>
              </a:rPr>
              <a:t>Each column of Z now has mean 0 and standard deviation 1.</a:t>
            </a:r>
          </a:p>
        </p:txBody>
      </p:sp>
    </p:spTree>
    <p:extLst>
      <p:ext uri="{BB962C8B-B14F-4D97-AF65-F5344CB8AC3E}">
        <p14:creationId xmlns:p14="http://schemas.microsoft.com/office/powerpoint/2010/main" val="1344529291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Standardization — Exercise 1  (5×2)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Z = (X − 1μᵀ) D⁻¹ — every column to mean 0, std 1.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Standardizing makes every feature mean 0 and std 1, removing units so features compare fairly.</a:t>
            </a:r>
          </a:p>
        </p:txBody>
      </p:sp>
      <p:sp>
        <p:nvSpPr>
          <p:cNvPr id="6000" name="pn"/>
          <p:cNvSpPr/>
          <p:nvPr/>
        </p:nvSpPr>
        <p:spPr>
          <a:xfrm>
            <a:off x="304800" y="1219200"/>
            <a:ext cx="45720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22400"/>
            <a:ext cx="4191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Data  X   (n=5, p=2)</a:t>
            </a:r>
          </a:p>
        </p:txBody>
      </p:sp>
      <p:sp>
        <p:nvSpPr>
          <p:cNvPr id="6002" name="tb"/>
          <p:cNvSpPr txBox="1"/>
          <p:nvPr/>
        </p:nvSpPr>
        <p:spPr>
          <a:xfrm>
            <a:off x="1905000" y="1803400"/>
            <a:ext cx="5588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6E6E6E"/>
                </a:solidFill>
              </a:rPr>
              <a:t>x₁</a:t>
            </a:r>
          </a:p>
        </p:txBody>
      </p:sp>
      <p:sp>
        <p:nvSpPr>
          <p:cNvPr id="6003" name="tb"/>
          <p:cNvSpPr txBox="1"/>
          <p:nvPr/>
        </p:nvSpPr>
        <p:spPr>
          <a:xfrm>
            <a:off x="2463800" y="1803400"/>
            <a:ext cx="5588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6E6E6E"/>
                </a:solidFill>
              </a:rPr>
              <a:t>x₂</a:t>
            </a:r>
          </a:p>
        </p:txBody>
      </p:sp>
      <p:sp>
        <p:nvSpPr>
          <p:cNvPr id="6004" name="hl"/>
          <p:cNvSpPr/>
          <p:nvPr/>
        </p:nvSpPr>
        <p:spPr>
          <a:xfrm>
            <a:off x="1790700" y="20193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5" name="hl"/>
          <p:cNvSpPr/>
          <p:nvPr/>
        </p:nvSpPr>
        <p:spPr>
          <a:xfrm>
            <a:off x="1790700" y="2019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6" name="hl"/>
          <p:cNvSpPr/>
          <p:nvPr/>
        </p:nvSpPr>
        <p:spPr>
          <a:xfrm>
            <a:off x="1790700" y="377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7" name="hl"/>
          <p:cNvSpPr/>
          <p:nvPr/>
        </p:nvSpPr>
        <p:spPr>
          <a:xfrm>
            <a:off x="3098800" y="20193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8" name="hl"/>
          <p:cNvSpPr/>
          <p:nvPr/>
        </p:nvSpPr>
        <p:spPr>
          <a:xfrm>
            <a:off x="3022600" y="2019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9" name="hl"/>
          <p:cNvSpPr/>
          <p:nvPr/>
        </p:nvSpPr>
        <p:spPr>
          <a:xfrm>
            <a:off x="3022600" y="377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0" name="tb"/>
          <p:cNvSpPr txBox="1"/>
          <p:nvPr/>
        </p:nvSpPr>
        <p:spPr>
          <a:xfrm>
            <a:off x="1905000" y="20574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6011" name="tb"/>
          <p:cNvSpPr txBox="1"/>
          <p:nvPr/>
        </p:nvSpPr>
        <p:spPr>
          <a:xfrm>
            <a:off x="2463800" y="20574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6012" name="tb"/>
          <p:cNvSpPr txBox="1"/>
          <p:nvPr/>
        </p:nvSpPr>
        <p:spPr>
          <a:xfrm>
            <a:off x="1905000" y="24003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13" name="tb"/>
          <p:cNvSpPr txBox="1"/>
          <p:nvPr/>
        </p:nvSpPr>
        <p:spPr>
          <a:xfrm>
            <a:off x="2463800" y="24003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9</a:t>
            </a:r>
          </a:p>
        </p:txBody>
      </p:sp>
      <p:sp>
        <p:nvSpPr>
          <p:cNvPr id="6014" name="tb"/>
          <p:cNvSpPr txBox="1"/>
          <p:nvPr/>
        </p:nvSpPr>
        <p:spPr>
          <a:xfrm>
            <a:off x="1905000" y="2743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6015" name="tb"/>
          <p:cNvSpPr txBox="1"/>
          <p:nvPr/>
        </p:nvSpPr>
        <p:spPr>
          <a:xfrm>
            <a:off x="2463800" y="2743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16" name="tb"/>
          <p:cNvSpPr txBox="1"/>
          <p:nvPr/>
        </p:nvSpPr>
        <p:spPr>
          <a:xfrm>
            <a:off x="1905000" y="3086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8</a:t>
            </a:r>
          </a:p>
        </p:txBody>
      </p:sp>
      <p:sp>
        <p:nvSpPr>
          <p:cNvPr id="6017" name="tb"/>
          <p:cNvSpPr txBox="1"/>
          <p:nvPr/>
        </p:nvSpPr>
        <p:spPr>
          <a:xfrm>
            <a:off x="2463800" y="3086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7</a:t>
            </a:r>
          </a:p>
        </p:txBody>
      </p:sp>
      <p:sp>
        <p:nvSpPr>
          <p:cNvPr id="6018" name="tb"/>
          <p:cNvSpPr txBox="1"/>
          <p:nvPr/>
        </p:nvSpPr>
        <p:spPr>
          <a:xfrm>
            <a:off x="1905000" y="3429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19" name="tb"/>
          <p:cNvSpPr txBox="1"/>
          <p:nvPr/>
        </p:nvSpPr>
        <p:spPr>
          <a:xfrm>
            <a:off x="2463800" y="3429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558800" y="38735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50" b="1" dirty="0">
                <a:solidFill>
                  <a:srgbClr val="333333"/>
                </a:solidFill>
              </a:rPr>
              <a:t>μ = ( </a:t>
            </a:r>
            <a:r>
              <a:rPr lang="en-US" sz="1350" b="1" dirty="0">
                <a:solidFill>
                  <a:srgbClr val="4B2E83"/>
                </a:solidFill>
              </a:rPr>
              <a:t>5.00,  5.00</a:t>
            </a:r>
            <a:r>
              <a:rPr lang="en-US" sz="1350" b="1" dirty="0">
                <a:solidFill>
                  <a:srgbClr val="333333"/>
                </a:solidFill>
              </a:rPr>
              <a:t> )</a:t>
            </a:r>
          </a:p>
        </p:txBody>
      </p:sp>
      <p:sp>
        <p:nvSpPr>
          <p:cNvPr id="6021" name="tb"/>
          <p:cNvSpPr txBox="1"/>
          <p:nvPr/>
        </p:nvSpPr>
        <p:spPr>
          <a:xfrm>
            <a:off x="558800" y="42037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50" b="1" dirty="0">
                <a:solidFill>
                  <a:srgbClr val="333333"/>
                </a:solidFill>
              </a:rPr>
              <a:t>σ = ( </a:t>
            </a:r>
            <a:r>
              <a:rPr lang="en-US" sz="1350" b="1" dirty="0">
                <a:solidFill>
                  <a:srgbClr val="4B2E83"/>
                </a:solidFill>
              </a:rPr>
              <a:t>2.24,  3.16</a:t>
            </a:r>
            <a:r>
              <a:rPr lang="en-US" sz="1350" b="1" dirty="0">
                <a:solidFill>
                  <a:srgbClr val="333333"/>
                </a:solidFill>
              </a:rPr>
              <a:t> )</a:t>
            </a:r>
          </a:p>
        </p:txBody>
      </p:sp>
      <p:sp>
        <p:nvSpPr>
          <p:cNvPr id="6022" name="hl"/>
          <p:cNvSpPr/>
          <p:nvPr/>
        </p:nvSpPr>
        <p:spPr>
          <a:xfrm>
            <a:off x="558800" y="5080000"/>
            <a:ext cx="4191000" cy="508000"/>
          </a:xfrm>
          <a:prstGeom prst="rect">
            <a:avLst/>
          </a:prstGeom>
          <a:solidFill>
            <a:srgbClr val="4B2E83">
              <a:alpha val="12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3" name="tb"/>
          <p:cNvSpPr txBox="1"/>
          <p:nvPr/>
        </p:nvSpPr>
        <p:spPr>
          <a:xfrm>
            <a:off x="711200" y="5080000"/>
            <a:ext cx="3937000" cy="508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400" b="1" dirty="0">
                <a:solidFill>
                  <a:srgbClr val="4B2E83"/>
                </a:solidFill>
              </a:rPr>
              <a:t>Task:  Compute the standardized matrix Z.</a:t>
            </a:r>
          </a:p>
        </p:txBody>
      </p:sp>
      <p:sp>
        <p:nvSpPr>
          <p:cNvPr id="6024" name="pn"/>
          <p:cNvSpPr/>
          <p:nvPr/>
        </p:nvSpPr>
        <p:spPr>
          <a:xfrm>
            <a:off x="5080000" y="1219200"/>
            <a:ext cx="68072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5" name="tb"/>
          <p:cNvSpPr txBox="1"/>
          <p:nvPr/>
        </p:nvSpPr>
        <p:spPr>
          <a:xfrm>
            <a:off x="5334000" y="1447800"/>
            <a:ext cx="6350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Z = Xc D⁻¹     (z = (x − μ)/σ)</a:t>
            </a:r>
          </a:p>
        </p:txBody>
      </p:sp>
      <p:sp>
        <p:nvSpPr>
          <p:cNvPr id="6026" name="tb"/>
          <p:cNvSpPr txBox="1"/>
          <p:nvPr/>
        </p:nvSpPr>
        <p:spPr>
          <a:xfrm>
            <a:off x="8128000" y="1905000"/>
            <a:ext cx="6096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6E6E6E"/>
                </a:solidFill>
              </a:rPr>
              <a:t>z₁</a:t>
            </a:r>
          </a:p>
        </p:txBody>
      </p:sp>
      <p:sp>
        <p:nvSpPr>
          <p:cNvPr id="6027" name="tb"/>
          <p:cNvSpPr txBox="1"/>
          <p:nvPr/>
        </p:nvSpPr>
        <p:spPr>
          <a:xfrm>
            <a:off x="8737600" y="1905000"/>
            <a:ext cx="6096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6E6E6E"/>
                </a:solidFill>
              </a:rPr>
              <a:t>z₂</a:t>
            </a:r>
          </a:p>
        </p:txBody>
      </p:sp>
      <p:sp>
        <p:nvSpPr>
          <p:cNvPr id="6028" name="hl"/>
          <p:cNvSpPr/>
          <p:nvPr/>
        </p:nvSpPr>
        <p:spPr>
          <a:xfrm>
            <a:off x="8013700" y="2146300"/>
            <a:ext cx="38100" cy="1981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9" name="hl"/>
          <p:cNvSpPr/>
          <p:nvPr/>
        </p:nvSpPr>
        <p:spPr>
          <a:xfrm>
            <a:off x="8013700" y="2146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0" name="hl"/>
          <p:cNvSpPr/>
          <p:nvPr/>
        </p:nvSpPr>
        <p:spPr>
          <a:xfrm>
            <a:off x="8013700" y="4089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1" name="hl"/>
          <p:cNvSpPr/>
          <p:nvPr/>
        </p:nvSpPr>
        <p:spPr>
          <a:xfrm>
            <a:off x="9423400" y="2146300"/>
            <a:ext cx="38100" cy="1981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2" name="hl"/>
          <p:cNvSpPr/>
          <p:nvPr/>
        </p:nvSpPr>
        <p:spPr>
          <a:xfrm>
            <a:off x="9347200" y="2146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3" name="hl"/>
          <p:cNvSpPr/>
          <p:nvPr/>
        </p:nvSpPr>
        <p:spPr>
          <a:xfrm>
            <a:off x="9347200" y="4089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4" name="tb"/>
          <p:cNvSpPr txBox="1"/>
          <p:nvPr/>
        </p:nvSpPr>
        <p:spPr>
          <a:xfrm>
            <a:off x="8128000" y="2184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−1.34</a:t>
            </a:r>
          </a:p>
        </p:txBody>
      </p:sp>
      <p:sp>
        <p:nvSpPr>
          <p:cNvPr id="6035" name="tb"/>
          <p:cNvSpPr txBox="1"/>
          <p:nvPr/>
        </p:nvSpPr>
        <p:spPr>
          <a:xfrm>
            <a:off x="8737600" y="2184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−0.63</a:t>
            </a:r>
          </a:p>
        </p:txBody>
      </p:sp>
      <p:sp>
        <p:nvSpPr>
          <p:cNvPr id="6036" name="tb"/>
          <p:cNvSpPr txBox="1"/>
          <p:nvPr/>
        </p:nvSpPr>
        <p:spPr>
          <a:xfrm>
            <a:off x="8128000" y="2565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−0.45</a:t>
            </a:r>
          </a:p>
        </p:txBody>
      </p:sp>
      <p:sp>
        <p:nvSpPr>
          <p:cNvPr id="6037" name="tb"/>
          <p:cNvSpPr txBox="1"/>
          <p:nvPr/>
        </p:nvSpPr>
        <p:spPr>
          <a:xfrm>
            <a:off x="8737600" y="2565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1.26</a:t>
            </a:r>
          </a:p>
        </p:txBody>
      </p:sp>
      <p:sp>
        <p:nvSpPr>
          <p:cNvPr id="6038" name="tb"/>
          <p:cNvSpPr txBox="1"/>
          <p:nvPr/>
        </p:nvSpPr>
        <p:spPr>
          <a:xfrm>
            <a:off x="8128000" y="2946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0.45</a:t>
            </a:r>
          </a:p>
        </p:txBody>
      </p:sp>
      <p:sp>
        <p:nvSpPr>
          <p:cNvPr id="6039" name="tb"/>
          <p:cNvSpPr txBox="1"/>
          <p:nvPr/>
        </p:nvSpPr>
        <p:spPr>
          <a:xfrm>
            <a:off x="8737600" y="2946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0.00</a:t>
            </a:r>
          </a:p>
        </p:txBody>
      </p:sp>
      <p:sp>
        <p:nvSpPr>
          <p:cNvPr id="6040" name="tb"/>
          <p:cNvSpPr txBox="1"/>
          <p:nvPr/>
        </p:nvSpPr>
        <p:spPr>
          <a:xfrm>
            <a:off x="8128000" y="3327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1.34</a:t>
            </a:r>
          </a:p>
        </p:txBody>
      </p:sp>
      <p:sp>
        <p:nvSpPr>
          <p:cNvPr id="6041" name="tb"/>
          <p:cNvSpPr txBox="1"/>
          <p:nvPr/>
        </p:nvSpPr>
        <p:spPr>
          <a:xfrm>
            <a:off x="8737600" y="3327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0.63</a:t>
            </a:r>
          </a:p>
        </p:txBody>
      </p:sp>
      <p:sp>
        <p:nvSpPr>
          <p:cNvPr id="6042" name="tb"/>
          <p:cNvSpPr txBox="1"/>
          <p:nvPr/>
        </p:nvSpPr>
        <p:spPr>
          <a:xfrm>
            <a:off x="8128000" y="3708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0.00</a:t>
            </a:r>
          </a:p>
        </p:txBody>
      </p:sp>
      <p:sp>
        <p:nvSpPr>
          <p:cNvPr id="6043" name="tb"/>
          <p:cNvSpPr txBox="1"/>
          <p:nvPr/>
        </p:nvSpPr>
        <p:spPr>
          <a:xfrm>
            <a:off x="8737600" y="3708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−1.26</a:t>
            </a:r>
          </a:p>
        </p:txBody>
      </p:sp>
      <p:sp>
        <p:nvSpPr>
          <p:cNvPr id="6044" name="tb"/>
          <p:cNvSpPr txBox="1"/>
          <p:nvPr/>
        </p:nvSpPr>
        <p:spPr>
          <a:xfrm>
            <a:off x="5461000" y="4572000"/>
            <a:ext cx="6350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00" i="1" dirty="0">
                <a:solidFill>
                  <a:srgbClr val="6E6E6E"/>
                </a:solidFill>
              </a:rPr>
              <a:t>Each column of Z now has mean 0 and standard deviation 1.</a:t>
            </a:r>
          </a:p>
        </p:txBody>
      </p:sp>
      <p:sp>
        <p:nvSpPr>
          <p:cNvPr id="6045" name="cover"/>
          <p:cNvSpPr/>
          <p:nvPr/>
        </p:nvSpPr>
        <p:spPr>
          <a:xfrm>
            <a:off x="5181600" y="1778000"/>
            <a:ext cx="6604000" cy="3886200"/>
          </a:xfrm>
          <a:prstGeom prst="roundRect">
            <a:avLst>
              <a:gd name="adj" fmla="val 4000"/>
            </a:avLst>
          </a:prstGeom>
          <a:solidFill>
            <a:srgbClr val="4B2E83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Solution hidden</a:t>
            </a:r>
          </a:p>
          <a:p>
            <a:pPr algn="ctr"/>
            <a:r>
              <a:rPr lang="en-US" sz="1300" i="1" dirty="0">
                <a:solidFill>
                  <a:srgbClr val="E7DEF3"/>
                </a:solidFill>
              </a:rPr>
              <a:t>Work it out, then remove this cover to check.</a:t>
            </a:r>
          </a:p>
        </p:txBody>
      </p:sp>
    </p:spTree>
    <p:extLst>
      <p:ext uri="{BB962C8B-B14F-4D97-AF65-F5344CB8AC3E}">
        <p14:creationId xmlns:p14="http://schemas.microsoft.com/office/powerpoint/2010/main" val="23987942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Standardization — Exercise 2  (5×2)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Z = (X − 1μᵀ) D⁻¹ — every column to mean 0, std 1.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Standardizing makes every feature mean 0 and std 1, removing units so features compare fairly.</a:t>
            </a:r>
          </a:p>
        </p:txBody>
      </p:sp>
      <p:sp>
        <p:nvSpPr>
          <p:cNvPr id="6000" name="pn"/>
          <p:cNvSpPr/>
          <p:nvPr/>
        </p:nvSpPr>
        <p:spPr>
          <a:xfrm>
            <a:off x="304800" y="1219200"/>
            <a:ext cx="45720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22400"/>
            <a:ext cx="4191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Data  X   (n=5, p=2)</a:t>
            </a:r>
          </a:p>
        </p:txBody>
      </p:sp>
      <p:sp>
        <p:nvSpPr>
          <p:cNvPr id="6002" name="tb"/>
          <p:cNvSpPr txBox="1"/>
          <p:nvPr/>
        </p:nvSpPr>
        <p:spPr>
          <a:xfrm>
            <a:off x="1905000" y="1803400"/>
            <a:ext cx="5588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6E6E6E"/>
                </a:solidFill>
              </a:rPr>
              <a:t>x₁</a:t>
            </a:r>
          </a:p>
        </p:txBody>
      </p:sp>
      <p:sp>
        <p:nvSpPr>
          <p:cNvPr id="6003" name="tb"/>
          <p:cNvSpPr txBox="1"/>
          <p:nvPr/>
        </p:nvSpPr>
        <p:spPr>
          <a:xfrm>
            <a:off x="2463800" y="1803400"/>
            <a:ext cx="5588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6E6E6E"/>
                </a:solidFill>
              </a:rPr>
              <a:t>x₂</a:t>
            </a:r>
          </a:p>
        </p:txBody>
      </p:sp>
      <p:sp>
        <p:nvSpPr>
          <p:cNvPr id="6004" name="hl"/>
          <p:cNvSpPr/>
          <p:nvPr/>
        </p:nvSpPr>
        <p:spPr>
          <a:xfrm>
            <a:off x="1790700" y="20193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5" name="hl"/>
          <p:cNvSpPr/>
          <p:nvPr/>
        </p:nvSpPr>
        <p:spPr>
          <a:xfrm>
            <a:off x="1790700" y="2019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6" name="hl"/>
          <p:cNvSpPr/>
          <p:nvPr/>
        </p:nvSpPr>
        <p:spPr>
          <a:xfrm>
            <a:off x="1790700" y="377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7" name="hl"/>
          <p:cNvSpPr/>
          <p:nvPr/>
        </p:nvSpPr>
        <p:spPr>
          <a:xfrm>
            <a:off x="3098800" y="20193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8" name="hl"/>
          <p:cNvSpPr/>
          <p:nvPr/>
        </p:nvSpPr>
        <p:spPr>
          <a:xfrm>
            <a:off x="3022600" y="2019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9" name="hl"/>
          <p:cNvSpPr/>
          <p:nvPr/>
        </p:nvSpPr>
        <p:spPr>
          <a:xfrm>
            <a:off x="3022600" y="377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0" name="tb"/>
          <p:cNvSpPr txBox="1"/>
          <p:nvPr/>
        </p:nvSpPr>
        <p:spPr>
          <a:xfrm>
            <a:off x="1905000" y="20574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6011" name="tb"/>
          <p:cNvSpPr txBox="1"/>
          <p:nvPr/>
        </p:nvSpPr>
        <p:spPr>
          <a:xfrm>
            <a:off x="2463800" y="20574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12" name="tb"/>
          <p:cNvSpPr txBox="1"/>
          <p:nvPr/>
        </p:nvSpPr>
        <p:spPr>
          <a:xfrm>
            <a:off x="1905000" y="24003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6013" name="tb"/>
          <p:cNvSpPr txBox="1"/>
          <p:nvPr/>
        </p:nvSpPr>
        <p:spPr>
          <a:xfrm>
            <a:off x="2463800" y="24003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8</a:t>
            </a:r>
          </a:p>
        </p:txBody>
      </p:sp>
      <p:sp>
        <p:nvSpPr>
          <p:cNvPr id="6014" name="tb"/>
          <p:cNvSpPr txBox="1"/>
          <p:nvPr/>
        </p:nvSpPr>
        <p:spPr>
          <a:xfrm>
            <a:off x="1905000" y="2743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8</a:t>
            </a:r>
          </a:p>
        </p:txBody>
      </p:sp>
      <p:sp>
        <p:nvSpPr>
          <p:cNvPr id="6015" name="tb"/>
          <p:cNvSpPr txBox="1"/>
          <p:nvPr/>
        </p:nvSpPr>
        <p:spPr>
          <a:xfrm>
            <a:off x="2463800" y="2743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6016" name="tb"/>
          <p:cNvSpPr txBox="1"/>
          <p:nvPr/>
        </p:nvSpPr>
        <p:spPr>
          <a:xfrm>
            <a:off x="1905000" y="3086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6017" name="tb"/>
          <p:cNvSpPr txBox="1"/>
          <p:nvPr/>
        </p:nvSpPr>
        <p:spPr>
          <a:xfrm>
            <a:off x="2463800" y="3086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6</a:t>
            </a:r>
          </a:p>
        </p:txBody>
      </p:sp>
      <p:sp>
        <p:nvSpPr>
          <p:cNvPr id="6018" name="tb"/>
          <p:cNvSpPr txBox="1"/>
          <p:nvPr/>
        </p:nvSpPr>
        <p:spPr>
          <a:xfrm>
            <a:off x="1905000" y="3429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19" name="tb"/>
          <p:cNvSpPr txBox="1"/>
          <p:nvPr/>
        </p:nvSpPr>
        <p:spPr>
          <a:xfrm>
            <a:off x="2463800" y="3429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558800" y="38735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50" b="1" dirty="0">
                <a:solidFill>
                  <a:srgbClr val="333333"/>
                </a:solidFill>
              </a:rPr>
              <a:t>μ = ( </a:t>
            </a:r>
            <a:r>
              <a:rPr lang="en-US" sz="1350" b="1" dirty="0">
                <a:solidFill>
                  <a:srgbClr val="4B2E83"/>
                </a:solidFill>
              </a:rPr>
              <a:t>5.00,  5.00</a:t>
            </a:r>
            <a:r>
              <a:rPr lang="en-US" sz="1350" b="1" dirty="0">
                <a:solidFill>
                  <a:srgbClr val="333333"/>
                </a:solidFill>
              </a:rPr>
              <a:t> )</a:t>
            </a:r>
          </a:p>
        </p:txBody>
      </p:sp>
      <p:sp>
        <p:nvSpPr>
          <p:cNvPr id="6021" name="tb"/>
          <p:cNvSpPr txBox="1"/>
          <p:nvPr/>
        </p:nvSpPr>
        <p:spPr>
          <a:xfrm>
            <a:off x="558800" y="42037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50" b="1" dirty="0">
                <a:solidFill>
                  <a:srgbClr val="333333"/>
                </a:solidFill>
              </a:rPr>
              <a:t>σ = ( </a:t>
            </a:r>
            <a:r>
              <a:rPr lang="en-US" sz="1350" b="1" dirty="0">
                <a:solidFill>
                  <a:srgbClr val="4B2E83"/>
                </a:solidFill>
              </a:rPr>
              <a:t>2.24,  2.24</a:t>
            </a:r>
            <a:r>
              <a:rPr lang="en-US" sz="1350" b="1" dirty="0">
                <a:solidFill>
                  <a:srgbClr val="333333"/>
                </a:solidFill>
              </a:rPr>
              <a:t> )</a:t>
            </a:r>
          </a:p>
        </p:txBody>
      </p:sp>
      <p:sp>
        <p:nvSpPr>
          <p:cNvPr id="6022" name="hl"/>
          <p:cNvSpPr/>
          <p:nvPr/>
        </p:nvSpPr>
        <p:spPr>
          <a:xfrm>
            <a:off x="558800" y="5080000"/>
            <a:ext cx="4191000" cy="508000"/>
          </a:xfrm>
          <a:prstGeom prst="rect">
            <a:avLst/>
          </a:prstGeom>
          <a:solidFill>
            <a:srgbClr val="4B2E83">
              <a:alpha val="12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3" name="tb"/>
          <p:cNvSpPr txBox="1"/>
          <p:nvPr/>
        </p:nvSpPr>
        <p:spPr>
          <a:xfrm>
            <a:off x="711200" y="5080000"/>
            <a:ext cx="3937000" cy="508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400" b="1" dirty="0">
                <a:solidFill>
                  <a:srgbClr val="4B2E83"/>
                </a:solidFill>
              </a:rPr>
              <a:t>Task:  Compute the standardized matrix Z.</a:t>
            </a:r>
          </a:p>
        </p:txBody>
      </p:sp>
      <p:sp>
        <p:nvSpPr>
          <p:cNvPr id="6024" name="pn"/>
          <p:cNvSpPr/>
          <p:nvPr/>
        </p:nvSpPr>
        <p:spPr>
          <a:xfrm>
            <a:off x="5080000" y="1219200"/>
            <a:ext cx="68072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5" name="tb"/>
          <p:cNvSpPr txBox="1"/>
          <p:nvPr/>
        </p:nvSpPr>
        <p:spPr>
          <a:xfrm>
            <a:off x="5334000" y="1447800"/>
            <a:ext cx="6350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Z = Xc D⁻¹     (z = (x − μ)/σ)</a:t>
            </a:r>
          </a:p>
        </p:txBody>
      </p:sp>
      <p:sp>
        <p:nvSpPr>
          <p:cNvPr id="6026" name="tb"/>
          <p:cNvSpPr txBox="1"/>
          <p:nvPr/>
        </p:nvSpPr>
        <p:spPr>
          <a:xfrm>
            <a:off x="8128000" y="1905000"/>
            <a:ext cx="6096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6E6E6E"/>
                </a:solidFill>
              </a:rPr>
              <a:t>z₁</a:t>
            </a:r>
          </a:p>
        </p:txBody>
      </p:sp>
      <p:sp>
        <p:nvSpPr>
          <p:cNvPr id="6027" name="tb"/>
          <p:cNvSpPr txBox="1"/>
          <p:nvPr/>
        </p:nvSpPr>
        <p:spPr>
          <a:xfrm>
            <a:off x="8737600" y="1905000"/>
            <a:ext cx="6096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6E6E6E"/>
                </a:solidFill>
              </a:rPr>
              <a:t>z₂</a:t>
            </a:r>
          </a:p>
        </p:txBody>
      </p:sp>
      <p:sp>
        <p:nvSpPr>
          <p:cNvPr id="6028" name="hl"/>
          <p:cNvSpPr/>
          <p:nvPr/>
        </p:nvSpPr>
        <p:spPr>
          <a:xfrm>
            <a:off x="8013700" y="2146300"/>
            <a:ext cx="38100" cy="1981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9" name="hl"/>
          <p:cNvSpPr/>
          <p:nvPr/>
        </p:nvSpPr>
        <p:spPr>
          <a:xfrm>
            <a:off x="8013700" y="2146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0" name="hl"/>
          <p:cNvSpPr/>
          <p:nvPr/>
        </p:nvSpPr>
        <p:spPr>
          <a:xfrm>
            <a:off x="8013700" y="4089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1" name="hl"/>
          <p:cNvSpPr/>
          <p:nvPr/>
        </p:nvSpPr>
        <p:spPr>
          <a:xfrm>
            <a:off x="9423400" y="2146300"/>
            <a:ext cx="38100" cy="1981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2" name="hl"/>
          <p:cNvSpPr/>
          <p:nvPr/>
        </p:nvSpPr>
        <p:spPr>
          <a:xfrm>
            <a:off x="9347200" y="2146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3" name="hl"/>
          <p:cNvSpPr/>
          <p:nvPr/>
        </p:nvSpPr>
        <p:spPr>
          <a:xfrm>
            <a:off x="9347200" y="4089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4" name="tb"/>
          <p:cNvSpPr txBox="1"/>
          <p:nvPr/>
        </p:nvSpPr>
        <p:spPr>
          <a:xfrm>
            <a:off x="8128000" y="2184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0.45</a:t>
            </a:r>
          </a:p>
        </p:txBody>
      </p:sp>
      <p:sp>
        <p:nvSpPr>
          <p:cNvPr id="6035" name="tb"/>
          <p:cNvSpPr txBox="1"/>
          <p:nvPr/>
        </p:nvSpPr>
        <p:spPr>
          <a:xfrm>
            <a:off x="8737600" y="2184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−0.45</a:t>
            </a:r>
          </a:p>
        </p:txBody>
      </p:sp>
      <p:sp>
        <p:nvSpPr>
          <p:cNvPr id="6036" name="tb"/>
          <p:cNvSpPr txBox="1"/>
          <p:nvPr/>
        </p:nvSpPr>
        <p:spPr>
          <a:xfrm>
            <a:off x="8128000" y="2565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−1.34</a:t>
            </a:r>
          </a:p>
        </p:txBody>
      </p:sp>
      <p:sp>
        <p:nvSpPr>
          <p:cNvPr id="6037" name="tb"/>
          <p:cNvSpPr txBox="1"/>
          <p:nvPr/>
        </p:nvSpPr>
        <p:spPr>
          <a:xfrm>
            <a:off x="8737600" y="2565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1.34</a:t>
            </a:r>
          </a:p>
        </p:txBody>
      </p:sp>
      <p:sp>
        <p:nvSpPr>
          <p:cNvPr id="6038" name="tb"/>
          <p:cNvSpPr txBox="1"/>
          <p:nvPr/>
        </p:nvSpPr>
        <p:spPr>
          <a:xfrm>
            <a:off x="8128000" y="2946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1.34</a:t>
            </a:r>
          </a:p>
        </p:txBody>
      </p:sp>
      <p:sp>
        <p:nvSpPr>
          <p:cNvPr id="6039" name="tb"/>
          <p:cNvSpPr txBox="1"/>
          <p:nvPr/>
        </p:nvSpPr>
        <p:spPr>
          <a:xfrm>
            <a:off x="8737600" y="2946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−1.34</a:t>
            </a:r>
          </a:p>
        </p:txBody>
      </p:sp>
      <p:sp>
        <p:nvSpPr>
          <p:cNvPr id="6040" name="tb"/>
          <p:cNvSpPr txBox="1"/>
          <p:nvPr/>
        </p:nvSpPr>
        <p:spPr>
          <a:xfrm>
            <a:off x="8128000" y="3327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−0.45</a:t>
            </a:r>
          </a:p>
        </p:txBody>
      </p:sp>
      <p:sp>
        <p:nvSpPr>
          <p:cNvPr id="6041" name="tb"/>
          <p:cNvSpPr txBox="1"/>
          <p:nvPr/>
        </p:nvSpPr>
        <p:spPr>
          <a:xfrm>
            <a:off x="8737600" y="3327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0.45</a:t>
            </a:r>
          </a:p>
        </p:txBody>
      </p:sp>
      <p:sp>
        <p:nvSpPr>
          <p:cNvPr id="6042" name="tb"/>
          <p:cNvSpPr txBox="1"/>
          <p:nvPr/>
        </p:nvSpPr>
        <p:spPr>
          <a:xfrm>
            <a:off x="8128000" y="3708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0.00</a:t>
            </a:r>
          </a:p>
        </p:txBody>
      </p:sp>
      <p:sp>
        <p:nvSpPr>
          <p:cNvPr id="6043" name="tb"/>
          <p:cNvSpPr txBox="1"/>
          <p:nvPr/>
        </p:nvSpPr>
        <p:spPr>
          <a:xfrm>
            <a:off x="8737600" y="3708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0.00</a:t>
            </a:r>
          </a:p>
        </p:txBody>
      </p:sp>
      <p:sp>
        <p:nvSpPr>
          <p:cNvPr id="6044" name="tb"/>
          <p:cNvSpPr txBox="1"/>
          <p:nvPr/>
        </p:nvSpPr>
        <p:spPr>
          <a:xfrm>
            <a:off x="5461000" y="4572000"/>
            <a:ext cx="6350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00" i="1" dirty="0">
                <a:solidFill>
                  <a:srgbClr val="6E6E6E"/>
                </a:solidFill>
              </a:rPr>
              <a:t>Each column of Z now has mean 0 and standard deviation 1.</a:t>
            </a:r>
          </a:p>
        </p:txBody>
      </p:sp>
      <p:sp>
        <p:nvSpPr>
          <p:cNvPr id="6045" name="cover"/>
          <p:cNvSpPr/>
          <p:nvPr/>
        </p:nvSpPr>
        <p:spPr>
          <a:xfrm>
            <a:off x="5181600" y="1778000"/>
            <a:ext cx="6604000" cy="3886200"/>
          </a:xfrm>
          <a:prstGeom prst="roundRect">
            <a:avLst>
              <a:gd name="adj" fmla="val 4000"/>
            </a:avLst>
          </a:prstGeom>
          <a:solidFill>
            <a:srgbClr val="4B2E83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Solution hidden</a:t>
            </a:r>
          </a:p>
          <a:p>
            <a:pPr algn="ctr"/>
            <a:r>
              <a:rPr lang="en-US" sz="1300" i="1" dirty="0">
                <a:solidFill>
                  <a:srgbClr val="E7DEF3"/>
                </a:solidFill>
              </a:rPr>
              <a:t>Work it out, then remove this cover to check.</a:t>
            </a:r>
          </a:p>
        </p:txBody>
      </p:sp>
    </p:spTree>
    <p:extLst>
      <p:ext uri="{BB962C8B-B14F-4D97-AF65-F5344CB8AC3E}">
        <p14:creationId xmlns:p14="http://schemas.microsoft.com/office/powerpoint/2010/main" val="1220396115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Standardization — Exercise 3  (5×2)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Z = (X − 1μᵀ) D⁻¹ — every column to mean 0, std 1.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Standardizing makes every feature mean 0 and std 1, removing units so features compare fairly.</a:t>
            </a:r>
          </a:p>
        </p:txBody>
      </p:sp>
      <p:sp>
        <p:nvSpPr>
          <p:cNvPr id="6000" name="pn"/>
          <p:cNvSpPr/>
          <p:nvPr/>
        </p:nvSpPr>
        <p:spPr>
          <a:xfrm>
            <a:off x="304800" y="1219200"/>
            <a:ext cx="45720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22400"/>
            <a:ext cx="4191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Data  X   (n=5, p=2)</a:t>
            </a:r>
          </a:p>
        </p:txBody>
      </p:sp>
      <p:sp>
        <p:nvSpPr>
          <p:cNvPr id="6002" name="tb"/>
          <p:cNvSpPr txBox="1"/>
          <p:nvPr/>
        </p:nvSpPr>
        <p:spPr>
          <a:xfrm>
            <a:off x="1905000" y="1803400"/>
            <a:ext cx="5588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6E6E6E"/>
                </a:solidFill>
              </a:rPr>
              <a:t>x₁</a:t>
            </a:r>
          </a:p>
        </p:txBody>
      </p:sp>
      <p:sp>
        <p:nvSpPr>
          <p:cNvPr id="6003" name="tb"/>
          <p:cNvSpPr txBox="1"/>
          <p:nvPr/>
        </p:nvSpPr>
        <p:spPr>
          <a:xfrm>
            <a:off x="2463800" y="1803400"/>
            <a:ext cx="5588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6E6E6E"/>
                </a:solidFill>
              </a:rPr>
              <a:t>x₂</a:t>
            </a:r>
          </a:p>
        </p:txBody>
      </p:sp>
      <p:sp>
        <p:nvSpPr>
          <p:cNvPr id="6004" name="hl"/>
          <p:cNvSpPr/>
          <p:nvPr/>
        </p:nvSpPr>
        <p:spPr>
          <a:xfrm>
            <a:off x="1790700" y="20193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5" name="hl"/>
          <p:cNvSpPr/>
          <p:nvPr/>
        </p:nvSpPr>
        <p:spPr>
          <a:xfrm>
            <a:off x="1790700" y="2019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6" name="hl"/>
          <p:cNvSpPr/>
          <p:nvPr/>
        </p:nvSpPr>
        <p:spPr>
          <a:xfrm>
            <a:off x="1790700" y="377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7" name="hl"/>
          <p:cNvSpPr/>
          <p:nvPr/>
        </p:nvSpPr>
        <p:spPr>
          <a:xfrm>
            <a:off x="3098800" y="2019300"/>
            <a:ext cx="38100" cy="17907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8" name="hl"/>
          <p:cNvSpPr/>
          <p:nvPr/>
        </p:nvSpPr>
        <p:spPr>
          <a:xfrm>
            <a:off x="3022600" y="2019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09" name="hl"/>
          <p:cNvSpPr/>
          <p:nvPr/>
        </p:nvSpPr>
        <p:spPr>
          <a:xfrm>
            <a:off x="3022600" y="37719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0" name="tb"/>
          <p:cNvSpPr txBox="1"/>
          <p:nvPr/>
        </p:nvSpPr>
        <p:spPr>
          <a:xfrm>
            <a:off x="1905000" y="20574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11" name="tb"/>
          <p:cNvSpPr txBox="1"/>
          <p:nvPr/>
        </p:nvSpPr>
        <p:spPr>
          <a:xfrm>
            <a:off x="2463800" y="20574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7</a:t>
            </a:r>
          </a:p>
        </p:txBody>
      </p:sp>
      <p:sp>
        <p:nvSpPr>
          <p:cNvPr id="6012" name="tb"/>
          <p:cNvSpPr txBox="1"/>
          <p:nvPr/>
        </p:nvSpPr>
        <p:spPr>
          <a:xfrm>
            <a:off x="1905000" y="24003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9</a:t>
            </a:r>
          </a:p>
        </p:txBody>
      </p:sp>
      <p:sp>
        <p:nvSpPr>
          <p:cNvPr id="6013" name="tb"/>
          <p:cNvSpPr txBox="1"/>
          <p:nvPr/>
        </p:nvSpPr>
        <p:spPr>
          <a:xfrm>
            <a:off x="2463800" y="24003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6014" name="tb"/>
          <p:cNvSpPr txBox="1"/>
          <p:nvPr/>
        </p:nvSpPr>
        <p:spPr>
          <a:xfrm>
            <a:off x="1905000" y="2743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15" name="tb"/>
          <p:cNvSpPr txBox="1"/>
          <p:nvPr/>
        </p:nvSpPr>
        <p:spPr>
          <a:xfrm>
            <a:off x="2463800" y="27432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5</a:t>
            </a:r>
          </a:p>
        </p:txBody>
      </p:sp>
      <p:sp>
        <p:nvSpPr>
          <p:cNvPr id="6016" name="tb"/>
          <p:cNvSpPr txBox="1"/>
          <p:nvPr/>
        </p:nvSpPr>
        <p:spPr>
          <a:xfrm>
            <a:off x="1905000" y="3086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6017" name="tb"/>
          <p:cNvSpPr txBox="1"/>
          <p:nvPr/>
        </p:nvSpPr>
        <p:spPr>
          <a:xfrm>
            <a:off x="2463800" y="30861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9</a:t>
            </a:r>
          </a:p>
        </p:txBody>
      </p:sp>
      <p:sp>
        <p:nvSpPr>
          <p:cNvPr id="6018" name="tb"/>
          <p:cNvSpPr txBox="1"/>
          <p:nvPr/>
        </p:nvSpPr>
        <p:spPr>
          <a:xfrm>
            <a:off x="1905000" y="3429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7</a:t>
            </a:r>
          </a:p>
        </p:txBody>
      </p:sp>
      <p:sp>
        <p:nvSpPr>
          <p:cNvPr id="6019" name="tb"/>
          <p:cNvSpPr txBox="1"/>
          <p:nvPr/>
        </p:nvSpPr>
        <p:spPr>
          <a:xfrm>
            <a:off x="2463800" y="3429000"/>
            <a:ext cx="5588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6020" name="tb"/>
          <p:cNvSpPr txBox="1"/>
          <p:nvPr/>
        </p:nvSpPr>
        <p:spPr>
          <a:xfrm>
            <a:off x="558800" y="38735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50" b="1" dirty="0">
                <a:solidFill>
                  <a:srgbClr val="333333"/>
                </a:solidFill>
              </a:rPr>
              <a:t>μ = ( </a:t>
            </a:r>
            <a:r>
              <a:rPr lang="en-US" sz="1350" b="1" dirty="0">
                <a:solidFill>
                  <a:srgbClr val="4B2E83"/>
                </a:solidFill>
              </a:rPr>
              <a:t>5.00,  5.00</a:t>
            </a:r>
            <a:r>
              <a:rPr lang="en-US" sz="1350" b="1" dirty="0">
                <a:solidFill>
                  <a:srgbClr val="333333"/>
                </a:solidFill>
              </a:rPr>
              <a:t> )</a:t>
            </a:r>
          </a:p>
        </p:txBody>
      </p:sp>
      <p:sp>
        <p:nvSpPr>
          <p:cNvPr id="6021" name="tb"/>
          <p:cNvSpPr txBox="1"/>
          <p:nvPr/>
        </p:nvSpPr>
        <p:spPr>
          <a:xfrm>
            <a:off x="558800" y="42037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50" b="1" dirty="0">
                <a:solidFill>
                  <a:srgbClr val="333333"/>
                </a:solidFill>
              </a:rPr>
              <a:t>σ = ( </a:t>
            </a:r>
            <a:r>
              <a:rPr lang="en-US" sz="1350" b="1" dirty="0">
                <a:solidFill>
                  <a:srgbClr val="4B2E83"/>
                </a:solidFill>
              </a:rPr>
              <a:t>3.16,  3.16</a:t>
            </a:r>
            <a:r>
              <a:rPr lang="en-US" sz="1350" b="1" dirty="0">
                <a:solidFill>
                  <a:srgbClr val="333333"/>
                </a:solidFill>
              </a:rPr>
              <a:t> )</a:t>
            </a:r>
          </a:p>
        </p:txBody>
      </p:sp>
      <p:sp>
        <p:nvSpPr>
          <p:cNvPr id="6022" name="hl"/>
          <p:cNvSpPr/>
          <p:nvPr/>
        </p:nvSpPr>
        <p:spPr>
          <a:xfrm>
            <a:off x="558800" y="5080000"/>
            <a:ext cx="4191000" cy="508000"/>
          </a:xfrm>
          <a:prstGeom prst="rect">
            <a:avLst/>
          </a:prstGeom>
          <a:solidFill>
            <a:srgbClr val="4B2E83">
              <a:alpha val="12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3" name="tb"/>
          <p:cNvSpPr txBox="1"/>
          <p:nvPr/>
        </p:nvSpPr>
        <p:spPr>
          <a:xfrm>
            <a:off x="711200" y="5080000"/>
            <a:ext cx="3937000" cy="508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400" b="1" dirty="0">
                <a:solidFill>
                  <a:srgbClr val="4B2E83"/>
                </a:solidFill>
              </a:rPr>
              <a:t>Task:  Compute the standardized matrix Z.</a:t>
            </a:r>
          </a:p>
        </p:txBody>
      </p:sp>
      <p:sp>
        <p:nvSpPr>
          <p:cNvPr id="6024" name="pn"/>
          <p:cNvSpPr/>
          <p:nvPr/>
        </p:nvSpPr>
        <p:spPr>
          <a:xfrm>
            <a:off x="5080000" y="1219200"/>
            <a:ext cx="68072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5" name="tb"/>
          <p:cNvSpPr txBox="1"/>
          <p:nvPr/>
        </p:nvSpPr>
        <p:spPr>
          <a:xfrm>
            <a:off x="5334000" y="1447800"/>
            <a:ext cx="6350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Z = Xc D⁻¹     (z = (x − μ)/σ)</a:t>
            </a:r>
          </a:p>
        </p:txBody>
      </p:sp>
      <p:sp>
        <p:nvSpPr>
          <p:cNvPr id="6026" name="tb"/>
          <p:cNvSpPr txBox="1"/>
          <p:nvPr/>
        </p:nvSpPr>
        <p:spPr>
          <a:xfrm>
            <a:off x="8128000" y="1905000"/>
            <a:ext cx="6096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6E6E6E"/>
                </a:solidFill>
              </a:rPr>
              <a:t>z₁</a:t>
            </a:r>
          </a:p>
        </p:txBody>
      </p:sp>
      <p:sp>
        <p:nvSpPr>
          <p:cNvPr id="6027" name="tb"/>
          <p:cNvSpPr txBox="1"/>
          <p:nvPr/>
        </p:nvSpPr>
        <p:spPr>
          <a:xfrm>
            <a:off x="8737600" y="1905000"/>
            <a:ext cx="6096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6E6E6E"/>
                </a:solidFill>
              </a:rPr>
              <a:t>z₂</a:t>
            </a:r>
          </a:p>
        </p:txBody>
      </p:sp>
      <p:sp>
        <p:nvSpPr>
          <p:cNvPr id="6028" name="hl"/>
          <p:cNvSpPr/>
          <p:nvPr/>
        </p:nvSpPr>
        <p:spPr>
          <a:xfrm>
            <a:off x="8013700" y="2146300"/>
            <a:ext cx="38100" cy="1981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29" name="hl"/>
          <p:cNvSpPr/>
          <p:nvPr/>
        </p:nvSpPr>
        <p:spPr>
          <a:xfrm>
            <a:off x="8013700" y="2146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0" name="hl"/>
          <p:cNvSpPr/>
          <p:nvPr/>
        </p:nvSpPr>
        <p:spPr>
          <a:xfrm>
            <a:off x="8013700" y="4089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1" name="hl"/>
          <p:cNvSpPr/>
          <p:nvPr/>
        </p:nvSpPr>
        <p:spPr>
          <a:xfrm>
            <a:off x="9423400" y="2146300"/>
            <a:ext cx="38100" cy="19812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2" name="hl"/>
          <p:cNvSpPr/>
          <p:nvPr/>
        </p:nvSpPr>
        <p:spPr>
          <a:xfrm>
            <a:off x="9347200" y="21463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3" name="hl"/>
          <p:cNvSpPr/>
          <p:nvPr/>
        </p:nvSpPr>
        <p:spPr>
          <a:xfrm>
            <a:off x="9347200" y="4089400"/>
            <a:ext cx="114300" cy="38100"/>
          </a:xfrm>
          <a:prstGeom prst="rect">
            <a:avLst/>
          </a:prstGeom>
          <a:solidFill>
            <a:srgbClr val="4B2E83">
              <a:alpha val="10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34" name="tb"/>
          <p:cNvSpPr txBox="1"/>
          <p:nvPr/>
        </p:nvSpPr>
        <p:spPr>
          <a:xfrm>
            <a:off x="8128000" y="2184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−1.26</a:t>
            </a:r>
          </a:p>
        </p:txBody>
      </p:sp>
      <p:sp>
        <p:nvSpPr>
          <p:cNvPr id="6035" name="tb"/>
          <p:cNvSpPr txBox="1"/>
          <p:nvPr/>
        </p:nvSpPr>
        <p:spPr>
          <a:xfrm>
            <a:off x="8737600" y="2184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0.63</a:t>
            </a:r>
          </a:p>
        </p:txBody>
      </p:sp>
      <p:sp>
        <p:nvSpPr>
          <p:cNvPr id="6036" name="tb"/>
          <p:cNvSpPr txBox="1"/>
          <p:nvPr/>
        </p:nvSpPr>
        <p:spPr>
          <a:xfrm>
            <a:off x="8128000" y="2565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1.26</a:t>
            </a:r>
          </a:p>
        </p:txBody>
      </p:sp>
      <p:sp>
        <p:nvSpPr>
          <p:cNvPr id="6037" name="tb"/>
          <p:cNvSpPr txBox="1"/>
          <p:nvPr/>
        </p:nvSpPr>
        <p:spPr>
          <a:xfrm>
            <a:off x="8737600" y="2565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−0.63</a:t>
            </a:r>
          </a:p>
        </p:txBody>
      </p:sp>
      <p:sp>
        <p:nvSpPr>
          <p:cNvPr id="6038" name="tb"/>
          <p:cNvSpPr txBox="1"/>
          <p:nvPr/>
        </p:nvSpPr>
        <p:spPr>
          <a:xfrm>
            <a:off x="8128000" y="2946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0.00</a:t>
            </a:r>
          </a:p>
        </p:txBody>
      </p:sp>
      <p:sp>
        <p:nvSpPr>
          <p:cNvPr id="6039" name="tb"/>
          <p:cNvSpPr txBox="1"/>
          <p:nvPr/>
        </p:nvSpPr>
        <p:spPr>
          <a:xfrm>
            <a:off x="8737600" y="2946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0.00</a:t>
            </a:r>
          </a:p>
        </p:txBody>
      </p:sp>
      <p:sp>
        <p:nvSpPr>
          <p:cNvPr id="6040" name="tb"/>
          <p:cNvSpPr txBox="1"/>
          <p:nvPr/>
        </p:nvSpPr>
        <p:spPr>
          <a:xfrm>
            <a:off x="8128000" y="3327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−0.63</a:t>
            </a:r>
          </a:p>
        </p:txBody>
      </p:sp>
      <p:sp>
        <p:nvSpPr>
          <p:cNvPr id="6041" name="tb"/>
          <p:cNvSpPr txBox="1"/>
          <p:nvPr/>
        </p:nvSpPr>
        <p:spPr>
          <a:xfrm>
            <a:off x="8737600" y="3327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1.26</a:t>
            </a:r>
          </a:p>
        </p:txBody>
      </p:sp>
      <p:sp>
        <p:nvSpPr>
          <p:cNvPr id="6042" name="tb"/>
          <p:cNvSpPr txBox="1"/>
          <p:nvPr/>
        </p:nvSpPr>
        <p:spPr>
          <a:xfrm>
            <a:off x="8128000" y="3708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0.63</a:t>
            </a:r>
          </a:p>
        </p:txBody>
      </p:sp>
      <p:sp>
        <p:nvSpPr>
          <p:cNvPr id="6043" name="tb"/>
          <p:cNvSpPr txBox="1"/>
          <p:nvPr/>
        </p:nvSpPr>
        <p:spPr>
          <a:xfrm>
            <a:off x="8737600" y="3708400"/>
            <a:ext cx="6096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  <a:latin typeface="Consolas"/>
                <a:cs typeface="Consolas"/>
              </a:rPr>
              <a:t>−1.26</a:t>
            </a:r>
          </a:p>
        </p:txBody>
      </p:sp>
      <p:sp>
        <p:nvSpPr>
          <p:cNvPr id="6044" name="tb"/>
          <p:cNvSpPr txBox="1"/>
          <p:nvPr/>
        </p:nvSpPr>
        <p:spPr>
          <a:xfrm>
            <a:off x="5461000" y="4572000"/>
            <a:ext cx="6350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300" i="1" dirty="0">
                <a:solidFill>
                  <a:srgbClr val="6E6E6E"/>
                </a:solidFill>
              </a:rPr>
              <a:t>Each column of Z now has mean 0 and standard deviation 1.</a:t>
            </a:r>
          </a:p>
        </p:txBody>
      </p:sp>
      <p:sp>
        <p:nvSpPr>
          <p:cNvPr id="6045" name="cover"/>
          <p:cNvSpPr/>
          <p:nvPr/>
        </p:nvSpPr>
        <p:spPr>
          <a:xfrm>
            <a:off x="5181600" y="1778000"/>
            <a:ext cx="6604000" cy="3886200"/>
          </a:xfrm>
          <a:prstGeom prst="roundRect">
            <a:avLst>
              <a:gd name="adj" fmla="val 4000"/>
            </a:avLst>
          </a:prstGeom>
          <a:solidFill>
            <a:srgbClr val="4B2E83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Solution hidden</a:t>
            </a:r>
          </a:p>
          <a:p>
            <a:pPr algn="ctr"/>
            <a:r>
              <a:rPr lang="en-US" sz="1300" i="1" dirty="0">
                <a:solidFill>
                  <a:srgbClr val="E7DEF3"/>
                </a:solidFill>
              </a:rPr>
              <a:t>Work it out, then remove this cover to check.</a:t>
            </a:r>
          </a:p>
        </p:txBody>
      </p:sp>
    </p:spTree>
    <p:extLst>
      <p:ext uri="{BB962C8B-B14F-4D97-AF65-F5344CB8AC3E}">
        <p14:creationId xmlns:p14="http://schemas.microsoft.com/office/powerpoint/2010/main" val="1704777291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A543E-FDDC-C6AC-48D6-5FB6693FB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FE4E0D-A3C4-2AB2-DF55-F0DB799B9D26}"/>
              </a:ext>
            </a:extLst>
          </p:cNvPr>
          <p:cNvSpPr txBox="1"/>
          <p:nvPr/>
        </p:nvSpPr>
        <p:spPr>
          <a:xfrm>
            <a:off x="0" y="2870200"/>
            <a:ext cx="12192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1600" b="1" dirty="0">
                <a:solidFill>
                  <a:srgbClr val="B7A57A"/>
                </a:solidFill>
              </a:rPr>
              <a:t>DISTANCE-BASED LEARNING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5228A0-2670-5154-FB62-E64F61EBB13B}"/>
              </a:ext>
            </a:extLst>
          </p:cNvPr>
          <p:cNvSpPr txBox="1"/>
          <p:nvPr/>
        </p:nvSpPr>
        <p:spPr>
          <a:xfrm>
            <a:off x="0" y="3175000"/>
            <a:ext cx="12192000" cy="939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4600" b="1" dirty="0">
                <a:solidFill>
                  <a:srgbClr val="FFFFFF"/>
                </a:solidFill>
              </a:rPr>
              <a:t>KNN Algorithm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5C77DD-864C-7E53-0A5D-3B73118B7D25}"/>
              </a:ext>
            </a:extLst>
          </p:cNvPr>
          <p:cNvSpPr txBox="1"/>
          <p:nvPr/>
        </p:nvSpPr>
        <p:spPr>
          <a:xfrm>
            <a:off x="0" y="4241800"/>
            <a:ext cx="121920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sz="2200" dirty="0">
                <a:solidFill>
                  <a:srgbClr val="EDE7F5"/>
                </a:solidFill>
              </a:rPr>
              <a:t>k-Nearest Neighbors — classify and predict from the closest points in feature space.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201648F-ED75-A8D0-EB98-23662FA60CBF}"/>
              </a:ext>
            </a:extLst>
          </p:cNvPr>
          <p:cNvSpPr/>
          <p:nvPr/>
        </p:nvSpPr>
        <p:spPr>
          <a:xfrm>
            <a:off x="5461000" y="4089400"/>
            <a:ext cx="1270000" cy="381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00" name="kcirc"/>
          <p:cNvSpPr/>
          <p:nvPr/>
        </p:nvSpPr>
        <p:spPr>
          <a:xfrm>
            <a:off x="5537200" y="1600200"/>
            <a:ext cx="1117600" cy="1117600"/>
          </a:xfrm>
          <a:prstGeom prst="ellipse">
            <a:avLst/>
          </a:prstGeom>
          <a:noFill/>
          <a:ln w="22225">
            <a:solidFill>
              <a:srgbClr val="B7A57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901" name="kd"/>
          <p:cNvSpPr/>
          <p:nvPr/>
        </p:nvSpPr>
        <p:spPr>
          <a:xfrm>
            <a:off x="6369050" y="1822450"/>
            <a:ext cx="165100" cy="165100"/>
          </a:xfrm>
          <a:prstGeom prst="ellipse">
            <a:avLst/>
          </a:prstGeom>
          <a:solidFill>
            <a:srgbClr val="00A7B5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endParaRPr lang="en-US"/>
          </a:p>
        </p:txBody>
      </p:sp>
      <p:sp>
        <p:nvSpPr>
          <p:cNvPr id="902" name="kd"/>
          <p:cNvSpPr/>
          <p:nvPr/>
        </p:nvSpPr>
        <p:spPr>
          <a:xfrm>
            <a:off x="5683250" y="1822450"/>
            <a:ext cx="165100" cy="165100"/>
          </a:xfrm>
          <a:prstGeom prst="ellipse">
            <a:avLst/>
          </a:prstGeom>
          <a:solidFill>
            <a:srgbClr val="D1578A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endParaRPr lang="en-US"/>
          </a:p>
        </p:txBody>
      </p:sp>
      <p:sp>
        <p:nvSpPr>
          <p:cNvPr id="903" name="kd"/>
          <p:cNvSpPr/>
          <p:nvPr/>
        </p:nvSpPr>
        <p:spPr>
          <a:xfrm>
            <a:off x="5632450" y="2330450"/>
            <a:ext cx="165100" cy="165100"/>
          </a:xfrm>
          <a:prstGeom prst="ellipse">
            <a:avLst/>
          </a:prstGeom>
          <a:solidFill>
            <a:srgbClr val="00A7B5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endParaRPr lang="en-US"/>
          </a:p>
        </p:txBody>
      </p:sp>
      <p:sp>
        <p:nvSpPr>
          <p:cNvPr id="904" name="kd"/>
          <p:cNvSpPr/>
          <p:nvPr/>
        </p:nvSpPr>
        <p:spPr>
          <a:xfrm>
            <a:off x="6369050" y="2355850"/>
            <a:ext cx="165100" cy="165100"/>
          </a:xfrm>
          <a:prstGeom prst="ellipse">
            <a:avLst/>
          </a:prstGeom>
          <a:solidFill>
            <a:srgbClr val="00A7B5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endParaRPr lang="en-US"/>
          </a:p>
        </p:txBody>
      </p:sp>
      <p:sp>
        <p:nvSpPr>
          <p:cNvPr id="905" name="kd"/>
          <p:cNvSpPr/>
          <p:nvPr/>
        </p:nvSpPr>
        <p:spPr>
          <a:xfrm>
            <a:off x="5988050" y="2482850"/>
            <a:ext cx="165100" cy="165100"/>
          </a:xfrm>
          <a:prstGeom prst="ellipse">
            <a:avLst/>
          </a:prstGeom>
          <a:solidFill>
            <a:srgbClr val="D1578A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endParaRPr lang="en-US"/>
          </a:p>
        </p:txBody>
      </p:sp>
      <p:sp>
        <p:nvSpPr>
          <p:cNvPr id="906" name="kd"/>
          <p:cNvSpPr/>
          <p:nvPr/>
        </p:nvSpPr>
        <p:spPr>
          <a:xfrm>
            <a:off x="5969000" y="2032000"/>
            <a:ext cx="254000" cy="254000"/>
          </a:xfrm>
          <a:prstGeom prst="ellipse">
            <a:avLst/>
          </a:prstGeom>
          <a:solidFill>
            <a:srgbClr val="B7A57A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200" b="1" dirty="0">
                <a:solidFill>
                  <a:srgbClr val="4B2E83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536649796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Bar">
            <a:extLst>
              <a:ext uri="{FF2B5EF4-FFF2-40B4-BE49-F238E27FC236}">
                <a16:creationId xmlns:a16="http://schemas.microsoft.com/office/drawing/2014/main" id="{7E9BF16E-26C9-5F4A-9EC3-EA47F3FCD417}"/>
              </a:ext>
            </a:extLst>
          </p:cNvPr>
          <p:cNvSpPr/>
          <p:nvPr/>
        </p:nvSpPr>
        <p:spPr>
          <a:xfrm>
            <a:off x="0" y="304800"/>
            <a:ext cx="12192000" cy="4826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E995356B-8915-DE46-8A8C-4E7DA0825C2D}"/>
              </a:ext>
            </a:extLst>
          </p:cNvPr>
          <p:cNvSpPr txBox="1"/>
          <p:nvPr/>
        </p:nvSpPr>
        <p:spPr>
          <a:xfrm>
            <a:off x="381000" y="3556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What KNN Is Used For</a:t>
            </a:r>
          </a:p>
        </p:txBody>
      </p:sp>
      <p:sp>
        <p:nvSpPr>
          <p:cNvPr id="22" name="Sub">
            <a:extLst>
              <a:ext uri="{FF2B5EF4-FFF2-40B4-BE49-F238E27FC236}">
                <a16:creationId xmlns:a16="http://schemas.microsoft.com/office/drawing/2014/main" id="{EFF94136-8391-3941-AD55-F89A51366331}"/>
              </a:ext>
            </a:extLst>
          </p:cNvPr>
          <p:cNvSpPr txBox="1"/>
          <p:nvPr/>
        </p:nvSpPr>
        <p:spPr>
          <a:xfrm>
            <a:off x="381000" y="889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595959"/>
                </a:solidFill>
              </a:rPr>
              <a:t>A simple, distance-based method for classification and regression.</a:t>
            </a:r>
          </a:p>
        </p:txBody>
      </p:sp>
      <p:sp>
        <p:nvSpPr>
          <p:cNvPr id="128" name="TkBar">
            <a:extLst>
              <a:ext uri="{FF2B5EF4-FFF2-40B4-BE49-F238E27FC236}">
                <a16:creationId xmlns:a16="http://schemas.microsoft.com/office/drawing/2014/main" id="{C532CB73-FF4C-244D-8A48-AC146468B3DE}"/>
              </a:ext>
            </a:extLst>
          </p:cNvPr>
          <p:cNvSpPr/>
          <p:nvPr/>
        </p:nvSpPr>
        <p:spPr>
          <a:xfrm>
            <a:off x="0" y="5842000"/>
            <a:ext cx="12192000" cy="635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9" name="TkText">
            <a:extLst>
              <a:ext uri="{FF2B5EF4-FFF2-40B4-BE49-F238E27FC236}">
                <a16:creationId xmlns:a16="http://schemas.microsoft.com/office/drawing/2014/main" id="{2ABA622B-1D49-EB49-B6ED-7D415B38E9D9}"/>
              </a:ext>
            </a:extLst>
          </p:cNvPr>
          <p:cNvSpPr txBox="1"/>
          <p:nvPr/>
        </p:nvSpPr>
        <p:spPr>
          <a:xfrm>
            <a:off x="381000" y="5994400"/>
            <a:ext cx="1143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 dirty="0">
                <a:solidFill>
                  <a:srgbClr val="FFFFFF"/>
                </a:solidFill>
              </a:rPr>
              <a:t>KNN predicts from the k closest points — so the distance metric and feature scaling we just covered drive everything.</a:t>
            </a:r>
          </a:p>
        </p:txBody>
      </p:sp>
      <p:sp>
        <p:nvSpPr>
          <p:cNvPr id="6000" name="pn"/>
          <p:cNvSpPr/>
          <p:nvPr/>
        </p:nvSpPr>
        <p:spPr>
          <a:xfrm>
            <a:off x="304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01" name="tb"/>
          <p:cNvSpPr txBox="1"/>
          <p:nvPr/>
        </p:nvSpPr>
        <p:spPr>
          <a:xfrm>
            <a:off x="558800" y="1422400"/>
            <a:ext cx="5080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Classify a new point by its k nearest neighbors</a:t>
            </a:r>
          </a:p>
        </p:txBody>
      </p:sp>
      <p:sp>
        <p:nvSpPr>
          <p:cNvPr id="6002" name="circ"/>
          <p:cNvSpPr/>
          <p:nvPr/>
        </p:nvSpPr>
        <p:spPr>
          <a:xfrm>
            <a:off x="2260600" y="2540000"/>
            <a:ext cx="1625600" cy="1625600"/>
          </a:xfrm>
          <a:prstGeom prst="ellipse">
            <a:avLst/>
          </a:prstGeom>
          <a:noFill/>
          <a:ln w="22225">
            <a:solidFill>
              <a:srgbClr val="00A7B5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cxnSp>
        <p:nvCxnSpPr>
          <p:cNvPr id="6003" name="ln"/>
          <p:cNvCxnSpPr/>
          <p:nvPr/>
        </p:nvCxnSpPr>
        <p:spPr>
          <a:xfrm flipV="1">
            <a:off x="3073400" y="2717800"/>
            <a:ext cx="0" cy="635000"/>
          </a:xfrm>
          <a:prstGeom prst="line">
            <a:avLst/>
          </a:prstGeom>
          <a:ln w="12700">
            <a:solidFill>
              <a:srgbClr val="9A9A9A"/>
            </a:solidFill>
          </a:ln>
        </p:spPr>
      </p:cxnSp>
      <p:cxnSp>
        <p:nvCxnSpPr>
          <p:cNvPr id="6004" name="ln"/>
          <p:cNvCxnSpPr/>
          <p:nvPr/>
        </p:nvCxnSpPr>
        <p:spPr>
          <a:xfrm flipH="1">
            <a:off x="2438400" y="3352800"/>
            <a:ext cx="635000" cy="0"/>
          </a:xfrm>
          <a:prstGeom prst="line">
            <a:avLst/>
          </a:prstGeom>
          <a:ln w="12700">
            <a:solidFill>
              <a:srgbClr val="9A9A9A"/>
            </a:solidFill>
          </a:ln>
        </p:spPr>
      </p:cxnSp>
      <p:cxnSp>
        <p:nvCxnSpPr>
          <p:cNvPr id="6005" name="ln"/>
          <p:cNvCxnSpPr/>
          <p:nvPr/>
        </p:nvCxnSpPr>
        <p:spPr>
          <a:xfrm>
            <a:off x="3073400" y="3352800"/>
            <a:ext cx="635000" cy="0"/>
          </a:xfrm>
          <a:prstGeom prst="line">
            <a:avLst/>
          </a:prstGeom>
          <a:ln w="12700">
            <a:solidFill>
              <a:srgbClr val="9A9A9A"/>
            </a:solidFill>
          </a:ln>
        </p:spPr>
      </p:cxnSp>
      <p:sp>
        <p:nvSpPr>
          <p:cNvPr id="6006" name="dt"/>
          <p:cNvSpPr/>
          <p:nvPr/>
        </p:nvSpPr>
        <p:spPr>
          <a:xfrm>
            <a:off x="1701800" y="1981200"/>
            <a:ext cx="203200" cy="203200"/>
          </a:xfrm>
          <a:prstGeom prst="ellipse">
            <a:avLst/>
          </a:prstGeom>
          <a:solidFill>
            <a:srgbClr val="00A7B5"/>
          </a:solidFill>
          <a:ln w="9525">
            <a:solidFill>
              <a:srgbClr val="FFFFFF"/>
            </a:solidFill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6007" name="dt"/>
          <p:cNvSpPr/>
          <p:nvPr/>
        </p:nvSpPr>
        <p:spPr>
          <a:xfrm>
            <a:off x="2336800" y="2616200"/>
            <a:ext cx="203200" cy="203200"/>
          </a:xfrm>
          <a:prstGeom prst="ellipse">
            <a:avLst/>
          </a:prstGeom>
          <a:solidFill>
            <a:srgbClr val="00A7B5"/>
          </a:solidFill>
          <a:ln w="9525">
            <a:solidFill>
              <a:srgbClr val="FFFFFF"/>
            </a:solidFill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6008" name="dt"/>
          <p:cNvSpPr/>
          <p:nvPr/>
        </p:nvSpPr>
        <p:spPr>
          <a:xfrm>
            <a:off x="2971800" y="2616200"/>
            <a:ext cx="203200" cy="203200"/>
          </a:xfrm>
          <a:prstGeom prst="ellipse">
            <a:avLst/>
          </a:prstGeom>
          <a:solidFill>
            <a:srgbClr val="00A7B5"/>
          </a:solidFill>
          <a:ln w="9525">
            <a:solidFill>
              <a:srgbClr val="FFFFFF"/>
            </a:solidFill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6009" name="dt"/>
          <p:cNvSpPr/>
          <p:nvPr/>
        </p:nvSpPr>
        <p:spPr>
          <a:xfrm>
            <a:off x="1701800" y="3886200"/>
            <a:ext cx="203200" cy="203200"/>
          </a:xfrm>
          <a:prstGeom prst="ellipse">
            <a:avLst/>
          </a:prstGeom>
          <a:solidFill>
            <a:srgbClr val="00A7B5"/>
          </a:solidFill>
          <a:ln w="9525">
            <a:solidFill>
              <a:srgbClr val="FFFFFF"/>
            </a:solidFill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6010" name="dt"/>
          <p:cNvSpPr/>
          <p:nvPr/>
        </p:nvSpPr>
        <p:spPr>
          <a:xfrm>
            <a:off x="2336800" y="3251200"/>
            <a:ext cx="203200" cy="203200"/>
          </a:xfrm>
          <a:prstGeom prst="ellipse">
            <a:avLst/>
          </a:prstGeom>
          <a:solidFill>
            <a:srgbClr val="00A7B5"/>
          </a:solidFill>
          <a:ln w="9525">
            <a:solidFill>
              <a:srgbClr val="FFFFFF"/>
            </a:solidFill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6011" name="dt"/>
          <p:cNvSpPr/>
          <p:nvPr/>
        </p:nvSpPr>
        <p:spPr>
          <a:xfrm>
            <a:off x="4241800" y="3886200"/>
            <a:ext cx="203200" cy="203200"/>
          </a:xfrm>
          <a:prstGeom prst="ellipse">
            <a:avLst/>
          </a:prstGeom>
          <a:solidFill>
            <a:srgbClr val="D1578A"/>
          </a:solidFill>
          <a:ln w="9525">
            <a:solidFill>
              <a:srgbClr val="FFFFFF"/>
            </a:solidFill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6012" name="dt"/>
          <p:cNvSpPr/>
          <p:nvPr/>
        </p:nvSpPr>
        <p:spPr>
          <a:xfrm>
            <a:off x="3606800" y="4521200"/>
            <a:ext cx="203200" cy="203200"/>
          </a:xfrm>
          <a:prstGeom prst="ellipse">
            <a:avLst/>
          </a:prstGeom>
          <a:solidFill>
            <a:srgbClr val="D1578A"/>
          </a:solidFill>
          <a:ln w="9525">
            <a:solidFill>
              <a:srgbClr val="FFFFFF"/>
            </a:solidFill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6013" name="dt"/>
          <p:cNvSpPr/>
          <p:nvPr/>
        </p:nvSpPr>
        <p:spPr>
          <a:xfrm>
            <a:off x="4241800" y="2616200"/>
            <a:ext cx="203200" cy="203200"/>
          </a:xfrm>
          <a:prstGeom prst="ellipse">
            <a:avLst/>
          </a:prstGeom>
          <a:solidFill>
            <a:srgbClr val="D1578A"/>
          </a:solidFill>
          <a:ln w="9525">
            <a:solidFill>
              <a:srgbClr val="FFFFFF"/>
            </a:solidFill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6014" name="dt"/>
          <p:cNvSpPr/>
          <p:nvPr/>
        </p:nvSpPr>
        <p:spPr>
          <a:xfrm>
            <a:off x="4241800" y="1981200"/>
            <a:ext cx="203200" cy="203200"/>
          </a:xfrm>
          <a:prstGeom prst="ellipse">
            <a:avLst/>
          </a:prstGeom>
          <a:solidFill>
            <a:srgbClr val="D1578A"/>
          </a:solidFill>
          <a:ln w="9525">
            <a:solidFill>
              <a:srgbClr val="FFFFFF"/>
            </a:solidFill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6015" name="dt"/>
          <p:cNvSpPr/>
          <p:nvPr/>
        </p:nvSpPr>
        <p:spPr>
          <a:xfrm>
            <a:off x="3606800" y="3251200"/>
            <a:ext cx="203200" cy="203200"/>
          </a:xfrm>
          <a:prstGeom prst="ellipse">
            <a:avLst/>
          </a:prstGeom>
          <a:solidFill>
            <a:srgbClr val="D1578A"/>
          </a:solidFill>
          <a:ln w="9525">
            <a:solidFill>
              <a:srgbClr val="FFFFFF"/>
            </a:solidFill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6016" name="dt"/>
          <p:cNvSpPr/>
          <p:nvPr/>
        </p:nvSpPr>
        <p:spPr>
          <a:xfrm>
            <a:off x="2933700" y="3213100"/>
            <a:ext cx="279400" cy="279400"/>
          </a:xfrm>
          <a:prstGeom prst="ellipse">
            <a:avLst/>
          </a:prstGeom>
          <a:solidFill>
            <a:srgbClr val="B7A57A"/>
          </a:solidFill>
          <a:ln w="9525">
            <a:solidFill>
              <a:srgbClr val="FFFFFF"/>
            </a:solidFill>
          </a:ln>
        </p:spPr>
        <p:txBody>
          <a:bodyPr lIns="0" tIns="0" rIns="0" bIns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</a:rPr>
              <a:t>?</a:t>
            </a:r>
          </a:p>
        </p:txBody>
      </p:sp>
      <p:sp>
        <p:nvSpPr>
          <p:cNvPr id="6017" name="dt"/>
          <p:cNvSpPr/>
          <p:nvPr/>
        </p:nvSpPr>
        <p:spPr>
          <a:xfrm>
            <a:off x="673100" y="5524500"/>
            <a:ext cx="177800" cy="177800"/>
          </a:xfrm>
          <a:prstGeom prst="ellipse">
            <a:avLst/>
          </a:prstGeom>
          <a:solidFill>
            <a:srgbClr val="00A7B5"/>
          </a:solidFill>
          <a:ln w="9525">
            <a:solidFill>
              <a:srgbClr val="FFFFFF"/>
            </a:solidFill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6018" name="tb"/>
          <p:cNvSpPr txBox="1"/>
          <p:nvPr/>
        </p:nvSpPr>
        <p:spPr>
          <a:xfrm>
            <a:off x="914400" y="5524500"/>
            <a:ext cx="1143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b="1" dirty="0">
                <a:solidFill>
                  <a:srgbClr val="595959"/>
                </a:solidFill>
              </a:rPr>
              <a:t>Class A</a:t>
            </a:r>
          </a:p>
        </p:txBody>
      </p:sp>
      <p:sp>
        <p:nvSpPr>
          <p:cNvPr id="6019" name="dt"/>
          <p:cNvSpPr/>
          <p:nvPr/>
        </p:nvSpPr>
        <p:spPr>
          <a:xfrm>
            <a:off x="2070100" y="5524500"/>
            <a:ext cx="177800" cy="177800"/>
          </a:xfrm>
          <a:prstGeom prst="ellipse">
            <a:avLst/>
          </a:prstGeom>
          <a:solidFill>
            <a:srgbClr val="D1578A"/>
          </a:solidFill>
          <a:ln w="9525">
            <a:solidFill>
              <a:srgbClr val="FFFFFF"/>
            </a:solidFill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6020" name="tb"/>
          <p:cNvSpPr txBox="1"/>
          <p:nvPr/>
        </p:nvSpPr>
        <p:spPr>
          <a:xfrm>
            <a:off x="2311400" y="5524500"/>
            <a:ext cx="1143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b="1" dirty="0">
                <a:solidFill>
                  <a:srgbClr val="595959"/>
                </a:solidFill>
              </a:rPr>
              <a:t>Class B</a:t>
            </a:r>
          </a:p>
        </p:txBody>
      </p:sp>
      <p:sp>
        <p:nvSpPr>
          <p:cNvPr id="6021" name="dt"/>
          <p:cNvSpPr/>
          <p:nvPr/>
        </p:nvSpPr>
        <p:spPr>
          <a:xfrm>
            <a:off x="3467100" y="5524500"/>
            <a:ext cx="177800" cy="177800"/>
          </a:xfrm>
          <a:prstGeom prst="ellipse">
            <a:avLst/>
          </a:prstGeom>
          <a:solidFill>
            <a:srgbClr val="B7A57A"/>
          </a:solidFill>
          <a:ln w="9525">
            <a:solidFill>
              <a:srgbClr val="FFFFFF"/>
            </a:solidFill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6022" name="tb"/>
          <p:cNvSpPr txBox="1"/>
          <p:nvPr/>
        </p:nvSpPr>
        <p:spPr>
          <a:xfrm>
            <a:off x="3708400" y="5524500"/>
            <a:ext cx="1905000" cy="203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200" b="1" dirty="0">
                <a:solidFill>
                  <a:srgbClr val="595959"/>
                </a:solidFill>
              </a:rPr>
              <a:t>? new point  (k = 3)</a:t>
            </a:r>
          </a:p>
        </p:txBody>
      </p:sp>
      <p:sp>
        <p:nvSpPr>
          <p:cNvPr id="6023" name="pn"/>
          <p:cNvSpPr/>
          <p:nvPr/>
        </p:nvSpPr>
        <p:spPr>
          <a:xfrm>
            <a:off x="6146800" y="1219200"/>
            <a:ext cx="5740400" cy="4546600"/>
          </a:xfrm>
          <a:prstGeom prst="roundRect">
            <a:avLst>
              <a:gd name="adj" fmla="val 3000"/>
            </a:avLst>
          </a:prstGeom>
          <a:solidFill>
            <a:srgbClr val="F5F0EB"/>
          </a:solidFill>
          <a:ln w="9525">
            <a:solidFill>
              <a:srgbClr val="4B2E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24" name="tb"/>
          <p:cNvSpPr txBox="1"/>
          <p:nvPr/>
        </p:nvSpPr>
        <p:spPr>
          <a:xfrm>
            <a:off x="6400800" y="1447800"/>
            <a:ext cx="5334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00A7B5"/>
                </a:solidFill>
              </a:rPr>
              <a:t>How it works</a:t>
            </a:r>
          </a:p>
        </p:txBody>
      </p:sp>
      <p:sp>
        <p:nvSpPr>
          <p:cNvPr id="6025" name="tb"/>
          <p:cNvSpPr txBox="1"/>
          <p:nvPr/>
        </p:nvSpPr>
        <p:spPr>
          <a:xfrm>
            <a:off x="6400800" y="1778000"/>
            <a:ext cx="5308600" cy="889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en-US" sz="1350" dirty="0">
                <a:solidFill>
                  <a:srgbClr val="333333"/>
                </a:solidFill>
              </a:rPr>
              <a:t>Find the k points closest to the new point (by distance).</a:t>
            </a:r>
          </a:p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en-US" sz="1350" dirty="0">
                <a:solidFill>
                  <a:srgbClr val="333333"/>
                </a:solidFill>
              </a:rPr>
              <a:t>Vote: take the majority label — or average them for regression.</a:t>
            </a:r>
          </a:p>
        </p:txBody>
      </p:sp>
      <p:sp>
        <p:nvSpPr>
          <p:cNvPr id="6026" name="tb"/>
          <p:cNvSpPr txBox="1"/>
          <p:nvPr/>
        </p:nvSpPr>
        <p:spPr>
          <a:xfrm>
            <a:off x="6400800" y="2717800"/>
            <a:ext cx="5334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7AB648"/>
                </a:solidFill>
              </a:rPr>
              <a:t>Used for</a:t>
            </a:r>
          </a:p>
        </p:txBody>
      </p:sp>
      <p:sp>
        <p:nvSpPr>
          <p:cNvPr id="6027" name="tb"/>
          <p:cNvSpPr txBox="1"/>
          <p:nvPr/>
        </p:nvSpPr>
        <p:spPr>
          <a:xfrm>
            <a:off x="6400800" y="3048000"/>
            <a:ext cx="5308600" cy="838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en-US" sz="1350" dirty="0">
                <a:solidFill>
                  <a:srgbClr val="333333"/>
                </a:solidFill>
              </a:rPr>
              <a:t>Classification and regression.</a:t>
            </a:r>
          </a:p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en-US" sz="1350" dirty="0">
                <a:solidFill>
                  <a:srgbClr val="333333"/>
                </a:solidFill>
              </a:rPr>
              <a:t>Recommendation, missing-value imputation, anomaly detection.</a:t>
            </a:r>
          </a:p>
        </p:txBody>
      </p:sp>
      <p:sp>
        <p:nvSpPr>
          <p:cNvPr id="6028" name="tb"/>
          <p:cNvSpPr txBox="1"/>
          <p:nvPr/>
        </p:nvSpPr>
        <p:spPr>
          <a:xfrm>
            <a:off x="6400800" y="3911600"/>
            <a:ext cx="5334000" cy="279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D1578A"/>
                </a:solidFill>
              </a:rPr>
              <a:t>Key choices</a:t>
            </a:r>
          </a:p>
        </p:txBody>
      </p:sp>
      <p:sp>
        <p:nvSpPr>
          <p:cNvPr id="6029" name="tb"/>
          <p:cNvSpPr txBox="1"/>
          <p:nvPr/>
        </p:nvSpPr>
        <p:spPr>
          <a:xfrm>
            <a:off x="6400800" y="4241800"/>
            <a:ext cx="5308600" cy="127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en-US" sz="1350" dirty="0">
                <a:solidFill>
                  <a:srgbClr val="333333"/>
                </a:solidFill>
              </a:rPr>
              <a:t>k — how many neighbors to poll.</a:t>
            </a:r>
          </a:p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en-US" sz="1350" dirty="0">
                <a:solidFill>
                  <a:srgbClr val="333333"/>
                </a:solidFill>
              </a:rPr>
              <a:t>Distance metric </a:t>
            </a:r>
            <a:r>
              <a:rPr lang="en-US" sz="1350" i="1" dirty="0">
                <a:solidFill>
                  <a:srgbClr val="6E6E6E"/>
                </a:solidFill>
              </a:rPr>
              <a:t>(Euclidean — see Distance).</a:t>
            </a:r>
          </a:p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en-US" sz="1350" dirty="0">
                <a:solidFill>
                  <a:srgbClr val="333333"/>
                </a:solidFill>
              </a:rPr>
              <a:t>Feature scaling </a:t>
            </a:r>
            <a:r>
              <a:rPr lang="en-US" sz="1350" i="1" dirty="0">
                <a:solidFill>
                  <a:srgbClr val="6E6E6E"/>
                </a:solidFill>
              </a:rPr>
              <a:t>(standardize first — see Standardization).</a:t>
            </a:r>
          </a:p>
        </p:txBody>
      </p:sp>
    </p:spTree>
    <p:extLst>
      <p:ext uri="{BB962C8B-B14F-4D97-AF65-F5344CB8AC3E}">
        <p14:creationId xmlns:p14="http://schemas.microsoft.com/office/powerpoint/2010/main" val="3601065486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t201"/>
          <p:cNvSpPr txBox="1"/>
          <p:nvPr/>
        </p:nvSpPr>
        <p:spPr>
          <a:xfrm>
            <a:off x="723900" y="152400"/>
            <a:ext cx="10515600" cy="8890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en-US" sz="2400" b="1" dirty="0">
                <a:solidFill>
                  <a:srgbClr val="333333"/>
                </a:solidFill>
                <a:latin typeface="Arial"/>
                <a:cs typeface="Arial"/>
              </a:rPr>
              <a:t>K-Nearest Neighbors — Vector &amp; Matrix Formulation</a:t>
            </a:r>
          </a:p>
        </p:txBody>
      </p:sp>
      <p:sp>
        <p:nvSpPr>
          <p:cNvPr id="202" name="r202"/>
          <p:cNvSpPr/>
          <p:nvPr/>
        </p:nvSpPr>
        <p:spPr>
          <a:xfrm>
            <a:off x="508000" y="1003300"/>
            <a:ext cx="11176000" cy="4064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3" name="t203"/>
          <p:cNvSpPr txBox="1"/>
          <p:nvPr/>
        </p:nvSpPr>
        <p:spPr>
          <a:xfrm>
            <a:off x="508000" y="1041400"/>
            <a:ext cx="11176000" cy="330200"/>
          </a:xfrm>
          <a:prstGeom prst="rect">
            <a:avLst/>
          </a:prstGeom>
          <a:noFill/>
        </p:spPr>
        <p:txBody>
          <a:bodyPr wrap="square" lIns="91440" tIns="45720" rIns="91440" bIns="45720" anchor="ctr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/>
                <a:cs typeface="Arial"/>
              </a:rPr>
              <a:t>KNN expressed with the data matrix X, query vector q, and the row-wise Euclidean norm</a:t>
            </a:r>
          </a:p>
        </p:txBody>
      </p:sp>
      <p:sp>
        <p:nvSpPr>
          <p:cNvPr id="204" name="r204"/>
          <p:cNvSpPr/>
          <p:nvPr/>
        </p:nvSpPr>
        <p:spPr>
          <a:xfrm>
            <a:off x="508000" y="1498600"/>
            <a:ext cx="7112000" cy="4876800"/>
          </a:xfrm>
          <a:prstGeom prst="rect">
            <a:avLst/>
          </a:prstGeom>
          <a:solidFill>
            <a:srgbClr val="F5F0EB"/>
          </a:solidFill>
          <a:ln w="12700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5" name="t205"/>
          <p:cNvSpPr txBox="1"/>
          <p:nvPr/>
        </p:nvSpPr>
        <p:spPr>
          <a:xfrm>
            <a:off x="685800" y="1600200"/>
            <a:ext cx="6756400" cy="4673600"/>
          </a:xfrm>
          <a:prstGeom prst="rect">
            <a:avLst/>
          </a:prstGeom>
          <a:noFill/>
        </p:spPr>
        <p:txBody>
          <a:bodyPr wrap="square" lIns="114300" tIns="45720" rIns="114300" bIns="45720" anchor="t"/>
          <a:lstStyle/>
          <a:p>
            <a:pPr algn="l">
              <a:buNone/>
            </a:pPr>
            <a:r>
              <a:rPr lang="en-US" sz="2000" b="1" dirty="0">
                <a:solidFill>
                  <a:srgbClr val="4B2E83"/>
                </a:solidFill>
                <a:latin typeface="Consolas"/>
                <a:cs typeface="Consolas"/>
              </a:rPr>
              <a:t>Setup</a:t>
            </a:r>
          </a:p>
          <a:p>
            <a:pPr algn="l">
              <a:buNone/>
            </a:pPr>
            <a:r>
              <a:rPr lang="en-US" sz="700" dirty="0">
                <a:solidFill>
                  <a:srgbClr val="333333"/>
                </a:solidFill>
                <a:latin typeface="Consolas"/>
                <a:cs typeface="Consolas"/>
              </a:rPr>
              <a:t> </a:t>
            </a:r>
          </a:p>
          <a:p>
            <a:pPr algn="l">
              <a:buNone/>
            </a:pPr>
            <a:r>
              <a:rPr lang="en-US" sz="1500" dirty="0">
                <a:solidFill>
                  <a:srgbClr val="333333"/>
                </a:solidFill>
                <a:latin typeface="Consolas"/>
                <a:cs typeface="Consolas"/>
              </a:rPr>
              <a:t>X ∈ ℝ</a:t>
            </a:r>
            <a:r>
              <a:rPr lang="en-US" sz="900" dirty="0">
                <a:solidFill>
                  <a:srgbClr val="333333"/>
                </a:solidFill>
                <a:latin typeface="Consolas"/>
                <a:cs typeface="Consolas"/>
              </a:rPr>
              <a:t>n×d</a:t>
            </a:r>
            <a:r>
              <a:rPr lang="en-US" sz="1300" dirty="0">
                <a:solidFill>
                  <a:srgbClr val="333333"/>
                </a:solidFill>
                <a:latin typeface="Consolas"/>
                <a:cs typeface="Consolas"/>
              </a:rPr>
              <a:t>   data matrix (n points, d features)</a:t>
            </a:r>
          </a:p>
          <a:p>
            <a:pPr algn="l">
              <a:buNone/>
            </a:pPr>
            <a:r>
              <a:rPr lang="en-US" sz="1500" dirty="0">
                <a:solidFill>
                  <a:srgbClr val="333333"/>
                </a:solidFill>
                <a:latin typeface="Consolas"/>
                <a:cs typeface="Consolas"/>
              </a:rPr>
              <a:t>y ∈ {A,B}</a:t>
            </a:r>
            <a:r>
              <a:rPr lang="en-US" sz="900" dirty="0">
                <a:solidFill>
                  <a:srgbClr val="333333"/>
                </a:solidFill>
                <a:latin typeface="Consolas"/>
                <a:cs typeface="Consolas"/>
              </a:rPr>
              <a:t>ⁿ</a:t>
            </a:r>
            <a:r>
              <a:rPr lang="en-US" sz="1300" dirty="0">
                <a:solidFill>
                  <a:srgbClr val="333333"/>
                </a:solidFill>
                <a:latin typeface="Consolas"/>
                <a:cs typeface="Consolas"/>
              </a:rPr>
              <a:t>   label vector</a:t>
            </a:r>
          </a:p>
          <a:p>
            <a:pPr algn="l">
              <a:buNone/>
            </a:pPr>
            <a:r>
              <a:rPr lang="en-US" sz="1500" dirty="0">
                <a:solidFill>
                  <a:srgbClr val="333333"/>
                </a:solidFill>
                <a:latin typeface="Consolas"/>
                <a:cs typeface="Consolas"/>
              </a:rPr>
              <a:t>q ∈ ℝ</a:t>
            </a:r>
            <a:r>
              <a:rPr lang="en-US" sz="900" dirty="0">
                <a:solidFill>
                  <a:srgbClr val="333333"/>
                </a:solidFill>
                <a:latin typeface="Consolas"/>
                <a:cs typeface="Consolas"/>
              </a:rPr>
              <a:t>d</a:t>
            </a:r>
            <a:r>
              <a:rPr lang="en-US" sz="1300" dirty="0">
                <a:solidFill>
                  <a:srgbClr val="333333"/>
                </a:solidFill>
                <a:latin typeface="Consolas"/>
                <a:cs typeface="Consolas"/>
              </a:rPr>
              <a:t>    query vector</a:t>
            </a:r>
          </a:p>
          <a:p>
            <a:pPr algn="l">
              <a:buNone/>
            </a:pPr>
            <a:r>
              <a:rPr lang="en-US" sz="700" dirty="0">
                <a:solidFill>
                  <a:srgbClr val="333333"/>
                </a:solidFill>
                <a:latin typeface="Consolas"/>
                <a:cs typeface="Consolas"/>
              </a:rPr>
              <a:t> </a:t>
            </a:r>
          </a:p>
          <a:p>
            <a:pPr algn="l">
              <a:buNone/>
            </a:pPr>
            <a:r>
              <a:rPr lang="en-US" sz="1500" dirty="0">
                <a:solidFill>
                  <a:srgbClr val="333333"/>
                </a:solidFill>
                <a:latin typeface="Consolas"/>
                <a:cs typeface="Consolas"/>
              </a:rPr>
              <a:t>1.  Distance vector (row norms)</a:t>
            </a:r>
          </a:p>
          <a:p>
            <a:pPr algn="l">
              <a:buNone/>
            </a:pPr>
            <a:r>
              <a:rPr lang="en-US" sz="1400" dirty="0">
                <a:solidFill>
                  <a:srgbClr val="85754D"/>
                </a:solidFill>
                <a:latin typeface="Consolas"/>
                <a:cs typeface="Consolas"/>
              </a:rPr>
              <a:t>     dᵢ = ‖xᵢ − q‖₂     for i = 1..n</a:t>
            </a:r>
          </a:p>
          <a:p>
            <a:pPr algn="l">
              <a:buNone/>
            </a:pPr>
            <a:r>
              <a:rPr lang="en-US" sz="1500" dirty="0">
                <a:solidFill>
                  <a:srgbClr val="333333"/>
                </a:solidFill>
                <a:latin typeface="Consolas"/>
                <a:cs typeface="Consolas"/>
              </a:rPr>
              <a:t>2.  Sort ascending</a:t>
            </a:r>
          </a:p>
          <a:p>
            <a:pPr algn="l">
              <a:buNone/>
            </a:pPr>
            <a:r>
              <a:rPr lang="en-US" sz="1400" dirty="0">
                <a:solidFill>
                  <a:srgbClr val="85754D"/>
                </a:solidFill>
                <a:latin typeface="Consolas"/>
                <a:cs typeface="Consolas"/>
              </a:rPr>
              <a:t>     π = argsort(d)</a:t>
            </a:r>
          </a:p>
          <a:p>
            <a:pPr algn="l">
              <a:buNone/>
            </a:pPr>
            <a:r>
              <a:rPr lang="en-US" sz="1500" dirty="0">
                <a:solidFill>
                  <a:srgbClr val="333333"/>
                </a:solidFill>
                <a:latin typeface="Consolas"/>
                <a:cs typeface="Consolas"/>
              </a:rPr>
              <a:t>3.  Take K nearest indices</a:t>
            </a:r>
          </a:p>
          <a:p>
            <a:pPr algn="l">
              <a:buNone/>
            </a:pPr>
            <a:r>
              <a:rPr lang="en-US" sz="1400" dirty="0">
                <a:solidFill>
                  <a:srgbClr val="85754D"/>
                </a:solidFill>
                <a:latin typeface="Consolas"/>
                <a:cs typeface="Consolas"/>
              </a:rPr>
              <a:t>     N = π[1:K]</a:t>
            </a:r>
          </a:p>
          <a:p>
            <a:pPr algn="l">
              <a:buNone/>
            </a:pPr>
            <a:r>
              <a:rPr lang="en-US" sz="1500" dirty="0">
                <a:solidFill>
                  <a:srgbClr val="333333"/>
                </a:solidFill>
                <a:latin typeface="Consolas"/>
                <a:cs typeface="Consolas"/>
              </a:rPr>
              <a:t>4.  Majority vote over labels</a:t>
            </a:r>
          </a:p>
          <a:p>
            <a:pPr algn="l">
              <a:buNone/>
            </a:pPr>
            <a:r>
              <a:rPr lang="en-US" sz="1400" dirty="0">
                <a:solidFill>
                  <a:srgbClr val="85754D"/>
                </a:solidFill>
                <a:latin typeface="Consolas"/>
                <a:cs typeface="Consolas"/>
              </a:rPr>
              <a:t>     ŷ = mode( y[N] )</a:t>
            </a:r>
          </a:p>
          <a:p>
            <a:pPr algn="l">
              <a:buNone/>
            </a:pPr>
            <a:r>
              <a:rPr lang="en-US" sz="700" dirty="0">
                <a:solidFill>
                  <a:srgbClr val="333333"/>
                </a:solidFill>
                <a:latin typeface="Consolas"/>
                <a:cs typeface="Consolas"/>
              </a:rPr>
              <a:t> </a:t>
            </a:r>
          </a:p>
          <a:p>
            <a:pPr algn="l">
              <a:buNone/>
            </a:pPr>
            <a:r>
              <a:rPr lang="en-US" sz="1500" b="1" dirty="0">
                <a:solidFill>
                  <a:srgbClr val="4B2E83"/>
                </a:solidFill>
                <a:latin typeface="Consolas"/>
                <a:cs typeface="Consolas"/>
              </a:rPr>
              <a:t>5.  Return ŷ = argmaxₛ Σ 1{ yₙ = c }</a:t>
            </a:r>
          </a:p>
        </p:txBody>
      </p:sp>
      <p:sp>
        <p:nvSpPr>
          <p:cNvPr id="206" name="r206"/>
          <p:cNvSpPr/>
          <p:nvPr/>
        </p:nvSpPr>
        <p:spPr>
          <a:xfrm>
            <a:off x="7810500" y="1498600"/>
            <a:ext cx="3873500" cy="4876800"/>
          </a:xfrm>
          <a:prstGeom prst="rect">
            <a:avLst/>
          </a:prstGeom>
          <a:solidFill>
            <a:srgbClr val="FFFFFF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7" name="t207"/>
          <p:cNvSpPr txBox="1"/>
          <p:nvPr/>
        </p:nvSpPr>
        <p:spPr>
          <a:xfrm>
            <a:off x="7988300" y="1600200"/>
            <a:ext cx="3517900" cy="46736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en-US" sz="2000" b="1" dirty="0">
                <a:solidFill>
                  <a:srgbClr val="4B2E83"/>
                </a:solidFill>
                <a:latin typeface="Arial"/>
                <a:cs typeface="Arial"/>
              </a:rPr>
              <a:t>Key Concepts</a:t>
            </a:r>
          </a:p>
          <a:p>
            <a:pPr algn="l">
              <a:buNone/>
            </a:pPr>
            <a:r>
              <a:rPr lang="en-US" sz="60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</a:p>
          <a:p>
            <a:pPr algn="l">
              <a:buNone/>
            </a:pPr>
            <a:r>
              <a:rPr lang="en-US" sz="1700" b="1" dirty="0">
                <a:solidFill>
                  <a:srgbClr val="4B2E83"/>
                </a:solidFill>
                <a:latin typeface="Arial"/>
                <a:cs typeface="Arial"/>
              </a:rPr>
              <a:t>▸ Norm choice</a:t>
            </a:r>
          </a:p>
          <a:p>
            <a:pPr marL="0" algn="l">
              <a:buNone/>
            </a:pPr>
            <a:r>
              <a:rPr lang="en-US" sz="1500" dirty="0">
                <a:solidFill>
                  <a:srgbClr val="333333"/>
                </a:solidFill>
                <a:latin typeface="Arial"/>
                <a:cs typeface="Arial"/>
              </a:rPr>
              <a:t>‖·‖₂ Euclidean, ‖·‖₁ Manhattan, or ‖·‖ₚ Minkowski on the rows of X − 1qᵀ</a:t>
            </a:r>
          </a:p>
          <a:p>
            <a:pPr algn="l">
              <a:buNone/>
            </a:pPr>
            <a:r>
              <a:rPr lang="en-US" sz="1700" b="1" dirty="0">
                <a:solidFill>
                  <a:srgbClr val="4B2E83"/>
                </a:solidFill>
                <a:latin typeface="Arial"/>
                <a:cs typeface="Arial"/>
              </a:rPr>
              <a:t>▸ Vectorized distance</a:t>
            </a:r>
          </a:p>
          <a:p>
            <a:pPr marL="0" algn="l">
              <a:buNone/>
            </a:pPr>
            <a:r>
              <a:rPr lang="en-US" sz="1500" dirty="0">
                <a:solidFill>
                  <a:srgbClr val="333333"/>
                </a:solidFill>
                <a:latin typeface="Arial"/>
                <a:cs typeface="Arial"/>
              </a:rPr>
              <a:t>All n distances are one broadcast subtraction plus a row-wise norm — no Python loop needed</a:t>
            </a:r>
          </a:p>
          <a:p>
            <a:pPr algn="l">
              <a:buNone/>
            </a:pPr>
            <a:r>
              <a:rPr lang="en-US" sz="1700" b="1" dirty="0">
                <a:solidFill>
                  <a:srgbClr val="4B2E83"/>
                </a:solidFill>
                <a:latin typeface="Arial"/>
                <a:cs typeface="Arial"/>
              </a:rPr>
              <a:t>▸ argsort, not full sort</a:t>
            </a:r>
          </a:p>
          <a:p>
            <a:pPr marL="0" algn="l">
              <a:buNone/>
            </a:pPr>
            <a:r>
              <a:rPr lang="en-US" sz="1500" dirty="0">
                <a:solidFill>
                  <a:srgbClr val="333333"/>
                </a:solidFill>
                <a:latin typeface="Arial"/>
                <a:cs typeface="Arial"/>
              </a:rPr>
              <a:t>Only the K smallest entries of d are required; a partial argsort is O(n)</a:t>
            </a:r>
          </a:p>
          <a:p>
            <a:pPr algn="l">
              <a:buNone/>
            </a:pPr>
            <a:r>
              <a:rPr lang="en-US" sz="1700" b="1" dirty="0">
                <a:solidFill>
                  <a:srgbClr val="4B2E83"/>
                </a:solidFill>
                <a:latin typeface="Arial"/>
                <a:cs typeface="Arial"/>
              </a:rPr>
              <a:t>▸ Majority vote</a:t>
            </a:r>
          </a:p>
          <a:p>
            <a:pPr marL="0" algn="l">
              <a:buNone/>
            </a:pPr>
            <a:r>
              <a:rPr lang="en-US" sz="1500" dirty="0">
                <a:solidFill>
                  <a:srgbClr val="333333"/>
                </a:solidFill>
                <a:latin typeface="Arial"/>
                <a:cs typeface="Arial"/>
              </a:rPr>
              <a:t>ŷ = mode of y over the K nearest rows; odd K avoids ties</a:t>
            </a:r>
          </a:p>
          <a:p>
            <a:pPr algn="l">
              <a:buNone/>
            </a:pPr>
            <a:r>
              <a:rPr lang="en-US" sz="1700" b="1" dirty="0">
                <a:solidFill>
                  <a:srgbClr val="4B2E83"/>
                </a:solidFill>
                <a:latin typeface="Arial"/>
                <a:cs typeface="Arial"/>
              </a:rPr>
              <a:t>▸ Lazy learner</a:t>
            </a:r>
          </a:p>
          <a:p>
            <a:pPr marL="0" algn="l">
              <a:buNone/>
            </a:pPr>
            <a:r>
              <a:rPr lang="en-US" sz="1500" dirty="0">
                <a:solidFill>
                  <a:srgbClr val="333333"/>
                </a:solidFill>
                <a:latin typeface="Arial"/>
                <a:cs typeface="Arial"/>
              </a:rPr>
              <a:t>No training: X and y are stored; all work is the q-time norm evaluation</a:t>
            </a:r>
          </a:p>
        </p:txBody>
      </p:sp>
    </p:spTree>
    <p:extLst>
      <p:ext uri="{BB962C8B-B14F-4D97-AF65-F5344CB8AC3E}">
        <p14:creationId xmlns:p14="http://schemas.microsoft.com/office/powerpoint/2010/main" val="204980658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b301"/>
          <p:cNvSpPr/>
          <p:nvPr/>
        </p:nvSpPr>
        <p:spPr>
          <a:xfrm>
            <a:off x="381000" y="228600"/>
            <a:ext cx="11430000" cy="3810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2" name="t302"/>
          <p:cNvSpPr txBox="1"/>
          <p:nvPr/>
        </p:nvSpPr>
        <p:spPr>
          <a:xfrm>
            <a:off x="533400" y="228600"/>
            <a:ext cx="11125200" cy="3810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/>
                <a:cs typeface="Arial"/>
              </a:rPr>
              <a:t>Curse of dimensionality — Stage 1: d = 1 (matrix / vector form)</a:t>
            </a:r>
          </a:p>
        </p:txBody>
      </p:sp>
      <p:sp>
        <p:nvSpPr>
          <p:cNvPr id="303" name="t303"/>
          <p:cNvSpPr txBox="1"/>
          <p:nvPr/>
        </p:nvSpPr>
        <p:spPr>
          <a:xfrm>
            <a:off x="381000" y="736600"/>
            <a:ext cx="5969000" cy="2286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l">
              <a:buNone/>
            </a:pPr>
            <a:r>
              <a:rPr lang="en-US" sz="1400" b="1" dirty="0">
                <a:solidFill>
                  <a:srgbClr val="4B2E83"/>
                </a:solidFill>
                <a:latin typeface="Arial"/>
                <a:cs typeface="Arial"/>
              </a:rPr>
              <a:t>Training set as matrix  X ∈ ℝ⁵ˣ¹   (label vector y)</a:t>
            </a:r>
          </a:p>
        </p:txBody>
      </p:sp>
      <p:sp>
        <p:nvSpPr>
          <p:cNvPr id="304" name="b304"/>
          <p:cNvSpPr/>
          <p:nvPr/>
        </p:nvSpPr>
        <p:spPr>
          <a:xfrm>
            <a:off x="381000" y="990600"/>
            <a:ext cx="5969000" cy="406400"/>
          </a:xfrm>
          <a:prstGeom prst="rect">
            <a:avLst/>
          </a:prstGeom>
          <a:solidFill>
            <a:srgbClr val="F5F0EB"/>
          </a:solidFill>
          <a:ln w="12700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5" name="t305"/>
          <p:cNvSpPr txBox="1"/>
          <p:nvPr/>
        </p:nvSpPr>
        <p:spPr>
          <a:xfrm>
            <a:off x="533400" y="990600"/>
            <a:ext cx="5664200" cy="4064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l">
              <a:buNone/>
            </a:pPr>
            <a:r>
              <a:rPr lang="en-US" sz="1500" dirty="0">
                <a:solidFill>
                  <a:srgbClr val="333333"/>
                </a:solidFill>
                <a:latin typeface="Consolas"/>
                <a:cs typeface="Consolas"/>
              </a:rPr>
              <a:t>Xᵀ = [1  2  4  7  9]    y = [A A B B B]</a:t>
            </a:r>
          </a:p>
        </p:txBody>
      </p:sp>
      <p:sp>
        <p:nvSpPr>
          <p:cNvPr id="306" name="t306"/>
          <p:cNvSpPr txBox="1"/>
          <p:nvPr/>
        </p:nvSpPr>
        <p:spPr>
          <a:xfrm>
            <a:off x="6540500" y="736600"/>
            <a:ext cx="1905000" cy="2286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l">
              <a:buNone/>
            </a:pPr>
            <a:r>
              <a:rPr lang="en-US" sz="1400" b="1" dirty="0">
                <a:solidFill>
                  <a:srgbClr val="4B2E83"/>
                </a:solidFill>
                <a:latin typeface="Arial"/>
                <a:cs typeface="Arial"/>
              </a:rPr>
              <a:t>Query  q</a:t>
            </a:r>
          </a:p>
        </p:txBody>
      </p:sp>
      <p:sp>
        <p:nvSpPr>
          <p:cNvPr id="307" name="b307"/>
          <p:cNvSpPr/>
          <p:nvPr/>
        </p:nvSpPr>
        <p:spPr>
          <a:xfrm>
            <a:off x="6540500" y="990600"/>
            <a:ext cx="1905000" cy="406400"/>
          </a:xfrm>
          <a:prstGeom prst="rect">
            <a:avLst/>
          </a:prstGeom>
          <a:solidFill>
            <a:srgbClr val="F5F0EB"/>
          </a:solidFill>
          <a:ln w="12700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8" name="t308"/>
          <p:cNvSpPr txBox="1"/>
          <p:nvPr/>
        </p:nvSpPr>
        <p:spPr>
          <a:xfrm>
            <a:off x="6692900" y="990600"/>
            <a:ext cx="1600200" cy="4064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l">
              <a:buNone/>
            </a:pPr>
            <a:r>
              <a:rPr lang="en-US" sz="1500" dirty="0">
                <a:solidFill>
                  <a:srgbClr val="333333"/>
                </a:solidFill>
                <a:latin typeface="Consolas"/>
                <a:cs typeface="Consolas"/>
              </a:rPr>
              <a:t>q = [5]</a:t>
            </a:r>
          </a:p>
        </p:txBody>
      </p:sp>
      <p:sp>
        <p:nvSpPr>
          <p:cNvPr id="309" name="t309"/>
          <p:cNvSpPr txBox="1"/>
          <p:nvPr/>
        </p:nvSpPr>
        <p:spPr>
          <a:xfrm>
            <a:off x="8636000" y="736600"/>
            <a:ext cx="3175000" cy="2286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l">
              <a:buNone/>
            </a:pPr>
            <a:r>
              <a:rPr lang="en-US" sz="1400" b="1" dirty="0">
                <a:solidFill>
                  <a:srgbClr val="4B2E83"/>
                </a:solidFill>
                <a:latin typeface="Arial"/>
                <a:cs typeface="Arial"/>
              </a:rPr>
              <a:t>Metric  ‖xᵢ − q‖</a:t>
            </a:r>
          </a:p>
        </p:txBody>
      </p:sp>
      <p:sp>
        <p:nvSpPr>
          <p:cNvPr id="310" name="b310"/>
          <p:cNvSpPr/>
          <p:nvPr/>
        </p:nvSpPr>
        <p:spPr>
          <a:xfrm>
            <a:off x="8636000" y="990600"/>
            <a:ext cx="3175000" cy="406400"/>
          </a:xfrm>
          <a:prstGeom prst="rect">
            <a:avLst/>
          </a:prstGeom>
          <a:solidFill>
            <a:srgbClr val="F5F0EB"/>
          </a:solidFill>
          <a:ln w="12700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1" name="t311"/>
          <p:cNvSpPr txBox="1"/>
          <p:nvPr/>
        </p:nvSpPr>
        <p:spPr>
          <a:xfrm>
            <a:off x="8788400" y="990600"/>
            <a:ext cx="2870200" cy="4064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l">
              <a:buNone/>
            </a:pPr>
            <a:r>
              <a:rPr lang="en-US" sz="1400" dirty="0">
                <a:solidFill>
                  <a:srgbClr val="333333"/>
                </a:solidFill>
                <a:latin typeface="Consolas"/>
                <a:cs typeface="Consolas"/>
              </a:rPr>
              <a:t>dᵢ = |xᵢ − q| = ‖xᵢ − q‖₁</a:t>
            </a:r>
          </a:p>
        </p:txBody>
      </p:sp>
      <p:sp>
        <p:nvSpPr>
          <p:cNvPr id="312" name="t312"/>
          <p:cNvSpPr txBox="1"/>
          <p:nvPr/>
        </p:nvSpPr>
        <p:spPr>
          <a:xfrm>
            <a:off x="381000" y="1676400"/>
            <a:ext cx="7112000" cy="2540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l">
              <a:buNone/>
            </a:pPr>
            <a:r>
              <a:rPr lang="en-US" sz="1500" b="1" dirty="0">
                <a:solidFill>
                  <a:srgbClr val="4B2E83"/>
                </a:solidFill>
                <a:latin typeface="Arial"/>
                <a:cs typeface="Arial"/>
              </a:rPr>
              <a:t>Step 1 — distance vector  d = ‖X − 1qᵀ‖  (row-wise)</a:t>
            </a:r>
          </a:p>
        </p:txBody>
      </p:sp>
      <p:sp>
        <p:nvSpPr>
          <p:cNvPr id="313" name="t313"/>
          <p:cNvSpPr txBox="1"/>
          <p:nvPr/>
        </p:nvSpPr>
        <p:spPr>
          <a:xfrm>
            <a:off x="508000" y="2159000"/>
            <a:ext cx="3810000" cy="2794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l">
              <a:buNone/>
            </a:pPr>
            <a:r>
              <a:rPr lang="en-US" sz="1500" dirty="0">
                <a:solidFill>
                  <a:srgbClr val="333333"/>
                </a:solidFill>
                <a:latin typeface="Consolas"/>
                <a:cs typeface="Consolas"/>
              </a:rPr>
              <a:t>d₁ = ‖x₁ − q‖ = |1 − 5|</a:t>
            </a:r>
          </a:p>
        </p:txBody>
      </p:sp>
      <p:sp>
        <p:nvSpPr>
          <p:cNvPr id="314" name="t314"/>
          <p:cNvSpPr txBox="1"/>
          <p:nvPr/>
        </p:nvSpPr>
        <p:spPr>
          <a:xfrm>
            <a:off x="4572000" y="2159000"/>
            <a:ext cx="698500" cy="2794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r">
              <a:buNone/>
            </a:pPr>
            <a:r>
              <a:rPr lang="en-US" sz="1700" b="1" dirty="0">
                <a:solidFill>
                  <a:srgbClr val="595959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315" name="t315"/>
          <p:cNvSpPr txBox="1"/>
          <p:nvPr/>
        </p:nvSpPr>
        <p:spPr>
          <a:xfrm>
            <a:off x="508000" y="2692400"/>
            <a:ext cx="3810000" cy="2794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l">
              <a:buNone/>
            </a:pPr>
            <a:r>
              <a:rPr lang="en-US" sz="1500" dirty="0">
                <a:solidFill>
                  <a:srgbClr val="333333"/>
                </a:solidFill>
                <a:latin typeface="Consolas"/>
                <a:cs typeface="Consolas"/>
              </a:rPr>
              <a:t>d₂ = ‖x₂ − q‖ = |2 − 5|</a:t>
            </a:r>
          </a:p>
        </p:txBody>
      </p:sp>
      <p:sp>
        <p:nvSpPr>
          <p:cNvPr id="316" name="t316"/>
          <p:cNvSpPr txBox="1"/>
          <p:nvPr/>
        </p:nvSpPr>
        <p:spPr>
          <a:xfrm>
            <a:off x="4572000" y="2692400"/>
            <a:ext cx="698500" cy="2794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r">
              <a:buNone/>
            </a:pPr>
            <a:r>
              <a:rPr lang="en-US" sz="1700" b="1" dirty="0">
                <a:solidFill>
                  <a:srgbClr val="595959"/>
                </a:solidFill>
                <a:latin typeface="Consolas"/>
                <a:cs typeface="Consolas"/>
              </a:rPr>
              <a:t>3</a:t>
            </a:r>
          </a:p>
        </p:txBody>
      </p:sp>
      <p:sp>
        <p:nvSpPr>
          <p:cNvPr id="317" name="t317"/>
          <p:cNvSpPr txBox="1"/>
          <p:nvPr/>
        </p:nvSpPr>
        <p:spPr>
          <a:xfrm>
            <a:off x="508000" y="3225800"/>
            <a:ext cx="3810000" cy="2794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l">
              <a:buNone/>
            </a:pPr>
            <a:r>
              <a:rPr lang="en-US" sz="1500" dirty="0">
                <a:solidFill>
                  <a:srgbClr val="333333"/>
                </a:solidFill>
                <a:latin typeface="Consolas"/>
                <a:cs typeface="Consolas"/>
              </a:rPr>
              <a:t>d₃ = ‖x₃ − q‖ = |4 − 5|</a:t>
            </a:r>
          </a:p>
        </p:txBody>
      </p:sp>
      <p:sp>
        <p:nvSpPr>
          <p:cNvPr id="318" name="t318"/>
          <p:cNvSpPr txBox="1"/>
          <p:nvPr/>
        </p:nvSpPr>
        <p:spPr>
          <a:xfrm>
            <a:off x="4572000" y="3225800"/>
            <a:ext cx="698500" cy="2794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r">
              <a:buNone/>
            </a:pPr>
            <a:r>
              <a:rPr lang="en-US" sz="1700" b="1" dirty="0">
                <a:solidFill>
                  <a:srgbClr val="7AB648"/>
                </a:solidFill>
                <a:latin typeface="Consolas"/>
                <a:cs typeface="Consolas"/>
              </a:rPr>
              <a:t>1</a:t>
            </a:r>
          </a:p>
        </p:txBody>
      </p:sp>
      <p:sp>
        <p:nvSpPr>
          <p:cNvPr id="319" name="t319"/>
          <p:cNvSpPr txBox="1"/>
          <p:nvPr/>
        </p:nvSpPr>
        <p:spPr>
          <a:xfrm>
            <a:off x="5397500" y="3225800"/>
            <a:ext cx="571500" cy="2540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l">
              <a:buNone/>
            </a:pPr>
            <a:r>
              <a:rPr lang="en-US" sz="1300" b="1" dirty="0">
                <a:solidFill>
                  <a:srgbClr val="7AB648"/>
                </a:solidFill>
                <a:latin typeface="Arial"/>
                <a:cs typeface="Arial"/>
              </a:rPr>
              <a:t>NN</a:t>
            </a:r>
          </a:p>
        </p:txBody>
      </p:sp>
      <p:sp>
        <p:nvSpPr>
          <p:cNvPr id="320" name="t320"/>
          <p:cNvSpPr txBox="1"/>
          <p:nvPr/>
        </p:nvSpPr>
        <p:spPr>
          <a:xfrm>
            <a:off x="508000" y="3759200"/>
            <a:ext cx="3810000" cy="2794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l">
              <a:buNone/>
            </a:pPr>
            <a:r>
              <a:rPr lang="en-US" sz="1500" dirty="0">
                <a:solidFill>
                  <a:srgbClr val="333333"/>
                </a:solidFill>
                <a:latin typeface="Consolas"/>
                <a:cs typeface="Consolas"/>
              </a:rPr>
              <a:t>d₄ = ‖x₄ − q‖ = |7 − 5|</a:t>
            </a:r>
          </a:p>
        </p:txBody>
      </p:sp>
      <p:sp>
        <p:nvSpPr>
          <p:cNvPr id="321" name="t321"/>
          <p:cNvSpPr txBox="1"/>
          <p:nvPr/>
        </p:nvSpPr>
        <p:spPr>
          <a:xfrm>
            <a:off x="4572000" y="3759200"/>
            <a:ext cx="698500" cy="2794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r">
              <a:buNone/>
            </a:pPr>
            <a:r>
              <a:rPr lang="en-US" sz="1700" b="1" dirty="0">
                <a:solidFill>
                  <a:srgbClr val="7AB648"/>
                </a:solidFill>
                <a:latin typeface="Consolas"/>
                <a:cs typeface="Consolas"/>
              </a:rPr>
              <a:t>2</a:t>
            </a:r>
          </a:p>
        </p:txBody>
      </p:sp>
      <p:sp>
        <p:nvSpPr>
          <p:cNvPr id="322" name="t322"/>
          <p:cNvSpPr txBox="1"/>
          <p:nvPr/>
        </p:nvSpPr>
        <p:spPr>
          <a:xfrm>
            <a:off x="5397500" y="3759200"/>
            <a:ext cx="571500" cy="2540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l">
              <a:buNone/>
            </a:pPr>
            <a:r>
              <a:rPr lang="en-US" sz="1300" b="1" dirty="0">
                <a:solidFill>
                  <a:srgbClr val="7AB648"/>
                </a:solidFill>
                <a:latin typeface="Arial"/>
                <a:cs typeface="Arial"/>
              </a:rPr>
              <a:t>NN</a:t>
            </a:r>
          </a:p>
        </p:txBody>
      </p:sp>
      <p:sp>
        <p:nvSpPr>
          <p:cNvPr id="323" name="t323"/>
          <p:cNvSpPr txBox="1"/>
          <p:nvPr/>
        </p:nvSpPr>
        <p:spPr>
          <a:xfrm>
            <a:off x="508000" y="4292600"/>
            <a:ext cx="3810000" cy="2794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l">
              <a:buNone/>
            </a:pPr>
            <a:r>
              <a:rPr lang="en-US" sz="1500" dirty="0">
                <a:solidFill>
                  <a:srgbClr val="333333"/>
                </a:solidFill>
                <a:latin typeface="Consolas"/>
                <a:cs typeface="Consolas"/>
              </a:rPr>
              <a:t>d₅ = ‖x₅ − q‖ = |9 − 5|</a:t>
            </a:r>
          </a:p>
        </p:txBody>
      </p:sp>
      <p:sp>
        <p:nvSpPr>
          <p:cNvPr id="324" name="t324"/>
          <p:cNvSpPr txBox="1"/>
          <p:nvPr/>
        </p:nvSpPr>
        <p:spPr>
          <a:xfrm>
            <a:off x="4572000" y="4292600"/>
            <a:ext cx="698500" cy="2794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r">
              <a:buNone/>
            </a:pPr>
            <a:r>
              <a:rPr lang="en-US" sz="1700" b="1" dirty="0">
                <a:solidFill>
                  <a:srgbClr val="7AB648"/>
                </a:solidFill>
                <a:latin typeface="Consolas"/>
                <a:cs typeface="Consolas"/>
              </a:rPr>
              <a:t>4</a:t>
            </a:r>
          </a:p>
        </p:txBody>
      </p:sp>
      <p:sp>
        <p:nvSpPr>
          <p:cNvPr id="325" name="t325"/>
          <p:cNvSpPr txBox="1"/>
          <p:nvPr/>
        </p:nvSpPr>
        <p:spPr>
          <a:xfrm>
            <a:off x="5397500" y="4292600"/>
            <a:ext cx="571500" cy="2540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l">
              <a:buNone/>
            </a:pPr>
            <a:r>
              <a:rPr lang="en-US" sz="1300" b="1" dirty="0">
                <a:solidFill>
                  <a:srgbClr val="7AB648"/>
                </a:solidFill>
                <a:latin typeface="Arial"/>
                <a:cs typeface="Arial"/>
              </a:rPr>
              <a:t>NN</a:t>
            </a:r>
          </a:p>
        </p:txBody>
      </p:sp>
      <p:sp>
        <p:nvSpPr>
          <p:cNvPr id="326" name="t326"/>
          <p:cNvSpPr txBox="1"/>
          <p:nvPr/>
        </p:nvSpPr>
        <p:spPr>
          <a:xfrm>
            <a:off x="7620000" y="1676400"/>
            <a:ext cx="4191000" cy="2540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l">
              <a:buNone/>
            </a:pPr>
            <a:r>
              <a:rPr lang="en-US" sz="1500" b="1" dirty="0">
                <a:solidFill>
                  <a:srgbClr val="4B2E83"/>
                </a:solidFill>
                <a:latin typeface="Arial"/>
                <a:cs typeface="Arial"/>
              </a:rPr>
              <a:t>Step 2 — 3-NN majority vote</a:t>
            </a:r>
          </a:p>
        </p:txBody>
      </p:sp>
      <p:sp>
        <p:nvSpPr>
          <p:cNvPr id="327" name="b327"/>
          <p:cNvSpPr/>
          <p:nvPr/>
        </p:nvSpPr>
        <p:spPr>
          <a:xfrm>
            <a:off x="7620000" y="1955800"/>
            <a:ext cx="4191000" cy="190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28" name="t328"/>
          <p:cNvSpPr txBox="1"/>
          <p:nvPr/>
        </p:nvSpPr>
        <p:spPr>
          <a:xfrm>
            <a:off x="7772400" y="2057400"/>
            <a:ext cx="3886200" cy="3810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l">
              <a:buNone/>
            </a:pPr>
            <a:r>
              <a:rPr lang="en-US" sz="1400" dirty="0">
                <a:solidFill>
                  <a:srgbClr val="333333"/>
                </a:solidFill>
                <a:latin typeface="Consolas"/>
                <a:cs typeface="Consolas"/>
              </a:rPr>
              <a:t>Sort d: π = argsort(d) = [3, 4, 1, 2, 5]</a:t>
            </a:r>
          </a:p>
        </p:txBody>
      </p:sp>
      <p:sp>
        <p:nvSpPr>
          <p:cNvPr id="329" name="t329"/>
          <p:cNvSpPr txBox="1"/>
          <p:nvPr/>
        </p:nvSpPr>
        <p:spPr>
          <a:xfrm>
            <a:off x="7772400" y="2603500"/>
            <a:ext cx="3886200" cy="3810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l">
              <a:buNone/>
            </a:pPr>
            <a:r>
              <a:rPr lang="en-US" sz="1400" dirty="0">
                <a:solidFill>
                  <a:srgbClr val="333333"/>
                </a:solidFill>
                <a:latin typeface="Consolas"/>
                <a:cs typeface="Consolas"/>
              </a:rPr>
              <a:t>N = π[1:3] = {x₃, x₄, x₅}  →  y[N] = [B B B]</a:t>
            </a:r>
          </a:p>
        </p:txBody>
      </p:sp>
      <p:sp>
        <p:nvSpPr>
          <p:cNvPr id="330" name="t330"/>
          <p:cNvSpPr txBox="1"/>
          <p:nvPr/>
        </p:nvSpPr>
        <p:spPr>
          <a:xfrm>
            <a:off x="7772400" y="3175000"/>
            <a:ext cx="3886200" cy="5080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l">
              <a:buNone/>
            </a:pPr>
            <a:r>
              <a:rPr lang="en-US" sz="1600" b="1" dirty="0">
                <a:solidFill>
                  <a:srgbClr val="7AB648"/>
                </a:solidFill>
                <a:latin typeface="Consolas"/>
                <a:cs typeface="Consolas"/>
              </a:rPr>
              <a:t>ŷ = mode(y[N]) = B   (3 of 3)</a:t>
            </a:r>
          </a:p>
        </p:txBody>
      </p:sp>
      <p:sp>
        <p:nvSpPr>
          <p:cNvPr id="331" name="t331"/>
          <p:cNvSpPr txBox="1"/>
          <p:nvPr/>
        </p:nvSpPr>
        <p:spPr>
          <a:xfrm>
            <a:off x="381000" y="4724400"/>
            <a:ext cx="11430000" cy="2540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l">
              <a:buNone/>
            </a:pPr>
            <a:r>
              <a:rPr lang="en-US" sz="1500" b="1" dirty="0">
                <a:solidFill>
                  <a:srgbClr val="4B2E83"/>
                </a:solidFill>
                <a:latin typeface="Arial"/>
                <a:cs typeface="Arial"/>
              </a:rPr>
              <a:t>Distance diagnostic — spread of the norm vector d</a:t>
            </a:r>
          </a:p>
        </p:txBody>
      </p:sp>
      <p:sp>
        <p:nvSpPr>
          <p:cNvPr id="332" name="b332"/>
          <p:cNvSpPr/>
          <p:nvPr/>
        </p:nvSpPr>
        <p:spPr>
          <a:xfrm>
            <a:off x="381000" y="5003800"/>
            <a:ext cx="11430000" cy="609600"/>
          </a:xfrm>
          <a:prstGeom prst="rect">
            <a:avLst/>
          </a:prstGeom>
          <a:solidFill>
            <a:srgbClr val="F5F0EB"/>
          </a:solidFill>
          <a:ln w="12700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3" name="t333"/>
          <p:cNvSpPr txBox="1"/>
          <p:nvPr/>
        </p:nvSpPr>
        <p:spPr>
          <a:xfrm>
            <a:off x="571500" y="5080000"/>
            <a:ext cx="11049000" cy="2286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l">
              <a:buNone/>
            </a:pPr>
            <a:r>
              <a:rPr lang="en-US" sz="1500" dirty="0">
                <a:solidFill>
                  <a:srgbClr val="333333"/>
                </a:solidFill>
                <a:latin typeface="Consolas"/>
                <a:cs typeface="Consolas"/>
              </a:rPr>
              <a:t>max(d) = 4     min(d) = 1</a:t>
            </a:r>
          </a:p>
        </p:txBody>
      </p:sp>
      <p:sp>
        <p:nvSpPr>
          <p:cNvPr id="334" name="t334"/>
          <p:cNvSpPr txBox="1"/>
          <p:nvPr/>
        </p:nvSpPr>
        <p:spPr>
          <a:xfrm>
            <a:off x="571500" y="5334000"/>
            <a:ext cx="11049000" cy="2286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l">
              <a:buNone/>
            </a:pPr>
            <a:r>
              <a:rPr lang="en-US" sz="1500" dirty="0">
                <a:solidFill>
                  <a:srgbClr val="333333"/>
                </a:solidFill>
                <a:latin typeface="Consolas"/>
                <a:cs typeface="Consolas"/>
              </a:rPr>
              <a:t>ratio = max(d) / min(d) = 4.00×   — the nearest point is 4× closer than the farthest</a:t>
            </a:r>
          </a:p>
        </p:txBody>
      </p:sp>
      <p:sp>
        <p:nvSpPr>
          <p:cNvPr id="335" name="b335"/>
          <p:cNvSpPr/>
          <p:nvPr/>
        </p:nvSpPr>
        <p:spPr>
          <a:xfrm>
            <a:off x="381000" y="5740400"/>
            <a:ext cx="11430000" cy="7366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36" name="t336"/>
          <p:cNvSpPr txBox="1"/>
          <p:nvPr/>
        </p:nvSpPr>
        <p:spPr>
          <a:xfrm>
            <a:off x="571500" y="5740400"/>
            <a:ext cx="11049000" cy="7366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/>
                <a:cs typeface="Arial"/>
              </a:rPr>
              <a:t>In d = 1 the norm vector d is highly discriminative: a 4× gap between nearest and farthest. KNN's similarity signal is strong.</a:t>
            </a:r>
          </a:p>
        </p:txBody>
      </p:sp>
    </p:spTree>
    <p:extLst>
      <p:ext uri="{BB962C8B-B14F-4D97-AF65-F5344CB8AC3E}">
        <p14:creationId xmlns:p14="http://schemas.microsoft.com/office/powerpoint/2010/main" val="873461845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b331"/>
          <p:cNvSpPr/>
          <p:nvPr/>
        </p:nvSpPr>
        <p:spPr>
          <a:xfrm>
            <a:off x="381000" y="4927600"/>
            <a:ext cx="11430000" cy="609600"/>
          </a:xfrm>
          <a:prstGeom prst="rect">
            <a:avLst/>
          </a:prstGeom>
          <a:solidFill>
            <a:srgbClr val="F5F0EB"/>
          </a:solidFill>
          <a:ln w="12700">
            <a:solidFill>
              <a:srgbClr val="B7A57A"/>
            </a:solidFill>
          </a:ln>
        </p:spPr>
        <p:txBody>
          <a:bodyPr/>
          <a:lstStyle/>
          <a:p>
            <a:endParaRPr sz="1500"/>
          </a:p>
        </p:txBody>
      </p:sp>
      <p:sp>
        <p:nvSpPr>
          <p:cNvPr id="301" name="b301"/>
          <p:cNvSpPr/>
          <p:nvPr/>
        </p:nvSpPr>
        <p:spPr>
          <a:xfrm>
            <a:off x="381000" y="228600"/>
            <a:ext cx="11430000" cy="3810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2" name="t302"/>
          <p:cNvSpPr txBox="1"/>
          <p:nvPr/>
        </p:nvSpPr>
        <p:spPr>
          <a:xfrm>
            <a:off x="533400" y="228600"/>
            <a:ext cx="11125200" cy="3810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/>
                <a:cs typeface="Arial"/>
              </a:rPr>
              <a:t>Curse of dimensionality — Stage 2: d = 2 (matrix / vector form)</a:t>
            </a:r>
          </a:p>
        </p:txBody>
      </p:sp>
      <p:sp>
        <p:nvSpPr>
          <p:cNvPr id="303" name="t303"/>
          <p:cNvSpPr txBox="1"/>
          <p:nvPr/>
        </p:nvSpPr>
        <p:spPr>
          <a:xfrm>
            <a:off x="381000" y="736600"/>
            <a:ext cx="5969000" cy="2286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l">
              <a:buNone/>
            </a:pPr>
            <a:r>
              <a:rPr lang="en-US" sz="1400" b="1" dirty="0">
                <a:solidFill>
                  <a:srgbClr val="4B2E83"/>
                </a:solidFill>
                <a:latin typeface="Arial"/>
                <a:cs typeface="Arial"/>
              </a:rPr>
              <a:t>Training matrix  X ∈ ℝ⁵ˣ²   (rows = points)</a:t>
            </a:r>
          </a:p>
        </p:txBody>
      </p:sp>
      <p:sp>
        <p:nvSpPr>
          <p:cNvPr id="304" name="b304"/>
          <p:cNvSpPr/>
          <p:nvPr/>
        </p:nvSpPr>
        <p:spPr>
          <a:xfrm>
            <a:off x="381000" y="990600"/>
            <a:ext cx="5969000" cy="406400"/>
          </a:xfrm>
          <a:prstGeom prst="rect">
            <a:avLst/>
          </a:prstGeom>
          <a:solidFill>
            <a:srgbClr val="F5F0EB"/>
          </a:solidFill>
          <a:ln w="12700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5" name="t305"/>
          <p:cNvSpPr txBox="1"/>
          <p:nvPr/>
        </p:nvSpPr>
        <p:spPr>
          <a:xfrm>
            <a:off x="533400" y="990600"/>
            <a:ext cx="5664200" cy="4064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l">
              <a:buNone/>
            </a:pPr>
            <a:r>
              <a:rPr lang="en-US" sz="1400" dirty="0">
                <a:solidFill>
                  <a:srgbClr val="333333"/>
                </a:solidFill>
                <a:latin typeface="Consolas"/>
                <a:cs typeface="Consolas"/>
              </a:rPr>
              <a:t>X = [(1,2)(2,1)(4,8)(7,5)(9,9)]  y=[A A B B B]</a:t>
            </a:r>
          </a:p>
        </p:txBody>
      </p:sp>
      <p:sp>
        <p:nvSpPr>
          <p:cNvPr id="306" name="t306"/>
          <p:cNvSpPr txBox="1"/>
          <p:nvPr/>
        </p:nvSpPr>
        <p:spPr>
          <a:xfrm>
            <a:off x="6540500" y="736600"/>
            <a:ext cx="1905000" cy="2286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l">
              <a:buNone/>
            </a:pPr>
            <a:r>
              <a:rPr lang="en-US" sz="1400" b="1" dirty="0">
                <a:solidFill>
                  <a:srgbClr val="4B2E83"/>
                </a:solidFill>
                <a:latin typeface="Arial"/>
                <a:cs typeface="Arial"/>
              </a:rPr>
              <a:t>Query  q</a:t>
            </a:r>
          </a:p>
        </p:txBody>
      </p:sp>
      <p:sp>
        <p:nvSpPr>
          <p:cNvPr id="307" name="b307"/>
          <p:cNvSpPr/>
          <p:nvPr/>
        </p:nvSpPr>
        <p:spPr>
          <a:xfrm>
            <a:off x="6540500" y="990600"/>
            <a:ext cx="1905000" cy="406400"/>
          </a:xfrm>
          <a:prstGeom prst="rect">
            <a:avLst/>
          </a:prstGeom>
          <a:solidFill>
            <a:srgbClr val="F5F0EB"/>
          </a:solidFill>
          <a:ln w="12700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8" name="t308"/>
          <p:cNvSpPr txBox="1"/>
          <p:nvPr/>
        </p:nvSpPr>
        <p:spPr>
          <a:xfrm>
            <a:off x="6692900" y="990600"/>
            <a:ext cx="1600200" cy="4064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l">
              <a:buNone/>
            </a:pPr>
            <a:r>
              <a:rPr lang="en-US" sz="1500" dirty="0">
                <a:solidFill>
                  <a:srgbClr val="333333"/>
                </a:solidFill>
                <a:latin typeface="Consolas"/>
                <a:cs typeface="Consolas"/>
              </a:rPr>
              <a:t>q = (5, 5)</a:t>
            </a:r>
          </a:p>
        </p:txBody>
      </p:sp>
      <p:sp>
        <p:nvSpPr>
          <p:cNvPr id="309" name="t309"/>
          <p:cNvSpPr txBox="1"/>
          <p:nvPr/>
        </p:nvSpPr>
        <p:spPr>
          <a:xfrm>
            <a:off x="8636000" y="736600"/>
            <a:ext cx="3175000" cy="2286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l">
              <a:buNone/>
            </a:pPr>
            <a:r>
              <a:rPr lang="en-US" sz="1400" b="1" dirty="0">
                <a:solidFill>
                  <a:srgbClr val="4B2E83"/>
                </a:solidFill>
                <a:latin typeface="Arial"/>
                <a:cs typeface="Arial"/>
              </a:rPr>
              <a:t>Metric  ‖xᵢ − q‖₂</a:t>
            </a:r>
          </a:p>
        </p:txBody>
      </p:sp>
      <p:sp>
        <p:nvSpPr>
          <p:cNvPr id="310" name="b310"/>
          <p:cNvSpPr/>
          <p:nvPr/>
        </p:nvSpPr>
        <p:spPr>
          <a:xfrm>
            <a:off x="8636000" y="990600"/>
            <a:ext cx="3175000" cy="406400"/>
          </a:xfrm>
          <a:prstGeom prst="rect">
            <a:avLst/>
          </a:prstGeom>
          <a:solidFill>
            <a:srgbClr val="F5F0EB"/>
          </a:solidFill>
          <a:ln w="12700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1" name="t311"/>
          <p:cNvSpPr txBox="1"/>
          <p:nvPr/>
        </p:nvSpPr>
        <p:spPr>
          <a:xfrm>
            <a:off x="8788400" y="990600"/>
            <a:ext cx="2870200" cy="4064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l">
              <a:buNone/>
            </a:pPr>
            <a:r>
              <a:rPr lang="en-US" sz="1400" dirty="0">
                <a:solidFill>
                  <a:srgbClr val="333333"/>
                </a:solidFill>
                <a:latin typeface="Consolas"/>
                <a:cs typeface="Consolas"/>
              </a:rPr>
              <a:t>dᵢ = ‖xᵢ − q‖₂ = √Σⱼ(xᵢⱼ − qⱼ)²</a:t>
            </a:r>
          </a:p>
        </p:txBody>
      </p:sp>
      <p:sp>
        <p:nvSpPr>
          <p:cNvPr id="312" name="t312"/>
          <p:cNvSpPr txBox="1"/>
          <p:nvPr/>
        </p:nvSpPr>
        <p:spPr>
          <a:xfrm>
            <a:off x="381000" y="1676400"/>
            <a:ext cx="7112000" cy="2540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l">
              <a:buNone/>
            </a:pPr>
            <a:r>
              <a:rPr lang="en-US" sz="1500" b="1" dirty="0">
                <a:solidFill>
                  <a:srgbClr val="4B2E83"/>
                </a:solidFill>
                <a:latin typeface="Arial"/>
                <a:cs typeface="Arial"/>
              </a:rPr>
              <a:t>Step 1 — distance vector  d = ‖X − 1qᵀ‖₂,row</a:t>
            </a:r>
          </a:p>
        </p:txBody>
      </p:sp>
      <p:sp>
        <p:nvSpPr>
          <p:cNvPr id="313" name="t313"/>
          <p:cNvSpPr txBox="1"/>
          <p:nvPr/>
        </p:nvSpPr>
        <p:spPr>
          <a:xfrm>
            <a:off x="508000" y="2159000"/>
            <a:ext cx="3937000" cy="2794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l">
              <a:buNone/>
            </a:pPr>
            <a:r>
              <a:rPr lang="en-US" sz="1400" dirty="0">
                <a:solidFill>
                  <a:srgbClr val="333333"/>
                </a:solidFill>
                <a:latin typeface="Consolas"/>
                <a:cs typeface="Consolas"/>
              </a:rPr>
              <a:t>d₁ = √((5−1)²+(5−2)²) = √25</a:t>
            </a:r>
          </a:p>
        </p:txBody>
      </p:sp>
      <p:sp>
        <p:nvSpPr>
          <p:cNvPr id="314" name="t314"/>
          <p:cNvSpPr txBox="1"/>
          <p:nvPr/>
        </p:nvSpPr>
        <p:spPr>
          <a:xfrm>
            <a:off x="4572000" y="2159000"/>
            <a:ext cx="698500" cy="2794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r">
              <a:buNone/>
            </a:pPr>
            <a:r>
              <a:rPr lang="en-US" sz="1700" b="1" dirty="0">
                <a:solidFill>
                  <a:srgbClr val="595959"/>
                </a:solidFill>
                <a:latin typeface="Consolas"/>
                <a:cs typeface="Consolas"/>
              </a:rPr>
              <a:t>5.00</a:t>
            </a:r>
          </a:p>
        </p:txBody>
      </p:sp>
      <p:sp>
        <p:nvSpPr>
          <p:cNvPr id="315" name="t315"/>
          <p:cNvSpPr txBox="1"/>
          <p:nvPr/>
        </p:nvSpPr>
        <p:spPr>
          <a:xfrm>
            <a:off x="508000" y="2692400"/>
            <a:ext cx="3937000" cy="2794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l">
              <a:buNone/>
            </a:pPr>
            <a:r>
              <a:rPr lang="en-US" sz="1400" dirty="0">
                <a:solidFill>
                  <a:srgbClr val="333333"/>
                </a:solidFill>
                <a:latin typeface="Consolas"/>
                <a:cs typeface="Consolas"/>
              </a:rPr>
              <a:t>d₂ = √((5−2)²+(5−1)²) = √25</a:t>
            </a:r>
          </a:p>
        </p:txBody>
      </p:sp>
      <p:sp>
        <p:nvSpPr>
          <p:cNvPr id="316" name="t316"/>
          <p:cNvSpPr txBox="1"/>
          <p:nvPr/>
        </p:nvSpPr>
        <p:spPr>
          <a:xfrm>
            <a:off x="4572000" y="2692400"/>
            <a:ext cx="698500" cy="2794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r">
              <a:buNone/>
            </a:pPr>
            <a:r>
              <a:rPr lang="en-US" sz="1700" b="1" dirty="0">
                <a:solidFill>
                  <a:srgbClr val="595959"/>
                </a:solidFill>
                <a:latin typeface="Consolas"/>
                <a:cs typeface="Consolas"/>
              </a:rPr>
              <a:t>5.00</a:t>
            </a:r>
          </a:p>
        </p:txBody>
      </p:sp>
      <p:sp>
        <p:nvSpPr>
          <p:cNvPr id="317" name="t317"/>
          <p:cNvSpPr txBox="1"/>
          <p:nvPr/>
        </p:nvSpPr>
        <p:spPr>
          <a:xfrm>
            <a:off x="508000" y="3225800"/>
            <a:ext cx="3937000" cy="2794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l">
              <a:buNone/>
            </a:pPr>
            <a:r>
              <a:rPr lang="en-US" sz="1400" dirty="0">
                <a:solidFill>
                  <a:srgbClr val="333333"/>
                </a:solidFill>
                <a:latin typeface="Consolas"/>
                <a:cs typeface="Consolas"/>
              </a:rPr>
              <a:t>d₃ = √((5−4)²+(5−8)²) = √10</a:t>
            </a:r>
          </a:p>
        </p:txBody>
      </p:sp>
      <p:sp>
        <p:nvSpPr>
          <p:cNvPr id="318" name="t318"/>
          <p:cNvSpPr txBox="1"/>
          <p:nvPr/>
        </p:nvSpPr>
        <p:spPr>
          <a:xfrm>
            <a:off x="4572000" y="3225800"/>
            <a:ext cx="698500" cy="2794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r">
              <a:buNone/>
            </a:pPr>
            <a:r>
              <a:rPr lang="en-US" sz="1700" b="1" dirty="0">
                <a:solidFill>
                  <a:srgbClr val="7AB648"/>
                </a:solidFill>
                <a:latin typeface="Consolas"/>
                <a:cs typeface="Consolas"/>
              </a:rPr>
              <a:t>3.16</a:t>
            </a:r>
          </a:p>
        </p:txBody>
      </p:sp>
      <p:sp>
        <p:nvSpPr>
          <p:cNvPr id="319" name="t319"/>
          <p:cNvSpPr txBox="1"/>
          <p:nvPr/>
        </p:nvSpPr>
        <p:spPr>
          <a:xfrm>
            <a:off x="5397500" y="3225800"/>
            <a:ext cx="571500" cy="2540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l">
              <a:buNone/>
            </a:pPr>
            <a:r>
              <a:rPr lang="en-US" sz="1300" b="1" dirty="0">
                <a:solidFill>
                  <a:srgbClr val="7AB648"/>
                </a:solidFill>
                <a:latin typeface="Arial"/>
                <a:cs typeface="Arial"/>
              </a:rPr>
              <a:t>NN</a:t>
            </a:r>
          </a:p>
        </p:txBody>
      </p:sp>
      <p:sp>
        <p:nvSpPr>
          <p:cNvPr id="320" name="t320"/>
          <p:cNvSpPr txBox="1"/>
          <p:nvPr/>
        </p:nvSpPr>
        <p:spPr>
          <a:xfrm>
            <a:off x="508000" y="3759200"/>
            <a:ext cx="3937000" cy="2794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l">
              <a:buNone/>
            </a:pPr>
            <a:r>
              <a:rPr lang="en-US" sz="1400" dirty="0">
                <a:solidFill>
                  <a:srgbClr val="333333"/>
                </a:solidFill>
                <a:latin typeface="Consolas"/>
                <a:cs typeface="Consolas"/>
              </a:rPr>
              <a:t>d₄ = √((5−7)²+(5−5)²) = √4</a:t>
            </a:r>
          </a:p>
        </p:txBody>
      </p:sp>
      <p:sp>
        <p:nvSpPr>
          <p:cNvPr id="321" name="t321"/>
          <p:cNvSpPr txBox="1"/>
          <p:nvPr/>
        </p:nvSpPr>
        <p:spPr>
          <a:xfrm>
            <a:off x="4572000" y="3759200"/>
            <a:ext cx="698500" cy="2794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r">
              <a:buNone/>
            </a:pPr>
            <a:r>
              <a:rPr lang="en-US" sz="1700" b="1" dirty="0">
                <a:solidFill>
                  <a:srgbClr val="7AB648"/>
                </a:solidFill>
                <a:latin typeface="Consolas"/>
                <a:cs typeface="Consolas"/>
              </a:rPr>
              <a:t>2.00</a:t>
            </a:r>
          </a:p>
        </p:txBody>
      </p:sp>
      <p:sp>
        <p:nvSpPr>
          <p:cNvPr id="322" name="t322"/>
          <p:cNvSpPr txBox="1"/>
          <p:nvPr/>
        </p:nvSpPr>
        <p:spPr>
          <a:xfrm>
            <a:off x="5397500" y="3759200"/>
            <a:ext cx="571500" cy="2540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l">
              <a:buNone/>
            </a:pPr>
            <a:r>
              <a:rPr lang="en-US" sz="1300" b="1" dirty="0">
                <a:solidFill>
                  <a:srgbClr val="7AB648"/>
                </a:solidFill>
                <a:latin typeface="Arial"/>
                <a:cs typeface="Arial"/>
              </a:rPr>
              <a:t>NN</a:t>
            </a:r>
          </a:p>
        </p:txBody>
      </p:sp>
      <p:sp>
        <p:nvSpPr>
          <p:cNvPr id="323" name="t323"/>
          <p:cNvSpPr txBox="1"/>
          <p:nvPr/>
        </p:nvSpPr>
        <p:spPr>
          <a:xfrm>
            <a:off x="508000" y="4292600"/>
            <a:ext cx="3937000" cy="2794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l">
              <a:buNone/>
            </a:pPr>
            <a:r>
              <a:rPr lang="en-US" sz="1400" dirty="0">
                <a:solidFill>
                  <a:srgbClr val="333333"/>
                </a:solidFill>
                <a:latin typeface="Consolas"/>
                <a:cs typeface="Consolas"/>
              </a:rPr>
              <a:t>d₅ = √((5−9)²+(5−9)²) = √32</a:t>
            </a:r>
          </a:p>
        </p:txBody>
      </p:sp>
      <p:sp>
        <p:nvSpPr>
          <p:cNvPr id="324" name="t324"/>
          <p:cNvSpPr txBox="1"/>
          <p:nvPr/>
        </p:nvSpPr>
        <p:spPr>
          <a:xfrm>
            <a:off x="4572000" y="4292600"/>
            <a:ext cx="698500" cy="2794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r">
              <a:buNone/>
            </a:pPr>
            <a:r>
              <a:rPr lang="en-US" sz="1700" b="1" dirty="0">
                <a:solidFill>
                  <a:srgbClr val="595959"/>
                </a:solidFill>
                <a:latin typeface="Consolas"/>
                <a:cs typeface="Consolas"/>
              </a:rPr>
              <a:t>5.66</a:t>
            </a:r>
          </a:p>
        </p:txBody>
      </p:sp>
      <p:sp>
        <p:nvSpPr>
          <p:cNvPr id="325" name="t325"/>
          <p:cNvSpPr txBox="1"/>
          <p:nvPr/>
        </p:nvSpPr>
        <p:spPr>
          <a:xfrm>
            <a:off x="7620000" y="1651000"/>
            <a:ext cx="4191000" cy="2286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l">
              <a:buNone/>
            </a:pPr>
            <a:r>
              <a:rPr lang="en-US" sz="1100" b="1" dirty="0">
                <a:solidFill>
                  <a:srgbClr val="4B2E83"/>
                </a:solidFill>
                <a:latin typeface="Arial"/>
                <a:cs typeface="Arial"/>
              </a:rPr>
              <a:t>Step 2 — 3-NN majority vote</a:t>
            </a:r>
          </a:p>
        </p:txBody>
      </p:sp>
      <p:sp>
        <p:nvSpPr>
          <p:cNvPr id="326" name="b326"/>
          <p:cNvSpPr/>
          <p:nvPr/>
        </p:nvSpPr>
        <p:spPr>
          <a:xfrm>
            <a:off x="7620000" y="1905000"/>
            <a:ext cx="4191000" cy="147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4B2E83"/>
            </a:solidFill>
          </a:ln>
        </p:spPr>
        <p:txBody>
          <a:bodyPr/>
          <a:lstStyle/>
          <a:p>
            <a:endParaRPr sz="1500"/>
          </a:p>
        </p:txBody>
      </p:sp>
      <p:sp>
        <p:nvSpPr>
          <p:cNvPr id="327" name="t327"/>
          <p:cNvSpPr txBox="1"/>
          <p:nvPr/>
        </p:nvSpPr>
        <p:spPr>
          <a:xfrm>
            <a:off x="7772400" y="2006600"/>
            <a:ext cx="3886200" cy="2794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l">
              <a:buNone/>
            </a:pPr>
            <a:r>
              <a:rPr lang="en-US" sz="1100" dirty="0">
                <a:solidFill>
                  <a:srgbClr val="333333"/>
                </a:solidFill>
                <a:latin typeface="Consolas"/>
                <a:cs typeface="Consolas"/>
              </a:rPr>
              <a:t>π = argsort(d) = [4, 3, 1, 2, 5]</a:t>
            </a:r>
          </a:p>
        </p:txBody>
      </p:sp>
      <p:sp>
        <p:nvSpPr>
          <p:cNvPr id="328" name="t328"/>
          <p:cNvSpPr txBox="1"/>
          <p:nvPr/>
        </p:nvSpPr>
        <p:spPr>
          <a:xfrm>
            <a:off x="7772400" y="2387600"/>
            <a:ext cx="3886200" cy="2794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l">
              <a:buNone/>
            </a:pPr>
            <a:r>
              <a:rPr lang="en-US" sz="1400" dirty="0">
                <a:solidFill>
                  <a:srgbClr val="333333"/>
                </a:solidFill>
                <a:latin typeface="Consolas"/>
                <a:cs typeface="Consolas"/>
              </a:rPr>
              <a:t>N = {x₄·B@2.00, x₃·B@3.16, x₁·A@5.00}</a:t>
            </a:r>
          </a:p>
        </p:txBody>
      </p:sp>
      <p:sp>
        <p:nvSpPr>
          <p:cNvPr id="329" name="t329"/>
          <p:cNvSpPr txBox="1"/>
          <p:nvPr/>
        </p:nvSpPr>
        <p:spPr>
          <a:xfrm>
            <a:off x="7772400" y="2768600"/>
            <a:ext cx="3886200" cy="3048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l">
              <a:buNone/>
            </a:pPr>
            <a:r>
              <a:rPr lang="en-US" sz="1400" b="1" dirty="0">
                <a:solidFill>
                  <a:srgbClr val="7AB648"/>
                </a:solidFill>
                <a:latin typeface="Consolas"/>
                <a:cs typeface="Consolas"/>
              </a:rPr>
              <a:t>ŷ = mode(y[N]) = B   (2 of 3)</a:t>
            </a:r>
          </a:p>
        </p:txBody>
      </p:sp>
      <p:sp>
        <p:nvSpPr>
          <p:cNvPr id="330" name="t330"/>
          <p:cNvSpPr txBox="1"/>
          <p:nvPr/>
        </p:nvSpPr>
        <p:spPr>
          <a:xfrm>
            <a:off x="381000" y="4648200"/>
            <a:ext cx="7112000" cy="2286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l">
              <a:buNone/>
            </a:pPr>
            <a:r>
              <a:rPr lang="en-US" sz="1600" b="1" dirty="0">
                <a:solidFill>
                  <a:srgbClr val="4B2E83"/>
                </a:solidFill>
                <a:latin typeface="Arial"/>
                <a:cs typeface="Arial"/>
              </a:rPr>
              <a:t>Distance diagnostic — spread of the norm vector d</a:t>
            </a:r>
          </a:p>
        </p:txBody>
      </p:sp>
      <p:sp>
        <p:nvSpPr>
          <p:cNvPr id="332" name="t332"/>
          <p:cNvSpPr txBox="1"/>
          <p:nvPr/>
        </p:nvSpPr>
        <p:spPr>
          <a:xfrm>
            <a:off x="571500" y="4991100"/>
            <a:ext cx="11049000" cy="2540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l">
              <a:buNone/>
            </a:pPr>
            <a:r>
              <a:rPr lang="en-US" sz="1200" dirty="0">
                <a:solidFill>
                  <a:srgbClr val="333333"/>
                </a:solidFill>
                <a:latin typeface="Consolas"/>
                <a:cs typeface="Consolas"/>
              </a:rPr>
              <a:t>max(d) = 5.66     min(d) = 2.00</a:t>
            </a:r>
          </a:p>
        </p:txBody>
      </p:sp>
      <p:sp>
        <p:nvSpPr>
          <p:cNvPr id="333" name="t333"/>
          <p:cNvSpPr txBox="1"/>
          <p:nvPr/>
        </p:nvSpPr>
        <p:spPr>
          <a:xfrm>
            <a:off x="571500" y="5257800"/>
            <a:ext cx="11049000" cy="2540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l">
              <a:buNone/>
            </a:pPr>
            <a:r>
              <a:rPr lang="en-US" sz="1500" dirty="0">
                <a:solidFill>
                  <a:srgbClr val="333333"/>
                </a:solidFill>
                <a:latin typeface="Consolas"/>
                <a:cs typeface="Consolas"/>
              </a:rPr>
              <a:t>ratio = max(d) / min(d) = 2.83×   — distances still discriminate, though the gap is shrinking</a:t>
            </a:r>
          </a:p>
        </p:txBody>
      </p:sp>
      <p:sp>
        <p:nvSpPr>
          <p:cNvPr id="335" name="t335"/>
          <p:cNvSpPr txBox="1"/>
          <p:nvPr/>
        </p:nvSpPr>
        <p:spPr>
          <a:xfrm>
            <a:off x="381000" y="5740400"/>
            <a:ext cx="11430000" cy="736600"/>
          </a:xfrm>
          <a:prstGeom prst="rect">
            <a:avLst/>
          </a:prstGeom>
          <a:noFill/>
        </p:spPr>
        <p:txBody>
          <a:bodyPr wrap="square" lIns="18000" tIns="9000" rIns="9000" bIns="9000" anchor="ctr"/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/>
                <a:cs typeface="Arial"/>
              </a:rPr>
              <a:t>In d = 2 the nearest neighbor is still 2.83× closer than the farthest. The norm vector remains informative.</a:t>
            </a:r>
          </a:p>
        </p:txBody>
      </p:sp>
    </p:spTree>
    <p:extLst>
      <p:ext uri="{BB962C8B-B14F-4D97-AF65-F5344CB8AC3E}">
        <p14:creationId xmlns:p14="http://schemas.microsoft.com/office/powerpoint/2010/main" val="4009561370"/>
      </p:ext>
    </p:extLst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600" b="1">
                <a:solidFill>
                  <a:srgbClr val="4B2E83"/>
                </a:solidFill>
                <a:latin typeface="Encode Sans"/>
              </a:rPr>
              <a:t>Matrix Operations</a:t>
            </a:r>
          </a:p>
          <a:p>
            <a:r>
              <a:rPr sz="3600" b="1">
                <a:solidFill>
                  <a:srgbClr val="4B2E83"/>
                </a:solidFill>
                <a:latin typeface="Encode Sans"/>
              </a:rPr>
              <a:t>and Data Geometry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>
                <a:solidFill>
                  <a:srgbClr val="85754D"/>
                </a:solidFill>
                <a:latin typeface="Encode Sans"/>
              </a:rPr>
              <a:t>BDATA 412: Advanced Data Visualization</a:t>
            </a:r>
          </a:p>
          <a:p>
            <a:r>
              <a:rPr sz="1800">
                <a:solidFill>
                  <a:srgbClr val="666666"/>
                </a:solidFill>
                <a:latin typeface="Encode Sans"/>
              </a:rPr>
              <a:t>University of Washington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A394970-FCFA-F222-F4ED-8442DB25E364}"/>
              </a:ext>
            </a:extLst>
          </p:cNvPr>
          <p:cNvSpPr/>
          <p:nvPr/>
        </p:nvSpPr>
        <p:spPr>
          <a:xfrm>
            <a:off x="10668000" y="239844"/>
            <a:ext cx="1379096" cy="1349114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rPr lang="en-US" dirty="0"/>
              <a:t>2</a:t>
            </a:r>
            <a:endParaRPr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 [1775876968803]">
  <a:themeElements>
    <a:clrScheme name="University of Washington">
      <a:dk1>
        <a:srgbClr val="333333"/>
      </a:dk1>
      <a:lt1>
        <a:srgbClr val="FFFFFF"/>
      </a:lt1>
      <a:dk2>
        <a:srgbClr val="4B2E83"/>
      </a:dk2>
      <a:lt2>
        <a:srgbClr val="F5F0EB"/>
      </a:lt2>
      <a:accent1>
        <a:srgbClr val="4B2E83"/>
      </a:accent1>
      <a:accent2>
        <a:srgbClr val="B7A57A"/>
      </a:accent2>
      <a:accent3>
        <a:srgbClr val="85754D"/>
      </a:accent3>
      <a:accent4>
        <a:srgbClr val="00A7B5"/>
      </a:accent4>
      <a:accent5>
        <a:srgbClr val="7AB648"/>
      </a:accent5>
      <a:accent6>
        <a:srgbClr val="D1578A"/>
      </a:accent6>
      <a:hlink>
        <a:srgbClr val="0563C1"/>
      </a:hlink>
      <a:folHlink>
        <a:srgbClr val="954F72"/>
      </a:folHlink>
    </a:clrScheme>
    <a:fontScheme name="Bellevue College">
      <a:majorFont>
        <a:latin typeface="Arial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c79faba-e8d3-4fb7-9062-0409eb8478fa}">
  <we:reference id="WA200010001" version="1.0.0.0" store="en-US" storeType="OMEX"/>
  <we:alternateReferences/>
  <we:properties>
    <we:property name="Microsoft.Office.CampaignId" value="&quot;none&quot;"/>
    <we:property name="Office.AutoShowTaskpaneWithDocument" value="true"/>
    <we:property name="claude.fileId" value="&quot;9777158b-f629-46ff-aa04-06fe8115a595&quot;"/>
  </we:properties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3" ma:contentTypeDescription="Create a new document." ma:contentTypeScope="" ma:versionID="d936d863d335d354da51eb78ca1ae338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5fbac08d56b1b04aa33acbc31e882ce9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Props1.xml><?xml version="1.0" encoding="utf-8"?>
<ds:datastoreItem xmlns:ds="http://schemas.openxmlformats.org/officeDocument/2006/customXml" ds:itemID="{A79EAE08-AAD0-49B9-BF66-164C225CC52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17AB1FA-2F28-4684-9230-02ACEB6C0B0A}">
  <ds:schemaRefs>
    <ds:schemaRef ds:uri="b1e4d6ee-9f6f-43f8-a618-24f3d84da28f"/>
    <ds:schemaRef ds:uri="http://purl.org/dc/terms/"/>
    <ds:schemaRef ds:uri="http://schemas.openxmlformats.org/package/2006/metadata/core-properties"/>
    <ds:schemaRef ds:uri="f577acbf-5b0b-4b4f-9948-268e97f8d3a4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8089</TotalTime>
  <Words>30884</Words>
  <Application>Microsoft Macintosh PowerPoint</Application>
  <PresentationFormat>Widescreen</PresentationFormat>
  <Paragraphs>4439</Paragraphs>
  <Slides>190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190</vt:i4>
      </vt:variant>
    </vt:vector>
  </HeadingPairs>
  <TitlesOfParts>
    <vt:vector size="196" baseType="lpstr">
      <vt:lpstr>Aptos</vt:lpstr>
      <vt:lpstr>Arial</vt:lpstr>
      <vt:lpstr>Calibri</vt:lpstr>
      <vt:lpstr>Cambria Math</vt:lpstr>
      <vt:lpstr>Consolas</vt:lpstr>
      <vt:lpstr>Office Theme [1775876968803]</vt:lpstr>
      <vt:lpstr>Curse of dimensionality and Linear Algebra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K-Nearest Neighbors (KNN) Algorithm</vt:lpstr>
      <vt:lpstr>KNN Visual Example: K=5 with Two Classes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Why represent data as matrices and vectors?</vt:lpstr>
      <vt:lpstr>Vectors — Example 1: a student's exam scores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Pedro Albuquerque</cp:lastModifiedBy>
  <cp:revision>150</cp:revision>
  <dcterms:created xsi:type="dcterms:W3CDTF">2018-06-07T21:39:02Z</dcterms:created>
  <dcterms:modified xsi:type="dcterms:W3CDTF">2026-06-10T21:13:20Z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